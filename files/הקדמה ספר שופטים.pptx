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57" r:id="rId7"/>
    <p:sldId id="264" r:id="rId8"/>
    <p:sldId id="266" r:id="rId9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2" indent="0" algn="ctr">
              <a:buNone/>
              <a:defRPr sz="2000"/>
            </a:lvl2pPr>
            <a:lvl3pPr marL="914444" indent="0" algn="ctr">
              <a:buNone/>
              <a:defRPr sz="1801"/>
            </a:lvl3pPr>
            <a:lvl4pPr marL="1371670" indent="0" algn="ctr">
              <a:buNone/>
              <a:defRPr sz="1600"/>
            </a:lvl4pPr>
            <a:lvl5pPr marL="1828892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6" indent="0" algn="ctr">
              <a:buNone/>
              <a:defRPr sz="1600"/>
            </a:lvl7pPr>
            <a:lvl8pPr marL="3200562" indent="0" algn="ctr">
              <a:buNone/>
              <a:defRPr sz="1600"/>
            </a:lvl8pPr>
            <a:lvl9pPr marL="3657784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E058D-527E-4F13-A024-CB848F8F38E3}" type="datetimeFigureOut">
              <a:rPr lang="he-IL" smtClean="0"/>
              <a:t>ט"ז/אב/תשפ"ג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384C-3115-4219-BFBE-FF0E24C128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6137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E058D-527E-4F13-A024-CB848F8F38E3}" type="datetimeFigureOut">
              <a:rPr lang="he-IL" smtClean="0"/>
              <a:t>ט"ז/אב/תשפ"ג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384C-3115-4219-BFBE-FF0E24C128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7481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3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4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7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E058D-527E-4F13-A024-CB848F8F38E3}" type="datetimeFigureOut">
              <a:rPr lang="he-IL" smtClean="0"/>
              <a:t>ט"ז/אב/תשפ"ג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384C-3115-4219-BFBE-FF0E24C128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792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E058D-527E-4F13-A024-CB848F8F38E3}" type="datetimeFigureOut">
              <a:rPr lang="he-IL" smtClean="0"/>
              <a:t>ט"ז/אב/תשפ"ג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384C-3115-4219-BFBE-FF0E24C128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5369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95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2" indent="0">
              <a:buNone/>
              <a:defRPr sz="2000" b="1"/>
            </a:lvl2pPr>
            <a:lvl3pPr marL="914444" indent="0">
              <a:buNone/>
              <a:defRPr sz="1801" b="1"/>
            </a:lvl3pPr>
            <a:lvl4pPr marL="1371670" indent="0">
              <a:buNone/>
              <a:defRPr sz="1600" b="1"/>
            </a:lvl4pPr>
            <a:lvl5pPr marL="1828892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6" indent="0">
              <a:buNone/>
              <a:defRPr sz="1600" b="1"/>
            </a:lvl7pPr>
            <a:lvl8pPr marL="3200562" indent="0">
              <a:buNone/>
              <a:defRPr sz="1600" b="1"/>
            </a:lvl8pPr>
            <a:lvl9pPr marL="3657784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95" y="2505076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2" indent="0">
              <a:buNone/>
              <a:defRPr sz="2000" b="1"/>
            </a:lvl2pPr>
            <a:lvl3pPr marL="914444" indent="0">
              <a:buNone/>
              <a:defRPr sz="1801" b="1"/>
            </a:lvl3pPr>
            <a:lvl4pPr marL="1371670" indent="0">
              <a:buNone/>
              <a:defRPr sz="1600" b="1"/>
            </a:lvl4pPr>
            <a:lvl5pPr marL="1828892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6" indent="0">
              <a:buNone/>
              <a:defRPr sz="1600" b="1"/>
            </a:lvl7pPr>
            <a:lvl8pPr marL="3200562" indent="0">
              <a:buNone/>
              <a:defRPr sz="1600" b="1"/>
            </a:lvl8pPr>
            <a:lvl9pPr marL="3657784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E058D-527E-4F13-A024-CB848F8F38E3}" type="datetimeFigureOut">
              <a:rPr lang="he-IL" smtClean="0"/>
              <a:t>ט"ז/אב/תשפ"ג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384C-3115-4219-BFBE-FF0E24C128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79254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E058D-527E-4F13-A024-CB848F8F38E3}" type="datetimeFigureOut">
              <a:rPr lang="he-IL" smtClean="0"/>
              <a:t>ט"ז/אב/תשפ"ג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384C-3115-4219-BFBE-FF0E24C128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6691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E058D-527E-4F13-A024-CB848F8F38E3}" type="datetimeFigureOut">
              <a:rPr lang="he-IL" smtClean="0"/>
              <a:t>ט"ז/אב/תשפ"ג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384C-3115-4219-BFBE-FF0E24C128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252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94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2" indent="0">
              <a:buNone/>
              <a:defRPr sz="1401"/>
            </a:lvl2pPr>
            <a:lvl3pPr marL="914444" indent="0">
              <a:buNone/>
              <a:defRPr sz="1200"/>
            </a:lvl3pPr>
            <a:lvl4pPr marL="1371670" indent="0">
              <a:buNone/>
              <a:defRPr sz="1001"/>
            </a:lvl4pPr>
            <a:lvl5pPr marL="1828892" indent="0">
              <a:buNone/>
              <a:defRPr sz="1001"/>
            </a:lvl5pPr>
            <a:lvl6pPr marL="2286114" indent="0">
              <a:buNone/>
              <a:defRPr sz="1001"/>
            </a:lvl6pPr>
            <a:lvl7pPr marL="2743336" indent="0">
              <a:buNone/>
              <a:defRPr sz="1001"/>
            </a:lvl7pPr>
            <a:lvl8pPr marL="3200562" indent="0">
              <a:buNone/>
              <a:defRPr sz="1001"/>
            </a:lvl8pPr>
            <a:lvl9pPr marL="3657784" indent="0">
              <a:buNone/>
              <a:defRPr sz="100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E058D-527E-4F13-A024-CB848F8F38E3}" type="datetimeFigureOut">
              <a:rPr lang="he-IL" smtClean="0"/>
              <a:t>ט"ז/אב/תשפ"ג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384C-3115-4219-BFBE-FF0E24C128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35024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94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22" indent="0">
              <a:buNone/>
              <a:defRPr sz="2800"/>
            </a:lvl2pPr>
            <a:lvl3pPr marL="914444" indent="0">
              <a:buNone/>
              <a:defRPr sz="2400"/>
            </a:lvl3pPr>
            <a:lvl4pPr marL="1371670" indent="0">
              <a:buNone/>
              <a:defRPr sz="2000"/>
            </a:lvl4pPr>
            <a:lvl5pPr marL="1828892" indent="0">
              <a:buNone/>
              <a:defRPr sz="2000"/>
            </a:lvl5pPr>
            <a:lvl6pPr marL="2286114" indent="0">
              <a:buNone/>
              <a:defRPr sz="2000"/>
            </a:lvl6pPr>
            <a:lvl7pPr marL="2743336" indent="0">
              <a:buNone/>
              <a:defRPr sz="2000"/>
            </a:lvl7pPr>
            <a:lvl8pPr marL="3200562" indent="0">
              <a:buNone/>
              <a:defRPr sz="2000"/>
            </a:lvl8pPr>
            <a:lvl9pPr marL="3657784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2" indent="0">
              <a:buNone/>
              <a:defRPr sz="1401"/>
            </a:lvl2pPr>
            <a:lvl3pPr marL="914444" indent="0">
              <a:buNone/>
              <a:defRPr sz="1200"/>
            </a:lvl3pPr>
            <a:lvl4pPr marL="1371670" indent="0">
              <a:buNone/>
              <a:defRPr sz="1001"/>
            </a:lvl4pPr>
            <a:lvl5pPr marL="1828892" indent="0">
              <a:buNone/>
              <a:defRPr sz="1001"/>
            </a:lvl5pPr>
            <a:lvl6pPr marL="2286114" indent="0">
              <a:buNone/>
              <a:defRPr sz="1001"/>
            </a:lvl6pPr>
            <a:lvl7pPr marL="2743336" indent="0">
              <a:buNone/>
              <a:defRPr sz="1001"/>
            </a:lvl7pPr>
            <a:lvl8pPr marL="3200562" indent="0">
              <a:buNone/>
              <a:defRPr sz="1001"/>
            </a:lvl8pPr>
            <a:lvl9pPr marL="3657784" indent="0">
              <a:buNone/>
              <a:defRPr sz="100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E058D-527E-4F13-A024-CB848F8F38E3}" type="datetimeFigureOut">
              <a:rPr lang="he-IL" smtClean="0"/>
              <a:t>ט"ז/אב/תשפ"ג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384C-3115-4219-BFBE-FF0E24C128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38874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E058D-527E-4F13-A024-CB848F8F38E3}" type="datetimeFigureOut">
              <a:rPr lang="he-IL" smtClean="0"/>
              <a:t>ט"ז/אב/תשפ"ג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384C-3115-4219-BFBE-FF0E24C128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2602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E058D-527E-4F13-A024-CB848F8F38E3}" type="datetimeFigureOut">
              <a:rPr lang="he-IL" smtClean="0"/>
              <a:t>ט"ז/אב/תשפ"ג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384C-3115-4219-BFBE-FF0E24C128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4842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5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5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1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E058D-527E-4F13-A024-CB848F8F38E3}" type="datetimeFigureOut">
              <a:rPr lang="he-IL" smtClean="0"/>
              <a:t>ט"ז/אב/תשפ"ג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5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1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4384C-3115-4219-BFBE-FF0E24C128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519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44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2" indent="-228612" algn="r" defTabSz="914444" rtl="1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2" algn="r" defTabSz="914444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6" indent="-228612" algn="r" defTabSz="914444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2" algn="r" defTabSz="914444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2" indent="-228612" algn="r" defTabSz="914444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8" indent="-228612" algn="r" defTabSz="914444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8" indent="-228612" algn="r" defTabSz="914444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r" defTabSz="914444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r" defTabSz="914444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44" rtl="1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2" algn="r" defTabSz="914444" rtl="1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4" algn="r" defTabSz="914444" rtl="1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70" algn="r" defTabSz="914444" rtl="1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r" defTabSz="914444" rtl="1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r" defTabSz="914444" rtl="1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6" algn="r" defTabSz="914444" rtl="1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2" algn="r" defTabSz="914444" rtl="1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4" algn="r" defTabSz="914444" rtl="1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61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72493" y="268705"/>
            <a:ext cx="7952873" cy="92345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4400" b="1" dirty="0">
                <a:latin typeface="David" panose="020E0502060401010101" pitchFamily="34" charset="-79"/>
                <a:cs typeface="David" panose="020E0502060401010101" pitchFamily="34" charset="-79"/>
              </a:rPr>
              <a:t>ה</a:t>
            </a:r>
            <a:r>
              <a:rPr lang="he-IL" sz="5401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</a:t>
            </a:r>
            <a:r>
              <a:rPr lang="he-IL" sz="5401" b="1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</a:t>
            </a:r>
            <a:r>
              <a:rPr lang="he-IL" sz="5401" b="1" dirty="0">
                <a:latin typeface="David" panose="020E0502060401010101" pitchFamily="34" charset="-79"/>
                <a:cs typeface="David" panose="020E0502060401010101" pitchFamily="34" charset="-79"/>
              </a:rPr>
              <a:t>"</a:t>
            </a:r>
            <a:r>
              <a:rPr lang="he-IL" sz="5401" b="1" dirty="0">
                <a:solidFill>
                  <a:srgbClr val="7030A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ך</a:t>
            </a:r>
            <a:r>
              <a:rPr lang="he-IL" sz="4400" b="1" dirty="0">
                <a:latin typeface="David" panose="020E0502060401010101" pitchFamily="34" charset="-79"/>
                <a:cs typeface="David" panose="020E0502060401010101" pitchFamily="34" charset="-79"/>
              </a:rPr>
              <a:t> שלנו מורכב משלושה חלקים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8044" y="1790586"/>
            <a:ext cx="3429001" cy="4227850"/>
          </a:xfrm>
          <a:prstGeom prst="verticalScroll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4800" b="1" u="sng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</a:t>
            </a:r>
            <a:r>
              <a:rPr lang="he-IL" sz="4400" b="1" u="sng" dirty="0">
                <a:latin typeface="David" panose="020E0502060401010101" pitchFamily="34" charset="-79"/>
                <a:cs typeface="David" panose="020E0502060401010101" pitchFamily="34" charset="-79"/>
              </a:rPr>
              <a:t>ורה:</a:t>
            </a:r>
          </a:p>
          <a:p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בראשית</a:t>
            </a:r>
          </a:p>
          <a:p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שמות </a:t>
            </a:r>
          </a:p>
          <a:p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ויקרא</a:t>
            </a:r>
          </a:p>
          <a:p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במדבר</a:t>
            </a:r>
          </a:p>
          <a:p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דברים</a:t>
            </a:r>
          </a:p>
        </p:txBody>
      </p:sp>
      <p:cxnSp>
        <p:nvCxnSpPr>
          <p:cNvPr id="10" name="מחבר חץ ישר 9"/>
          <p:cNvCxnSpPr/>
          <p:nvPr/>
        </p:nvCxnSpPr>
        <p:spPr>
          <a:xfrm>
            <a:off x="9829803" y="818151"/>
            <a:ext cx="1251284" cy="15761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614111" y="1940009"/>
            <a:ext cx="3429001" cy="3508808"/>
          </a:xfrm>
          <a:prstGeom prst="verticalScroll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5401" b="1" u="sng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</a:t>
            </a:r>
            <a:r>
              <a:rPr lang="he-IL" sz="4400" b="1" u="sng" dirty="0">
                <a:latin typeface="David" panose="020E0502060401010101" pitchFamily="34" charset="-79"/>
                <a:cs typeface="David" panose="020E0502060401010101" pitchFamily="34" charset="-79"/>
              </a:rPr>
              <a:t>ביאים:</a:t>
            </a:r>
          </a:p>
          <a:p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יהושע, שופטים</a:t>
            </a:r>
          </a:p>
          <a:p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שמואל, מלכים</a:t>
            </a:r>
          </a:p>
          <a:p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ישעיה, ירמיהו</a:t>
            </a:r>
          </a:p>
          <a:p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יחזקאל, תרי עשר.</a:t>
            </a: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cxnSp>
        <p:nvCxnSpPr>
          <p:cNvPr id="12" name="מחבר חץ ישר 11"/>
          <p:cNvCxnSpPr/>
          <p:nvPr/>
        </p:nvCxnSpPr>
        <p:spPr>
          <a:xfrm flipH="1">
            <a:off x="7531773" y="965441"/>
            <a:ext cx="1864894" cy="16935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9576" y="1703610"/>
            <a:ext cx="4177964" cy="4628231"/>
          </a:xfrm>
          <a:prstGeom prst="verticalScroll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5401" b="1" u="sng" dirty="0">
                <a:solidFill>
                  <a:srgbClr val="7030A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</a:t>
            </a:r>
            <a:r>
              <a:rPr lang="he-IL" sz="4400" b="1" u="sng" dirty="0">
                <a:latin typeface="David" panose="020E0502060401010101" pitchFamily="34" charset="-79"/>
                <a:cs typeface="David" panose="020E0502060401010101" pitchFamily="34" charset="-79"/>
              </a:rPr>
              <a:t>תובים: </a:t>
            </a:r>
          </a:p>
          <a:p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תהילים, משלי</a:t>
            </a:r>
          </a:p>
          <a:p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איוב, שיר השירים, רות, איכה, קהלת, אסתר, דניאל, עזרא ונחמיה, דברי הימים</a:t>
            </a:r>
            <a:endParaRPr lang="he-IL" sz="1401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cxnSp>
        <p:nvCxnSpPr>
          <p:cNvPr id="16" name="מחבר חץ ישר 15"/>
          <p:cNvCxnSpPr/>
          <p:nvPr/>
        </p:nvCxnSpPr>
        <p:spPr>
          <a:xfrm flipH="1">
            <a:off x="3838075" y="719253"/>
            <a:ext cx="5041236" cy="19397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56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61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74430" y="304801"/>
            <a:ext cx="5209675" cy="92345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5401" b="1" dirty="0">
                <a:solidFill>
                  <a:srgbClr val="7030A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ספר יהושע: חזרה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8620" y="1503949"/>
            <a:ext cx="10888580" cy="501675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marL="457217" indent="-457217">
              <a:buFont typeface="Arial" panose="020B0604020202020204" pitchFamily="34" charset="0"/>
              <a:buChar char="•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בספר יהושע מסופר לנו כיצד יהושע מנהיג את עם ישראל ומכניסם לארץ ישראל</a:t>
            </a:r>
          </a:p>
          <a:p>
            <a:pPr marL="457217" indent="-457217">
              <a:buFont typeface="Arial" panose="020B0604020202020204" pitchFamily="34" charset="0"/>
              <a:buChar char="•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יהושע כובש איתם את העמים היושבים בארץ.</a:t>
            </a:r>
          </a:p>
          <a:p>
            <a:pPr marL="457217" indent="-457217">
              <a:buFont typeface="Arial" panose="020B0604020202020204" pitchFamily="34" charset="0"/>
              <a:buChar char="•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כל שבט מקבל אזור בארץ ישראל לנחלה.</a:t>
            </a:r>
          </a:p>
          <a:p>
            <a:pPr marL="457217" indent="-457217">
              <a:buFont typeface="Arial" panose="020B0604020202020204" pitchFamily="34" charset="0"/>
              <a:buChar char="•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יהושע מנהיג את עם ישראל במשך 28 שנים נלחם מול 31 מלכים גויים.</a:t>
            </a:r>
          </a:p>
          <a:p>
            <a:pPr marL="457217" indent="-457217">
              <a:buFont typeface="Arial" panose="020B0604020202020204" pitchFamily="34" charset="0"/>
              <a:buChar char="•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בתקופת משה ויהושע הייתה לעם ישראל הנהגה חזקה שהייתה מוכרת ע"י העם כולו. המנהיג קבע מה לעשות וכיצד יש לנהוג, אסף את העם והוכחו על מעשיו.</a:t>
            </a:r>
          </a:p>
          <a:p>
            <a:pPr marL="457217" indent="-457217">
              <a:buFont typeface="Arial" panose="020B0604020202020204" pitchFamily="34" charset="0"/>
              <a:buChar char="•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בסוף ספר יהושע, יהושע נפטר בגיל 110 שנים ונקבר </a:t>
            </a:r>
            <a:r>
              <a:rPr lang="he-IL" sz="3200" dirty="0" err="1">
                <a:latin typeface="David" panose="020E0502060401010101" pitchFamily="34" charset="-79"/>
                <a:cs typeface="David" panose="020E0502060401010101" pitchFamily="34" charset="-79"/>
              </a:rPr>
              <a:t>בתמנת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 חרס, ולא מתמנה מנהיג חדש שיחליף את יהושע. </a:t>
            </a:r>
          </a:p>
        </p:txBody>
      </p:sp>
    </p:spTree>
    <p:extLst>
      <p:ext uri="{BB962C8B-B14F-4D97-AF65-F5344CB8AC3E}">
        <p14:creationId xmlns:p14="http://schemas.microsoft.com/office/powerpoint/2010/main" val="184493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61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01981" y="292770"/>
            <a:ext cx="778443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48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ספר שופטים- תקופת השופטים: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0989" y="1311446"/>
            <a:ext cx="10082466" cy="5016758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marL="457217" indent="-457217">
              <a:buFont typeface="Arial" panose="020B0604020202020204" pitchFamily="34" charset="0"/>
              <a:buChar char="•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תקופה זו היא המשך לתקופת יהושע.</a:t>
            </a:r>
          </a:p>
          <a:p>
            <a:pPr marL="457217" indent="-457217">
              <a:buFont typeface="Arial" panose="020B0604020202020204" pitchFamily="34" charset="0"/>
              <a:buChar char="•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אך מבחינה התנהגות העם, התקופה שונה מכל מה שקדם לה. </a:t>
            </a:r>
          </a:p>
          <a:p>
            <a:pPr marL="457217" indent="-457217">
              <a:buFont typeface="Arial" panose="020B0604020202020204" pitchFamily="34" charset="0"/>
              <a:buChar char="•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בתקופת משה ויהושע הייתה לעם הנהגה חזקה הן מבחינה רוחנית והן מבחינה צבאית.</a:t>
            </a:r>
          </a:p>
          <a:p>
            <a:pPr marL="457217" indent="-457217">
              <a:buFont typeface="Arial" panose="020B0604020202020204" pitchFamily="34" charset="0"/>
              <a:buChar char="•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אך בספר שופטים כשאין מנהיג והמציאות מאתגרת וכל שבט נדרש לדאוג לעצמו, ולשרוד את הפרנסה, ולהתגבר על האויבים שמסביב. </a:t>
            </a:r>
          </a:p>
          <a:p>
            <a:pPr marL="457217" indent="-457217">
              <a:buFont typeface="Arial" panose="020B0604020202020204" pitchFamily="34" charset="0"/>
              <a:buChar char="•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עם ישראל עושה טעות ומרחם על הגויים שיושבים בארץ, וזה גורם להרבה צרות. </a:t>
            </a:r>
          </a:p>
          <a:p>
            <a:pPr marL="457217" indent="-457217">
              <a:buFont typeface="Arial" panose="020B0604020202020204" pitchFamily="34" charset="0"/>
              <a:buChar char="•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עם ישראל נמשך אחרי הגויים ועוזב את ה' ועושים הרע בעיני ה'.</a:t>
            </a: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89" b="99111" l="12000" r="9066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92768"/>
            <a:ext cx="2911642" cy="308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8268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61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65647" y="1280265"/>
            <a:ext cx="6104021" cy="483209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marL="457217" indent="-457217">
              <a:buFont typeface="Wingdings" panose="05000000000000000000" pitchFamily="2" charset="2"/>
              <a:buChar char="v"/>
            </a:pP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הוא הספר השני בספרי הנביאים הראשונים.</a:t>
            </a:r>
          </a:p>
          <a:p>
            <a:pPr marL="457217" indent="-457217">
              <a:buFont typeface="Wingdings" panose="05000000000000000000" pitchFamily="2" charset="2"/>
              <a:buChar char="v"/>
            </a:pPr>
            <a:r>
              <a:rPr lang="he-IL" sz="28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נקרא בשם זה על שם המנהיגים-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השליטים שעמדו לעם ישראל בתקופה שבין חלוקת הנחלות לבין ראשית המלוכה.</a:t>
            </a:r>
          </a:p>
          <a:p>
            <a:pPr marL="457217" indent="-457217">
              <a:buFont typeface="Wingdings" panose="05000000000000000000" pitchFamily="2" charset="2"/>
              <a:buChar char="v"/>
            </a:pPr>
            <a:r>
              <a:rPr lang="he-IL" sz="28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מי היו אותם שופטים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? יש אומרים שאלו היו הזקנים (משה קיבל תורה מסיני ומסרה ליהושע ויהושע לזקנים..)  ויש אומרים: שהשופטים היו אחרי הזקנים תקופה לאחריהם.</a:t>
            </a:r>
          </a:p>
          <a:p>
            <a:pPr marL="457217" indent="-457217">
              <a:buFont typeface="Wingdings" panose="05000000000000000000" pitchFamily="2" charset="2"/>
              <a:buChar char="v"/>
            </a:pPr>
            <a:r>
              <a:rPr lang="he-IL" sz="28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מי כתב ספר זה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? נכתב ע"י שמואל הנביא.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2926" y="509338"/>
            <a:ext cx="5209675" cy="20621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3200" b="1" u="sng" dirty="0">
                <a:latin typeface="David" panose="020E0502060401010101" pitchFamily="34" charset="-79"/>
                <a:cs typeface="David" panose="020E0502060401010101" pitchFamily="34" charset="-79"/>
              </a:rPr>
              <a:t>שלושה דברים נדרשו מהשופט:</a:t>
            </a:r>
          </a:p>
          <a:p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א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. ללמד את העם תורה ולשופטם</a:t>
            </a:r>
          </a:p>
          <a:p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. להושיע את העם מאויביהם</a:t>
            </a:r>
          </a:p>
          <a:p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. להתפלל על העם. </a:t>
            </a: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26" y="2828595"/>
            <a:ext cx="2322094" cy="1447221"/>
          </a:xfrm>
          <a:prstGeom prst="rect">
            <a:avLst/>
          </a:prstGeo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179" y="2829348"/>
            <a:ext cx="1876425" cy="2428875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108" y="4432865"/>
            <a:ext cx="2486025" cy="1838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34351" y="258363"/>
            <a:ext cx="5835317" cy="8309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48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הקדמה – ספר שופטים:</a:t>
            </a:r>
          </a:p>
        </p:txBody>
      </p:sp>
    </p:spTree>
    <p:extLst>
      <p:ext uri="{BB962C8B-B14F-4D97-AF65-F5344CB8AC3E}">
        <p14:creationId xmlns:p14="http://schemas.microsoft.com/office/powerpoint/2010/main" val="21525327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61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90512" y="258269"/>
            <a:ext cx="4862764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solidFill>
                  <a:srgbClr val="7030A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מבנה ספר שופטים: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97593" y="1476168"/>
            <a:ext cx="7126707" cy="440120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800" b="1" u="sng" dirty="0">
                <a:latin typeface="David" panose="020E0502060401010101" pitchFamily="34" charset="-79"/>
                <a:cs typeface="David" panose="020E0502060401010101" pitchFamily="34" charset="-79"/>
              </a:rPr>
              <a:t>יש בו כא' פרקים וניתן לחלקו לשלושה חלקים: </a:t>
            </a:r>
          </a:p>
          <a:p>
            <a:r>
              <a:rPr lang="he-IL" sz="2800" b="1" u="sng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פרקים א-ב: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תיאור המפנה לרעה שחל בעם אחרי מות יהושע, וכן אלו עמים יושבים בארץ, וההתרשלות של העם בכיבוש הארץ והברית עם הכנעני.</a:t>
            </a:r>
          </a:p>
          <a:p>
            <a:r>
              <a:rPr lang="he-IL" sz="2800" b="1" u="sng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פרקים ג'-</a:t>
            </a:r>
            <a:r>
              <a:rPr lang="he-IL" sz="2800" b="1" u="sng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טז</a:t>
            </a:r>
            <a:r>
              <a:rPr lang="he-IL" sz="2800" b="1" u="sng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':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תיאור השופטים – המושיעים ומעלליהם, (13 שופטים).  זהו החלק המרכזי של הספר. בפרקים הללו רואים את הגלגל החוזר שנדבר בהמשך. </a:t>
            </a:r>
          </a:p>
          <a:p>
            <a:r>
              <a:rPr lang="he-IL" sz="2800" b="1" u="sng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פרקים </a:t>
            </a:r>
            <a:r>
              <a:rPr lang="he-IL" sz="2800" b="1" u="sng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יז</a:t>
            </a:r>
            <a:r>
              <a:rPr lang="he-IL" sz="2800" b="1" u="sng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'-</a:t>
            </a:r>
            <a:r>
              <a:rPr lang="he-IL" sz="2800" b="1" u="sng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כא</a:t>
            </a:r>
            <a:r>
              <a:rPr lang="he-IL" sz="2800" b="1" u="sng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':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שני סיפורים המראים לנו עד כמה עם ישראל למד מדרכי הגויים- פסל מיכה ופילגש בגבעה.</a:t>
            </a:r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84" y="402649"/>
            <a:ext cx="3477126" cy="537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73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61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725653" y="294620"/>
            <a:ext cx="5141497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3600" b="1" dirty="0" smtClean="0">
                <a:latin typeface="David" panose="020E0502060401010101" pitchFamily="34" charset="-79"/>
                <a:cs typeface="David" panose="020E0502060401010101" pitchFamily="34" charset="-79"/>
              </a:rPr>
              <a:t>הגלגל החוזר בספר שופטים:</a:t>
            </a:r>
            <a:endParaRPr lang="he-IL" sz="3600" b="1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32358" y="1207168"/>
            <a:ext cx="5634793" cy="501675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תקופת השופטים </a:t>
            </a:r>
            <a:r>
              <a:rPr lang="he-IL" sz="3200" b="1" dirty="0" smtClean="0">
                <a:latin typeface="David" panose="020E0502060401010101" pitchFamily="34" charset="-79"/>
                <a:cs typeface="David" panose="020E0502060401010101" pitchFamily="34" charset="-79"/>
              </a:rPr>
              <a:t>נמשכה כ350 שנה</a:t>
            </a:r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, והתאפיינה בעליות וירידות רוחניות בעם. </a:t>
            </a:r>
            <a:r>
              <a:rPr lang="he-IL" sz="3200" b="1" dirty="0" smtClean="0">
                <a:latin typeface="David" panose="020E0502060401010101" pitchFamily="34" charset="-79"/>
                <a:cs typeface="David" panose="020E0502060401010101" pitchFamily="34" charset="-79"/>
              </a:rPr>
              <a:t>כל זמן שהשופט עמד בראש העם הם הלכו בדרך ה' יתברך. אולם כשמת השופט הייתה הדרדרות רוחנית </a:t>
            </a:r>
            <a:r>
              <a:rPr lang="he-IL" sz="3200" dirty="0" smtClean="0">
                <a:latin typeface="David" panose="020E0502060401010101" pitchFamily="34" charset="-79"/>
                <a:cs typeface="David" panose="020E0502060401010101" pitchFamily="34" charset="-79"/>
              </a:rPr>
              <a:t>שבעקבותיה היה שולח הקב"ה עמים מסביב שהיו משעבדים את העם. העם בהיותו בצרה זעק לקב"ה וחזר בתשובה, והקב"ה היה מעמיד להם שופט שיושיעם. </a:t>
            </a:r>
            <a:endParaRPr lang="he-IL" sz="3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26" y="164761"/>
            <a:ext cx="5763127" cy="601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4270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1000"/>
            <a:lum/>
          </a:blip>
          <a:srcRect/>
          <a:stretch>
            <a:fillRect l="1000" t="2000" r="3000" b="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6599" y="1736559"/>
            <a:ext cx="5209675" cy="28007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3600" b="1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משל למה הדבר דומה:</a:t>
            </a:r>
          </a:p>
          <a:p>
            <a:r>
              <a:rPr lang="he-IL" sz="2800" dirty="0" smtClean="0">
                <a:latin typeface="David" panose="020E0502060401010101" pitchFamily="34" charset="-79"/>
                <a:cs typeface="David" panose="020E0502060401010101" pitchFamily="34" charset="-79"/>
              </a:rPr>
              <a:t>ילד שמפריע בשיעור, המורה מעיר לו ומזמין את ההורים שלו. הילד נהיה עצוב או כועס ומשוחח עם ההורים שלו על מה שעשה, וכתוצאה מכך מתקן את דרכיו, המצב חוזר לקדמותו</a:t>
            </a: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81758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1000"/>
            <a:lum/>
          </a:blip>
          <a:srcRect/>
          <a:stretch>
            <a:fillRect l="1000" t="2000" r="3000" b="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922" y="396025"/>
            <a:ext cx="10836386" cy="25545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השופטים</a:t>
            </a:r>
            <a:r>
              <a:rPr kumimoji="0" lang="he-IL" sz="32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 למדו תורה ויצאו להילחם באויבי ישראל מתוך אמונה בקב"ה, ולא סמכו על כוחם או על </a:t>
            </a:r>
            <a:r>
              <a:rPr kumimoji="0" lang="he-IL" sz="32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כח</a:t>
            </a:r>
            <a:r>
              <a:rPr kumimoji="0" lang="he-IL" sz="32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 העם. </a:t>
            </a:r>
            <a:r>
              <a:rPr kumimoji="0" lang="he-IL" sz="32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למרות הפעמים בהן לא הלכו העם בדרך ה', המשיכו השופטים לקרבם ולעודדם לחזור לדרך ה' ולקיים תורה ומצוות</a:t>
            </a:r>
            <a:r>
              <a:rPr kumimoji="0" lang="he-IL" sz="32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. בספר שופטים עדים אנו לדפוסי התנהגות של בני ישראל, החוזרים על עצמם שבע פעמים בצורה קבועה, ורק בשינוי זמן ומקום.</a:t>
            </a:r>
            <a:endParaRPr kumimoji="0" lang="he-IL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avid" panose="020E0502060401010101" pitchFamily="34" charset="-79"/>
              <a:ea typeface="+mn-ea"/>
              <a:cs typeface="David" panose="020E0502060401010101" pitchFamily="34" charset="-79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1187" y="3999033"/>
            <a:ext cx="7779287" cy="25545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marL="514350" marR="0" lvl="0" indent="-5143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he-IL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anose="020E0502060401010101" pitchFamily="34" charset="-79"/>
                <a:cs typeface="David" panose="020E0502060401010101" pitchFamily="34" charset="-79"/>
              </a:rPr>
              <a:t>בני ישראל </a:t>
            </a:r>
            <a:r>
              <a:rPr kumimoji="0" lang="he-IL" sz="4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anose="020E0502060401010101" pitchFamily="34" charset="-79"/>
                <a:cs typeface="David" panose="020E0502060401010101" pitchFamily="34" charset="-79"/>
              </a:rPr>
              <a:t>חוטאים</a:t>
            </a:r>
            <a:r>
              <a:rPr kumimoji="0" lang="he-IL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  <a:p>
            <a:pPr marL="514350" marR="0" lvl="0" indent="-5143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he-IL" sz="3200" noProof="0" dirty="0" smtClean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בני ישראל מקבלים </a:t>
            </a:r>
            <a:r>
              <a:rPr lang="he-IL" sz="4000" b="1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עונש</a:t>
            </a:r>
            <a:r>
              <a:rPr lang="he-IL" sz="3200" noProof="0" dirty="0" smtClean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על מעשיהם.</a:t>
            </a:r>
          </a:p>
          <a:p>
            <a:pPr marL="514350" marR="0" lvl="0" indent="-5143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he-IL" sz="3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anose="020E0502060401010101" pitchFamily="34" charset="-79"/>
                <a:cs typeface="David" panose="020E0502060401010101" pitchFamily="34" charset="-79"/>
              </a:rPr>
              <a:t>בעקבות העונש בני ישראל </a:t>
            </a:r>
            <a:r>
              <a:rPr lang="he-IL" sz="4000" b="1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חוזרים בתשובה</a:t>
            </a:r>
            <a:r>
              <a:rPr kumimoji="0" lang="he-IL" sz="3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  <a:p>
            <a:pPr marL="514350" marR="0" lvl="0" indent="-5143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he-IL" sz="4000" b="1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התשועה</a:t>
            </a:r>
            <a:r>
              <a:rPr lang="he-IL" sz="3200" noProof="0" dirty="0" smtClean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מיד הגויים שלחצו אותם. </a:t>
            </a:r>
            <a:endParaRPr kumimoji="0" lang="he-IL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4" name="חץ למטה 3"/>
          <p:cNvSpPr/>
          <p:nvPr/>
        </p:nvSpPr>
        <p:spPr>
          <a:xfrm>
            <a:off x="4612943" y="2852382"/>
            <a:ext cx="1951630" cy="14330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17584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 thruBlk="1"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9092</TotalTime>
  <Words>615</Words>
  <Application>Microsoft Office PowerPoint</Application>
  <PresentationFormat>מסך רחב</PresentationFormat>
  <Paragraphs>52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David</vt:lpstr>
      <vt:lpstr>Times New Roman</vt:lpstr>
      <vt:lpstr>Wingdings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User</dc:creator>
  <cp:lastModifiedBy>User</cp:lastModifiedBy>
  <cp:revision>33</cp:revision>
  <dcterms:created xsi:type="dcterms:W3CDTF">2023-07-20T09:32:19Z</dcterms:created>
  <dcterms:modified xsi:type="dcterms:W3CDTF">2023-08-05T21:24:08Z</dcterms:modified>
</cp:coreProperties>
</file>