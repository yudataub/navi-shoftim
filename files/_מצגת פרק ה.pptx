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ms-powerpoint.presentation.macroEnabled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0" r:id="rId8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1D31A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66" d="100"/>
          <a:sy n="66" d="100"/>
        </p:scale>
        <p:origin x="-150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5D69F14-9C77-4BA6-8128-535EDDF20DF0}" type="datetimeFigureOut">
              <a:rPr lang="he-IL" smtClean="0"/>
              <a:t>ט"ז/חשון/תשפ"א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6EE8124-DABE-4BDE-902A-15478A2E1469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320040" indent="-320040" algn="r" defTabSz="914400" rtl="1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28600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r" defTabSz="914400" rtl="1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microsoft.com/office/2007/relationships/media" Target="../media/media1.mp3" /><Relationship Id="rId1" Type="http://schemas.openxmlformats.org/officeDocument/2006/relationships/audio" Target="NULL" TargetMode="External" /><Relationship Id="rId6" Type="http://schemas.openxmlformats.org/officeDocument/2006/relationships/image" Target="../media/image3.jpeg" /><Relationship Id="rId5" Type="http://schemas.openxmlformats.org/officeDocument/2006/relationships/image" Target="../media/image2.png" /><Relationship Id="rId4" Type="http://schemas.openxmlformats.org/officeDocument/2006/relationships/image" Target="../media/image1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e.wikisource.org/wiki/%D7%A9%D7%95%D7%A4%D7%98%D7%99%D7%9D_%D7%94_%D7%91" TargetMode="External" /><Relationship Id="rId2" Type="http://schemas.openxmlformats.org/officeDocument/2006/relationships/hyperlink" Target="https://he.wikisource.org/wiki/%D7%A9%D7%95%D7%A4%D7%98%D7%99%D7%9D_%D7%94_%D7%90" TargetMode="Externa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jpeg" /><Relationship Id="rId5" Type="http://schemas.openxmlformats.org/officeDocument/2006/relationships/hyperlink" Target="https://he.wikisource.org/wiki/%D7%A9%D7%95%D7%A4%D7%98%D7%99%D7%9D_%D7%94_%D7%99%D7%91" TargetMode="External" /><Relationship Id="rId4" Type="http://schemas.openxmlformats.org/officeDocument/2006/relationships/hyperlink" Target="https://he.wikisource.org/wiki/%D7%A9%D7%95%D7%A4%D7%98%D7%99%D7%9D_%D7%94_%D7%95" TargetMode="Externa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hyperlink" Target="https://he.wikisource.org/wiki/%D7%A9%D7%95%D7%A4%D7%98%D7%99%D7%9D_%D7%94_%D7%99%D7%97" TargetMode="Externa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hyperlink" Target="https://he.wikisource.org/wiki/%D7%A9%D7%95%D7%A4%D7%98%D7%99%D7%9D_%D7%94_%D7%9C%D7%90" TargetMode="Externa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microsoft.com/office/2007/relationships/media" Target="../media/media1.mp3" /><Relationship Id="rId1" Type="http://schemas.openxmlformats.org/officeDocument/2006/relationships/audio" Target="NULL" TargetMode="External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55576" y="548680"/>
            <a:ext cx="7772400" cy="1470025"/>
          </a:xfrm>
        </p:spPr>
        <p:txBody>
          <a:bodyPr/>
          <a:lstStyle/>
          <a:p>
            <a:pPr marL="182880" indent="0" algn="ctr">
              <a:buNone/>
            </a:pPr>
            <a:r>
              <a:rPr lang="he-IL" sz="7200" dirty="0"/>
              <a:t>שופטים פרק ה</a:t>
            </a:r>
            <a:br>
              <a:rPr lang="he-IL" sz="7200" dirty="0"/>
            </a:br>
            <a:r>
              <a:rPr lang="he-IL" sz="7200" dirty="0"/>
              <a:t>שירת דבורה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72"/>
          <a:stretch/>
        </p:blipFill>
        <p:spPr bwMode="auto">
          <a:xfrm>
            <a:off x="720408" y="3645024"/>
            <a:ext cx="1763359" cy="2689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4" descr="תווים ונהנים - Home | Facebook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8" name="הישיבשיר 2 - מיזם שירת ההמונים של קול ברמה.mp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35800" end="221244.4583"/>
                  <p14:fade out="2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99992" y="3361459"/>
            <a:ext cx="609600" cy="609600"/>
          </a:xfrm>
          <a:prstGeom prst="rect">
            <a:avLst/>
          </a:prstGeom>
        </p:spPr>
      </p:pic>
      <p:pic>
        <p:nvPicPr>
          <p:cNvPr id="1031" name="Picture 7" descr="שירת דבורה בפנימיות מאת הרבי אברהם מרדכי גוטליב שליט&quot;א - על שלושה דברים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861048"/>
            <a:ext cx="3422848" cy="284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52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139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תווים ונהנים - Home | Facebook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6" name="מלבן 5"/>
          <p:cNvSpPr/>
          <p:nvPr/>
        </p:nvSpPr>
        <p:spPr>
          <a:xfrm>
            <a:off x="3234765" y="-99392"/>
            <a:ext cx="335345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9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שירה</a:t>
            </a:r>
          </a:p>
        </p:txBody>
      </p:sp>
      <p:sp>
        <p:nvSpPr>
          <p:cNvPr id="7" name="פיצוץ 2 6"/>
          <p:cNvSpPr/>
          <p:nvPr/>
        </p:nvSpPr>
        <p:spPr>
          <a:xfrm>
            <a:off x="5455411" y="920665"/>
            <a:ext cx="3707904" cy="2808312"/>
          </a:xfrm>
          <a:prstGeom prst="irregularSeal2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rgbClr val="FF0000"/>
                </a:solidFill>
              </a:rPr>
              <a:t>צורת כתיבה</a:t>
            </a:r>
            <a:endParaRPr lang="he-IL" b="1" dirty="0">
              <a:solidFill>
                <a:srgbClr val="FF0000"/>
              </a:solidFill>
            </a:endParaRPr>
          </a:p>
        </p:txBody>
      </p:sp>
      <p:sp>
        <p:nvSpPr>
          <p:cNvPr id="8" name="פיצוץ 2 7"/>
          <p:cNvSpPr/>
          <p:nvPr/>
        </p:nvSpPr>
        <p:spPr>
          <a:xfrm>
            <a:off x="2123728" y="3573016"/>
            <a:ext cx="5760640" cy="3284983"/>
          </a:xfrm>
          <a:prstGeom prst="irregularSeal2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rgbClr val="FF0000"/>
                </a:solidFill>
              </a:rPr>
              <a:t>מילים מיוחדות, מילים נרדפות</a:t>
            </a:r>
            <a:endParaRPr lang="he-IL" b="1" dirty="0">
              <a:solidFill>
                <a:srgbClr val="FF0000"/>
              </a:solidFill>
            </a:endParaRPr>
          </a:p>
        </p:txBody>
      </p:sp>
      <p:sp>
        <p:nvSpPr>
          <p:cNvPr id="9" name="פיצוץ 2 8"/>
          <p:cNvSpPr/>
          <p:nvPr/>
        </p:nvSpPr>
        <p:spPr>
          <a:xfrm>
            <a:off x="197768" y="1066530"/>
            <a:ext cx="4283968" cy="3101314"/>
          </a:xfrm>
          <a:prstGeom prst="irregularSeal2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rgbClr val="FF0000"/>
                </a:solidFill>
              </a:rPr>
              <a:t>מילים וביטויים חוזרים</a:t>
            </a:r>
            <a:endParaRPr lang="he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09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תווים ונהנים - Home | Facebook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6" name="מלבן 5"/>
          <p:cNvSpPr/>
          <p:nvPr/>
        </p:nvSpPr>
        <p:spPr>
          <a:xfrm>
            <a:off x="2272425" y="44624"/>
            <a:ext cx="4459815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60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צורת כתיבה</a:t>
            </a:r>
          </a:p>
        </p:txBody>
      </p:sp>
      <p:pic>
        <p:nvPicPr>
          <p:cNvPr id="2050" name="Picture 2" descr="תוכן שירת דבורה – אתר תנ&quot;ך ממלכתי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975750"/>
            <a:ext cx="4355976" cy="557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upload.wikimedia.org/wikipedia/commons/thumb/2/2c/Song_of_the_sea.jpg/800px-Song_of_the_se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438" y="975750"/>
            <a:ext cx="4495058" cy="553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6" descr="שירת השים - סדר כתיבתה ואמירתה"/>
          <p:cNvSpPr>
            <a:spLocks noChangeAspect="1" noChangeArrowheads="1"/>
          </p:cNvSpPr>
          <p:nvPr/>
        </p:nvSpPr>
        <p:spPr bwMode="auto">
          <a:xfrm>
            <a:off x="907573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416" y="975750"/>
            <a:ext cx="4247551" cy="4712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257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79512" y="1556792"/>
            <a:ext cx="8896226" cy="5112568"/>
          </a:xfrm>
        </p:spPr>
        <p:txBody>
          <a:bodyPr>
            <a:normAutofit fontScale="92500" lnSpcReduction="20000"/>
          </a:bodyPr>
          <a:lstStyle/>
          <a:p>
            <a:pPr algn="r">
              <a:lnSpc>
                <a:spcPct val="150000"/>
              </a:lnSpc>
            </a:pPr>
            <a:r>
              <a:rPr lang="he-IL" sz="3200" dirty="0"/>
              <a:t>(</a:t>
            </a:r>
            <a:r>
              <a:rPr lang="he-IL" sz="3200" dirty="0">
                <a:solidFill>
                  <a:schemeClr val="tx1"/>
                </a:solidFill>
                <a:hlinkClick r:id="rId2" tooltip="שופטים ה א"/>
              </a:rPr>
              <a:t>א</a:t>
            </a:r>
            <a:r>
              <a:rPr lang="he-IL" sz="3200" dirty="0">
                <a:solidFill>
                  <a:schemeClr val="tx1"/>
                </a:solidFill>
              </a:rPr>
              <a:t>) וַתָּשַׁר דְּבוֹרָה וּבָרָק בֶּן אֲבִינֹעַם בַּיּוֹם הַהוּא </a:t>
            </a:r>
            <a:r>
              <a:rPr lang="he-IL" sz="3200" dirty="0" err="1">
                <a:solidFill>
                  <a:schemeClr val="tx1"/>
                </a:solidFill>
              </a:rPr>
              <a:t>לֵאמֹר</a:t>
            </a:r>
            <a:r>
              <a:rPr lang="he-IL" sz="3200" dirty="0">
                <a:solidFill>
                  <a:schemeClr val="tx1"/>
                </a:solidFill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he-IL" sz="3200" dirty="0">
                <a:solidFill>
                  <a:schemeClr val="tx1"/>
                </a:solidFill>
              </a:rPr>
              <a:t>(</a:t>
            </a:r>
            <a:r>
              <a:rPr lang="he-IL" sz="3200" dirty="0">
                <a:solidFill>
                  <a:schemeClr val="tx1"/>
                </a:solidFill>
                <a:hlinkClick r:id="rId3" tooltip="שופטים ה ב"/>
              </a:rPr>
              <a:t>ב</a:t>
            </a:r>
            <a:r>
              <a:rPr lang="he-IL" sz="3200" dirty="0">
                <a:solidFill>
                  <a:schemeClr val="tx1"/>
                </a:solidFill>
              </a:rPr>
              <a:t>) בִּפְרֹעַ פְּרָעוֹת בְּיִשְׂרָאֵל בְּהִתְנַדֵּב עָם בָּרֲכוּ יְהוָה.</a:t>
            </a:r>
          </a:p>
          <a:p>
            <a:pPr algn="r">
              <a:lnSpc>
                <a:spcPct val="150000"/>
              </a:lnSpc>
            </a:pPr>
            <a:r>
              <a:rPr lang="he-IL" sz="3200" dirty="0">
                <a:solidFill>
                  <a:schemeClr val="tx1"/>
                </a:solidFill>
              </a:rPr>
              <a:t>(</a:t>
            </a:r>
            <a:r>
              <a:rPr lang="he-IL" sz="3200" dirty="0">
                <a:solidFill>
                  <a:schemeClr val="tx1"/>
                </a:solidFill>
                <a:hlinkClick r:id="rId4" tooltip="שופטים ה ו"/>
              </a:rPr>
              <a:t>ו</a:t>
            </a:r>
            <a:r>
              <a:rPr lang="he-IL" sz="3200" dirty="0">
                <a:solidFill>
                  <a:schemeClr val="tx1"/>
                </a:solidFill>
              </a:rPr>
              <a:t>) בִּימֵי שַׁמְגַּר בֶּן עֲנָת בִּימֵי יָעֵל </a:t>
            </a:r>
          </a:p>
          <a:p>
            <a:pPr algn="r">
              <a:lnSpc>
                <a:spcPct val="150000"/>
              </a:lnSpc>
            </a:pPr>
            <a:r>
              <a:rPr lang="he-IL" sz="3200" dirty="0">
                <a:solidFill>
                  <a:schemeClr val="tx1"/>
                </a:solidFill>
              </a:rPr>
              <a:t>חָדְלוּ </a:t>
            </a:r>
            <a:r>
              <a:rPr lang="he-IL" sz="3200" dirty="0" err="1">
                <a:solidFill>
                  <a:schemeClr val="tx1"/>
                </a:solidFill>
              </a:rPr>
              <a:t>אֳרָחוֹת</a:t>
            </a:r>
            <a:r>
              <a:rPr lang="he-IL" sz="3200" dirty="0">
                <a:solidFill>
                  <a:schemeClr val="tx1"/>
                </a:solidFill>
              </a:rPr>
              <a:t> וְהֹלְכֵי נְתִיבוֹת...</a:t>
            </a:r>
          </a:p>
          <a:p>
            <a:pPr algn="r">
              <a:lnSpc>
                <a:spcPct val="150000"/>
              </a:lnSpc>
            </a:pPr>
            <a:r>
              <a:rPr lang="he-IL" sz="3200" dirty="0">
                <a:solidFill>
                  <a:schemeClr val="tx1"/>
                </a:solidFill>
              </a:rPr>
              <a:t>(ט) ...הַמִּתְנַדְּבִים בָּעָם בָּרֲכוּ יְהוָה.</a:t>
            </a:r>
          </a:p>
          <a:p>
            <a:pPr algn="r">
              <a:lnSpc>
                <a:spcPct val="150000"/>
              </a:lnSpc>
            </a:pPr>
            <a:r>
              <a:rPr lang="he-IL" sz="3200" dirty="0">
                <a:solidFill>
                  <a:schemeClr val="tx1"/>
                </a:solidFill>
              </a:rPr>
              <a:t>(</a:t>
            </a:r>
            <a:r>
              <a:rPr lang="he-IL" sz="3200" dirty="0" err="1">
                <a:solidFill>
                  <a:schemeClr val="tx1"/>
                </a:solidFill>
                <a:hlinkClick r:id="rId5" tooltip="שופטים ה יב"/>
              </a:rPr>
              <a:t>יב</a:t>
            </a:r>
            <a:r>
              <a:rPr lang="he-IL" sz="3200" dirty="0">
                <a:solidFill>
                  <a:schemeClr val="tx1"/>
                </a:solidFill>
              </a:rPr>
              <a:t>) עוּרִי </a:t>
            </a:r>
            <a:r>
              <a:rPr lang="he-IL" sz="3200" dirty="0" err="1">
                <a:solidFill>
                  <a:schemeClr val="tx1"/>
                </a:solidFill>
              </a:rPr>
              <a:t>עוּרִי</a:t>
            </a:r>
            <a:r>
              <a:rPr lang="he-IL" sz="3200" dirty="0">
                <a:solidFill>
                  <a:schemeClr val="tx1"/>
                </a:solidFill>
              </a:rPr>
              <a:t> דְּבוֹרָה עוּרִי </a:t>
            </a:r>
            <a:r>
              <a:rPr lang="he-IL" sz="3200" dirty="0" err="1">
                <a:solidFill>
                  <a:schemeClr val="tx1"/>
                </a:solidFill>
              </a:rPr>
              <a:t>עוּרִי</a:t>
            </a:r>
            <a:r>
              <a:rPr lang="he-IL" sz="3200" dirty="0">
                <a:solidFill>
                  <a:schemeClr val="tx1"/>
                </a:solidFill>
              </a:rPr>
              <a:t> דַּבְּרִי שִׁיר </a:t>
            </a:r>
          </a:p>
          <a:p>
            <a:pPr algn="r">
              <a:lnSpc>
                <a:spcPct val="150000"/>
              </a:lnSpc>
            </a:pPr>
            <a:r>
              <a:rPr lang="he-IL" sz="3200" dirty="0">
                <a:solidFill>
                  <a:schemeClr val="tx1"/>
                </a:solidFill>
              </a:rPr>
              <a:t>קוּם בָּרָק וּשֲׁבֵה שֶׁבְיְךָ בֶּן אֲבִינֹעַם</a:t>
            </a:r>
            <a:r>
              <a:rPr lang="he-IL" sz="3200" dirty="0"/>
              <a:t>.</a:t>
            </a:r>
          </a:p>
        </p:txBody>
      </p:sp>
      <p:sp>
        <p:nvSpPr>
          <p:cNvPr id="4" name="AutoShape 4" descr="תווים ונהנים - Home | Facebook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6" name="מלבן 5"/>
          <p:cNvSpPr/>
          <p:nvPr/>
        </p:nvSpPr>
        <p:spPr>
          <a:xfrm>
            <a:off x="1874197" y="160338"/>
            <a:ext cx="606127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דוגמאות מהשירה</a:t>
            </a:r>
          </a:p>
        </p:txBody>
      </p:sp>
      <p:sp>
        <p:nvSpPr>
          <p:cNvPr id="2" name="מלבן מעוגל 1"/>
          <p:cNvSpPr/>
          <p:nvPr/>
        </p:nvSpPr>
        <p:spPr>
          <a:xfrm>
            <a:off x="1691680" y="2391860"/>
            <a:ext cx="3523916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מעוגל 6"/>
          <p:cNvSpPr/>
          <p:nvPr/>
        </p:nvSpPr>
        <p:spPr>
          <a:xfrm>
            <a:off x="7033483" y="3862585"/>
            <a:ext cx="1132154" cy="440432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4914667" y="3879600"/>
            <a:ext cx="2088232" cy="440432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מעוגל 8"/>
          <p:cNvSpPr/>
          <p:nvPr/>
        </p:nvSpPr>
        <p:spPr>
          <a:xfrm>
            <a:off x="4139953" y="4436367"/>
            <a:ext cx="4025684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מעוגל 9"/>
          <p:cNvSpPr/>
          <p:nvPr/>
        </p:nvSpPr>
        <p:spPr>
          <a:xfrm>
            <a:off x="7043738" y="5229200"/>
            <a:ext cx="1287192" cy="576064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מעוגל 11"/>
          <p:cNvSpPr/>
          <p:nvPr/>
        </p:nvSpPr>
        <p:spPr>
          <a:xfrm>
            <a:off x="4572000" y="5301208"/>
            <a:ext cx="1287192" cy="576064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3035546"/>
            <a:ext cx="3384377" cy="226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לבן 4"/>
          <p:cNvSpPr/>
          <p:nvPr/>
        </p:nvSpPr>
        <p:spPr>
          <a:xfrm>
            <a:off x="1253931" y="1339028"/>
            <a:ext cx="74655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he-IL" sz="5400" b="1" dirty="0">
                <a:ln w="1143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 </a:t>
            </a:r>
            <a:r>
              <a:rPr lang="he-IL" sz="30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וַתָּשַׁר דְּבוֹרָה וּבָרָק בֶּן אֲבִינֹעַם בַּיּוֹם הַהוּא </a:t>
            </a:r>
            <a:r>
              <a:rPr lang="he-IL" sz="3000" dirty="0" err="1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לֵאמֹר</a:t>
            </a:r>
            <a:r>
              <a:rPr lang="he-IL" sz="30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081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2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47774" y="1484784"/>
            <a:ext cx="8896226" cy="4896544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he-IL" sz="2800" dirty="0"/>
              <a:t>(</a:t>
            </a:r>
            <a:r>
              <a:rPr lang="he-IL" sz="2800" dirty="0" err="1">
                <a:hlinkClick r:id="rId2" tooltip="שופטים ה יח"/>
              </a:rPr>
              <a:t>יח</a:t>
            </a:r>
            <a:r>
              <a:rPr lang="he-IL" sz="2800" dirty="0"/>
              <a:t>) זְבֻלוּן עַם חֵרֵף נַפְשׁוֹ לָמוּת וְנַפְתָּלִי עַל מְרוֹמֵי שָׂדֶה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(כ) מִן שָׁמַיִם נִלְחָמוּ הַכּוֹכָבִים </a:t>
            </a:r>
            <a:r>
              <a:rPr lang="he-IL" sz="2800" dirty="0" err="1"/>
              <a:t>מִמְּסִלּוֹתָם</a:t>
            </a:r>
            <a:r>
              <a:rPr lang="he-IL" sz="2800" dirty="0"/>
              <a:t> 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נִלְחֲמוּ עִם סִיסְרָא.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(</a:t>
            </a:r>
            <a:r>
              <a:rPr lang="he-IL" sz="2800" dirty="0" err="1"/>
              <a:t>כא</a:t>
            </a:r>
            <a:r>
              <a:rPr lang="he-IL" sz="2800" dirty="0"/>
              <a:t>) נַחַל קִישׁוֹן גְּרָפָם 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נַחַל קְדוּמִים נַחַל קִישׁוֹן תִּדְרְכִי נַפְשִׁי עֹז.</a:t>
            </a:r>
          </a:p>
          <a:p>
            <a:pPr algn="r">
              <a:lnSpc>
                <a:spcPct val="150000"/>
              </a:lnSpc>
            </a:pPr>
            <a:endParaRPr lang="he-IL" sz="2800" dirty="0"/>
          </a:p>
        </p:txBody>
      </p:sp>
      <p:sp>
        <p:nvSpPr>
          <p:cNvPr id="4" name="AutoShape 4" descr="תווים ונהנים - Home | Facebook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6" name="מלבן 5"/>
          <p:cNvSpPr/>
          <p:nvPr/>
        </p:nvSpPr>
        <p:spPr>
          <a:xfrm>
            <a:off x="1707903" y="188640"/>
            <a:ext cx="606127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דוגמאות מהשירה</a:t>
            </a:r>
          </a:p>
        </p:txBody>
      </p:sp>
      <p:sp>
        <p:nvSpPr>
          <p:cNvPr id="5" name="מלבן מעוגל 4"/>
          <p:cNvSpPr/>
          <p:nvPr/>
        </p:nvSpPr>
        <p:spPr>
          <a:xfrm>
            <a:off x="4788024" y="1628800"/>
            <a:ext cx="2371788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מעוגל 6"/>
          <p:cNvSpPr/>
          <p:nvPr/>
        </p:nvSpPr>
        <p:spPr>
          <a:xfrm>
            <a:off x="8072430" y="3013270"/>
            <a:ext cx="1003307" cy="703762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6304668" y="2348880"/>
            <a:ext cx="1003636" cy="576064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מעוגל 8"/>
          <p:cNvSpPr/>
          <p:nvPr/>
        </p:nvSpPr>
        <p:spPr>
          <a:xfrm>
            <a:off x="6919236" y="3869432"/>
            <a:ext cx="1440160" cy="703762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מעוגל 9"/>
          <p:cNvSpPr/>
          <p:nvPr/>
        </p:nvSpPr>
        <p:spPr>
          <a:xfrm>
            <a:off x="5822693" y="4653136"/>
            <a:ext cx="3253044" cy="576064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מעוגל 10"/>
          <p:cNvSpPr/>
          <p:nvPr/>
        </p:nvSpPr>
        <p:spPr>
          <a:xfrm>
            <a:off x="6007479" y="3933056"/>
            <a:ext cx="890136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23502"/>
            <a:ext cx="2952328" cy="2214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543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15230" y="1224047"/>
            <a:ext cx="8896226" cy="4082008"/>
          </a:xfrm>
        </p:spPr>
        <p:txBody>
          <a:bodyPr>
            <a:noAutofit/>
          </a:bodyPr>
          <a:lstStyle/>
          <a:p>
            <a:pPr algn="r">
              <a:lnSpc>
                <a:spcPct val="150000"/>
              </a:lnSpc>
            </a:pPr>
            <a:r>
              <a:rPr lang="he-IL" sz="2800" dirty="0"/>
              <a:t>כד) תְּבֹרַךְ מִנָּשִׁים יָעֵל אֵשֶׁת חֶבֶר הַקֵּינִי מִנָּשִׁים בָּאֹהֶל תְּבֹרָךְ.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(כה) מַיִם שָׁאַל חָלָב נָתָנָה בְּסֵפֶל אַדִּירִים הִקְרִיבָה חֶמְאָה.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(</a:t>
            </a:r>
            <a:r>
              <a:rPr lang="he-IL" sz="2800" dirty="0" err="1"/>
              <a:t>כח</a:t>
            </a:r>
            <a:r>
              <a:rPr lang="he-IL" sz="2800" dirty="0"/>
              <a:t>) בְּעַד הַחַלּוֹן נִשְׁקְפָה </a:t>
            </a:r>
            <a:r>
              <a:rPr lang="he-IL" sz="2800" dirty="0" err="1"/>
              <a:t>וַתְּיַבֵּב</a:t>
            </a:r>
            <a:r>
              <a:rPr lang="he-IL" sz="2800" dirty="0"/>
              <a:t> אֵם סִיסְרָא בְּעַד הָאֶשְׁנָב מַדּוּעַ בֹּשֵׁשׁ רִכְבּוֹ לָבוֹא מַדּוּעַ אֶחֱרוּ פַּעֲמֵי מַרְכְּבוֹתָיו.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(</a:t>
            </a:r>
            <a:r>
              <a:rPr lang="he-IL" sz="2800" dirty="0" err="1"/>
              <a:t>כט</a:t>
            </a:r>
            <a:r>
              <a:rPr lang="he-IL" sz="2800" dirty="0"/>
              <a:t>) חַכְמוֹת שָׂרוֹתֶיהָ תַּעֲנֶינָּה אַף הִיא תָּשִׁיב אֲמָרֶיהָ לָהּ.</a:t>
            </a:r>
          </a:p>
          <a:p>
            <a:pPr algn="r">
              <a:lnSpc>
                <a:spcPct val="150000"/>
              </a:lnSpc>
            </a:pPr>
            <a:r>
              <a:rPr lang="he-IL" sz="2800" dirty="0"/>
              <a:t>(</a:t>
            </a:r>
            <a:r>
              <a:rPr lang="he-IL" sz="2800" dirty="0">
                <a:hlinkClick r:id="rId2" tooltip="שופטים ה לא"/>
              </a:rPr>
              <a:t>לא</a:t>
            </a:r>
            <a:r>
              <a:rPr lang="he-IL" sz="2800" dirty="0"/>
              <a:t>) כֵּן יֹאבְדוּ כָל אוֹיְבֶיךָ יְהוָה וְאֹהֲבָיו כְּצֵאת הַשֶּׁמֶשׁ בִּגְבֻרָתוֹ</a:t>
            </a:r>
          </a:p>
        </p:txBody>
      </p:sp>
      <p:sp>
        <p:nvSpPr>
          <p:cNvPr id="4" name="AutoShape 4" descr="תווים ונהנים - Home | Facebook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6" name="מלבן 5"/>
          <p:cNvSpPr/>
          <p:nvPr/>
        </p:nvSpPr>
        <p:spPr>
          <a:xfrm>
            <a:off x="1979712" y="37073"/>
            <a:ext cx="606127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דוגמאות מהשירה</a:t>
            </a:r>
          </a:p>
        </p:txBody>
      </p:sp>
      <p:sp>
        <p:nvSpPr>
          <p:cNvPr id="5" name="מלבן מעוגל 4"/>
          <p:cNvSpPr/>
          <p:nvPr/>
        </p:nvSpPr>
        <p:spPr>
          <a:xfrm>
            <a:off x="6588224" y="1327494"/>
            <a:ext cx="1944216" cy="576064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מעוגל 6"/>
          <p:cNvSpPr/>
          <p:nvPr/>
        </p:nvSpPr>
        <p:spPr>
          <a:xfrm>
            <a:off x="827584" y="1412776"/>
            <a:ext cx="2808312" cy="576064"/>
          </a:xfrm>
          <a:prstGeom prst="roundRect">
            <a:avLst/>
          </a:prstGeom>
          <a:solidFill>
            <a:srgbClr val="81D31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5402330" y="2204864"/>
            <a:ext cx="2914086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מעוגל 8"/>
          <p:cNvSpPr/>
          <p:nvPr/>
        </p:nvSpPr>
        <p:spPr>
          <a:xfrm>
            <a:off x="4758996" y="2963799"/>
            <a:ext cx="893124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מעוגל 9"/>
          <p:cNvSpPr/>
          <p:nvPr/>
        </p:nvSpPr>
        <p:spPr>
          <a:xfrm>
            <a:off x="6815831" y="3539863"/>
            <a:ext cx="2216364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מעוגל 10"/>
          <p:cNvSpPr/>
          <p:nvPr/>
        </p:nvSpPr>
        <p:spPr>
          <a:xfrm>
            <a:off x="2861512" y="3539863"/>
            <a:ext cx="3107667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מעוגל 11"/>
          <p:cNvSpPr/>
          <p:nvPr/>
        </p:nvSpPr>
        <p:spPr>
          <a:xfrm>
            <a:off x="4932040" y="5085184"/>
            <a:ext cx="3384375" cy="576064"/>
          </a:xfrm>
          <a:prstGeom prst="round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מלבן 1"/>
          <p:cNvSpPr/>
          <p:nvPr/>
        </p:nvSpPr>
        <p:spPr>
          <a:xfrm>
            <a:off x="4705055" y="5661248"/>
            <a:ext cx="4055918" cy="6670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800" dirty="0" err="1">
                <a:solidFill>
                  <a:schemeClr val="tx2"/>
                </a:solidFill>
              </a:rPr>
              <a:t>וַתִּשְׁקֹט</a:t>
            </a:r>
            <a:r>
              <a:rPr lang="he-IL" sz="2800" dirty="0">
                <a:solidFill>
                  <a:schemeClr val="tx2"/>
                </a:solidFill>
              </a:rPr>
              <a:t> הָאָרֶץ אַרְבָּעִים שָׁנָה.</a:t>
            </a:r>
          </a:p>
        </p:txBody>
      </p:sp>
      <p:sp>
        <p:nvSpPr>
          <p:cNvPr id="13" name="מלבן 12"/>
          <p:cNvSpPr/>
          <p:nvPr/>
        </p:nvSpPr>
        <p:spPr>
          <a:xfrm>
            <a:off x="4692546" y="5642278"/>
            <a:ext cx="4055918" cy="6670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800" dirty="0" err="1">
                <a:solidFill>
                  <a:srgbClr val="FF0000"/>
                </a:solidFill>
              </a:rPr>
              <a:t>וַתִּשְׁקֹט</a:t>
            </a:r>
            <a:r>
              <a:rPr lang="he-IL" sz="2800" dirty="0">
                <a:solidFill>
                  <a:srgbClr val="FF0000"/>
                </a:solidFill>
              </a:rPr>
              <a:t> הָאָרֶץ אַרְבָּעִים שָׁנָה.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5" t="26372" r="13199" b="-1"/>
          <a:stretch/>
        </p:blipFill>
        <p:spPr bwMode="auto">
          <a:xfrm>
            <a:off x="2896738" y="5642278"/>
            <a:ext cx="1584131" cy="1133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מלבן 14"/>
          <p:cNvSpPr/>
          <p:nvPr/>
        </p:nvSpPr>
        <p:spPr>
          <a:xfrm>
            <a:off x="1497047" y="1156746"/>
            <a:ext cx="9653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400" b="1" cap="none" spc="0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מב"ת</a:t>
            </a:r>
            <a:endParaRPr lang="he-IL" sz="2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605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תווים ונהנים - Home | Facebook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7" name="הישיבשיר 2 - מיזם שירת ההמונים של קול ברמה.mp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35800" end="221244.4583"/>
                  <p14:fade out="2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67744" y="1772816"/>
            <a:ext cx="609600" cy="609600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1043608" y="877363"/>
            <a:ext cx="74655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he-IL" sz="5400" b="1" dirty="0">
                <a:ln w="1143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 </a:t>
            </a:r>
            <a:r>
              <a:rPr lang="he-IL" sz="30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וַתָּשַׁר דְּבוֹרָה וּבָרָק בֶּן אֲבִינֹעַם בַּיּוֹם הַהוּא </a:t>
            </a:r>
            <a:r>
              <a:rPr lang="he-IL" sz="3000" dirty="0" err="1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לֵאמֹר</a:t>
            </a:r>
            <a:r>
              <a:rPr lang="he-IL" sz="30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" name="מלבן 4"/>
          <p:cNvSpPr/>
          <p:nvPr/>
        </p:nvSpPr>
        <p:spPr>
          <a:xfrm>
            <a:off x="1043608" y="2385481"/>
            <a:ext cx="7704856" cy="343170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alpha val="56000"/>
                </a:schemeClr>
              </a:gs>
              <a:gs pos="13000">
                <a:srgbClr val="F8B049"/>
              </a:gs>
              <a:gs pos="21001">
                <a:srgbClr val="F8B049"/>
              </a:gs>
              <a:gs pos="44000">
                <a:srgbClr val="FEE7F2"/>
              </a:gs>
              <a:gs pos="80000">
                <a:srgbClr val="00B050"/>
              </a:gs>
              <a:gs pos="92000">
                <a:srgbClr val="F8B049"/>
              </a:gs>
            </a:gsLst>
            <a:lin ang="5400000" scaled="0"/>
            <a:tileRect r="-100000" b="-100000"/>
          </a:gra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he-IL" sz="2800" dirty="0" err="1">
                <a:solidFill>
                  <a:srgbClr val="C00000"/>
                </a:solidFill>
                <a:latin typeface="Guttman Stam" pitchFamily="2" charset="-79"/>
                <a:cs typeface="Guttman Stam" pitchFamily="2" charset="-79"/>
              </a:rPr>
              <a:t>כג</a:t>
            </a:r>
            <a:r>
              <a:rPr lang="he-IL" sz="2800" dirty="0">
                <a:solidFill>
                  <a:srgbClr val="C00000"/>
                </a:solidFill>
                <a:latin typeface="Guttman Stam" pitchFamily="2" charset="-79"/>
                <a:cs typeface="Guttman Stam" pitchFamily="2" charset="-79"/>
              </a:rPr>
              <a:t>. </a:t>
            </a:r>
            <a:r>
              <a:rPr lang="he-IL" sz="2800" dirty="0" err="1">
                <a:solidFill>
                  <a:srgbClr val="C00000"/>
                </a:solidFill>
                <a:latin typeface="Guttman Stam" pitchFamily="2" charset="-79"/>
                <a:cs typeface="Guttman Stam" pitchFamily="2" charset="-79"/>
              </a:rPr>
              <a:t>וַיַּכְנַע</a:t>
            </a:r>
            <a:r>
              <a:rPr lang="he-IL" sz="2800" dirty="0">
                <a:solidFill>
                  <a:srgbClr val="C00000"/>
                </a:solidFill>
                <a:latin typeface="Guttman Stam" pitchFamily="2" charset="-79"/>
                <a:cs typeface="Guttman Stam" pitchFamily="2" charset="-79"/>
              </a:rPr>
              <a:t> </a:t>
            </a:r>
            <a:r>
              <a:rPr lang="he-IL" sz="2800" dirty="0" err="1">
                <a:solidFill>
                  <a:srgbClr val="C00000"/>
                </a:solidFill>
                <a:latin typeface="Guttman Stam" pitchFamily="2" charset="-79"/>
                <a:cs typeface="Guttman Stam" pitchFamily="2" charset="-79"/>
              </a:rPr>
              <a:t>אֱלֹהִים</a:t>
            </a:r>
            <a:r>
              <a:rPr lang="he-IL" sz="2800" dirty="0">
                <a:solidFill>
                  <a:srgbClr val="C00000"/>
                </a:solidFill>
                <a:latin typeface="Guttman Stam" pitchFamily="2" charset="-79"/>
                <a:cs typeface="Guttman Stam" pitchFamily="2" charset="-79"/>
              </a:rPr>
              <a:t> בַּיּוֹם הַהוּא אֵת יָבִין מֶלֶךְ כְּנָעַן לִפְנֵי בְּנֵי יִשְׂרָאֵל.</a:t>
            </a:r>
          </a:p>
          <a:p>
            <a:pPr algn="ctr">
              <a:lnSpc>
                <a:spcPct val="200000"/>
              </a:lnSpc>
            </a:pPr>
            <a:r>
              <a:rPr lang="he-IL" sz="2800" dirty="0">
                <a:solidFill>
                  <a:srgbClr val="C00000"/>
                </a:solidFill>
                <a:latin typeface="Guttman Stam" pitchFamily="2" charset="-79"/>
                <a:cs typeface="Guttman Stam" pitchFamily="2" charset="-79"/>
              </a:rPr>
              <a:t>כד. וַתֵּלֶךְ יַד בְּנֵי יִשְׂרָאֵל הָלוֹךְ וְקָשָׁה עַל יָבִין מֶלֶךְ כְּנָעַן עַד אֲשֶׁר הִכְרִיתוּ אֵת יָבִין מֶלֶךְ כְּנָעַן.</a:t>
            </a:r>
          </a:p>
        </p:txBody>
      </p:sp>
    </p:spTree>
    <p:extLst>
      <p:ext uri="{BB962C8B-B14F-4D97-AF65-F5344CB8AC3E}">
        <p14:creationId xmlns:p14="http://schemas.microsoft.com/office/powerpoint/2010/main" val="157587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39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8" grpId="0"/>
      <p:bldP spid="5" grpId="0" animBg="1"/>
    </p:bldLst>
  </p:timing>
</p:sld>
</file>

<file path=ppt/theme/theme1.xml><?xml version="1.0" encoding="utf-8"?>
<a:theme xmlns:a="http://schemas.openxmlformats.org/drawingml/2006/main" name="זרם מדחף">
  <a:themeElements>
    <a:clrScheme name="זרם מדחף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זרם מדחף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זרם מדחף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140</TotalTime>
  <Words>100</Words>
  <Application>Microsoft Office PowerPoint</Application>
  <PresentationFormat>‫הצגה על המסך (4:3)</PresentationFormat>
  <Paragraphs>33</Paragraphs>
  <Slides>7</Slides>
  <Notes>0</Notes>
  <HiddenSlides>0</HiddenSlides>
  <MMClips>2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8" baseType="lpstr">
      <vt:lpstr>זרם מדחף</vt:lpstr>
      <vt:lpstr>שופטים פרק ה שירת דבורה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שירת דבורה</dc:title>
  <dc:creator>‏‏משתמש Windows</dc:creator>
  <cp:lastModifiedBy>aron2018@outlook.co.il</cp:lastModifiedBy>
  <cp:revision>17</cp:revision>
  <dcterms:created xsi:type="dcterms:W3CDTF">2020-10-25T09:30:50Z</dcterms:created>
  <dcterms:modified xsi:type="dcterms:W3CDTF">2020-11-03T14:35:07Z</dcterms:modified>
</cp:coreProperties>
</file>