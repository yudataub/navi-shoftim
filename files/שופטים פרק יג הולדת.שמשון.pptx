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La+2ilvHJ6DOIbrVWk/dfVCzt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customschemas.google.com/relationships/presentationmetadata" Target="metadata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שקופית כותרת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4" name="Google Shape;24;p15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</p:sp>
        <p:cxnSp>
          <p:nvCxnSpPr>
            <p:cNvPr id="25" name="Google Shape;25;p15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15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" name="Google Shape;27;p15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28" name="Google Shape;28;p1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9" name="Google Shape;29;p15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5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31" name="Google Shape;31;p15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32" name="Google Shape;32;p15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33" name="Google Shape;33;p15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15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 rtl="1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 rtl="1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 rtl="1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 rtl="1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 rtl="1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 rtl="1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 rtl="1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 rtl="1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 rtl="1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מקטע עליונה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עם כיתוב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עם כיתוב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כיתוב">
  <p:cSld name="כותרת וכיתוב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ציטוט עם כיתוב">
  <p:cSld name="ציטוט עם כיתוב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03" name="Google Shape;103;p25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25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רטיס שם">
  <p:cSld name="כרטיס שם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רטיס שם עם ציטוט">
  <p:cSld name="כרטיס שם עם ציטוט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18" name="Google Shape;118;p27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27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נכון או לא נכון">
  <p:cSld name="נכון או לא נכון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טקסט אנכי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9"/>
          <p:cNvSpPr txBox="1">
            <a:spLocks noGrp="1"/>
          </p:cNvSpPr>
          <p:nvPr>
            <p:ph type="body" idx="1"/>
          </p:nvPr>
        </p:nvSpPr>
        <p:spPr>
          <a:xfrm rot="5400000">
            <a:off x="3035282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אנכית וטקסט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>
            <a:spLocks noGrp="1"/>
          </p:cNvSpPr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0"/>
          <p:cNvSpPr txBox="1">
            <a:spLocks noGrp="1"/>
          </p:cNvSpPr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r" rtl="1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6" name="Google Shape;136;p3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4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1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" name="Google Shape;8;p1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" name="Google Shape;9;p14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10" name="Google Shape;10;p14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4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13" name="Google Shape;13;p14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14" name="Google Shape;14;p14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5" name="Google Shape;15;p1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4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1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.jpg" /><Relationship Id="rId4" Type="http://schemas.openxmlformats.org/officeDocument/2006/relationships/image" Target="../media/image2.jp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jp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9.jpg" /><Relationship Id="rId4" Type="http://schemas.openxmlformats.org/officeDocument/2006/relationships/image" Target="../media/image8.jp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.jp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>
            <a:spLocks noGrp="1"/>
          </p:cNvSpPr>
          <p:nvPr>
            <p:ph type="ctrTitle"/>
          </p:nvPr>
        </p:nvSpPr>
        <p:spPr>
          <a:xfrm>
            <a:off x="1230476" y="654756"/>
            <a:ext cx="9014400" cy="1646400"/>
          </a:xfrm>
          <a:prstGeom prst="doubleWave">
            <a:avLst>
              <a:gd name="adj1" fmla="val 6250"/>
              <a:gd name="adj2" fmla="val 0"/>
            </a:avLst>
          </a:prstGeom>
          <a:solidFill>
            <a:srgbClr val="B0E1B7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David"/>
              <a:buNone/>
            </a:pPr>
            <a:r>
              <a:rPr lang="iw-IL" sz="6000" b="1">
                <a:solidFill>
                  <a:schemeClr val="dk2"/>
                </a:solidFill>
                <a:latin typeface="David"/>
                <a:ea typeface="David"/>
                <a:cs typeface="David"/>
                <a:sym typeface="David"/>
              </a:rPr>
              <a:t>שופטים פרק יג' פסוקים א-כב'</a:t>
            </a:r>
            <a:endParaRPr/>
          </a:p>
        </p:txBody>
      </p:sp>
      <p:sp>
        <p:nvSpPr>
          <p:cNvPr id="144" name="Google Shape;144;p1"/>
          <p:cNvSpPr txBox="1">
            <a:spLocks noGrp="1"/>
          </p:cNvSpPr>
          <p:nvPr>
            <p:ph type="subTitle" idx="1"/>
          </p:nvPr>
        </p:nvSpPr>
        <p:spPr>
          <a:xfrm>
            <a:off x="1854200" y="2598327"/>
            <a:ext cx="7766936" cy="4175005"/>
          </a:xfrm>
          <a:prstGeom prst="rect">
            <a:avLst/>
          </a:prstGeom>
          <a:solidFill>
            <a:srgbClr val="7BB4E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3840"/>
              <a:buNone/>
            </a:pPr>
            <a:r>
              <a:rPr lang="iw-IL" sz="4800" b="1" u="sng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הנושאים: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rPr lang="iw-IL" sz="3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הפלישתים משעבדים את בני ישראל.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rPr lang="iw-IL" sz="3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התגלות המלאך לאשת מנוח.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rPr lang="iw-IL" sz="3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אשת מנוח מספרת לבעלה על ההתגלות.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rPr lang="iw-IL" sz="3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המלאך מתגלה שוב למנוח ואשתו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rPr lang="iw-IL" sz="3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הולדת שמשון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3200"/>
              <a:buNone/>
            </a:pPr>
            <a:endParaRPr sz="4000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7394222" y="3154312"/>
            <a:ext cx="4188178" cy="3355419"/>
          </a:xfrm>
          <a:prstGeom prst="hexagon">
            <a:avLst>
              <a:gd name="adj" fmla="val 25000"/>
              <a:gd name="vf" fmla="val 115470"/>
            </a:avLst>
          </a:prstGeom>
          <a:blipFill rotWithShape="1">
            <a:blip r:embed="rId3">
              <a:alphaModFix/>
            </a:blip>
            <a:tile tx="0" ty="0" sx="100000" sy="100000" flip="none" algn="tl"/>
          </a:blip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 b="1" i="0" u="sng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חטא בנ"י: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וַיֹּסִיפוּ בְּנֵי יִשְׂרָאֵל, לַעֲשׂוֹת הָרַע בְּעֵינֵי יְהוָה</a:t>
            </a:r>
            <a:endParaRPr sz="36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2427112" y="4487467"/>
            <a:ext cx="4741334" cy="2314218"/>
          </a:xfrm>
          <a:prstGeom prst="hexagon">
            <a:avLst>
              <a:gd name="adj" fmla="val 25000"/>
              <a:gd name="vf" fmla="val 115470"/>
            </a:avLst>
          </a:prstGeom>
          <a:blipFill rotWithShape="1">
            <a:blip r:embed="rId4">
              <a:alphaModFix/>
            </a:blip>
            <a:tile tx="0" ty="0" sx="100000" sy="100000" flip="none" algn="tl"/>
          </a:blip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 b="1" i="0" u="sng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העונש: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האויב</a:t>
            </a:r>
            <a:r>
              <a:rPr lang="iw-IL" sz="32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: פלישתים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משך השעבוד</a:t>
            </a:r>
            <a:r>
              <a:rPr lang="iw-IL" sz="32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: 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40 שנה </a:t>
            </a:r>
            <a:endParaRPr sz="32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5892799" y="431542"/>
            <a:ext cx="6096000" cy="1938992"/>
          </a:xfrm>
          <a:prstGeom prst="rect">
            <a:avLst/>
          </a:prstGeom>
          <a:solidFill>
            <a:srgbClr val="D4ECB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א</a:t>
            </a:r>
            <a:r>
              <a:rPr lang="iw-IL" sz="40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וַיֹּסִיפוּ בְּנֵי יִשְׂרָאֵל, לַעֲשׂוֹת הָרַע בְּעֵינֵי יְהוָה; וַיִּתְּנֵם יְהוָה בְּיַד-פְּלִשְׁתִּים, אַרְבָּעִים שָׁנָה.  {פ}</a:t>
            </a:r>
            <a:endParaRPr sz="40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52" name="Google Shape;152;p2"/>
          <p:cNvCxnSpPr/>
          <p:nvPr/>
        </p:nvCxnSpPr>
        <p:spPr>
          <a:xfrm flipH="1">
            <a:off x="6502399" y="4109155"/>
            <a:ext cx="2269068" cy="1049867"/>
          </a:xfrm>
          <a:prstGeom prst="straightConnector1">
            <a:avLst/>
          </a:prstGeom>
          <a:noFill/>
          <a:ln w="25400" cap="rnd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</p:cxnSp>
      <p:pic>
        <p:nvPicPr>
          <p:cNvPr id="153" name="Google Shape;153;p2" descr="שופטים פרק י&quot;ג - שמשון הגיבור - Judges 13 - YouTub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441" y="217251"/>
            <a:ext cx="5709776" cy="3779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822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/>
        </p:nvSpPr>
        <p:spPr>
          <a:xfrm>
            <a:off x="511716" y="226100"/>
            <a:ext cx="5464680" cy="6555641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ב. איש אחד </a:t>
            </a:r>
            <a:r>
              <a:rPr lang="iw-IL" sz="28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מצרעה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iw-IL" sz="28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משבט דן 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וקוראים לו מנוח. אשתו הייתה עקרה ולא ילדה. (נקראת בשם צללפוני)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ג. מלאך ה' התגלה אליה ואמר לה את עקרה ולא יכולה ללדת, ועכשיו הולך להיוולד לך בן.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ד. את צריכה להיזהר ולא לשתות יין וכל דבר טמא שאסור לנזיר לאכול.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ה. הסיבה לכך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: כי יוולד לך בן ושום סכין לא יעלה לו על שערות ראשו שהוא יהיה נזיר ה' מהרגע שיצא מהרחם והוא יושיע את עם ישראל מפלישתים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6215605" y="226100"/>
            <a:ext cx="5615150" cy="4093428"/>
          </a:xfrm>
          <a:prstGeom prst="rect">
            <a:avLst/>
          </a:prstGeom>
          <a:solidFill>
            <a:srgbClr val="B1ECD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6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ב</a:t>
            </a:r>
            <a:r>
              <a:rPr lang="iw-IL" sz="2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וַיְהִי אִישׁ אֶחָד </a:t>
            </a:r>
            <a:r>
              <a:rPr lang="iw-IL" sz="26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מִצָּרְעָה</a:t>
            </a:r>
            <a:r>
              <a:rPr lang="iw-IL" sz="2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iw-IL" sz="26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מִמִּשְׁפַּחַת הַדָּנִי</a:t>
            </a:r>
            <a:r>
              <a:rPr lang="iw-IL" sz="2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וּשְׁמוֹ </a:t>
            </a:r>
            <a:r>
              <a:rPr lang="iw-IL" sz="2600" b="1" i="0" u="none" strike="noStrike" cap="none">
                <a:solidFill>
                  <a:srgbClr val="000000"/>
                </a:solidFill>
                <a:highlight>
                  <a:srgbClr val="FF00FF"/>
                </a:highlight>
                <a:latin typeface="David"/>
                <a:ea typeface="David"/>
                <a:cs typeface="David"/>
                <a:sym typeface="David"/>
              </a:rPr>
              <a:t>מָנוֹחַ</a:t>
            </a:r>
            <a:r>
              <a:rPr lang="iw-IL" sz="2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; וְאִשְׁתּוֹ עֲקָרָה, וְלֹא יָלָדָה.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6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ג</a:t>
            </a:r>
            <a:r>
              <a:rPr lang="iw-IL" sz="2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וַיֵּרָא מַלְאַךְ-יְהוָה, אֶל-הָאִשָּׁה; וַיֹּאמֶר אֵלֶיהָ, הִנֵּה-נָא </a:t>
            </a:r>
            <a:r>
              <a:rPr lang="iw-IL" sz="26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אַתְּ-עֲקָרָה וְלֹא יָלַדְתְּ</a:t>
            </a:r>
            <a:r>
              <a:rPr lang="iw-IL" sz="2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וְהָרִית, וְיָלַדְתְּ בֵּן.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6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ד</a:t>
            </a:r>
            <a:r>
              <a:rPr lang="iw-IL" sz="2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וְעַתָּה הִשָּׁמְרִי נָא, </a:t>
            </a:r>
            <a:r>
              <a:rPr lang="iw-IL" sz="26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וְאַל-תִּשְׁתִּי יַיִן וְשֵׁכָר; וְאַל-תֹּאכְלִי, כָּל-טָמֵא</a:t>
            </a:r>
            <a:r>
              <a:rPr lang="iw-IL" sz="2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6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lang="iw-IL" sz="2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כִּי הִנָּךְ הָרָה וְיֹלַדְתְּ בֵּן, </a:t>
            </a:r>
            <a:r>
              <a:rPr lang="iw-IL" sz="26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וּמוֹרָה לֹא-יַעֲלֶה עַל-רֹאשׁוֹ</a:t>
            </a:r>
            <a:r>
              <a:rPr lang="iw-IL" sz="2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--</a:t>
            </a:r>
            <a:r>
              <a:rPr lang="iw-IL" sz="2600" b="1" i="0" u="none" strike="noStrike" cap="none">
                <a:solidFill>
                  <a:srgbClr val="000000"/>
                </a:solidFill>
                <a:highlight>
                  <a:srgbClr val="FF00FF"/>
                </a:highlight>
                <a:latin typeface="David"/>
                <a:ea typeface="David"/>
                <a:cs typeface="David"/>
                <a:sym typeface="David"/>
              </a:rPr>
              <a:t>כִּי-נְזִיר אֱלֹהִים יִהְיֶה הַנַּעַר, מִן-הַבָּטֶן</a:t>
            </a:r>
            <a:r>
              <a:rPr lang="iw-IL" sz="26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; וְהוּא, יָחֵל לְהוֹשִׁיעַ אֶת-יִשְׂרָאֵל--מִיַּד פְּלִשְׁתִּים</a:t>
            </a:r>
            <a:endParaRPr sz="26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0" name="Google Shape;160;p3" descr="ספר שופטים פרק יג - ש״י לילדים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2596" y="4479193"/>
            <a:ext cx="3234943" cy="2152708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5895372" y="410124"/>
            <a:ext cx="6096000" cy="3539430"/>
          </a:xfrm>
          <a:prstGeom prst="rect">
            <a:avLst/>
          </a:prstGeom>
          <a:solidFill>
            <a:srgbClr val="9DB7B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וַתָּבֹא הָאִשָּׁה, </a:t>
            </a:r>
            <a:r>
              <a:rPr lang="iw-IL" sz="2800" b="1" i="0" u="none" strike="noStrike" cap="none">
                <a:solidFill>
                  <a:srgbClr val="000000"/>
                </a:solidFill>
                <a:highlight>
                  <a:srgbClr val="FF00FF"/>
                </a:highlight>
                <a:latin typeface="David"/>
                <a:ea typeface="David"/>
                <a:cs typeface="David"/>
                <a:sym typeface="David"/>
              </a:rPr>
              <a:t>וַתֹּאמֶר לְאִישָׁהּ 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לֵאמֹר, אִישׁ הָאֱלֹהִים בָּא אֵלַי, וּמַרְאֵהוּ כְּמַרְאֵה מַלְאַךְ הָאֱלֹהִים נוֹרָא מְאֹד; </a:t>
            </a: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וְלֹא שְׁאִלְתִּיהוּ אֵי-מִזֶּה הוּא, וְאֶת-שְׁמוֹ לֹא-הִגִּיד לִי.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ז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וַיֹּאמֶר לִי, </a:t>
            </a:r>
            <a:r>
              <a:rPr lang="iw-IL" sz="2800" b="1" i="0" u="none" strike="noStrike" cap="none">
                <a:solidFill>
                  <a:srgbClr val="000000"/>
                </a:solidFill>
                <a:highlight>
                  <a:srgbClr val="FF00FF"/>
                </a:highlight>
                <a:latin typeface="David"/>
                <a:ea typeface="David"/>
                <a:cs typeface="David"/>
                <a:sym typeface="David"/>
              </a:rPr>
              <a:t>הִנָּךְ הָרָה וְיֹלַדְתְּ בֵּן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; </a:t>
            </a:r>
            <a:r>
              <a:rPr lang="iw-IL" sz="2800" b="1" i="0" u="none" strike="noStrike" cap="none">
                <a:solidFill>
                  <a:srgbClr val="000000"/>
                </a:solidFill>
                <a:highlight>
                  <a:srgbClr val="FF00FF"/>
                </a:highlight>
                <a:latin typeface="David"/>
                <a:ea typeface="David"/>
                <a:cs typeface="David"/>
                <a:sym typeface="David"/>
              </a:rPr>
              <a:t>וְעַתָּה אַל-תִּשְׁתִּי יַיִן וְשֵׁכָר, וְאַל-תֹּאכְלִי כָּל-טֻמְאָה-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-</a:t>
            </a:r>
            <a:r>
              <a:rPr lang="iw-IL" sz="28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כִּי-נְזִיר אֱלֹהִים 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יִהְיֶה הַנַּעַר, מִן-הַבֶּטֶן עַד-יוֹם מוֹתוֹ.  {פ}</a:t>
            </a: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200628" y="226100"/>
            <a:ext cx="5436243" cy="4524315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ו. אשתו של מנוח באה לבעלה וספרה: איש נביא בא אלי והיה לו מראה של מלאך. לא שאלתי אותו מאיפה הוא? ומה שמו?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ז. והנביא אמר לי</a:t>
            </a:r>
            <a:r>
              <a:rPr lang="iw-IL" sz="32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: שיוולד לי בן ויהיה נזיר ואסור לי לשתות יין שהוא יהיה נזיר ה' כבר ברחם שלי כל חייו עד יום מותו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6015191" y="5015983"/>
            <a:ext cx="5856361" cy="1569660"/>
          </a:xfrm>
          <a:prstGeom prst="rect">
            <a:avLst/>
          </a:prstGeom>
          <a:solidFill>
            <a:srgbClr val="BFE38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שימו לב!!!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מה לא סיפרה אשת מנוח לבעלה?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שהבן שיוולד לה יושיע את עם ישראל</a:t>
            </a:r>
            <a:endParaRPr/>
          </a:p>
        </p:txBody>
      </p:sp>
      <p:pic>
        <p:nvPicPr>
          <p:cNvPr id="168" name="Google Shape;168;p4" descr="סימן שאלה - סודות ספר יצירה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977" y="3949554"/>
            <a:ext cx="1233061" cy="156966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 txBox="1"/>
          <p:nvPr/>
        </p:nvSpPr>
        <p:spPr>
          <a:xfrm>
            <a:off x="200628" y="5134194"/>
            <a:ext cx="5436243" cy="584775"/>
          </a:xfrm>
          <a:prstGeom prst="rect">
            <a:avLst/>
          </a:prstGeom>
          <a:solidFill>
            <a:srgbClr val="9DE1C5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אישהּ (עם מפיק בהא)= </a:t>
            </a:r>
            <a:r>
              <a:rPr lang="iw-IL" sz="32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הבעל שלה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/>
          <p:nvPr/>
        </p:nvSpPr>
        <p:spPr>
          <a:xfrm>
            <a:off x="7315200" y="120674"/>
            <a:ext cx="4684887" cy="5201424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ח</a:t>
            </a:r>
            <a:r>
              <a:rPr lang="iw-IL" sz="30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lang="iw-IL" sz="30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וַיֶּעְתַּר</a:t>
            </a:r>
            <a:r>
              <a:rPr lang="iw-IL" sz="30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מָנוֹחַ אֶל-יְהוָה, וַיֹּאמַר:  בִּי אֲדוֹנָי--אִישׁ הָאֱלֹהִים אֲשֶׁר שָׁלַחְתָּ יָבוֹא-נָא עוֹד אֵלֵינוּ, </a:t>
            </a:r>
            <a:r>
              <a:rPr lang="iw-IL" sz="30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וְיוֹרֵנוּ</a:t>
            </a:r>
            <a:r>
              <a:rPr lang="iw-IL" sz="30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מַה-נַּעֲשֶׂה לַנַּעַר הַיּוּלָּד.</a:t>
            </a:r>
            <a:r>
              <a:rPr lang="iw-IL" sz="30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ט</a:t>
            </a:r>
            <a:r>
              <a:rPr lang="iw-IL" sz="30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וַיִּשְׁמַע הָאֱלֹהִים, בְּקוֹל מָנוֹחַ; וַיָּבֹא מַלְאַךְ הָאֱלֹהִים עוֹד אֶל-הָאִשָּׁה, </a:t>
            </a:r>
            <a:r>
              <a:rPr lang="iw-IL" sz="30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וְהִיא יוֹשֶׁבֶת בַּשָּׂדֶה, וּמָנוֹחַ אִישָׁהּ, אֵין עִמָּהּ</a:t>
            </a:r>
            <a:r>
              <a:rPr lang="iw-IL" sz="30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</a:t>
            </a:r>
            <a:r>
              <a:rPr lang="iw-IL" sz="30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lang="iw-IL" sz="30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וַתְּמַהֵר</a:t>
            </a:r>
            <a:r>
              <a:rPr lang="iw-IL" sz="30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הָאִשָּׁה, </a:t>
            </a:r>
            <a:r>
              <a:rPr lang="iw-IL" sz="30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וַתָּרָץ</a:t>
            </a:r>
            <a:r>
              <a:rPr lang="iw-IL" sz="30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וַתַּגֵּד לְאִישָׁהּ; וַתֹּאמֶר אֵלָיו--הִנֵּה נִרְאָה אֵלַי הָאִישׁ, אֲשֶׁר-בָּא בַיּוֹם אֵלָי.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 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3815644" y="213096"/>
            <a:ext cx="3138312" cy="6555641"/>
          </a:xfrm>
          <a:prstGeom prst="rect">
            <a:avLst/>
          </a:prstGeom>
          <a:solidFill>
            <a:srgbClr val="BFE38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ח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. מנוח </a:t>
            </a:r>
            <a:r>
              <a:rPr lang="iw-IL" sz="2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התפלל 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לה' וביקש שאותו איש אלוקים יבוא שוב</a:t>
            </a:r>
            <a:r>
              <a:rPr lang="iw-IL" sz="2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 וילמד 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אותנו מה נעשה לנער שיוולד?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ט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. ה' שמע לתפילת מנוח והאיש אלוקים בא שוב ואשת מנוח לבד בשדה ומנוח בעלה לא איתה.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י. רצה אשת מנוח וקראה לבעלה, ואמרה לו הנה התגלה אלי שוב האיש שבא אלי באותו יום</a:t>
            </a:r>
            <a:endParaRPr/>
          </a:p>
        </p:txBody>
      </p:sp>
      <p:pic>
        <p:nvPicPr>
          <p:cNvPr id="176" name="Google Shape;176;p5" descr="אני לא מדבר עם עצמי, אני מתפלל! - הרב של האינטרנט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0437" y="274651"/>
            <a:ext cx="1781175" cy="25717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292929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177" name="Google Shape;177;p5" descr="סיור בעקבות שמשון הגיבור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913" y="3575756"/>
            <a:ext cx="3447970" cy="2294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/>
          <p:nvPr/>
        </p:nvSpPr>
        <p:spPr>
          <a:xfrm>
            <a:off x="5407377" y="194430"/>
            <a:ext cx="6570133" cy="440120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יא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וַיָּקָם וַיֵּלֶךְ מָנוֹחַ, אַחֲרֵי אִשְׁתּוֹ; וַיָּבֹא, אֶל-הָאִישׁ, וַיֹּאמֶר לוֹ </a:t>
            </a: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הַאַתָּה הָאִישׁ אֲשֶׁר-דִּבַּרְתָּ אֶל-הָאִשָּׁה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וַיֹּאמֶר אָנִי.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יב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וַיֹּאמֶר מָנוֹחַ, עַתָּה יָבֹא דְבָרֶיךָ:  מַה-יִּהְיֶה מִשְׁפַּט-הַנַּעַר, וּמַעֲשֵׂהוּ.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יג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וַיֹּאמֶר מַלְאַךְ יְהוָה, אֶל-מָנוֹחַ:  מִכֹּל אֲשֶׁר-אָמַרְתִּי אֶל-הָאִשָּׁה, תִּשָּׁמֵר.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יד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lang="iw-IL" sz="28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מִכֹּל אֲשֶׁר-יֵצֵא מִגֶּפֶן הַיַּיִן לֹא תֹאכַל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</a:t>
            </a:r>
            <a:r>
              <a:rPr lang="iw-IL" sz="28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 וְיַיִן וְשֵׁכָר אַל-תֵּשְׁתְּ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וְכָל-טֻמְאָה, אַל-תֹּאכַל:  כֹּל אֲשֶׁר-צִוִּיתִיהָ, תִּשְׁמֹר.</a:t>
            </a:r>
            <a:endParaRPr sz="2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14490" y="286033"/>
            <a:ext cx="4820354" cy="3970318"/>
          </a:xfrm>
          <a:prstGeom prst="rect">
            <a:avLst/>
          </a:prstGeom>
          <a:solidFill>
            <a:srgbClr val="B1ECD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יא</a:t>
            </a:r>
            <a:r>
              <a:rPr lang="iw-IL" sz="24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. קם מנוח והלך אחרי אשתו.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אמר לו מנוח</a:t>
            </a:r>
            <a:r>
              <a:rPr lang="iw-IL" sz="24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: האם אתה הוא האיש שדברת אל האישה?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ענה המלאך: </a:t>
            </a:r>
            <a:r>
              <a:rPr lang="iw-IL" sz="24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כן אני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יב</a:t>
            </a:r>
            <a:r>
              <a:rPr lang="iw-IL" sz="24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. אמר מנוח : </a:t>
            </a:r>
            <a:r>
              <a:rPr lang="iw-IL" sz="24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כאשר יתקיימו דבריך שיוולד בן בא תגיד לנו מה נעשה עם הילד שיוולד.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יג-יד</a:t>
            </a:r>
            <a:r>
              <a:rPr lang="iw-IL" sz="24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. אמר לו המלאך </a:t>
            </a:r>
            <a:r>
              <a:rPr lang="iw-IL" sz="24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כל מה שאמרתי לאישה שתישמר ולא תשתה יין ולא לאכול ענבים.. כל מה שאמרתי לה תזהר.</a:t>
            </a:r>
            <a:endParaRPr/>
          </a:p>
        </p:txBody>
      </p:sp>
      <p:pic>
        <p:nvPicPr>
          <p:cNvPr id="184" name="Google Shape;184;p6" descr="כל ענב מלמיליאן: טיול ובציר בחבל לכיש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4346989"/>
            <a:ext cx="3222271" cy="2136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6" descr="יין - אור עליון של חכמה - קבלה, מדע ומשמעות החיים - הרב מיכאל לייטמן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72268" y="4586808"/>
            <a:ext cx="3070931" cy="205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>
            <a:spLocks noGrp="1"/>
          </p:cNvSpPr>
          <p:nvPr>
            <p:ph type="title"/>
          </p:nvPr>
        </p:nvSpPr>
        <p:spPr>
          <a:xfrm>
            <a:off x="6756577" y="112889"/>
            <a:ext cx="5097113" cy="82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vid"/>
              <a:buNone/>
            </a:pPr>
            <a:r>
              <a:rPr lang="iw-IL" sz="4800" b="1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חוברת עמוד 74:</a:t>
            </a:r>
            <a:endParaRPr/>
          </a:p>
        </p:txBody>
      </p:sp>
      <p:sp>
        <p:nvSpPr>
          <p:cNvPr id="191" name="Google Shape;191;p7"/>
          <p:cNvSpPr txBox="1">
            <a:spLocks noGrp="1"/>
          </p:cNvSpPr>
          <p:nvPr>
            <p:ph type="body" idx="1"/>
          </p:nvPr>
        </p:nvSpPr>
        <p:spPr>
          <a:xfrm>
            <a:off x="5226756" y="936978"/>
            <a:ext cx="6632400" cy="5678311"/>
          </a:xfrm>
          <a:prstGeom prst="rect">
            <a:avLst/>
          </a:prstGeom>
          <a:solidFill>
            <a:srgbClr val="B0E1B7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iw-IL" sz="2800" b="1">
                <a:latin typeface="David"/>
                <a:ea typeface="David"/>
                <a:cs typeface="David"/>
                <a:sym typeface="David"/>
              </a:rPr>
              <a:t>1. מי התגלה אל אשת מנוח?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560"/>
              <a:buNone/>
            </a:pPr>
            <a:r>
              <a:rPr lang="iw-IL" sz="3200" b="1"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מלאך ה'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iw-IL" sz="2800" b="1">
                <a:latin typeface="David"/>
                <a:ea typeface="David"/>
                <a:cs typeface="David"/>
                <a:sym typeface="David"/>
              </a:rPr>
              <a:t>2.. מה בישר לה המלאך?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iw-IL" sz="2800" b="1"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שיוולד לה בן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iw-IL" sz="2800" b="1">
                <a:latin typeface="David"/>
                <a:ea typeface="David"/>
                <a:cs typeface="David"/>
                <a:sym typeface="David"/>
              </a:rPr>
              <a:t>3. מה אסר המלאך על אשת מנוח לשתות ולאכול?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iw-IL" sz="2800" b="1"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לשתות יין ולאכול ענבים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iw-IL" sz="2800" b="1">
                <a:latin typeface="David"/>
                <a:ea typeface="David"/>
                <a:cs typeface="David"/>
                <a:sym typeface="David"/>
              </a:rPr>
              <a:t>4. מדוע אסר עליה דברים אלו</a:t>
            </a:r>
            <a:r>
              <a:rPr lang="iw-IL" b="1"/>
              <a:t>?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iw-IL" sz="2800" b="1"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כי הבן שיוולד יהיה נזיר מהבטן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iw-IL" sz="2800" b="1">
                <a:latin typeface="David"/>
                <a:ea typeface="David"/>
                <a:cs typeface="David"/>
                <a:sym typeface="David"/>
              </a:rPr>
              <a:t>5. ממתי תתחיל נזירות בנו של מנוח ועד מתי?</a:t>
            </a:r>
            <a:endParaRPr/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lang="iw-IL" sz="2800" b="1"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מהבטן ועד יום מותו.</a:t>
            </a:r>
            <a:endParaRPr/>
          </a:p>
          <a:p>
            <a:pPr marL="342900" lvl="0" indent="-251459" algn="r" rtl="1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b="1"/>
          </a:p>
        </p:txBody>
      </p:sp>
      <p:pic>
        <p:nvPicPr>
          <p:cNvPr id="192" name="Google Shape;192;p7" descr="תורת אמת - שופטים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444" y="316089"/>
            <a:ext cx="2054578" cy="280364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 txBox="1"/>
          <p:nvPr/>
        </p:nvSpPr>
        <p:spPr>
          <a:xfrm>
            <a:off x="248356" y="3429000"/>
            <a:ext cx="4820355" cy="3231654"/>
          </a:xfrm>
          <a:prstGeom prst="rect">
            <a:avLst/>
          </a:prstGeom>
          <a:solidFill>
            <a:srgbClr val="A7CDEA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0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6. </a:t>
            </a:r>
            <a:r>
              <a:rPr lang="iw-IL" sz="24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מה פרוש "ומורא לא יעלה על ראשו?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אסור לו להסתפר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7. מי החליט שהילד יהיה נזיר?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הקב"ה "נזיר אלוקים יהיה הנער"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8. איך נקראת נזירות כזאת?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נזירות שמשון.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5836355" y="485970"/>
            <a:ext cx="5915377" cy="4462760"/>
          </a:xfrm>
          <a:prstGeom prst="rect">
            <a:avLst/>
          </a:prstGeom>
          <a:solidFill>
            <a:srgbClr val="B0E1B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טו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וַיֹּאמֶר מָנוֹחַ, אֶל-מַלְאַךְ יְהוָה:  נַעְצְרָה-נָּא אוֹתָךְ, וְנַעֲשֶׂה לְפָנֶיךָ ג</a:t>
            </a:r>
            <a:r>
              <a:rPr lang="iw-IL" sz="28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ְּדִי עִזִּים.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טז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וַיֹּאמֶר מַלְאַךְ יְהוָה אֶל-מָנוֹחַ,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אִם-תַּעְצְרֵנִי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iw-IL" sz="2800" b="1" i="0" u="none" strike="noStrike" cap="none">
                <a:solidFill>
                  <a:srgbClr val="C00000"/>
                </a:solidFill>
                <a:latin typeface="David"/>
                <a:ea typeface="David"/>
                <a:cs typeface="David"/>
                <a:sym typeface="David"/>
              </a:rPr>
              <a:t>לֹא-אֹכַל בְּלַחְמֶךָ</a:t>
            </a: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וְאִם-תַּעֲשֶׂה עֹלָה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</a:t>
            </a:r>
            <a:r>
              <a:rPr lang="iw-IL" sz="2800" b="1" i="0" u="none" strike="noStrike" cap="none">
                <a:solidFill>
                  <a:srgbClr val="C00000"/>
                </a:solidFill>
                <a:latin typeface="David"/>
                <a:ea typeface="David"/>
                <a:cs typeface="David"/>
                <a:sym typeface="David"/>
              </a:rPr>
              <a:t>לַיהוָה תַּעֲלֶנָּה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: 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כִּי לֹא-יָדַע מָנוֹחַ, כִּי-מַלְאַךְ יְהוָה הוּא.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יז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וַיֹּאמֶר מָנוֹחַ אֶל-מַלְאַךְ יְהוָה, מִי שְׁמֶךָ:  כ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ִּי-יָבֹא (דְבָרְךָ), וְכִבַּדְנוּךָ.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יח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וַיֹּאמֶר לוֹ מַלְאַךְ יְהוָה, לָמָּה זֶּה תִּשְׁאַל לִשְׁמִי--</a:t>
            </a:r>
            <a:r>
              <a:rPr lang="iw-IL" sz="32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וְהוּא-פֶלִאי</a:t>
            </a:r>
            <a:r>
              <a:rPr lang="iw-IL" sz="2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. </a:t>
            </a:r>
            <a:endParaRPr sz="2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553156" y="485970"/>
            <a:ext cx="4820355" cy="5693866"/>
          </a:xfrm>
          <a:prstGeom prst="rect">
            <a:avLst/>
          </a:prstGeom>
          <a:solidFill>
            <a:srgbClr val="A7CDEA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טו. אמר מנוח אל המלאך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: בא תתארח אצלינו וניתן לך גדי עיזים לאכול.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טז. אומר המלאך: 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גם אם תעצור אותי – לא אוכל לאכול מסעודתך.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ואם ברצונך להקריב קורבן לה'- אז תקריב אותה לה'.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יז. אמר מנוח: 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אמור נא מה שמך? שאם יבוא משהו ויאמר בשמך משהו נכבד אותך.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יח. ענה המלאך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: שמי נסתר ונעלם אי אפשר לדעת (כי שם המלאכים משתנה לפי השליחות) . 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5926667" y="5077178"/>
            <a:ext cx="5825066" cy="1569660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פֶֶלִִאי- </a:t>
            </a:r>
            <a:r>
              <a:rPr lang="iw-IL" sz="24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מופלא נסתר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פֶֶלֶֶא= </a:t>
            </a:r>
            <a:r>
              <a:rPr lang="iw-IL" sz="24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נס מעשה היוצא מגדר הרגיל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פלאי פלאים= </a:t>
            </a:r>
            <a:r>
              <a:rPr lang="iw-IL" sz="24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ניסים גדולים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סיר פֶלא= </a:t>
            </a:r>
            <a:r>
              <a:rPr lang="iw-IL" sz="24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סיר מיוחד לאפיית עוגות על הכיריים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7224888" y="263225"/>
            <a:ext cx="4741333" cy="649408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יט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וַיִּקַּח מָנוֹחַ אֶת-גְּדִי הָעִזִּים, וְאֶת-הַמִּנְחָה, וַיַּעַל </a:t>
            </a:r>
            <a:r>
              <a:rPr lang="iw-IL" sz="32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עַל-הַצּוּר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לַיהוָה; </a:t>
            </a:r>
            <a:r>
              <a:rPr lang="iw-IL" sz="32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וּמַפְלִא לַעֲשׂוֹת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וּמָנוֹחַ וְאִשְׁתּוֹ רֹאִים.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וַיְהִי בַעֲלוֹת </a:t>
            </a:r>
            <a:r>
              <a:rPr lang="iw-IL" sz="32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הַלַּהַב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מֵעַל הַמִּזְבֵּחַ, הַשָּׁמַיְמָה, וַיַּעַל מַלְאַךְ-יְהוָה, בְּלַהַב הַמִּזְבֵּחַ; וּמָנוֹחַ וְאִשְׁתּוֹ רֹאִים, </a:t>
            </a:r>
            <a:r>
              <a:rPr lang="iw-IL" sz="32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וַיִּפְּלוּ עַל-פְּנֵיהֶם אָרְצָה.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כא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וְלֹא-יָסַף עוֹד מַלְאַךְ יְהוָה, לְהֵרָאֹה אֶל-מָנוֹחַ וְאֶל-אִשְׁתּוֹ; אָז יָדַע מָנוֹחַ, כִּי-מַלְאַךְ יְהוָה הוּא</a:t>
            </a:r>
            <a:r>
              <a:rPr lang="iw-IL" sz="1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. </a:t>
            </a: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2404534" y="263225"/>
            <a:ext cx="4504265" cy="5262979"/>
          </a:xfrm>
          <a:prstGeom prst="rect">
            <a:avLst/>
          </a:prstGeom>
          <a:solidFill>
            <a:srgbClr val="A7CDEA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יט. 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 מנוח לקח את גדי העיזים ואת המנחה והעלה אותם למנחה על </a:t>
            </a:r>
            <a:r>
              <a:rPr lang="iw-IL" sz="2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הסלע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. והמלאך </a:t>
            </a:r>
            <a:r>
              <a:rPr lang="iw-IL" sz="2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עשה פלאים- והוציא אש מהסלע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, ומנוח ואשתו רואים.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. כאשר גדלה </a:t>
            </a:r>
            <a:r>
              <a:rPr lang="iw-IL" sz="2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השלהבת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 מעל המזבח, נכנס המלאך לתוך השלהבת ונעלם . ומנוח ואשתו רואים ונפלו על פניהם.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כא. ומאז לא הוסיף עוד מלאך ה'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להתגלות למנוח ואשתו, אז ידע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מנוח שזה מלאך ה'.</a:t>
            </a:r>
            <a:endParaRPr/>
          </a:p>
        </p:txBody>
      </p:sp>
      <p:pic>
        <p:nvPicPr>
          <p:cNvPr id="207" name="Google Shape;207;p9" descr="גיאולוגיה – האנציקלופדיה של הטיפוס: טיפוס הרים, טיפוס ספורטיבי, טיפוס חפשי,  קניונינג וגלישה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3912" y="5124577"/>
            <a:ext cx="2269066" cy="163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5847645" y="308380"/>
            <a:ext cx="6096000" cy="5509200"/>
          </a:xfrm>
          <a:prstGeom prst="rect">
            <a:avLst/>
          </a:prstGeom>
          <a:solidFill>
            <a:srgbClr val="88D39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כב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וַיֹּאמֶר מָנוֹחַ אֶל-אִשְׁתּוֹ, </a:t>
            </a:r>
            <a:r>
              <a:rPr lang="iw-IL" sz="32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מוֹת נָמוּת:  כִּי אֱלֹהִים, רָאִינוּ. 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כג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וַתֹּאמֶר לוֹ אִשְׁתּוֹ, </a:t>
            </a:r>
            <a:r>
              <a:rPr lang="iw-IL" sz="32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לוּ חָפֵץ יְהוָה לַהֲמִיתֵנוּ: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לֹא-לָקַח מִיָּדֵנוּ עֹלָה וּמִנְחָה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וְלֹא הֶרְאָנוּ, אֶת-כָּל-אֵלֶּה;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וְכָעֵת, לֹא הִשְׁמִיעָנוּ כָּזֹאת.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כד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וַתֵּלֶד הָאִשָּׁה בֵּן, וַתִּקְרָא אֶת-שְׁמוֹ </a:t>
            </a:r>
            <a:r>
              <a:rPr lang="iw-IL" sz="3200" b="1" i="0" u="none" strike="noStrike" cap="none">
                <a:solidFill>
                  <a:srgbClr val="000000"/>
                </a:solidFill>
                <a:highlight>
                  <a:srgbClr val="FF00FF"/>
                </a:highlight>
                <a:latin typeface="David"/>
                <a:ea typeface="David"/>
                <a:cs typeface="David"/>
                <a:sym typeface="David"/>
              </a:rPr>
              <a:t>שִׁמְשׁוֹן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; וַיִּגְדַּל הַנַּעַר, וַיְבָרְכֵהוּ יְהוָה. 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כה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lang="iw-IL" sz="3200" b="1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וַתָּחֶל רוּחַ יְהוָה</a:t>
            </a:r>
            <a:r>
              <a:rPr lang="iw-IL" sz="32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לְפַעֲמוֹ בְּמַחֲנֵה-דָן, בֵּין צָרְעָה, וּבֵין אֶשְׁתָּאֹל.  {פ}</a:t>
            </a:r>
            <a:endParaRPr sz="3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158044" y="452103"/>
            <a:ext cx="5113867" cy="6124754"/>
          </a:xfrm>
          <a:prstGeom prst="rect">
            <a:avLst/>
          </a:prstGeom>
          <a:solidFill>
            <a:srgbClr val="A7CDEA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כב'. 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 אמר מנוח אל אשתו – </a:t>
            </a:r>
            <a:r>
              <a:rPr lang="iw-IL" sz="2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אני חושש שנמות, מאחר שראינו מלאך אמיתי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כג'. 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אמרה לו אשתו: אם ה' היה רוצה להמיתנו: </a:t>
            </a:r>
            <a:r>
              <a:rPr lang="iw-IL" sz="2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לא היה מקבל מאתנו ברצון את הקורבן, ולא הראה לנו את הניסים הללו, ולא היה משמי לנו בשורה כזו על הולדת בן.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כד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. אשת מנוח ילדה בן וקראה לו שמשון (מלשון שמש- שהייתה לו גבורה ועוצמה כמו השמש) וגדל וה' ברך אותו.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כה</a:t>
            </a: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. והתחילה רוח ה' לבוא בקרבו מדי פעם במחנה דן שנמצא בין צרעה לאשתאול.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 flipH="1">
            <a:off x="6931377" y="149189"/>
            <a:ext cx="4673599" cy="6559621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שׁוֹפְטִים פֶּרֶק י"ג – הוּלֶּדֶת שִׁמְשׁוֹן</a:t>
            </a: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3429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AutoNum type="arabicPeriod"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בְּסֵפֶר "שׁוֹפְטִים" יֵשׁ </a:t>
            </a:r>
            <a:r>
              <a:rPr lang="iw-IL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מַעְגָּל חוֹזֵר</a:t>
            </a: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הַמוּרְכָּב מֵאַרְבָּעָה שְׁלַבִּים: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א. _______________   ב. _______________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ג. _______________   ד. _______________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   ְאֵיזֶה שֵׁבֶט שָׁיָּךְ מָנוֹחַ?  __________ 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  מַה מְבַשֵּׂר הַמַּלְאָךְ לְאֵשֶׁת מָנוֹחַ?  ____________________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___________________________________________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    מַה נֶאֱסַר עַל אֵשֶׁת מָנוֹחַ לַעֲשׂוֹת?  ___________________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___________________________________________ 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   הַסְבֵּר אֶת הַמִּלִּים הַבָּאוֹת: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עֲקָרָה = _____________________________________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מוֹרָה = _____________________________________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נָזִיר = ______________________________________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 מַה מְיֻחָד בַּנְזִירוּת שֶׁל שִׁמְשׁוֹן שֶׁאֵין בְּנָזִיר רָגִיל?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א. _________________________________________</a:t>
            </a: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ב. _________________________________________</a:t>
            </a:r>
            <a:r>
              <a:rPr lang="iw-IL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196622" y="367699"/>
            <a:ext cx="5220476" cy="2296479"/>
          </a:xfrm>
          <a:prstGeom prst="flowChartTerminator">
            <a:avLst/>
          </a:prstGeom>
          <a:solidFill>
            <a:srgbClr val="BFE38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iw-IL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אִישׁ אֶחָד מִצָּרְעָה מִמִּשְׁפַּחַת הַדָּנִי"-_____________.</a:t>
            </a:r>
            <a:endParaRPr/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נְזִיר אֱלֹהִים יִהְיֶה"-______________.</a:t>
            </a:r>
            <a:endParaRPr/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iw-IL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וַתָּחֶל רוּחַ ה' לְפַעֲמוֹ</a:t>
            </a:r>
            <a:r>
              <a:rPr lang="iw-IL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"-______________.   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3014134" y="367699"/>
            <a:ext cx="1806716" cy="560071"/>
          </a:xfrm>
          <a:prstGeom prst="octagon">
            <a:avLst>
              <a:gd name="adj" fmla="val 2928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500" b="0" i="1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על מי נאמר?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70934" y="3837482"/>
            <a:ext cx="6378222" cy="2563318"/>
          </a:xfrm>
          <a:prstGeom prst="rect">
            <a:avLst/>
          </a:prstGeom>
          <a:solidFill>
            <a:srgbClr val="B1ECD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"</a:t>
            </a:r>
            <a:r>
              <a:rPr lang="iw-IL" sz="1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וְעַתָּה הִשָּׁמְרִי נָא וְאַל תִּשְׁתִּי יַיִן וְשֵׁכָר "       </a:t>
            </a:r>
            <a:r>
              <a:rPr lang="iw-IL" sz="1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__________ אל_________</a:t>
            </a:r>
            <a:endParaRPr/>
          </a:p>
          <a:p>
            <a:pPr marL="0" marR="0" lvl="0" indent="0" algn="just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"</a:t>
            </a:r>
            <a:r>
              <a:rPr lang="iw-IL" sz="1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אִישׁ הָאֱלֹהִים בָּא אֵלַי ...וְאֶת שְׁמוֹ לֹא הִגִּיד לִי" </a:t>
            </a:r>
            <a:r>
              <a:rPr lang="iw-IL" sz="1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 _______ אל________ </a:t>
            </a:r>
            <a:endParaRPr/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"</a:t>
            </a:r>
            <a:r>
              <a:rPr lang="iw-IL" sz="1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ה', אִישׁ הָאֱלֹהִים אֲשֶׁר שָׁלַחְתָּ יָבוֹא נָא עוֹד אֵלֵינוּ "</a:t>
            </a:r>
            <a:r>
              <a:rPr lang="iw-IL" sz="1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_______ אל______</a:t>
            </a:r>
            <a:endParaRPr/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just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"</a:t>
            </a:r>
            <a:r>
              <a:rPr lang="iw-IL" sz="1800" b="0" i="0" u="none" strike="noStrike" cap="non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נַעְצְרָה נָּא אוֹתָךְ וְנַעֲשֶׂה לְפָנֶיךָ גְּדִי עִזִּים</a:t>
            </a:r>
            <a:r>
              <a:rPr lang="iw-IL" sz="1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 "__________ אל__________</a:t>
            </a:r>
            <a:endParaRPr sz="1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just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2675467" y="3127022"/>
            <a:ext cx="2352147" cy="639727"/>
          </a:xfrm>
          <a:prstGeom prst="ellipse">
            <a:avLst/>
          </a:prstGeom>
          <a:solidFill>
            <a:srgbClr val="16B0E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מי אמר למי?       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 txBox="1"/>
          <p:nvPr/>
        </p:nvSpPr>
        <p:spPr>
          <a:xfrm>
            <a:off x="6987823" y="909445"/>
            <a:ext cx="4899377" cy="5693866"/>
          </a:xfrm>
          <a:prstGeom prst="rect">
            <a:avLst/>
          </a:prstGeom>
          <a:solidFill>
            <a:srgbClr val="A7CDEA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א. מה מבקש מנוח מהמלאך?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ב. מה עונה המלאך למנוח?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ג. מהי תשובת המלאך לבקשת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  מנוח לדעת את שמו?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ד. מה שם מנוח על אבן הצור?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ה. מהו המראה שראו מנוח ואשתו?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ו. מתי ידעו מנוח ואשתו כי ראו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מלאך ה'? </a:t>
            </a:r>
            <a:endParaRPr/>
          </a:p>
        </p:txBody>
      </p:sp>
      <p:sp>
        <p:nvSpPr>
          <p:cNvPr id="228" name="Google Shape;228;p12"/>
          <p:cNvSpPr txBox="1"/>
          <p:nvPr/>
        </p:nvSpPr>
        <p:spPr>
          <a:xfrm>
            <a:off x="739421" y="940222"/>
            <a:ext cx="5017911" cy="5632311"/>
          </a:xfrm>
          <a:prstGeom prst="rect">
            <a:avLst/>
          </a:prstGeom>
          <a:solidFill>
            <a:srgbClr val="BFE38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1. לאחר שלא ראו עוד את מלאך ה' כי עלה למעלה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2. ראו את המלאך עולה עם הלהב האש לשמים.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3. גדי עיזים ומנחה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4. שמי הוא פלאי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5. המלאך אומר שלא יאכל מלחמו ומהגדי, אך אם יעלה קורבן יעלה לה'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6. מנוח מבקש מהמלאך להמתין עד שיכינו לו גדי עיזים</a:t>
            </a:r>
            <a:endParaRPr/>
          </a:p>
        </p:txBody>
      </p:sp>
      <p:sp>
        <p:nvSpPr>
          <p:cNvPr id="229" name="Google Shape;229;p12"/>
          <p:cNvSpPr txBox="1"/>
          <p:nvPr/>
        </p:nvSpPr>
        <p:spPr>
          <a:xfrm>
            <a:off x="2641600" y="175667"/>
            <a:ext cx="7145866" cy="584775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1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חוברת תורת אמת- עמוד 75: פסוקים טו-כב:</a:t>
            </a:r>
            <a:endParaRPr/>
          </a:p>
        </p:txBody>
      </p:sp>
      <p:cxnSp>
        <p:nvCxnSpPr>
          <p:cNvPr id="230" name="Google Shape;230;p12"/>
          <p:cNvCxnSpPr/>
          <p:nvPr/>
        </p:nvCxnSpPr>
        <p:spPr>
          <a:xfrm flipH="1">
            <a:off x="5836356" y="1230489"/>
            <a:ext cx="2246488" cy="4809067"/>
          </a:xfrm>
          <a:prstGeom prst="straightConnector1">
            <a:avLst/>
          </a:prstGeom>
          <a:noFill/>
          <a:ln w="19050" cap="rnd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1" name="Google Shape;231;p12"/>
          <p:cNvCxnSpPr/>
          <p:nvPr/>
        </p:nvCxnSpPr>
        <p:spPr>
          <a:xfrm flipH="1">
            <a:off x="5630335" y="3036711"/>
            <a:ext cx="2269065" cy="1083733"/>
          </a:xfrm>
          <a:prstGeom prst="straightConnector1">
            <a:avLst/>
          </a:prstGeom>
          <a:noFill/>
          <a:ln w="19050" cap="rnd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2" name="Google Shape;232;p12"/>
          <p:cNvCxnSpPr/>
          <p:nvPr/>
        </p:nvCxnSpPr>
        <p:spPr>
          <a:xfrm flipH="1">
            <a:off x="5655734" y="2003777"/>
            <a:ext cx="2765777" cy="2757312"/>
          </a:xfrm>
          <a:prstGeom prst="straightConnector1">
            <a:avLst/>
          </a:prstGeom>
          <a:noFill/>
          <a:ln w="19050" cap="rnd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3" name="Google Shape;233;p12"/>
          <p:cNvCxnSpPr/>
          <p:nvPr/>
        </p:nvCxnSpPr>
        <p:spPr>
          <a:xfrm rot="10800000">
            <a:off x="5655734" y="3382433"/>
            <a:ext cx="2466623" cy="770729"/>
          </a:xfrm>
          <a:prstGeom prst="straightConnector1">
            <a:avLst/>
          </a:prstGeom>
          <a:noFill/>
          <a:ln w="19050" cap="rnd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4" name="Google Shape;234;p12"/>
          <p:cNvCxnSpPr/>
          <p:nvPr/>
        </p:nvCxnSpPr>
        <p:spPr>
          <a:xfrm rot="10800000">
            <a:off x="5747456" y="2361010"/>
            <a:ext cx="1739194" cy="2549082"/>
          </a:xfrm>
          <a:prstGeom prst="straightConnector1">
            <a:avLst/>
          </a:prstGeom>
          <a:noFill/>
          <a:ln w="19050" cap="rnd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5" name="Google Shape;235;p12"/>
          <p:cNvCxnSpPr/>
          <p:nvPr/>
        </p:nvCxnSpPr>
        <p:spPr>
          <a:xfrm rot="10800000">
            <a:off x="5523090" y="1230489"/>
            <a:ext cx="2243666" cy="4718066"/>
          </a:xfrm>
          <a:prstGeom prst="straightConnector1">
            <a:avLst/>
          </a:prstGeom>
          <a:noFill/>
          <a:ln w="19050" cap="rnd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 txBox="1"/>
          <p:nvPr/>
        </p:nvSpPr>
        <p:spPr>
          <a:xfrm>
            <a:off x="2077156" y="582067"/>
            <a:ext cx="9234311" cy="5816977"/>
          </a:xfrm>
          <a:prstGeom prst="rect">
            <a:avLst/>
          </a:prstGeom>
          <a:solidFill>
            <a:srgbClr val="A7CDEA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 b="1" i="0" u="sng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סדרו את המשפטים הבאים על פי הסדר הנכון: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____  אשת מנוח אומרת לו שאילו היה ה' רוצה במותם הוא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             לא היה שולח מלאך</a:t>
            </a: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____ הולדת שמשון</a:t>
            </a: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____ מלאך ה' מתגלה לאשת מנוח</a:t>
            </a: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____ מנוח מבקש מה' שישלח את המלאך שנית</a:t>
            </a: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____ מנוח חושש שהוא ואשתו ימותו עקב המראה שראו</a:t>
            </a: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 b="0" i="0" u="none" strike="noStrike" cap="non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____ מנוח מקריב קורבן, ומלאך ה' עולה בלהב העולה.</a:t>
            </a:r>
            <a:endParaRPr/>
          </a:p>
        </p:txBody>
      </p:sp>
      <p:sp>
        <p:nvSpPr>
          <p:cNvPr id="241" name="Google Shape;241;p13"/>
          <p:cNvSpPr txBox="1"/>
          <p:nvPr/>
        </p:nvSpPr>
        <p:spPr>
          <a:xfrm>
            <a:off x="10701867" y="3318933"/>
            <a:ext cx="4854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10701867" y="4131733"/>
            <a:ext cx="40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10701867" y="5870222"/>
            <a:ext cx="4854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10701867" y="4978400"/>
            <a:ext cx="40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10701867" y="1151467"/>
            <a:ext cx="40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6" name="Google Shape;246;p13"/>
          <p:cNvSpPr txBox="1"/>
          <p:nvPr/>
        </p:nvSpPr>
        <p:spPr>
          <a:xfrm>
            <a:off x="10611556" y="2427111"/>
            <a:ext cx="4854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פיאה">
  <a:themeElements>
    <a:clrScheme name="פיאה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מסך רחב</PresentationFormat>
  <Slides>13</Slides>
  <Notes>13</Notes>
  <HiddenSlides>0</HiddenSlide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4" baseType="lpstr">
      <vt:lpstr>פיאה</vt:lpstr>
      <vt:lpstr>שופטים פרק יג' פסוקים א-כב'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חוברת עמוד 74: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שופטים פרק יג' פסוקים א-כב'</dc:title>
  <dc:creator>Teacher</dc:creator>
  <cp:lastModifiedBy>אלי שבע</cp:lastModifiedBy>
  <cp:revision>1</cp:revision>
  <dcterms:created xsi:type="dcterms:W3CDTF">2021-01-11T09:01:19Z</dcterms:created>
  <dcterms:modified xsi:type="dcterms:W3CDTF">2021-04-22T11:04:30Z</dcterms:modified>
</cp:coreProperties>
</file>