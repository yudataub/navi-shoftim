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notesMasterIdLst>
    <p:notesMasterId r:id="rId30"/>
  </p:notesMasterIdLst>
  <p:sldIdLst>
    <p:sldId id="256" r:id="rId3"/>
    <p:sldId id="257" r:id="rId4"/>
    <p:sldId id="258" r:id="rId5"/>
    <p:sldId id="259" r:id="rId6"/>
    <p:sldId id="260" r:id="rId7"/>
    <p:sldId id="261" r:id="rId8"/>
    <p:sldId id="264" r:id="rId9"/>
    <p:sldId id="262" r:id="rId10"/>
    <p:sldId id="265" r:id="rId11"/>
    <p:sldId id="263" r:id="rId12"/>
    <p:sldId id="266" r:id="rId13"/>
    <p:sldId id="267" r:id="rId14"/>
    <p:sldId id="270" r:id="rId15"/>
    <p:sldId id="271" r:id="rId16"/>
    <p:sldId id="272" r:id="rId17"/>
    <p:sldId id="276" r:id="rId18"/>
    <p:sldId id="273" r:id="rId19"/>
    <p:sldId id="274" r:id="rId20"/>
    <p:sldId id="285" r:id="rId21"/>
    <p:sldId id="275" r:id="rId22"/>
    <p:sldId id="277" r:id="rId23"/>
    <p:sldId id="278" r:id="rId24"/>
    <p:sldId id="280" r:id="rId25"/>
    <p:sldId id="281" r:id="rId26"/>
    <p:sldId id="282" r:id="rId27"/>
    <p:sldId id="283" r:id="rId28"/>
    <p:sldId id="284" r:id="rId2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971" autoAdjust="0"/>
    <p:restoredTop sz="94660"/>
  </p:normalViewPr>
  <p:slideViewPr>
    <p:cSldViewPr snapToGrid="0">
      <p:cViewPr varScale="1">
        <p:scale>
          <a:sx n="81" d="100"/>
          <a:sy n="81" d="100"/>
        </p:scale>
        <p:origin x="2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F092BA6F-F1F2-4836-9954-CB9BB8CE7B47}" type="datetimeFigureOut">
              <a:rPr lang="he-IL" smtClean="0"/>
              <a:t>י"ט/טבת/תשפ"ד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6D29541-5295-46A0-983F-D67759204D87}" type="slidenum">
              <a:rPr lang="he-IL" smtClean="0"/>
              <a:t>‹#›</a:t>
            </a:fld>
            <a:endParaRPr lang="he-IL"/>
          </a:p>
        </p:txBody>
      </p:sp>
    </p:spTree>
    <p:extLst>
      <p:ext uri="{BB962C8B-B14F-4D97-AF65-F5344CB8AC3E}">
        <p14:creationId xmlns:p14="http://schemas.microsoft.com/office/powerpoint/2010/main" val="151685987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endParaRPr/>
          </a:p>
        </p:txBody>
      </p:sp>
      <p:sp>
        <p:nvSpPr>
          <p:cNvPr id="107" name="Google Shape;107;p3:notes"/>
          <p:cNvSpPr txBox="1">
            <a:spLocks noGrp="1"/>
          </p:cNvSpPr>
          <p:nvPr>
            <p:ph type="sldNum" idx="12"/>
          </p:nvPr>
        </p:nvSpPr>
        <p:spPr>
          <a:xfrm>
            <a:off x="1588" y="8685213"/>
            <a:ext cx="2971800" cy="458787"/>
          </a:xfrm>
          <a:prstGeom prst="rect">
            <a:avLst/>
          </a:prstGeom>
          <a:noFill/>
          <a:ln>
            <a:noFill/>
          </a:ln>
        </p:spPr>
        <p:txBody>
          <a:bodyPr spcFirstLastPara="1" wrap="square" lIns="91425" tIns="45700" rIns="91425" bIns="45700" anchor="b" anchorCtr="0">
            <a:noAutofit/>
          </a:bodyPr>
          <a:lstStyle/>
          <a:p>
            <a:pPr marL="0" marR="0" lvl="0" indent="0" algn="l" defTabSz="914400" rtl="1"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iw-IL"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Calibri"/>
                <a:buNone/>
                <a:tabLst/>
                <a:defRPr/>
              </a:pPr>
              <a:t>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027397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2258391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2550409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12402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105386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1843629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2120220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2694403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2278004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104129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4063225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E1C41D7D-421A-403C-9388-3C7C8815D769}" type="datetimeFigureOut">
              <a:rPr lang="he-IL" smtClean="0"/>
              <a:t>י"ד/טבת/תשפ"ד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81D55CBD-B4AC-4A76-90E2-58233F48A6F2}" type="slidenum">
              <a:rPr lang="he-IL" smtClean="0"/>
              <a:t>‹#›</a:t>
            </a:fld>
            <a:endParaRPr lang="he-IL"/>
          </a:p>
        </p:txBody>
      </p:sp>
    </p:spTree>
    <p:extLst>
      <p:ext uri="{BB962C8B-B14F-4D97-AF65-F5344CB8AC3E}">
        <p14:creationId xmlns:p14="http://schemas.microsoft.com/office/powerpoint/2010/main" val="3492490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כותרת ותוכן" type="obj">
  <p:cSld name="כותרת ותוכן">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0" name="Google Shape;20;p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2076813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ריק" type="blank">
  <p:cSld name="ריק">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4" name="Google Shape;24;p3"/>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56777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כותרת מקטע עליונה">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rgbClr val="888888"/>
              </a:buClr>
              <a:buSzPts val="2400"/>
              <a:buNone/>
              <a:defRPr sz="2400">
                <a:solidFill>
                  <a:srgbClr val="888888"/>
                </a:solidFill>
              </a:defRPr>
            </a:lvl1pPr>
            <a:lvl2pPr marL="914400" lvl="1" indent="-228600" algn="r" rtl="1">
              <a:lnSpc>
                <a:spcPct val="90000"/>
              </a:lnSpc>
              <a:spcBef>
                <a:spcPts val="500"/>
              </a:spcBef>
              <a:spcAft>
                <a:spcPts val="0"/>
              </a:spcAft>
              <a:buClr>
                <a:srgbClr val="888888"/>
              </a:buClr>
              <a:buSzPts val="2000"/>
              <a:buNone/>
              <a:defRPr sz="2000">
                <a:solidFill>
                  <a:srgbClr val="888888"/>
                </a:solidFill>
              </a:defRPr>
            </a:lvl2pPr>
            <a:lvl3pPr marL="1371600" lvl="2" indent="-228600" algn="r" rtl="1">
              <a:lnSpc>
                <a:spcPct val="90000"/>
              </a:lnSpc>
              <a:spcBef>
                <a:spcPts val="500"/>
              </a:spcBef>
              <a:spcAft>
                <a:spcPts val="0"/>
              </a:spcAft>
              <a:buClr>
                <a:srgbClr val="888888"/>
              </a:buClr>
              <a:buSzPts val="1800"/>
              <a:buNone/>
              <a:defRPr sz="1800">
                <a:solidFill>
                  <a:srgbClr val="888888"/>
                </a:solidFill>
              </a:defRPr>
            </a:lvl3pPr>
            <a:lvl4pPr marL="1828800" lvl="3" indent="-228600" algn="r" rtl="1">
              <a:lnSpc>
                <a:spcPct val="90000"/>
              </a:lnSpc>
              <a:spcBef>
                <a:spcPts val="500"/>
              </a:spcBef>
              <a:spcAft>
                <a:spcPts val="0"/>
              </a:spcAft>
              <a:buClr>
                <a:srgbClr val="888888"/>
              </a:buClr>
              <a:buSzPts val="1600"/>
              <a:buNone/>
              <a:defRPr sz="1600">
                <a:solidFill>
                  <a:srgbClr val="888888"/>
                </a:solidFill>
              </a:defRPr>
            </a:lvl4pPr>
            <a:lvl5pPr marL="2286000" lvl="4" indent="-228600" algn="r" rtl="1">
              <a:lnSpc>
                <a:spcPct val="90000"/>
              </a:lnSpc>
              <a:spcBef>
                <a:spcPts val="500"/>
              </a:spcBef>
              <a:spcAft>
                <a:spcPts val="0"/>
              </a:spcAft>
              <a:buClr>
                <a:srgbClr val="888888"/>
              </a:buClr>
              <a:buSzPts val="1600"/>
              <a:buNone/>
              <a:defRPr sz="1600">
                <a:solidFill>
                  <a:srgbClr val="888888"/>
                </a:solidFill>
              </a:defRPr>
            </a:lvl5pPr>
            <a:lvl6pPr marL="2743200" lvl="5" indent="-228600" algn="r" rtl="1">
              <a:lnSpc>
                <a:spcPct val="90000"/>
              </a:lnSpc>
              <a:spcBef>
                <a:spcPts val="500"/>
              </a:spcBef>
              <a:spcAft>
                <a:spcPts val="0"/>
              </a:spcAft>
              <a:buClr>
                <a:srgbClr val="888888"/>
              </a:buClr>
              <a:buSzPts val="1600"/>
              <a:buNone/>
              <a:defRPr sz="1600">
                <a:solidFill>
                  <a:srgbClr val="888888"/>
                </a:solidFill>
              </a:defRPr>
            </a:lvl6pPr>
            <a:lvl7pPr marL="3200400" lvl="6" indent="-228600" algn="r" rtl="1">
              <a:lnSpc>
                <a:spcPct val="90000"/>
              </a:lnSpc>
              <a:spcBef>
                <a:spcPts val="500"/>
              </a:spcBef>
              <a:spcAft>
                <a:spcPts val="0"/>
              </a:spcAft>
              <a:buClr>
                <a:srgbClr val="888888"/>
              </a:buClr>
              <a:buSzPts val="1600"/>
              <a:buNone/>
              <a:defRPr sz="1600">
                <a:solidFill>
                  <a:srgbClr val="888888"/>
                </a:solidFill>
              </a:defRPr>
            </a:lvl7pPr>
            <a:lvl8pPr marL="3657600" lvl="7" indent="-228600" algn="r" rtl="1">
              <a:lnSpc>
                <a:spcPct val="90000"/>
              </a:lnSpc>
              <a:spcBef>
                <a:spcPts val="500"/>
              </a:spcBef>
              <a:spcAft>
                <a:spcPts val="0"/>
              </a:spcAft>
              <a:buClr>
                <a:srgbClr val="888888"/>
              </a:buClr>
              <a:buSzPts val="1600"/>
              <a:buNone/>
              <a:defRPr sz="1600">
                <a:solidFill>
                  <a:srgbClr val="888888"/>
                </a:solidFill>
              </a:defRPr>
            </a:lvl8pPr>
            <a:lvl9pPr marL="4114800" lvl="8" indent="-228600" algn="r" rtl="1">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4"/>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0" name="Google Shape;30;p4"/>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631122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כותרת בלבד" type="titleOnly">
  <p:cSld name="כותרת בלבד">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35" name="Google Shape;35;p5"/>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2692793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שקופית כותרת" type="title">
  <p:cSld name="שקופית כותרת">
    <p:spTree>
      <p:nvGrpSpPr>
        <p:cNvPr id="1" name="Shape 36"/>
        <p:cNvGrpSpPr/>
        <p:nvPr/>
      </p:nvGrpSpPr>
      <p:grpSpPr>
        <a:xfrm>
          <a:off x="0" y="0"/>
          <a:ext cx="0" cy="0"/>
          <a:chOff x="0" y="0"/>
          <a:chExt cx="0" cy="0"/>
        </a:xfrm>
      </p:grpSpPr>
      <p:sp>
        <p:nvSpPr>
          <p:cNvPr id="37" name="Google Shape;37;p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rtl="1">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rtl="1">
              <a:lnSpc>
                <a:spcPct val="90000"/>
              </a:lnSpc>
              <a:spcBef>
                <a:spcPts val="1000"/>
              </a:spcBef>
              <a:spcAft>
                <a:spcPts val="0"/>
              </a:spcAft>
              <a:buClr>
                <a:schemeClr val="dk1"/>
              </a:buClr>
              <a:buSzPts val="2400"/>
              <a:buNone/>
              <a:defRPr sz="2400"/>
            </a:lvl1pPr>
            <a:lvl2pPr lvl="1" algn="ctr" rtl="1">
              <a:lnSpc>
                <a:spcPct val="90000"/>
              </a:lnSpc>
              <a:spcBef>
                <a:spcPts val="500"/>
              </a:spcBef>
              <a:spcAft>
                <a:spcPts val="0"/>
              </a:spcAft>
              <a:buClr>
                <a:schemeClr val="dk1"/>
              </a:buClr>
              <a:buSzPts val="2000"/>
              <a:buNone/>
              <a:defRPr sz="2000"/>
            </a:lvl2pPr>
            <a:lvl3pPr lvl="2" algn="ctr" rtl="1">
              <a:lnSpc>
                <a:spcPct val="90000"/>
              </a:lnSpc>
              <a:spcBef>
                <a:spcPts val="500"/>
              </a:spcBef>
              <a:spcAft>
                <a:spcPts val="0"/>
              </a:spcAft>
              <a:buClr>
                <a:schemeClr val="dk1"/>
              </a:buClr>
              <a:buSzPts val="1800"/>
              <a:buNone/>
              <a:defRPr sz="1800"/>
            </a:lvl3pPr>
            <a:lvl4pPr lvl="3" algn="ctr" rtl="1">
              <a:lnSpc>
                <a:spcPct val="90000"/>
              </a:lnSpc>
              <a:spcBef>
                <a:spcPts val="500"/>
              </a:spcBef>
              <a:spcAft>
                <a:spcPts val="0"/>
              </a:spcAft>
              <a:buClr>
                <a:schemeClr val="dk1"/>
              </a:buClr>
              <a:buSzPts val="1600"/>
              <a:buNone/>
              <a:defRPr sz="1600"/>
            </a:lvl4pPr>
            <a:lvl5pPr lvl="4" algn="ctr" rtl="1">
              <a:lnSpc>
                <a:spcPct val="90000"/>
              </a:lnSpc>
              <a:spcBef>
                <a:spcPts val="500"/>
              </a:spcBef>
              <a:spcAft>
                <a:spcPts val="0"/>
              </a:spcAft>
              <a:buClr>
                <a:schemeClr val="dk1"/>
              </a:buClr>
              <a:buSzPts val="1600"/>
              <a:buNone/>
              <a:defRPr sz="1600"/>
            </a:lvl5pPr>
            <a:lvl6pPr lvl="5" algn="ctr" rtl="1">
              <a:lnSpc>
                <a:spcPct val="90000"/>
              </a:lnSpc>
              <a:spcBef>
                <a:spcPts val="500"/>
              </a:spcBef>
              <a:spcAft>
                <a:spcPts val="0"/>
              </a:spcAft>
              <a:buClr>
                <a:schemeClr val="dk1"/>
              </a:buClr>
              <a:buSzPts val="1600"/>
              <a:buNone/>
              <a:defRPr sz="1600"/>
            </a:lvl6pPr>
            <a:lvl7pPr lvl="6" algn="ctr" rtl="1">
              <a:lnSpc>
                <a:spcPct val="90000"/>
              </a:lnSpc>
              <a:spcBef>
                <a:spcPts val="500"/>
              </a:spcBef>
              <a:spcAft>
                <a:spcPts val="0"/>
              </a:spcAft>
              <a:buClr>
                <a:schemeClr val="dk1"/>
              </a:buClr>
              <a:buSzPts val="1600"/>
              <a:buNone/>
              <a:defRPr sz="1600"/>
            </a:lvl7pPr>
            <a:lvl8pPr lvl="7" algn="ctr" rtl="1">
              <a:lnSpc>
                <a:spcPct val="90000"/>
              </a:lnSpc>
              <a:spcBef>
                <a:spcPts val="500"/>
              </a:spcBef>
              <a:spcAft>
                <a:spcPts val="0"/>
              </a:spcAft>
              <a:buClr>
                <a:schemeClr val="dk1"/>
              </a:buClr>
              <a:buSzPts val="1600"/>
              <a:buNone/>
              <a:defRPr sz="1600"/>
            </a:lvl8pPr>
            <a:lvl9pPr lvl="8" algn="ctr" rtl="1">
              <a:lnSpc>
                <a:spcPct val="90000"/>
              </a:lnSpc>
              <a:spcBef>
                <a:spcPts val="500"/>
              </a:spcBef>
              <a:spcAft>
                <a:spcPts val="0"/>
              </a:spcAft>
              <a:buClr>
                <a:schemeClr val="dk1"/>
              </a:buClr>
              <a:buSzPts val="1600"/>
              <a:buNone/>
              <a:defRPr sz="1600"/>
            </a:lvl9pPr>
          </a:lstStyle>
          <a:p>
            <a:endParaRPr/>
          </a:p>
        </p:txBody>
      </p:sp>
      <p:sp>
        <p:nvSpPr>
          <p:cNvPr id="39" name="Google Shape;39;p6"/>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1" name="Google Shape;41;p6"/>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514562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שני תכנים" type="twoObj">
  <p:cSld name="שני תכנים">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48" name="Google Shape;48;p7"/>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80977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השוואה" type="twoTxTwoObj">
  <p:cSld name="השוואה">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r" rtl="1">
              <a:lnSpc>
                <a:spcPct val="90000"/>
              </a:lnSpc>
              <a:spcBef>
                <a:spcPts val="1000"/>
              </a:spcBef>
              <a:spcAft>
                <a:spcPts val="0"/>
              </a:spcAft>
              <a:buClr>
                <a:schemeClr val="dk1"/>
              </a:buClr>
              <a:buSzPts val="2400"/>
              <a:buNone/>
              <a:defRPr sz="2400" b="1"/>
            </a:lvl1pPr>
            <a:lvl2pPr marL="914400" lvl="1" indent="-228600" algn="r" rtl="1">
              <a:lnSpc>
                <a:spcPct val="90000"/>
              </a:lnSpc>
              <a:spcBef>
                <a:spcPts val="500"/>
              </a:spcBef>
              <a:spcAft>
                <a:spcPts val="0"/>
              </a:spcAft>
              <a:buClr>
                <a:schemeClr val="dk1"/>
              </a:buClr>
              <a:buSzPts val="2000"/>
              <a:buNone/>
              <a:defRPr sz="2000" b="1"/>
            </a:lvl2pPr>
            <a:lvl3pPr marL="1371600" lvl="2" indent="-228600" algn="r" rtl="1">
              <a:lnSpc>
                <a:spcPct val="90000"/>
              </a:lnSpc>
              <a:spcBef>
                <a:spcPts val="500"/>
              </a:spcBef>
              <a:spcAft>
                <a:spcPts val="0"/>
              </a:spcAft>
              <a:buClr>
                <a:schemeClr val="dk1"/>
              </a:buClr>
              <a:buSzPts val="1800"/>
              <a:buNone/>
              <a:defRPr sz="1800" b="1"/>
            </a:lvl3pPr>
            <a:lvl4pPr marL="1828800" lvl="3" indent="-228600" algn="r" rtl="1">
              <a:lnSpc>
                <a:spcPct val="90000"/>
              </a:lnSpc>
              <a:spcBef>
                <a:spcPts val="500"/>
              </a:spcBef>
              <a:spcAft>
                <a:spcPts val="0"/>
              </a:spcAft>
              <a:buClr>
                <a:schemeClr val="dk1"/>
              </a:buClr>
              <a:buSzPts val="1600"/>
              <a:buNone/>
              <a:defRPr sz="1600" b="1"/>
            </a:lvl4pPr>
            <a:lvl5pPr marL="2286000" lvl="4" indent="-228600" algn="r" rtl="1">
              <a:lnSpc>
                <a:spcPct val="90000"/>
              </a:lnSpc>
              <a:spcBef>
                <a:spcPts val="500"/>
              </a:spcBef>
              <a:spcAft>
                <a:spcPts val="0"/>
              </a:spcAft>
              <a:buClr>
                <a:schemeClr val="dk1"/>
              </a:buClr>
              <a:buSzPts val="1600"/>
              <a:buNone/>
              <a:defRPr sz="1600" b="1"/>
            </a:lvl5pPr>
            <a:lvl6pPr marL="2743200" lvl="5" indent="-228600" algn="r" rtl="1">
              <a:lnSpc>
                <a:spcPct val="90000"/>
              </a:lnSpc>
              <a:spcBef>
                <a:spcPts val="500"/>
              </a:spcBef>
              <a:spcAft>
                <a:spcPts val="0"/>
              </a:spcAft>
              <a:buClr>
                <a:schemeClr val="dk1"/>
              </a:buClr>
              <a:buSzPts val="1600"/>
              <a:buNone/>
              <a:defRPr sz="1600" b="1"/>
            </a:lvl6pPr>
            <a:lvl7pPr marL="3200400" lvl="6" indent="-228600" algn="r" rtl="1">
              <a:lnSpc>
                <a:spcPct val="90000"/>
              </a:lnSpc>
              <a:spcBef>
                <a:spcPts val="500"/>
              </a:spcBef>
              <a:spcAft>
                <a:spcPts val="0"/>
              </a:spcAft>
              <a:buClr>
                <a:schemeClr val="dk1"/>
              </a:buClr>
              <a:buSzPts val="1600"/>
              <a:buNone/>
              <a:defRPr sz="1600" b="1"/>
            </a:lvl7pPr>
            <a:lvl8pPr marL="3657600" lvl="7" indent="-228600" algn="r" rtl="1">
              <a:lnSpc>
                <a:spcPct val="90000"/>
              </a:lnSpc>
              <a:spcBef>
                <a:spcPts val="500"/>
              </a:spcBef>
              <a:spcAft>
                <a:spcPts val="0"/>
              </a:spcAft>
              <a:buClr>
                <a:schemeClr val="dk1"/>
              </a:buClr>
              <a:buSzPts val="1600"/>
              <a:buNone/>
              <a:defRPr sz="1600" b="1"/>
            </a:lvl8pPr>
            <a:lvl9pPr marL="4114800" lvl="8" indent="-228600" algn="r" rtl="1">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57" name="Google Shape;57;p8"/>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5165274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תוכן עם כיתוב" type="objTx">
  <p:cSld name="תוכן עם כיתוב">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r" rtl="1">
              <a:lnSpc>
                <a:spcPct val="90000"/>
              </a:lnSpc>
              <a:spcBef>
                <a:spcPts val="1000"/>
              </a:spcBef>
              <a:spcAft>
                <a:spcPts val="0"/>
              </a:spcAft>
              <a:buClr>
                <a:schemeClr val="dk1"/>
              </a:buClr>
              <a:buSzPts val="3200"/>
              <a:buChar char="•"/>
              <a:defRPr sz="3200"/>
            </a:lvl1pPr>
            <a:lvl2pPr marL="914400" lvl="1" indent="-406400" algn="r" rtl="1">
              <a:lnSpc>
                <a:spcPct val="90000"/>
              </a:lnSpc>
              <a:spcBef>
                <a:spcPts val="500"/>
              </a:spcBef>
              <a:spcAft>
                <a:spcPts val="0"/>
              </a:spcAft>
              <a:buClr>
                <a:schemeClr val="dk1"/>
              </a:buClr>
              <a:buSzPts val="2800"/>
              <a:buChar char="•"/>
              <a:defRPr sz="2800"/>
            </a:lvl2pPr>
            <a:lvl3pPr marL="1371600" lvl="2" indent="-381000" algn="r" rtl="1">
              <a:lnSpc>
                <a:spcPct val="90000"/>
              </a:lnSpc>
              <a:spcBef>
                <a:spcPts val="500"/>
              </a:spcBef>
              <a:spcAft>
                <a:spcPts val="0"/>
              </a:spcAft>
              <a:buClr>
                <a:schemeClr val="dk1"/>
              </a:buClr>
              <a:buSzPts val="2400"/>
              <a:buChar char="•"/>
              <a:defRPr sz="2400"/>
            </a:lvl3pPr>
            <a:lvl4pPr marL="1828800" lvl="3" indent="-355600" algn="r" rtl="1">
              <a:lnSpc>
                <a:spcPct val="90000"/>
              </a:lnSpc>
              <a:spcBef>
                <a:spcPts val="500"/>
              </a:spcBef>
              <a:spcAft>
                <a:spcPts val="0"/>
              </a:spcAft>
              <a:buClr>
                <a:schemeClr val="dk1"/>
              </a:buClr>
              <a:buSzPts val="2000"/>
              <a:buChar char="•"/>
              <a:defRPr sz="2000"/>
            </a:lvl4pPr>
            <a:lvl5pPr marL="2286000" lvl="4" indent="-355600" algn="r" rtl="1">
              <a:lnSpc>
                <a:spcPct val="90000"/>
              </a:lnSpc>
              <a:spcBef>
                <a:spcPts val="500"/>
              </a:spcBef>
              <a:spcAft>
                <a:spcPts val="0"/>
              </a:spcAft>
              <a:buClr>
                <a:schemeClr val="dk1"/>
              </a:buClr>
              <a:buSzPts val="2000"/>
              <a:buChar char="•"/>
              <a:defRPr sz="2000"/>
            </a:lvl5pPr>
            <a:lvl6pPr marL="2743200" lvl="5" indent="-355600" algn="r" rtl="1">
              <a:lnSpc>
                <a:spcPct val="90000"/>
              </a:lnSpc>
              <a:spcBef>
                <a:spcPts val="500"/>
              </a:spcBef>
              <a:spcAft>
                <a:spcPts val="0"/>
              </a:spcAft>
              <a:buClr>
                <a:schemeClr val="dk1"/>
              </a:buClr>
              <a:buSzPts val="2000"/>
              <a:buChar char="•"/>
              <a:defRPr sz="2000"/>
            </a:lvl6pPr>
            <a:lvl7pPr marL="3200400" lvl="6" indent="-355600" algn="r" rtl="1">
              <a:lnSpc>
                <a:spcPct val="90000"/>
              </a:lnSpc>
              <a:spcBef>
                <a:spcPts val="500"/>
              </a:spcBef>
              <a:spcAft>
                <a:spcPts val="0"/>
              </a:spcAft>
              <a:buClr>
                <a:schemeClr val="dk1"/>
              </a:buClr>
              <a:buSzPts val="2000"/>
              <a:buChar char="•"/>
              <a:defRPr sz="2000"/>
            </a:lvl7pPr>
            <a:lvl8pPr marL="3657600" lvl="7" indent="-355600" algn="r" rtl="1">
              <a:lnSpc>
                <a:spcPct val="90000"/>
              </a:lnSpc>
              <a:spcBef>
                <a:spcPts val="500"/>
              </a:spcBef>
              <a:spcAft>
                <a:spcPts val="0"/>
              </a:spcAft>
              <a:buClr>
                <a:schemeClr val="dk1"/>
              </a:buClr>
              <a:buSzPts val="2000"/>
              <a:buChar char="•"/>
              <a:defRPr sz="2000"/>
            </a:lvl8pPr>
            <a:lvl9pPr marL="4114800" lvl="8" indent="-355600" algn="r" rtl="1">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64" name="Google Shape;64;p9"/>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835376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תמונה עם כיתוב" type="picTx">
  <p:cSld name="תמונה עם כיתוב">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r" rtl="1">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r" rtl="1">
              <a:lnSpc>
                <a:spcPct val="90000"/>
              </a:lnSpc>
              <a:spcBef>
                <a:spcPts val="1000"/>
              </a:spcBef>
              <a:spcAft>
                <a:spcPts val="0"/>
              </a:spcAft>
              <a:buClr>
                <a:schemeClr val="dk1"/>
              </a:buClr>
              <a:buSzPts val="1600"/>
              <a:buNone/>
              <a:defRPr sz="1600"/>
            </a:lvl1pPr>
            <a:lvl2pPr marL="914400" lvl="1" indent="-228600" algn="r" rtl="1">
              <a:lnSpc>
                <a:spcPct val="90000"/>
              </a:lnSpc>
              <a:spcBef>
                <a:spcPts val="500"/>
              </a:spcBef>
              <a:spcAft>
                <a:spcPts val="0"/>
              </a:spcAft>
              <a:buClr>
                <a:schemeClr val="dk1"/>
              </a:buClr>
              <a:buSzPts val="1400"/>
              <a:buNone/>
              <a:defRPr sz="1400"/>
            </a:lvl2pPr>
            <a:lvl3pPr marL="1371600" lvl="2" indent="-228600" algn="r" rtl="1">
              <a:lnSpc>
                <a:spcPct val="90000"/>
              </a:lnSpc>
              <a:spcBef>
                <a:spcPts val="500"/>
              </a:spcBef>
              <a:spcAft>
                <a:spcPts val="0"/>
              </a:spcAft>
              <a:buClr>
                <a:schemeClr val="dk1"/>
              </a:buClr>
              <a:buSzPts val="1200"/>
              <a:buNone/>
              <a:defRPr sz="1200"/>
            </a:lvl3pPr>
            <a:lvl4pPr marL="1828800" lvl="3" indent="-228600" algn="r" rtl="1">
              <a:lnSpc>
                <a:spcPct val="90000"/>
              </a:lnSpc>
              <a:spcBef>
                <a:spcPts val="500"/>
              </a:spcBef>
              <a:spcAft>
                <a:spcPts val="0"/>
              </a:spcAft>
              <a:buClr>
                <a:schemeClr val="dk1"/>
              </a:buClr>
              <a:buSzPts val="1000"/>
              <a:buNone/>
              <a:defRPr sz="1000"/>
            </a:lvl4pPr>
            <a:lvl5pPr marL="2286000" lvl="4" indent="-228600" algn="r" rtl="1">
              <a:lnSpc>
                <a:spcPct val="90000"/>
              </a:lnSpc>
              <a:spcBef>
                <a:spcPts val="500"/>
              </a:spcBef>
              <a:spcAft>
                <a:spcPts val="0"/>
              </a:spcAft>
              <a:buClr>
                <a:schemeClr val="dk1"/>
              </a:buClr>
              <a:buSzPts val="1000"/>
              <a:buNone/>
              <a:defRPr sz="1000"/>
            </a:lvl5pPr>
            <a:lvl6pPr marL="2743200" lvl="5" indent="-228600" algn="r" rtl="1">
              <a:lnSpc>
                <a:spcPct val="90000"/>
              </a:lnSpc>
              <a:spcBef>
                <a:spcPts val="500"/>
              </a:spcBef>
              <a:spcAft>
                <a:spcPts val="0"/>
              </a:spcAft>
              <a:buClr>
                <a:schemeClr val="dk1"/>
              </a:buClr>
              <a:buSzPts val="1000"/>
              <a:buNone/>
              <a:defRPr sz="1000"/>
            </a:lvl6pPr>
            <a:lvl7pPr marL="3200400" lvl="6" indent="-228600" algn="r" rtl="1">
              <a:lnSpc>
                <a:spcPct val="90000"/>
              </a:lnSpc>
              <a:spcBef>
                <a:spcPts val="500"/>
              </a:spcBef>
              <a:spcAft>
                <a:spcPts val="0"/>
              </a:spcAft>
              <a:buClr>
                <a:schemeClr val="dk1"/>
              </a:buClr>
              <a:buSzPts val="1000"/>
              <a:buNone/>
              <a:defRPr sz="1000"/>
            </a:lvl7pPr>
            <a:lvl8pPr marL="3657600" lvl="7" indent="-228600" algn="r" rtl="1">
              <a:lnSpc>
                <a:spcPct val="90000"/>
              </a:lnSpc>
              <a:spcBef>
                <a:spcPts val="500"/>
              </a:spcBef>
              <a:spcAft>
                <a:spcPts val="0"/>
              </a:spcAft>
              <a:buClr>
                <a:schemeClr val="dk1"/>
              </a:buClr>
              <a:buSzPts val="1000"/>
              <a:buNone/>
              <a:defRPr sz="1000"/>
            </a:lvl8pPr>
            <a:lvl9pPr marL="4114800" lvl="8" indent="-228600" algn="r" rtl="1">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1" name="Google Shape;71;p10"/>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030193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כותרת וטקסט אנכי">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77" name="Google Shape;77;p1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30356375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כותרת אנכית וטקסט">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r"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r" rtl="1">
              <a:lnSpc>
                <a:spcPct val="90000"/>
              </a:lnSpc>
              <a:spcBef>
                <a:spcPts val="1000"/>
              </a:spcBef>
              <a:spcAft>
                <a:spcPts val="0"/>
              </a:spcAft>
              <a:buClr>
                <a:schemeClr val="dk1"/>
              </a:buClr>
              <a:buSzPts val="1800"/>
              <a:buChar char="•"/>
              <a:defRPr/>
            </a:lvl1pPr>
            <a:lvl2pPr marL="914400" lvl="1" indent="-342900" algn="r" rtl="1">
              <a:lnSpc>
                <a:spcPct val="90000"/>
              </a:lnSpc>
              <a:spcBef>
                <a:spcPts val="500"/>
              </a:spcBef>
              <a:spcAft>
                <a:spcPts val="0"/>
              </a:spcAft>
              <a:buClr>
                <a:schemeClr val="dk1"/>
              </a:buClr>
              <a:buSzPts val="1800"/>
              <a:buChar char="•"/>
              <a:defRPr/>
            </a:lvl2pPr>
            <a:lvl3pPr marL="1371600" lvl="2" indent="-342900" algn="r" rtl="1">
              <a:lnSpc>
                <a:spcPct val="90000"/>
              </a:lnSpc>
              <a:spcBef>
                <a:spcPts val="500"/>
              </a:spcBef>
              <a:spcAft>
                <a:spcPts val="0"/>
              </a:spcAft>
              <a:buClr>
                <a:schemeClr val="dk1"/>
              </a:buClr>
              <a:buSzPts val="1800"/>
              <a:buChar char="•"/>
              <a:defRPr/>
            </a:lvl3pPr>
            <a:lvl4pPr marL="1828800" lvl="3" indent="-342900" algn="r" rtl="1">
              <a:lnSpc>
                <a:spcPct val="90000"/>
              </a:lnSpc>
              <a:spcBef>
                <a:spcPts val="500"/>
              </a:spcBef>
              <a:spcAft>
                <a:spcPts val="0"/>
              </a:spcAft>
              <a:buClr>
                <a:schemeClr val="dk1"/>
              </a:buClr>
              <a:buSzPts val="1800"/>
              <a:buChar char="•"/>
              <a:defRPr/>
            </a:lvl4pPr>
            <a:lvl5pPr marL="2286000" lvl="4" indent="-342900" algn="r" rtl="1">
              <a:lnSpc>
                <a:spcPct val="90000"/>
              </a:lnSpc>
              <a:spcBef>
                <a:spcPts val="500"/>
              </a:spcBef>
              <a:spcAft>
                <a:spcPts val="0"/>
              </a:spcAft>
              <a:buClr>
                <a:schemeClr val="dk1"/>
              </a:buClr>
              <a:buSzPts val="1800"/>
              <a:buChar char="•"/>
              <a:defRPr/>
            </a:lvl5pPr>
            <a:lvl6pPr marL="2743200" lvl="5" indent="-342900" algn="r" rtl="1">
              <a:lnSpc>
                <a:spcPct val="90000"/>
              </a:lnSpc>
              <a:spcBef>
                <a:spcPts val="500"/>
              </a:spcBef>
              <a:spcAft>
                <a:spcPts val="0"/>
              </a:spcAft>
              <a:buClr>
                <a:schemeClr val="dk1"/>
              </a:buClr>
              <a:buSzPts val="1800"/>
              <a:buChar char="•"/>
              <a:defRPr/>
            </a:lvl6pPr>
            <a:lvl7pPr marL="3200400" lvl="6" indent="-342900" algn="r" rtl="1">
              <a:lnSpc>
                <a:spcPct val="90000"/>
              </a:lnSpc>
              <a:spcBef>
                <a:spcPts val="500"/>
              </a:spcBef>
              <a:spcAft>
                <a:spcPts val="0"/>
              </a:spcAft>
              <a:buClr>
                <a:schemeClr val="dk1"/>
              </a:buClr>
              <a:buSzPts val="1800"/>
              <a:buChar char="•"/>
              <a:defRPr/>
            </a:lvl7pPr>
            <a:lvl8pPr marL="3657600" lvl="7" indent="-342900" algn="r" rtl="1">
              <a:lnSpc>
                <a:spcPct val="90000"/>
              </a:lnSpc>
              <a:spcBef>
                <a:spcPts val="500"/>
              </a:spcBef>
              <a:spcAft>
                <a:spcPts val="0"/>
              </a:spcAft>
              <a:buClr>
                <a:schemeClr val="dk1"/>
              </a:buClr>
              <a:buSzPts val="1800"/>
              <a:buChar char="•"/>
              <a:defRPr/>
            </a:lvl8pPr>
            <a:lvl9pPr marL="4114800" lvl="8" indent="-342900" algn="r" rtl="1">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lvl="0" algn="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rtl="1">
              <a:lnSpc>
                <a:spcPct val="100000"/>
              </a:lnSpc>
              <a:spcBef>
                <a:spcPts val="0"/>
              </a:spcBef>
              <a:spcAft>
                <a:spcPts val="0"/>
              </a:spcAft>
              <a:buSzPts val="1400"/>
              <a:buNone/>
              <a:defRPr/>
            </a:lvl1pPr>
            <a:lvl2pPr lvl="1" algn="r" rtl="1">
              <a:lnSpc>
                <a:spcPct val="100000"/>
              </a:lnSpc>
              <a:spcBef>
                <a:spcPts val="0"/>
              </a:spcBef>
              <a:spcAft>
                <a:spcPts val="0"/>
              </a:spcAft>
              <a:buSzPts val="1400"/>
              <a:buNone/>
              <a:defRPr/>
            </a:lvl2pPr>
            <a:lvl3pPr lvl="2" algn="r" rtl="1">
              <a:lnSpc>
                <a:spcPct val="100000"/>
              </a:lnSpc>
              <a:spcBef>
                <a:spcPts val="0"/>
              </a:spcBef>
              <a:spcAft>
                <a:spcPts val="0"/>
              </a:spcAft>
              <a:buSzPts val="1400"/>
              <a:buNone/>
              <a:defRPr/>
            </a:lvl3pPr>
            <a:lvl4pPr lvl="3" algn="r" rtl="1">
              <a:lnSpc>
                <a:spcPct val="100000"/>
              </a:lnSpc>
              <a:spcBef>
                <a:spcPts val="0"/>
              </a:spcBef>
              <a:spcAft>
                <a:spcPts val="0"/>
              </a:spcAft>
              <a:buSzPts val="1400"/>
              <a:buNone/>
              <a:defRPr/>
            </a:lvl4pPr>
            <a:lvl5pPr lvl="4" algn="r" rtl="1">
              <a:lnSpc>
                <a:spcPct val="100000"/>
              </a:lnSpc>
              <a:spcBef>
                <a:spcPts val="0"/>
              </a:spcBef>
              <a:spcAft>
                <a:spcPts val="0"/>
              </a:spcAft>
              <a:buSzPts val="1400"/>
              <a:buNone/>
              <a:defRPr/>
            </a:lvl5pPr>
            <a:lvl6pPr lvl="5" algn="r" rtl="1">
              <a:lnSpc>
                <a:spcPct val="100000"/>
              </a:lnSpc>
              <a:spcBef>
                <a:spcPts val="0"/>
              </a:spcBef>
              <a:spcAft>
                <a:spcPts val="0"/>
              </a:spcAft>
              <a:buSzPts val="1400"/>
              <a:buNone/>
              <a:defRPr/>
            </a:lvl6pPr>
            <a:lvl7pPr lvl="6" algn="r" rtl="1">
              <a:lnSpc>
                <a:spcPct val="100000"/>
              </a:lnSpc>
              <a:spcBef>
                <a:spcPts val="0"/>
              </a:spcBef>
              <a:spcAft>
                <a:spcPts val="0"/>
              </a:spcAft>
              <a:buSzPts val="1400"/>
              <a:buNone/>
              <a:defRPr/>
            </a:lvl7pPr>
            <a:lvl8pPr lvl="7" algn="r" rtl="1">
              <a:lnSpc>
                <a:spcPct val="100000"/>
              </a:lnSpc>
              <a:spcBef>
                <a:spcPts val="0"/>
              </a:spcBef>
              <a:spcAft>
                <a:spcPts val="0"/>
              </a:spcAft>
              <a:buSzPts val="1400"/>
              <a:buNone/>
              <a:defRPr/>
            </a:lvl8pPr>
            <a:lvl9pPr lvl="8" algn="r" rtl="1">
              <a:lnSpc>
                <a:spcPct val="100000"/>
              </a:lnSpc>
              <a:spcBef>
                <a:spcPts val="0"/>
              </a:spcBef>
              <a:spcAft>
                <a:spcPts val="0"/>
              </a:spcAft>
              <a:buSzPts val="1400"/>
              <a:buNone/>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83" name="Google Shape;83;p12"/>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4082763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E1C41D7D-421A-403C-9388-3C7C8815D769}" type="datetimeFigureOut">
              <a:rPr lang="he-IL" smtClean="0"/>
              <a:t>י"ד/טבת/תשפ"ד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1D55CBD-B4AC-4A76-90E2-58233F48A6F2}" type="slidenum">
              <a:rPr lang="he-IL" smtClean="0"/>
              <a:t>‹#›</a:t>
            </a:fld>
            <a:endParaRPr lang="he-IL"/>
          </a:p>
        </p:txBody>
      </p:sp>
    </p:spTree>
    <p:extLst>
      <p:ext uri="{BB962C8B-B14F-4D97-AF65-F5344CB8AC3E}">
        <p14:creationId xmlns:p14="http://schemas.microsoft.com/office/powerpoint/2010/main" val="3362753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7CAAC"/>
            </a:gs>
            <a:gs pos="100000">
              <a:srgbClr val="ED823A"/>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r" rtl="1">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r" rtl="1">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r" rtl="1">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r" rtl="1">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r" rtl="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1">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marR="0" lvl="0" indent="0" algn="ctr" defTabSz="914400" rtl="1"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
        <p:nvSpPr>
          <p:cNvPr id="14" name="Google Shape;14;p1"/>
          <p:cNvSpPr txBox="1">
            <a:spLocks noGrp="1"/>
          </p:cNvSpPr>
          <p:nvPr>
            <p:ph type="sldNum" idx="12"/>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iw-IL" sz="1200" b="0" i="0" u="none" strike="noStrike" kern="0" cap="none" spc="0" normalizeH="0" baseline="0" noProof="0">
                <a:ln>
                  <a:noFill/>
                </a:ln>
                <a:solidFill>
                  <a:srgbClr val="888888"/>
                </a:solidFill>
                <a:effectLst/>
                <a:uLnTx/>
                <a:uFillTx/>
                <a:latin typeface="Calibri"/>
                <a:cs typeface="Calibri"/>
                <a:sym typeface="Calibri"/>
              </a:rPr>
              <a:pPr marL="0" marR="0" lvl="0" indent="0" algn="l" defTabSz="914400" rtl="1"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195000516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microsoft.com/office/2007/relationships/hdphoto" Target="../media/hdphoto2.wdp"/><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image" Target="../media/image6.jpeg"/><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26.png"/><Relationship Id="rId4" Type="http://schemas.microsoft.com/office/2007/relationships/hdphoto" Target="../media/hdphoto3.wdp"/></Relationships>
</file>

<file path=ppt/slides/_rels/slide14.xml.rels><?xml version="1.0" encoding="UTF-8" standalone="yes"?>
<Relationships xmlns="http://schemas.openxmlformats.org/package/2006/relationships"><Relationship Id="rId8" Type="http://schemas.microsoft.com/office/2007/relationships/hdphoto" Target="../media/hdphoto8.wdp"/><Relationship Id="rId13"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0.png"/><Relationship Id="rId12" Type="http://schemas.microsoft.com/office/2007/relationships/hdphoto" Target="../media/hdphoto10.wdp"/><Relationship Id="rId2" Type="http://schemas.openxmlformats.org/officeDocument/2006/relationships/image" Target="../media/image6.jpeg"/><Relationship Id="rId1" Type="http://schemas.openxmlformats.org/officeDocument/2006/relationships/slideLayout" Target="../slideLayouts/slideLayout7.xml"/><Relationship Id="rId6" Type="http://schemas.microsoft.com/office/2007/relationships/hdphoto" Target="../media/hdphoto7.wdp"/><Relationship Id="rId11" Type="http://schemas.openxmlformats.org/officeDocument/2006/relationships/image" Target="../media/image32.png"/><Relationship Id="rId5" Type="http://schemas.openxmlformats.org/officeDocument/2006/relationships/image" Target="../media/image29.png"/><Relationship Id="rId10" Type="http://schemas.microsoft.com/office/2007/relationships/hdphoto" Target="../media/hdphoto9.wdp"/><Relationship Id="rId4" Type="http://schemas.microsoft.com/office/2007/relationships/hdphoto" Target="../media/hdphoto6.wdp"/><Relationship Id="rId9" Type="http://schemas.openxmlformats.org/officeDocument/2006/relationships/image" Target="../media/image31.png"/><Relationship Id="rId14" Type="http://schemas.microsoft.com/office/2007/relationships/hdphoto" Target="../media/hdphoto11.wdp"/></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6.jpeg"/><Relationship Id="rId1" Type="http://schemas.openxmlformats.org/officeDocument/2006/relationships/slideLayout" Target="../slideLayouts/slideLayout7.xml"/><Relationship Id="rId5" Type="http://schemas.microsoft.com/office/2007/relationships/hdphoto" Target="../media/hdphoto12.wdp"/><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jpeg"/><Relationship Id="rId1" Type="http://schemas.openxmlformats.org/officeDocument/2006/relationships/slideLayout" Target="../slideLayouts/slideLayout7.xml"/><Relationship Id="rId6" Type="http://schemas.microsoft.com/office/2007/relationships/hdphoto" Target="../media/hdphoto14.wdp"/><Relationship Id="rId5" Type="http://schemas.openxmlformats.org/officeDocument/2006/relationships/image" Target="../media/image39.png"/><Relationship Id="rId4" Type="http://schemas.microsoft.com/office/2007/relationships/hdphoto" Target="../media/hdphoto13.wdp"/></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jpeg"/><Relationship Id="rId1" Type="http://schemas.openxmlformats.org/officeDocument/2006/relationships/slideLayout" Target="../slideLayouts/slideLayout7.xml"/><Relationship Id="rId4" Type="http://schemas.microsoft.com/office/2007/relationships/hdphoto" Target="../media/hdphoto15.wdp"/></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7" Type="http://schemas.microsoft.com/office/2007/relationships/hdphoto" Target="../media/hdphoto17.wdp"/><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46.png"/><Relationship Id="rId5" Type="http://schemas.microsoft.com/office/2007/relationships/hdphoto" Target="../media/hdphoto16.wdp"/><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2"/>
          <a:stretch>
            <a:fillRect/>
          </a:stretch>
        </p:blipFill>
        <p:spPr>
          <a:xfrm>
            <a:off x="95003" y="105222"/>
            <a:ext cx="12096997" cy="6582323"/>
          </a:xfrm>
          <a:prstGeom prst="rect">
            <a:avLst/>
          </a:prstGeom>
        </p:spPr>
      </p:pic>
      <p:sp>
        <p:nvSpPr>
          <p:cNvPr id="5" name="TextBox 4"/>
          <p:cNvSpPr txBox="1"/>
          <p:nvPr/>
        </p:nvSpPr>
        <p:spPr>
          <a:xfrm>
            <a:off x="2794660" y="997527"/>
            <a:ext cx="6436426" cy="1446550"/>
          </a:xfrm>
          <a:prstGeom prst="rect">
            <a:avLst/>
          </a:prstGeom>
          <a:solidFill>
            <a:schemeClr val="accent2">
              <a:lumMod val="40000"/>
              <a:lumOff val="60000"/>
            </a:schemeClr>
          </a:solidFill>
          <a:ln w="38100">
            <a:solidFill>
              <a:schemeClr val="tx1"/>
            </a:solidFill>
          </a:ln>
        </p:spPr>
        <p:txBody>
          <a:bodyPr wrap="square" rtlCol="1">
            <a:spAutoFit/>
          </a:bodyPr>
          <a:lstStyle/>
          <a:p>
            <a:pPr algn="ctr"/>
            <a:r>
              <a:rPr lang="he-IL" sz="8800" b="1" dirty="0" smtClean="0">
                <a:latin typeface="David" panose="020E0502060401010101" pitchFamily="34" charset="-79"/>
                <a:cs typeface="David" panose="020E0502060401010101" pitchFamily="34" charset="-79"/>
              </a:rPr>
              <a:t>ספר שופטים:</a:t>
            </a:r>
            <a:endParaRPr lang="he-IL" sz="8800" b="1" dirty="0">
              <a:latin typeface="David" panose="020E0502060401010101" pitchFamily="34" charset="-79"/>
              <a:cs typeface="David" panose="020E0502060401010101" pitchFamily="34" charset="-79"/>
            </a:endParaRPr>
          </a:p>
        </p:txBody>
      </p:sp>
      <p:pic>
        <p:nvPicPr>
          <p:cNvPr id="6" name="תמונה 5"/>
          <p:cNvPicPr>
            <a:picLocks noChangeAspect="1"/>
          </p:cNvPicPr>
          <p:nvPr/>
        </p:nvPicPr>
        <p:blipFill>
          <a:blip r:embed="rId3"/>
          <a:stretch>
            <a:fillRect/>
          </a:stretch>
        </p:blipFill>
        <p:spPr>
          <a:xfrm>
            <a:off x="9145419" y="4585173"/>
            <a:ext cx="2619375" cy="1743075"/>
          </a:xfrm>
          <a:prstGeom prst="rect">
            <a:avLst/>
          </a:prstGeom>
        </p:spPr>
      </p:pic>
      <p:pic>
        <p:nvPicPr>
          <p:cNvPr id="7" name="תמונה 6"/>
          <p:cNvPicPr>
            <a:picLocks noChangeAspect="1"/>
          </p:cNvPicPr>
          <p:nvPr/>
        </p:nvPicPr>
        <p:blipFill>
          <a:blip r:embed="rId4"/>
          <a:stretch>
            <a:fillRect/>
          </a:stretch>
        </p:blipFill>
        <p:spPr>
          <a:xfrm>
            <a:off x="5038166" y="4585173"/>
            <a:ext cx="2466975" cy="1847850"/>
          </a:xfrm>
          <a:prstGeom prst="rect">
            <a:avLst/>
          </a:prstGeom>
        </p:spPr>
      </p:pic>
      <p:pic>
        <p:nvPicPr>
          <p:cNvPr id="8" name="תמונה 7"/>
          <p:cNvPicPr>
            <a:picLocks noChangeAspect="1"/>
          </p:cNvPicPr>
          <p:nvPr/>
        </p:nvPicPr>
        <p:blipFill>
          <a:blip r:embed="rId5"/>
          <a:stretch>
            <a:fillRect/>
          </a:stretch>
        </p:blipFill>
        <p:spPr>
          <a:xfrm>
            <a:off x="930914" y="4607007"/>
            <a:ext cx="2466975" cy="1847850"/>
          </a:xfrm>
          <a:prstGeom prst="rect">
            <a:avLst/>
          </a:prstGeom>
        </p:spPr>
      </p:pic>
      <p:pic>
        <p:nvPicPr>
          <p:cNvPr id="2" name="תמונה 1"/>
          <p:cNvPicPr>
            <a:picLocks noChangeAspect="1"/>
          </p:cNvPicPr>
          <p:nvPr/>
        </p:nvPicPr>
        <p:blipFill>
          <a:blip r:embed="rId6"/>
          <a:stretch>
            <a:fillRect/>
          </a:stretch>
        </p:blipFill>
        <p:spPr>
          <a:xfrm>
            <a:off x="6662948" y="2096575"/>
            <a:ext cx="2286198" cy="695004"/>
          </a:xfrm>
          <a:prstGeom prst="rect">
            <a:avLst/>
          </a:prstGeom>
        </p:spPr>
      </p:pic>
      <p:pic>
        <p:nvPicPr>
          <p:cNvPr id="3" name="תמונה 2"/>
          <p:cNvPicPr>
            <a:picLocks noChangeAspect="1"/>
          </p:cNvPicPr>
          <p:nvPr/>
        </p:nvPicPr>
        <p:blipFill>
          <a:blip r:embed="rId6"/>
          <a:stretch>
            <a:fillRect/>
          </a:stretch>
        </p:blipFill>
        <p:spPr>
          <a:xfrm>
            <a:off x="4925191" y="2096575"/>
            <a:ext cx="2286198" cy="695004"/>
          </a:xfrm>
          <a:prstGeom prst="rect">
            <a:avLst/>
          </a:prstGeom>
        </p:spPr>
      </p:pic>
      <p:pic>
        <p:nvPicPr>
          <p:cNvPr id="9" name="תמונה 8"/>
          <p:cNvPicPr>
            <a:picLocks noChangeAspect="1"/>
          </p:cNvPicPr>
          <p:nvPr/>
        </p:nvPicPr>
        <p:blipFill>
          <a:blip r:embed="rId6"/>
          <a:stretch>
            <a:fillRect/>
          </a:stretch>
        </p:blipFill>
        <p:spPr>
          <a:xfrm>
            <a:off x="3288376" y="2112713"/>
            <a:ext cx="2286198" cy="695004"/>
          </a:xfrm>
          <a:prstGeom prst="rect">
            <a:avLst/>
          </a:prstGeom>
        </p:spPr>
      </p:pic>
    </p:spTree>
    <p:extLst>
      <p:ext uri="{BB962C8B-B14F-4D97-AF65-F5344CB8AC3E}">
        <p14:creationId xmlns:p14="http://schemas.microsoft.com/office/powerpoint/2010/main" val="14978811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66255" y="2671947"/>
            <a:ext cx="7184571" cy="3662541"/>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600" b="1" u="sng" dirty="0" smtClean="0">
                <a:latin typeface="David" panose="020E0502060401010101" pitchFamily="34" charset="-79"/>
                <a:cs typeface="David" panose="020E0502060401010101" pitchFamily="34" charset="-79"/>
              </a:rPr>
              <a:t>הקדמה:</a:t>
            </a:r>
          </a:p>
          <a:p>
            <a:r>
              <a:rPr lang="he-IL" sz="2800" dirty="0" smtClean="0">
                <a:latin typeface="David" panose="020E0502060401010101" pitchFamily="34" charset="-79"/>
                <a:cs typeface="David" panose="020E0502060401010101" pitchFamily="34" charset="-79"/>
              </a:rPr>
              <a:t>לאחר הניצחון של דבורה וברק שקטה הארץ, אולם לאחר מות דבורה חזרו ישראל לעשות הרע בעיני ה', כעונש על כך ה' מכר אותם למדיין, והם גרמו להם נזק רב, </a:t>
            </a:r>
            <a:r>
              <a:rPr lang="he-IL" sz="2800" dirty="0" err="1" smtClean="0">
                <a:latin typeface="David" panose="020E0502060401010101" pitchFamily="34" charset="-79"/>
                <a:cs typeface="David" panose="020E0502060401010101" pitchFamily="34" charset="-79"/>
              </a:rPr>
              <a:t>בנ"י</a:t>
            </a:r>
            <a:r>
              <a:rPr lang="he-IL" sz="2800" dirty="0" smtClean="0">
                <a:latin typeface="David" panose="020E0502060401010101" pitchFamily="34" charset="-79"/>
                <a:cs typeface="David" panose="020E0502060401010101" pitchFamily="34" charset="-79"/>
              </a:rPr>
              <a:t> צעקו אל ה', ה' שמע תפילתם ושלח להם שופט חמישי. בפרק שלנו מתוארת בהרחבה התגלות ה' לאותו שופט ושליחתו לבער את העבודה זרה של בני עירו.. ולאחר מכן יוצא להילחם מול מדיין. </a:t>
            </a:r>
            <a:endParaRPr lang="he-IL" sz="2800" dirty="0">
              <a:latin typeface="David" panose="020E0502060401010101" pitchFamily="34" charset="-79"/>
              <a:cs typeface="David" panose="020E0502060401010101" pitchFamily="34" charset="-79"/>
            </a:endParaRPr>
          </a:p>
        </p:txBody>
      </p:sp>
      <p:sp>
        <p:nvSpPr>
          <p:cNvPr id="4" name="TextBox 3"/>
          <p:cNvSpPr txBox="1"/>
          <p:nvPr/>
        </p:nvSpPr>
        <p:spPr>
          <a:xfrm>
            <a:off x="5468588" y="259277"/>
            <a:ext cx="6436426" cy="1569660"/>
          </a:xfrm>
          <a:prstGeom prst="rect">
            <a:avLst/>
          </a:prstGeom>
          <a:solidFill>
            <a:schemeClr val="accent2">
              <a:lumMod val="60000"/>
              <a:lumOff val="40000"/>
            </a:schemeClr>
          </a:solidFill>
          <a:ln w="38100">
            <a:solidFill>
              <a:schemeClr val="tx1"/>
            </a:solidFill>
          </a:ln>
        </p:spPr>
        <p:txBody>
          <a:bodyPr wrap="square" rtlCol="1">
            <a:spAutoFit/>
          </a:bodyPr>
          <a:lstStyle/>
          <a:p>
            <a:pPr algn="ctr"/>
            <a:r>
              <a:rPr lang="he-IL" sz="3200" b="1" dirty="0" smtClean="0">
                <a:latin typeface="David" panose="020E0502060401010101" pitchFamily="34" charset="-79"/>
                <a:cs typeface="David" panose="020E0502060401010101" pitchFamily="34" charset="-79"/>
              </a:rPr>
              <a:t>עברנו עד עכשיו 4 שופטים: עתניאל בן קנז, אהוד בן גרא, שמגר בן ענת, דבורה הנביאה.</a:t>
            </a:r>
            <a:endParaRPr lang="he-IL" sz="3200" b="1"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7682037" y="2318552"/>
            <a:ext cx="4312042" cy="4015936"/>
          </a:xfrm>
          <a:prstGeom prst="rect">
            <a:avLst/>
          </a:prstGeom>
        </p:spPr>
      </p:pic>
    </p:spTree>
    <p:extLst>
      <p:ext uri="{BB962C8B-B14F-4D97-AF65-F5344CB8AC3E}">
        <p14:creationId xmlns:p14="http://schemas.microsoft.com/office/powerpoint/2010/main" val="3956236826"/>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circle(in)">
                                      <p:cBhvr>
                                        <p:cTn id="14" dur="2000"/>
                                        <p:tgtEl>
                                          <p:spTgt spid="3">
                                            <p:txEl>
                                              <p:pRg st="0" end="0"/>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253341" y="220996"/>
            <a:ext cx="5446815" cy="4031873"/>
          </a:xfrm>
          <a:prstGeom prst="rect">
            <a:avLst/>
          </a:prstGeom>
          <a:solidFill>
            <a:schemeClr val="accent1">
              <a:lumMod val="60000"/>
              <a:lumOff val="40000"/>
            </a:schemeClr>
          </a:solidFill>
          <a:ln w="38100">
            <a:solidFill>
              <a:schemeClr val="tx1"/>
            </a:solidFill>
          </a:ln>
        </p:spPr>
        <p:txBody>
          <a:bodyPr wrap="square" rtlCol="1">
            <a:spAutoFit/>
          </a:bodyPr>
          <a:lstStyle/>
          <a:p>
            <a:r>
              <a:rPr lang="he-IL" sz="3200" b="1" dirty="0" smtClean="0">
                <a:latin typeface="David" panose="020E0502060401010101" pitchFamily="34" charset="-79"/>
                <a:cs typeface="David" panose="020E0502060401010101" pitchFamily="34" charset="-79"/>
              </a:rPr>
              <a:t>א. </a:t>
            </a:r>
            <a:r>
              <a:rPr lang="he-IL" sz="3200" dirty="0" smtClean="0">
                <a:latin typeface="David" panose="020E0502060401010101" pitchFamily="34" charset="-79"/>
                <a:cs typeface="David" panose="020E0502060401010101" pitchFamily="34" charset="-79"/>
              </a:rPr>
              <a:t>חזרו עם ישראל לחטוא ולעשות הרע בעיני ה', ומסרם ה' לרשות המדיינים למשך 7 שנים.</a:t>
            </a:r>
          </a:p>
          <a:p>
            <a:r>
              <a:rPr lang="he-IL" sz="3200" b="1" dirty="0" smtClean="0">
                <a:latin typeface="David" panose="020E0502060401010101" pitchFamily="34" charset="-79"/>
                <a:cs typeface="David" panose="020E0502060401010101" pitchFamily="34" charset="-79"/>
              </a:rPr>
              <a:t>ב. </a:t>
            </a:r>
            <a:r>
              <a:rPr lang="he-IL" sz="3200" dirty="0" smtClean="0">
                <a:latin typeface="David" panose="020E0502060401010101" pitchFamily="34" charset="-79"/>
                <a:cs typeface="David" panose="020E0502060401010101" pitchFamily="34" charset="-79"/>
              </a:rPr>
              <a:t>התחזקה וגברה יד מדין על עם ישראל, ומפני הפחד שפחדו ממדין כדי להסתתר מהם, עשו לעצמם מנהרות תת קרקעיים בהרים. וחצבו מערות ובצרו את פסגות העיר.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5945578" y="111234"/>
            <a:ext cx="6096000" cy="2554545"/>
          </a:xfrm>
          <a:prstGeom prst="rect">
            <a:avLst/>
          </a:prstGeom>
          <a:solidFill>
            <a:schemeClr val="accent4">
              <a:lumMod val="40000"/>
              <a:lumOff val="60000"/>
            </a:schemeClr>
          </a:solidFill>
        </p:spPr>
        <p:txBody>
          <a:bodyPr>
            <a:spAutoFit/>
          </a:bodyPr>
          <a:lstStyle/>
          <a:p>
            <a:r>
              <a:rPr lang="he-IL" sz="3200" b="1" u="sng" dirty="0" smtClean="0">
                <a:latin typeface="David" panose="020E0502060401010101" pitchFamily="34" charset="-79"/>
                <a:cs typeface="David" panose="020E0502060401010101" pitchFamily="34" charset="-79"/>
              </a:rPr>
              <a:t>א</a:t>
            </a:r>
            <a:r>
              <a:rPr lang="he-IL" sz="3200" dirty="0" smtClean="0">
                <a:latin typeface="David" panose="020E0502060401010101" pitchFamily="34" charset="-79"/>
                <a:cs typeface="David" panose="020E0502060401010101" pitchFamily="34" charset="-79"/>
              </a:rPr>
              <a:t> וַיַּעֲשׂוּ בְנֵי-יִשְׂרָאֵל הָרַע, בְּעֵינֵי יְהוָה; </a:t>
            </a:r>
            <a:r>
              <a:rPr lang="he-IL" sz="3200" dirty="0" err="1" smtClean="0">
                <a:latin typeface="David" panose="020E0502060401010101" pitchFamily="34" charset="-79"/>
                <a:cs typeface="David" panose="020E0502060401010101" pitchFamily="34" charset="-79"/>
              </a:rPr>
              <a:t>וַיִּתְּנֵם</a:t>
            </a:r>
            <a:r>
              <a:rPr lang="he-IL" sz="3200" dirty="0" smtClean="0">
                <a:latin typeface="David" panose="020E0502060401010101" pitchFamily="34" charset="-79"/>
                <a:cs typeface="David" panose="020E0502060401010101" pitchFamily="34" charset="-79"/>
              </a:rPr>
              <a:t> יְהוָה </a:t>
            </a:r>
            <a:r>
              <a:rPr lang="he-IL" sz="3200" b="1" dirty="0" smtClean="0">
                <a:latin typeface="David" panose="020E0502060401010101" pitchFamily="34" charset="-79"/>
                <a:cs typeface="David" panose="020E0502060401010101" pitchFamily="34" charset="-79"/>
              </a:rPr>
              <a:t>בְּיַד-מִדְיָן, שֶׁבַע שָׁנִים</a:t>
            </a:r>
            <a:r>
              <a:rPr lang="he-IL" sz="3200" dirty="0" smtClean="0">
                <a:latin typeface="David" panose="020E0502060401010101" pitchFamily="34" charset="-79"/>
                <a:cs typeface="David" panose="020E0502060401010101" pitchFamily="34" charset="-79"/>
              </a:rPr>
              <a:t>.  </a:t>
            </a:r>
          </a:p>
          <a:p>
            <a:r>
              <a:rPr lang="he-IL" sz="3200" b="1" u="sng" dirty="0" smtClean="0">
                <a:latin typeface="David" panose="020E0502060401010101" pitchFamily="34" charset="-79"/>
                <a:cs typeface="David" panose="020E0502060401010101" pitchFamily="34" charset="-79"/>
              </a:rPr>
              <a:t>ב</a:t>
            </a:r>
            <a:r>
              <a:rPr lang="he-IL" sz="3200" dirty="0" smtClean="0">
                <a:latin typeface="David" panose="020E0502060401010101" pitchFamily="34" charset="-79"/>
                <a:cs typeface="David" panose="020E0502060401010101" pitchFamily="34" charset="-79"/>
              </a:rPr>
              <a:t> </a:t>
            </a:r>
            <a:r>
              <a:rPr lang="he-IL" sz="3200" b="1" dirty="0" smtClean="0">
                <a:latin typeface="David" panose="020E0502060401010101" pitchFamily="34" charset="-79"/>
                <a:cs typeface="David" panose="020E0502060401010101" pitchFamily="34" charset="-79"/>
              </a:rPr>
              <a:t>וַתָּעָז</a:t>
            </a:r>
            <a:r>
              <a:rPr lang="he-IL" sz="3200" dirty="0" smtClean="0">
                <a:latin typeface="David" panose="020E0502060401010101" pitchFamily="34" charset="-79"/>
                <a:cs typeface="David" panose="020E0502060401010101" pitchFamily="34" charset="-79"/>
              </a:rPr>
              <a:t> יַד-מִדְיָן, עַל-יִשְׂרָאֵל; מִפְּנֵי מִדְיָן עָשׂוּ לָהֶם בְּנֵי יִשְׂרָאֵל, אֶת-הַמִּנְהָרוֹת אֲשֶׁר בֶּהָרִים, וְאֶת-הַמְּעָרוֹת, </a:t>
            </a:r>
            <a:r>
              <a:rPr lang="he-IL" sz="3200" dirty="0" err="1" smtClean="0">
                <a:latin typeface="David" panose="020E0502060401010101" pitchFamily="34" charset="-79"/>
                <a:cs typeface="David" panose="020E0502060401010101" pitchFamily="34" charset="-79"/>
              </a:rPr>
              <a:t>וְאֶת-הַמְּצָדוֹת</a:t>
            </a:r>
            <a:r>
              <a:rPr lang="he-IL" sz="3200" dirty="0" smtClean="0">
                <a:latin typeface="David" panose="020E0502060401010101" pitchFamily="34" charset="-79"/>
                <a:cs typeface="David" panose="020E0502060401010101" pitchFamily="34" charset="-79"/>
              </a:rPr>
              <a:t>.</a:t>
            </a:r>
            <a:endParaRPr lang="he-IL" sz="3200" dirty="0">
              <a:latin typeface="David" panose="020E0502060401010101" pitchFamily="34" charset="-79"/>
              <a:cs typeface="David" panose="020E0502060401010101" pitchFamily="34" charset="-79"/>
            </a:endParaRPr>
          </a:p>
        </p:txBody>
      </p:sp>
      <p:pic>
        <p:nvPicPr>
          <p:cNvPr id="4" name="תמונה 3"/>
          <p:cNvPicPr>
            <a:picLocks noChangeAspect="1"/>
          </p:cNvPicPr>
          <p:nvPr/>
        </p:nvPicPr>
        <p:blipFill>
          <a:blip r:embed="rId3"/>
          <a:stretch>
            <a:fillRect/>
          </a:stretch>
        </p:blipFill>
        <p:spPr>
          <a:xfrm>
            <a:off x="395781" y="4595936"/>
            <a:ext cx="5549797" cy="2077997"/>
          </a:xfrm>
          <a:prstGeom prst="rect">
            <a:avLst/>
          </a:prstGeom>
        </p:spPr>
      </p:pic>
      <p:pic>
        <p:nvPicPr>
          <p:cNvPr id="5" name="תמונה 4"/>
          <p:cNvPicPr>
            <a:picLocks noChangeAspect="1"/>
          </p:cNvPicPr>
          <p:nvPr/>
        </p:nvPicPr>
        <p:blipFill>
          <a:blip r:embed="rId4"/>
          <a:stretch>
            <a:fillRect/>
          </a:stretch>
        </p:blipFill>
        <p:spPr>
          <a:xfrm>
            <a:off x="7435941" y="3266908"/>
            <a:ext cx="3964369" cy="2969450"/>
          </a:xfrm>
          <a:prstGeom prst="rect">
            <a:avLst/>
          </a:prstGeom>
          <a:ln w="228600" cap="sq" cmpd="thickThin">
            <a:solidFill>
              <a:srgbClr val="000000"/>
            </a:solidFill>
            <a:prstDash val="solid"/>
            <a:miter lim="800000"/>
          </a:ln>
          <a:effectLst>
            <a:innerShdw blurRad="76200">
              <a:srgbClr val="000000"/>
            </a:innerShdw>
          </a:effectLst>
          <a:scene3d>
            <a:camera prst="isometricOffAxis1Right"/>
            <a:lightRig rig="threePt" dir="t"/>
          </a:scene3d>
        </p:spPr>
      </p:pic>
      <p:cxnSp>
        <p:nvCxnSpPr>
          <p:cNvPr id="7" name="מחבר חץ ישר 6"/>
          <p:cNvCxnSpPr/>
          <p:nvPr/>
        </p:nvCxnSpPr>
        <p:spPr>
          <a:xfrm>
            <a:off x="7885216" y="2665779"/>
            <a:ext cx="736270" cy="896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מחבר חץ ישר 7"/>
          <p:cNvCxnSpPr/>
          <p:nvPr/>
        </p:nvCxnSpPr>
        <p:spPr>
          <a:xfrm flipH="1">
            <a:off x="5106392" y="1915654"/>
            <a:ext cx="1935675" cy="3155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5151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74878" y="118753"/>
            <a:ext cx="5731823" cy="5016758"/>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ג</a:t>
            </a:r>
            <a:r>
              <a:rPr lang="he-IL" sz="3200" dirty="0" smtClean="0">
                <a:latin typeface="David" panose="020E0502060401010101" pitchFamily="34" charset="-79"/>
                <a:cs typeface="David" panose="020E0502060401010101" pitchFamily="34" charset="-79"/>
              </a:rPr>
              <a:t>. ובכל פעם </a:t>
            </a:r>
            <a:r>
              <a:rPr lang="he-IL" sz="3200" dirty="0">
                <a:latin typeface="David" panose="020E0502060401010101" pitchFamily="34" charset="-79"/>
                <a:cs typeface="David" panose="020E0502060401010101" pitchFamily="34" charset="-79"/>
              </a:rPr>
              <a:t>כ</a:t>
            </a:r>
            <a:r>
              <a:rPr lang="he-IL" sz="3200" dirty="0" smtClean="0">
                <a:latin typeface="David" panose="020E0502060401010101" pitchFamily="34" charset="-79"/>
                <a:cs typeface="David" panose="020E0502060401010101" pitchFamily="34" charset="-79"/>
              </a:rPr>
              <a:t>אשר עם ישראל זרע באדמה והתחיל לצמוח , הופיעו המדיינים והעמלקים, ושבטי המזרח </a:t>
            </a:r>
            <a:r>
              <a:rPr lang="he-IL" sz="3200" b="1" dirty="0" smtClean="0">
                <a:latin typeface="David" panose="020E0502060401010101" pitchFamily="34" charset="-79"/>
                <a:cs typeface="David" panose="020E0502060401010101" pitchFamily="34" charset="-79"/>
              </a:rPr>
              <a:t>ועלו והשחיתו ובזזו את השדות</a:t>
            </a:r>
            <a:r>
              <a:rPr lang="he-IL" sz="3200" dirty="0" smtClean="0">
                <a:latin typeface="David" panose="020E0502060401010101" pitchFamily="34" charset="-79"/>
                <a:cs typeface="David" panose="020E0502060401010101" pitchFamily="34" charset="-79"/>
              </a:rPr>
              <a:t>.</a:t>
            </a:r>
          </a:p>
          <a:p>
            <a:r>
              <a:rPr lang="he-IL" sz="3200" b="1" u="sng" dirty="0" smtClean="0">
                <a:latin typeface="David" panose="020E0502060401010101" pitchFamily="34" charset="-79"/>
                <a:cs typeface="David" panose="020E0502060401010101" pitchFamily="34" charset="-79"/>
              </a:rPr>
              <a:t>ד</a:t>
            </a:r>
            <a:r>
              <a:rPr lang="he-IL" sz="3200" dirty="0" smtClean="0">
                <a:latin typeface="David" panose="020E0502060401010101" pitchFamily="34" charset="-79"/>
                <a:cs typeface="David" panose="020E0502060401010101" pitchFamily="34" charset="-79"/>
              </a:rPr>
              <a:t>. ומדיין ועמלק חנו סביב לשדות ישראל, ושלחו את בהמותיהם שהזיקו את תבואות הארץ עד תחום העיר עזה, ולא השאירו האומות הללו שום דבר מחיה, וגם לקחו להם לישראל את כל הבהמות.</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103916" y="118753"/>
            <a:ext cx="5949537" cy="2554545"/>
          </a:xfrm>
          <a:prstGeom prst="rect">
            <a:avLst/>
          </a:prstGeom>
          <a:solidFill>
            <a:schemeClr val="accent2">
              <a:lumMod val="60000"/>
              <a:lumOff val="40000"/>
            </a:schemeClr>
          </a:solidFill>
        </p:spPr>
        <p:txBody>
          <a:bodyPr wrap="square">
            <a:spAutoFit/>
          </a:bodyPr>
          <a:lstStyle/>
          <a:p>
            <a:r>
              <a:rPr lang="he-IL" sz="3200" b="1" dirty="0">
                <a:solidFill>
                  <a:srgbClr val="000000"/>
                </a:solidFill>
                <a:latin typeface="David" panose="020E0502060401010101" pitchFamily="34" charset="-79"/>
                <a:cs typeface="David" panose="020E0502060401010101" pitchFamily="34" charset="-79"/>
              </a:rPr>
              <a:t>ג</a:t>
            </a:r>
            <a:r>
              <a:rPr lang="he-IL" sz="3200" dirty="0">
                <a:solidFill>
                  <a:srgbClr val="000000"/>
                </a:solidFill>
                <a:latin typeface="David" panose="020E0502060401010101" pitchFamily="34" charset="-79"/>
                <a:cs typeface="David" panose="020E0502060401010101" pitchFamily="34" charset="-79"/>
              </a:rPr>
              <a:t> וְהָיָה, אִם-זָרַע יִשְׂרָאֵל--וְעָלָה </a:t>
            </a:r>
            <a:r>
              <a:rPr lang="he-IL" sz="3200" b="1" dirty="0">
                <a:solidFill>
                  <a:srgbClr val="000000"/>
                </a:solidFill>
                <a:latin typeface="David" panose="020E0502060401010101" pitchFamily="34" charset="-79"/>
                <a:cs typeface="David" panose="020E0502060401010101" pitchFamily="34" charset="-79"/>
              </a:rPr>
              <a:t>מִדְיָן וַעֲמָלֵק וּבְנֵי-קֶדֶם</a:t>
            </a:r>
            <a:r>
              <a:rPr lang="he-IL" sz="3200" dirty="0">
                <a:solidFill>
                  <a:srgbClr val="000000"/>
                </a:solidFill>
                <a:latin typeface="David" panose="020E0502060401010101" pitchFamily="34" charset="-79"/>
                <a:cs typeface="David" panose="020E0502060401010101" pitchFamily="34" charset="-79"/>
              </a:rPr>
              <a:t>, וְעָלוּ עָלָיו.  </a:t>
            </a:r>
            <a:endParaRPr lang="he-IL" sz="3200" dirty="0" smtClean="0">
              <a:solidFill>
                <a:srgbClr val="000000"/>
              </a:solidFill>
              <a:latin typeface="David" panose="020E0502060401010101" pitchFamily="34" charset="-79"/>
              <a:cs typeface="David" panose="020E0502060401010101" pitchFamily="34" charset="-79"/>
            </a:endParaRPr>
          </a:p>
          <a:p>
            <a:r>
              <a:rPr lang="he-IL" sz="3200" b="1" dirty="0" smtClean="0">
                <a:solidFill>
                  <a:srgbClr val="000000"/>
                </a:solidFill>
                <a:latin typeface="David" panose="020E0502060401010101" pitchFamily="34" charset="-79"/>
                <a:cs typeface="David" panose="020E0502060401010101" pitchFamily="34" charset="-79"/>
              </a:rPr>
              <a:t>ד</a:t>
            </a:r>
            <a:r>
              <a:rPr lang="he-IL" sz="3200" dirty="0">
                <a:solidFill>
                  <a:srgbClr val="000000"/>
                </a:solidFill>
                <a:latin typeface="David" panose="020E0502060401010101" pitchFamily="34" charset="-79"/>
                <a:cs typeface="David" panose="020E0502060401010101" pitchFamily="34" charset="-79"/>
              </a:rPr>
              <a:t> וַיַּחֲנוּ עֲלֵיהֶם, וַיַּשְׁחִיתוּ אֶת-יְבוּל הָאָרֶץ, עַד-בּוֹאֲךָ, עַזָּה; וְלֹא-יַשְׁאִירוּ מִחְיָה בְּיִשְׂרָאֵל, וְשֶׂה וָשׁוֹר וַחֲמוֹר. </a:t>
            </a:r>
            <a:endParaRPr lang="he-IL" sz="3200" dirty="0">
              <a:latin typeface="David" panose="020E0502060401010101" pitchFamily="34" charset="-79"/>
              <a:cs typeface="David" panose="020E0502060401010101" pitchFamily="34" charset="-79"/>
            </a:endParaRPr>
          </a:p>
        </p:txBody>
      </p:sp>
      <p:pic>
        <p:nvPicPr>
          <p:cNvPr id="4" name="תמונה 3"/>
          <p:cNvPicPr>
            <a:picLocks noChangeAspect="1"/>
          </p:cNvPicPr>
          <p:nvPr/>
        </p:nvPicPr>
        <p:blipFill>
          <a:blip r:embed="rId3"/>
          <a:stretch>
            <a:fillRect/>
          </a:stretch>
        </p:blipFill>
        <p:spPr>
          <a:xfrm>
            <a:off x="8094766" y="2538474"/>
            <a:ext cx="3804158" cy="250853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5" name="תמונה 4"/>
          <p:cNvPicPr>
            <a:picLocks noChangeAspect="1"/>
          </p:cNvPicPr>
          <p:nvPr/>
        </p:nvPicPr>
        <p:blipFill>
          <a:blip r:embed="rId4"/>
          <a:stretch>
            <a:fillRect/>
          </a:stretch>
        </p:blipFill>
        <p:spPr>
          <a:xfrm>
            <a:off x="7170151" y="4595751"/>
            <a:ext cx="3817066" cy="213755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6" name="TextBox 5"/>
          <p:cNvSpPr txBox="1"/>
          <p:nvPr/>
        </p:nvSpPr>
        <p:spPr>
          <a:xfrm>
            <a:off x="174878" y="5288340"/>
            <a:ext cx="6855314" cy="1569660"/>
          </a:xfrm>
          <a:prstGeom prst="rect">
            <a:avLst/>
          </a:prstGeom>
          <a:solidFill>
            <a:schemeClr val="accent6">
              <a:lumMod val="60000"/>
              <a:lumOff val="40000"/>
            </a:schemeClr>
          </a:solidFill>
          <a:ln w="38100">
            <a:solidFill>
              <a:schemeClr val="tx1"/>
            </a:solidFill>
          </a:ln>
          <a:scene3d>
            <a:camera prst="perspectiveBelow"/>
            <a:lightRig rig="threePt" dir="t"/>
          </a:scene3d>
        </p:spPr>
        <p:txBody>
          <a:bodyPr wrap="square" rtlCol="1">
            <a:spAutoFit/>
          </a:bodyPr>
          <a:lstStyle/>
          <a:p>
            <a:pPr algn="ctr"/>
            <a:r>
              <a:rPr lang="he-IL" sz="2400" dirty="0" smtClean="0">
                <a:latin typeface="David" panose="020E0502060401010101" pitchFamily="34" charset="-79"/>
                <a:cs typeface="David" panose="020E0502060401010101" pitchFamily="34" charset="-79"/>
              </a:rPr>
              <a:t>"</a:t>
            </a:r>
            <a:r>
              <a:rPr lang="he-IL" sz="2400" b="1" u="sng" dirty="0" smtClean="0">
                <a:latin typeface="David" panose="020E0502060401010101" pitchFamily="34" charset="-79"/>
                <a:cs typeface="David" panose="020E0502060401010101" pitchFamily="34" charset="-79"/>
              </a:rPr>
              <a:t>וישחיתו את יבול הארץ"- </a:t>
            </a:r>
            <a:r>
              <a:rPr lang="he-IL" sz="2400" dirty="0" smtClean="0">
                <a:latin typeface="David" panose="020E0502060401010101" pitchFamily="34" charset="-79"/>
                <a:cs typeface="David" panose="020E0502060401010101" pitchFamily="34" charset="-79"/>
              </a:rPr>
              <a:t>ספר הכתוב </a:t>
            </a:r>
            <a:r>
              <a:rPr lang="he-IL" sz="2400" dirty="0" err="1" smtClean="0">
                <a:latin typeface="David" panose="020E0502060401010101" pitchFamily="34" charset="-79"/>
                <a:cs typeface="David" panose="020E0502060401010101" pitchFamily="34" charset="-79"/>
              </a:rPr>
              <a:t>רשעת</a:t>
            </a:r>
            <a:r>
              <a:rPr lang="he-IL" sz="2400" dirty="0" smtClean="0">
                <a:latin typeface="David" panose="020E0502060401010101" pitchFamily="34" charset="-79"/>
                <a:cs typeface="David" panose="020E0502060401010101" pitchFamily="34" charset="-79"/>
              </a:rPr>
              <a:t> מדין יותר משאר האומות, כי כל האומות, היו שוללים ובוזזים להם להנאתם, מה שאין כן מדין וישחיתו אע"פ שלא הייתה להם הנאה ממנו, כל כוונתם הייתה לשחת הארץ.</a:t>
            </a:r>
            <a:endParaRPr lang="he-IL" sz="24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62036877"/>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circle(in)">
                                      <p:cBhvr>
                                        <p:cTn id="19" dur="2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ppt_x"/>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54380" y="95003"/>
            <a:ext cx="5557652" cy="6001643"/>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ה</a:t>
            </a:r>
            <a:r>
              <a:rPr lang="he-IL" sz="3200" b="1"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שהרי הגויים עם עדריהם, בהמותיהם יעלו כדי לרעות ולכלות את התבואה, והיו מגיעים עם </a:t>
            </a:r>
            <a:r>
              <a:rPr lang="he-IL" sz="3200" dirty="0" err="1" smtClean="0">
                <a:latin typeface="David" panose="020E0502060401010101" pitchFamily="34" charset="-79"/>
                <a:cs typeface="David" panose="020E0502060401010101" pitchFamily="34" charset="-79"/>
              </a:rPr>
              <a:t>אהליהם</a:t>
            </a:r>
            <a:r>
              <a:rPr lang="he-IL" sz="3200" dirty="0" smtClean="0">
                <a:latin typeface="David" panose="020E0502060401010101" pitchFamily="34" charset="-79"/>
                <a:cs typeface="David" panose="020E0502060401010101" pitchFamily="34" charset="-79"/>
              </a:rPr>
              <a:t> לשכון סמוך לישראל, והיה מספרם כמו הארבה (שמגיע בלהקות עצומות) ואי אפשר לספור אותם ואת גמליהם מרוב מספרם. ונכנסו </a:t>
            </a:r>
            <a:r>
              <a:rPr lang="he-IL" sz="3200" dirty="0" err="1" smtClean="0">
                <a:latin typeface="David" panose="020E0502060401010101" pitchFamily="34" charset="-79"/>
                <a:cs typeface="David" panose="020E0502060401010101" pitchFamily="34" charset="-79"/>
              </a:rPr>
              <a:t>לישובי</a:t>
            </a:r>
            <a:r>
              <a:rPr lang="he-IL" sz="3200" dirty="0" smtClean="0">
                <a:latin typeface="David" panose="020E0502060401010101" pitchFamily="34" charset="-79"/>
                <a:cs typeface="David" panose="020E0502060401010101" pitchFamily="34" charset="-79"/>
              </a:rPr>
              <a:t> הארץ והשחיתו </a:t>
            </a:r>
            <a:r>
              <a:rPr lang="he-IL" sz="3200" dirty="0" err="1" smtClean="0">
                <a:latin typeface="David" panose="020E0502060401010101" pitchFamily="34" charset="-79"/>
                <a:cs typeface="David" panose="020E0502060401010101" pitchFamily="34" charset="-79"/>
              </a:rPr>
              <a:t>הכל</a:t>
            </a:r>
            <a:r>
              <a:rPr lang="he-IL" sz="3200" dirty="0" smtClean="0">
                <a:latin typeface="David" panose="020E0502060401010101" pitchFamily="34" charset="-79"/>
                <a:cs typeface="David" panose="020E0502060401010101" pitchFamily="34" charset="-79"/>
              </a:rPr>
              <a:t>. </a:t>
            </a:r>
          </a:p>
          <a:p>
            <a:r>
              <a:rPr lang="he-IL" sz="3200" b="1" u="sng" dirty="0" smtClean="0">
                <a:latin typeface="David" panose="020E0502060401010101" pitchFamily="34" charset="-79"/>
                <a:cs typeface="David" panose="020E0502060401010101" pitchFamily="34" charset="-79"/>
              </a:rPr>
              <a:t>ו</a:t>
            </a:r>
            <a:r>
              <a:rPr lang="he-IL" sz="3200" dirty="0" smtClean="0">
                <a:latin typeface="David" panose="020E0502060401010101" pitchFamily="34" charset="-79"/>
                <a:cs typeface="David" panose="020E0502060401010101" pitchFamily="34" charset="-79"/>
              </a:rPr>
              <a:t>. ועם ישראל </a:t>
            </a:r>
            <a:r>
              <a:rPr lang="he-IL" sz="3200" b="1" dirty="0" smtClean="0">
                <a:latin typeface="David" panose="020E0502060401010101" pitchFamily="34" charset="-79"/>
                <a:cs typeface="David" panose="020E0502060401010101" pitchFamily="34" charset="-79"/>
              </a:rPr>
              <a:t>התרוששו </a:t>
            </a:r>
            <a:r>
              <a:rPr lang="he-IL" sz="3200" b="1" dirty="0" err="1" smtClean="0">
                <a:latin typeface="David" panose="020E0502060401010101" pitchFamily="34" charset="-79"/>
                <a:cs typeface="David" panose="020E0502060401010101" pitchFamily="34" charset="-79"/>
              </a:rPr>
              <a:t>ונדלדלו</a:t>
            </a:r>
            <a:r>
              <a:rPr lang="he-IL" sz="3200" b="1"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מפני מדיין שכילו להם את </a:t>
            </a:r>
            <a:r>
              <a:rPr lang="he-IL" sz="3200" dirty="0" err="1" smtClean="0">
                <a:latin typeface="David" panose="020E0502060401010101" pitchFamily="34" charset="-79"/>
                <a:cs typeface="David" panose="020E0502060401010101" pitchFamily="34" charset="-79"/>
              </a:rPr>
              <a:t>הכל</a:t>
            </a:r>
            <a:r>
              <a:rPr lang="he-IL" sz="3200" dirty="0" smtClean="0">
                <a:latin typeface="David" panose="020E0502060401010101" pitchFamily="34" charset="-79"/>
                <a:cs typeface="David" panose="020E0502060401010101" pitchFamily="34" charset="-79"/>
              </a:rPr>
              <a:t>. והתפללו בני ישראל אל ה' שיצילם מיד מדיין. </a:t>
            </a:r>
            <a:endParaRPr lang="he-IL" sz="3200" b="1" dirty="0">
              <a:latin typeface="David" panose="020E0502060401010101" pitchFamily="34" charset="-79"/>
              <a:cs typeface="David" panose="020E0502060401010101" pitchFamily="34" charset="-79"/>
            </a:endParaRPr>
          </a:p>
        </p:txBody>
      </p:sp>
      <p:sp>
        <p:nvSpPr>
          <p:cNvPr id="2" name="מלבן 1"/>
          <p:cNvSpPr/>
          <p:nvPr/>
        </p:nvSpPr>
        <p:spPr>
          <a:xfrm>
            <a:off x="5957454" y="249382"/>
            <a:ext cx="6096000" cy="3046988"/>
          </a:xfrm>
          <a:prstGeom prst="rect">
            <a:avLst/>
          </a:prstGeom>
          <a:solidFill>
            <a:schemeClr val="accent3">
              <a:lumMod val="40000"/>
              <a:lumOff val="60000"/>
            </a:schemeClr>
          </a:solidFill>
        </p:spPr>
        <p:txBody>
          <a:bodyPr>
            <a:spAutoFit/>
          </a:bodyPr>
          <a:lstStyle/>
          <a:p>
            <a:r>
              <a:rPr lang="he-IL" sz="3200" dirty="0">
                <a:solidFill>
                  <a:srgbClr val="000000"/>
                </a:solidFill>
                <a:latin typeface="David" panose="020E0502060401010101" pitchFamily="34" charset="-79"/>
                <a:cs typeface="David" panose="020E0502060401010101" pitchFamily="34" charset="-79"/>
              </a:rPr>
              <a:t> </a:t>
            </a:r>
            <a:r>
              <a:rPr lang="he-IL" sz="3200" b="1" dirty="0">
                <a:solidFill>
                  <a:srgbClr val="000000"/>
                </a:solidFill>
                <a:latin typeface="David" panose="020E0502060401010101" pitchFamily="34" charset="-79"/>
                <a:cs typeface="David" panose="020E0502060401010101" pitchFamily="34" charset="-79"/>
              </a:rPr>
              <a:t>ה</a:t>
            </a:r>
            <a:r>
              <a:rPr lang="he-IL" sz="3200" dirty="0">
                <a:solidFill>
                  <a:srgbClr val="000000"/>
                </a:solidFill>
                <a:latin typeface="David" panose="020E0502060401010101" pitchFamily="34" charset="-79"/>
                <a:cs typeface="David" panose="020E0502060401010101" pitchFamily="34" charset="-79"/>
              </a:rPr>
              <a:t> כִּי הֵם וּמִקְנֵיהֶם יַעֲלוּ </a:t>
            </a:r>
            <a:r>
              <a:rPr lang="he-IL" sz="3200" dirty="0" err="1">
                <a:solidFill>
                  <a:srgbClr val="000000"/>
                </a:solidFill>
                <a:latin typeface="David" panose="020E0502060401010101" pitchFamily="34" charset="-79"/>
                <a:cs typeface="David" panose="020E0502060401010101" pitchFamily="34" charset="-79"/>
              </a:rPr>
              <a:t>וְאָהֳלֵיהֶם</a:t>
            </a:r>
            <a:r>
              <a:rPr lang="he-IL" sz="3200" dirty="0">
                <a:solidFill>
                  <a:srgbClr val="000000"/>
                </a:solidFill>
                <a:latin typeface="David" panose="020E0502060401010101" pitchFamily="34" charset="-79"/>
                <a:cs typeface="David" panose="020E0502060401010101" pitchFamily="34" charset="-79"/>
              </a:rPr>
              <a:t>, יבאו </a:t>
            </a:r>
            <a:r>
              <a:rPr lang="he-IL" sz="3200" dirty="0">
                <a:latin typeface="David" panose="020E0502060401010101" pitchFamily="34" charset="-79"/>
                <a:cs typeface="David" panose="020E0502060401010101" pitchFamily="34" charset="-79"/>
              </a:rPr>
              <a:t>וּבָאוּ</a:t>
            </a:r>
            <a:r>
              <a:rPr lang="he-IL" sz="3200" dirty="0">
                <a:solidFill>
                  <a:srgbClr val="000000"/>
                </a:solidFill>
                <a:latin typeface="David" panose="020E0502060401010101" pitchFamily="34" charset="-79"/>
                <a:cs typeface="David" panose="020E0502060401010101" pitchFamily="34" charset="-79"/>
              </a:rPr>
              <a:t> כְדֵי-אַרְבֶּה לָרֹב, וְלָהֶם וְלִגְמַלֵּיהֶם, אֵין מִסְפָּר; וַיָּבֹאוּ בָאָרֶץ, לְשַׁחֲתָהּ.  </a:t>
            </a:r>
            <a:endParaRPr lang="he-IL" sz="3200" dirty="0" smtClean="0">
              <a:solidFill>
                <a:srgbClr val="000000"/>
              </a:solidFill>
              <a:latin typeface="David" panose="020E0502060401010101" pitchFamily="34" charset="-79"/>
              <a:cs typeface="David" panose="020E0502060401010101" pitchFamily="34" charset="-79"/>
            </a:endParaRPr>
          </a:p>
          <a:p>
            <a:r>
              <a:rPr lang="he-IL" sz="3200" b="1" dirty="0" smtClean="0">
                <a:solidFill>
                  <a:srgbClr val="000000"/>
                </a:solidFill>
                <a:latin typeface="David" panose="020E0502060401010101" pitchFamily="34" charset="-79"/>
                <a:cs typeface="David" panose="020E0502060401010101" pitchFamily="34" charset="-79"/>
              </a:rPr>
              <a:t>ו</a:t>
            </a:r>
            <a:r>
              <a:rPr lang="he-IL" sz="3200" dirty="0">
                <a:solidFill>
                  <a:srgbClr val="000000"/>
                </a:solidFill>
                <a:latin typeface="David" panose="020E0502060401010101" pitchFamily="34" charset="-79"/>
                <a:cs typeface="David" panose="020E0502060401010101" pitchFamily="34" charset="-79"/>
              </a:rPr>
              <a:t> </a:t>
            </a:r>
            <a:r>
              <a:rPr lang="he-IL" sz="3200" b="1" dirty="0" err="1">
                <a:solidFill>
                  <a:srgbClr val="000000"/>
                </a:solidFill>
                <a:latin typeface="David" panose="020E0502060401010101" pitchFamily="34" charset="-79"/>
                <a:cs typeface="David" panose="020E0502060401010101" pitchFamily="34" charset="-79"/>
              </a:rPr>
              <a:t>וַיִּדַּל</a:t>
            </a:r>
            <a:r>
              <a:rPr lang="he-IL" sz="3200" b="1" dirty="0">
                <a:solidFill>
                  <a:srgbClr val="000000"/>
                </a:solidFill>
                <a:latin typeface="David" panose="020E0502060401010101" pitchFamily="34" charset="-79"/>
                <a:cs typeface="David" panose="020E0502060401010101" pitchFamily="34" charset="-79"/>
              </a:rPr>
              <a:t> יִשְׂרָאֵל מְאֹד</a:t>
            </a:r>
            <a:r>
              <a:rPr lang="he-IL" sz="3200" dirty="0">
                <a:solidFill>
                  <a:srgbClr val="000000"/>
                </a:solidFill>
                <a:latin typeface="David" panose="020E0502060401010101" pitchFamily="34" charset="-79"/>
                <a:cs typeface="David" panose="020E0502060401010101" pitchFamily="34" charset="-79"/>
              </a:rPr>
              <a:t>, מִפְּנֵי מִדְיָן; וַיִּזְעֲקוּ בְנֵי-יִשְׂרָאֵל, אֶל-יְהוָה. </a:t>
            </a:r>
            <a:endParaRPr lang="he-IL" sz="3200" dirty="0">
              <a:latin typeface="David" panose="020E0502060401010101" pitchFamily="34" charset="-79"/>
              <a:cs typeface="David" panose="020E0502060401010101" pitchFamily="34" charset="-79"/>
            </a:endParaRPr>
          </a:p>
        </p:txBody>
      </p:sp>
      <p:pic>
        <p:nvPicPr>
          <p:cNvPr id="6" name="תמונה 5"/>
          <p:cNvPicPr>
            <a:picLocks noChangeAspect="1"/>
          </p:cNvPicPr>
          <p:nvPr/>
        </p:nvPicPr>
        <p:blipFill>
          <a:blip r:embed="rId3"/>
          <a:stretch>
            <a:fillRect/>
          </a:stretch>
        </p:blipFill>
        <p:spPr>
          <a:xfrm>
            <a:off x="7115175" y="3479470"/>
            <a:ext cx="4764603" cy="3176402"/>
          </a:xfrm>
          <a:prstGeom prst="rect">
            <a:avLst/>
          </a:prstGeom>
        </p:spPr>
      </p:pic>
      <p:pic>
        <p:nvPicPr>
          <p:cNvPr id="5" name="תמונה 4"/>
          <p:cNvPicPr>
            <a:picLocks noChangeAspect="1"/>
          </p:cNvPicPr>
          <p:nvPr/>
        </p:nvPicPr>
        <p:blipFill>
          <a:blip r:embed="rId4">
            <a:extLst>
              <a:ext uri="{BEBA8EAE-BF5A-486C-A8C5-ECC9F3942E4B}">
                <a14:imgProps xmlns:a14="http://schemas.microsoft.com/office/drawing/2010/main">
                  <a14:imgLayer r:embed="rId5">
                    <a14:imgEffect>
                      <a14:backgroundRemoval t="7336" b="89575" l="0" r="95876"/>
                    </a14:imgEffect>
                  </a14:imgLayer>
                </a14:imgProps>
              </a:ext>
            </a:extLst>
          </a:blip>
          <a:stretch>
            <a:fillRect/>
          </a:stretch>
        </p:blipFill>
        <p:spPr>
          <a:xfrm>
            <a:off x="8667384" y="3602490"/>
            <a:ext cx="3259406" cy="3053382"/>
          </a:xfrm>
          <a:prstGeom prst="rect">
            <a:avLst/>
          </a:prstGeom>
        </p:spPr>
      </p:pic>
      <p:pic>
        <p:nvPicPr>
          <p:cNvPr id="8" name="תמונה 7"/>
          <p:cNvPicPr>
            <a:picLocks noChangeAspect="1"/>
          </p:cNvPicPr>
          <p:nvPr/>
        </p:nvPicPr>
        <p:blipFill>
          <a:blip r:embed="rId6">
            <a:extLst>
              <a:ext uri="{BEBA8EAE-BF5A-486C-A8C5-ECC9F3942E4B}">
                <a14:imgProps xmlns:a14="http://schemas.microsoft.com/office/drawing/2010/main">
                  <a14:imgLayer r:embed="rId7">
                    <a14:imgEffect>
                      <a14:backgroundRemoval t="7080" b="97345" l="0" r="100000"/>
                    </a14:imgEffect>
                  </a14:imgLayer>
                </a14:imgProps>
              </a:ext>
            </a:extLst>
          </a:blip>
          <a:stretch>
            <a:fillRect/>
          </a:stretch>
        </p:blipFill>
        <p:spPr>
          <a:xfrm>
            <a:off x="7157854" y="3174670"/>
            <a:ext cx="2124075" cy="3525611"/>
          </a:xfrm>
          <a:prstGeom prst="rect">
            <a:avLst/>
          </a:prstGeom>
        </p:spPr>
      </p:pic>
      <p:cxnSp>
        <p:nvCxnSpPr>
          <p:cNvPr id="10" name="מחבר חץ ישר 9"/>
          <p:cNvCxnSpPr/>
          <p:nvPr/>
        </p:nvCxnSpPr>
        <p:spPr>
          <a:xfrm>
            <a:off x="6982691" y="2755075"/>
            <a:ext cx="938151" cy="1211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54380" y="337479"/>
            <a:ext cx="5803074" cy="3416320"/>
          </a:xfrm>
          <a:prstGeom prst="rect">
            <a:avLst/>
          </a:prstGeom>
          <a:solidFill>
            <a:schemeClr val="accent2">
              <a:lumMod val="60000"/>
              <a:lumOff val="40000"/>
            </a:schemeClr>
          </a:solidFill>
          <a:ln w="38100">
            <a:solidFill>
              <a:schemeClr val="tx1"/>
            </a:solidFill>
          </a:ln>
          <a:scene3d>
            <a:camera prst="isometricOffAxis1Right"/>
            <a:lightRig rig="threePt" dir="t"/>
          </a:scene3d>
        </p:spPr>
        <p:txBody>
          <a:bodyPr wrap="square" rtlCol="1">
            <a:spAutoFit/>
          </a:bodyPr>
          <a:lstStyle/>
          <a:p>
            <a:r>
              <a:rPr lang="he-IL" sz="3600" b="1" dirty="0" smtClean="0">
                <a:latin typeface="David" panose="020E0502060401010101" pitchFamily="34" charset="-79"/>
                <a:cs typeface="David" panose="020E0502060401010101" pitchFamily="34" charset="-79"/>
              </a:rPr>
              <a:t>"</a:t>
            </a:r>
            <a:r>
              <a:rPr lang="he-IL" sz="3600" b="1" dirty="0" err="1" smtClean="0">
                <a:latin typeface="David" panose="020E0502060401010101" pitchFamily="34" charset="-79"/>
                <a:cs typeface="David" panose="020E0502060401010101" pitchFamily="34" charset="-79"/>
              </a:rPr>
              <a:t>וידל</a:t>
            </a:r>
            <a:r>
              <a:rPr lang="he-IL" sz="3600" b="1" dirty="0" smtClean="0">
                <a:latin typeface="David" panose="020E0502060401010101" pitchFamily="34" charset="-79"/>
                <a:cs typeface="David" panose="020E0502060401010101" pitchFamily="34" charset="-79"/>
              </a:rPr>
              <a:t> ישראל"-</a:t>
            </a:r>
            <a:r>
              <a:rPr lang="he-IL" sz="3600" dirty="0" smtClean="0">
                <a:latin typeface="David" panose="020E0502060401010101" pitchFamily="34" charset="-79"/>
                <a:cs typeface="David" panose="020E0502060401010101" pitchFamily="34" charset="-79"/>
              </a:rPr>
              <a:t> רבי יצחק ורבי לוי, אחד אמר שהיו דלים ממעשים טובים, ואחד אמר שלא היה להם אפילו מנחה להביא קורבן, כמו שנאמר: "ואם דל הוא ואין ידו משגת"</a:t>
            </a:r>
            <a:endParaRPr lang="he-IL" sz="36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472637009"/>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1000" fill="hold"/>
                                        <p:tgtEl>
                                          <p:spTgt spid="11"/>
                                        </p:tgtEl>
                                        <p:attrNameLst>
                                          <p:attrName>ppt_w</p:attrName>
                                        </p:attrNameLst>
                                      </p:cBhvr>
                                      <p:tavLst>
                                        <p:tav tm="0">
                                          <p:val>
                                            <p:fltVal val="0"/>
                                          </p:val>
                                        </p:tav>
                                        <p:tav tm="100000">
                                          <p:val>
                                            <p:strVal val="#ppt_w"/>
                                          </p:val>
                                        </p:tav>
                                      </p:tavLst>
                                    </p:anim>
                                    <p:anim calcmode="lin" valueType="num">
                                      <p:cBhvr>
                                        <p:cTn id="45" dur="1000" fill="hold"/>
                                        <p:tgtEl>
                                          <p:spTgt spid="11"/>
                                        </p:tgtEl>
                                        <p:attrNameLst>
                                          <p:attrName>ppt_h</p:attrName>
                                        </p:attrNameLst>
                                      </p:cBhvr>
                                      <p:tavLst>
                                        <p:tav tm="0">
                                          <p:val>
                                            <p:fltVal val="0"/>
                                          </p:val>
                                        </p:tav>
                                        <p:tav tm="100000">
                                          <p:val>
                                            <p:strVal val="#ppt_h"/>
                                          </p:val>
                                        </p:tav>
                                      </p:tavLst>
                                    </p:anim>
                                    <p:anim calcmode="lin" valueType="num">
                                      <p:cBhvr>
                                        <p:cTn id="46" dur="1000" fill="hold"/>
                                        <p:tgtEl>
                                          <p:spTgt spid="11"/>
                                        </p:tgtEl>
                                        <p:attrNameLst>
                                          <p:attrName>style.rotation</p:attrName>
                                        </p:attrNameLst>
                                      </p:cBhvr>
                                      <p:tavLst>
                                        <p:tav tm="0">
                                          <p:val>
                                            <p:fltVal val="90"/>
                                          </p:val>
                                        </p:tav>
                                        <p:tav tm="100000">
                                          <p:val>
                                            <p:fltVal val="0"/>
                                          </p:val>
                                        </p:tav>
                                      </p:tavLst>
                                    </p:anim>
                                    <p:animEffect transition="in" filter="fade">
                                      <p:cBhvr>
                                        <p:cTn id="4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98961" y="249382"/>
            <a:ext cx="5541818" cy="4524315"/>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ז</a:t>
            </a:r>
            <a:r>
              <a:rPr lang="he-IL" sz="3200" b="1"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ומיד ששמע ה' שהתחננו בני ישראל אל ה' על צרת מדיין..</a:t>
            </a:r>
          </a:p>
          <a:p>
            <a:r>
              <a:rPr lang="he-IL" sz="3200" b="1" u="sng" dirty="0" smtClean="0">
                <a:latin typeface="David" panose="020E0502060401010101" pitchFamily="34" charset="-79"/>
                <a:cs typeface="David" panose="020E0502060401010101" pitchFamily="34" charset="-79"/>
              </a:rPr>
              <a:t>ח</a:t>
            </a:r>
            <a:r>
              <a:rPr lang="he-IL" sz="3200" b="1"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שלח ה' נביא </a:t>
            </a:r>
            <a:r>
              <a:rPr lang="he-IL" sz="2800" dirty="0" smtClean="0">
                <a:latin typeface="David" panose="020E0502060401010101" pitchFamily="34" charset="-79"/>
                <a:cs typeface="David" panose="020E0502060401010101" pitchFamily="34" charset="-79"/>
              </a:rPr>
              <a:t>(זהו פנחס בן אלעזר הכהן) </a:t>
            </a:r>
            <a:r>
              <a:rPr lang="he-IL" sz="3200" dirty="0" smtClean="0">
                <a:latin typeface="David" panose="020E0502060401010101" pitchFamily="34" charset="-79"/>
                <a:cs typeface="David" panose="020E0502060401010101" pitchFamily="34" charset="-79"/>
              </a:rPr>
              <a:t>מוכיח לעם </a:t>
            </a:r>
            <a:r>
              <a:rPr lang="he-IL" sz="2800" dirty="0" smtClean="0">
                <a:latin typeface="David" panose="020E0502060401010101" pitchFamily="34" charset="-79"/>
                <a:cs typeface="David" panose="020E0502060401010101" pitchFamily="34" charset="-79"/>
              </a:rPr>
              <a:t>(שיאמר להם שמפני חטאתם הרבה באה להם כל זאת) </a:t>
            </a:r>
            <a:r>
              <a:rPr lang="he-IL" sz="3200" dirty="0" smtClean="0">
                <a:latin typeface="David" panose="020E0502060401010101" pitchFamily="34" charset="-79"/>
                <a:cs typeface="David" panose="020E0502060401010101" pitchFamily="34" charset="-79"/>
              </a:rPr>
              <a:t>וכך אמר להם- אלו דברי ה' אני הוצאתי אתכם מעול שיעבוד מצרים, ושחררתי אתכם מלהיות להם לעבדים. </a:t>
            </a:r>
            <a:endParaRPr lang="he-IL" sz="3200" b="1" dirty="0">
              <a:latin typeface="David" panose="020E0502060401010101" pitchFamily="34" charset="-79"/>
              <a:cs typeface="David" panose="020E0502060401010101" pitchFamily="34" charset="-79"/>
            </a:endParaRPr>
          </a:p>
        </p:txBody>
      </p:sp>
      <p:sp>
        <p:nvSpPr>
          <p:cNvPr id="2" name="מלבן 1"/>
          <p:cNvSpPr/>
          <p:nvPr/>
        </p:nvSpPr>
        <p:spPr>
          <a:xfrm>
            <a:off x="5874327" y="249382"/>
            <a:ext cx="6096000" cy="3046988"/>
          </a:xfrm>
          <a:prstGeom prst="rect">
            <a:avLst/>
          </a:prstGeom>
          <a:blipFill>
            <a:blip r:embed="rId3"/>
            <a:tile tx="0" ty="0" sx="100000" sy="100000" flip="none" algn="tl"/>
          </a:blipFill>
        </p:spPr>
        <p:txBody>
          <a:bodyPr>
            <a:spAutoFit/>
          </a:bodyPr>
          <a:lstStyle/>
          <a:p>
            <a:r>
              <a:rPr lang="he-IL" sz="3200" b="1" dirty="0">
                <a:solidFill>
                  <a:srgbClr val="000000"/>
                </a:solidFill>
                <a:latin typeface="David" panose="020E0502060401010101" pitchFamily="34" charset="-79"/>
                <a:cs typeface="David" panose="020E0502060401010101" pitchFamily="34" charset="-79"/>
              </a:rPr>
              <a:t>ז</a:t>
            </a:r>
            <a:r>
              <a:rPr lang="he-IL" sz="3200" dirty="0">
                <a:solidFill>
                  <a:srgbClr val="000000"/>
                </a:solidFill>
                <a:latin typeface="David" panose="020E0502060401010101" pitchFamily="34" charset="-79"/>
                <a:cs typeface="David" panose="020E0502060401010101" pitchFamily="34" charset="-79"/>
              </a:rPr>
              <a:t> וַיְהִי, כִּי-זָעֲקוּ בְנֵי-יִשְׂרָאֵל אֶל-יְהוָה, עַל, </a:t>
            </a:r>
            <a:r>
              <a:rPr lang="he-IL" sz="3200" dirty="0" err="1">
                <a:solidFill>
                  <a:srgbClr val="000000"/>
                </a:solidFill>
                <a:latin typeface="David" panose="020E0502060401010101" pitchFamily="34" charset="-79"/>
                <a:cs typeface="David" panose="020E0502060401010101" pitchFamily="34" charset="-79"/>
              </a:rPr>
              <a:t>אֹדוֹת</a:t>
            </a:r>
            <a:r>
              <a:rPr lang="he-IL" sz="3200" dirty="0">
                <a:solidFill>
                  <a:srgbClr val="000000"/>
                </a:solidFill>
                <a:latin typeface="David" panose="020E0502060401010101" pitchFamily="34" charset="-79"/>
                <a:cs typeface="David" panose="020E0502060401010101" pitchFamily="34" charset="-79"/>
              </a:rPr>
              <a:t> מִדְיָן.  </a:t>
            </a:r>
            <a:endParaRPr lang="he-IL" sz="3200" dirty="0" smtClean="0">
              <a:solidFill>
                <a:srgbClr val="000000"/>
              </a:solidFill>
              <a:latin typeface="David" panose="020E0502060401010101" pitchFamily="34" charset="-79"/>
              <a:cs typeface="David" panose="020E0502060401010101" pitchFamily="34" charset="-79"/>
            </a:endParaRPr>
          </a:p>
          <a:p>
            <a:r>
              <a:rPr lang="he-IL" sz="3200" b="1" dirty="0" smtClean="0">
                <a:solidFill>
                  <a:srgbClr val="000000"/>
                </a:solidFill>
                <a:latin typeface="David" panose="020E0502060401010101" pitchFamily="34" charset="-79"/>
                <a:cs typeface="David" panose="020E0502060401010101" pitchFamily="34" charset="-79"/>
              </a:rPr>
              <a:t>ח</a:t>
            </a:r>
            <a:r>
              <a:rPr lang="he-IL" sz="3200" dirty="0">
                <a:solidFill>
                  <a:srgbClr val="000000"/>
                </a:solidFill>
                <a:latin typeface="David" panose="020E0502060401010101" pitchFamily="34" charset="-79"/>
                <a:cs typeface="David" panose="020E0502060401010101" pitchFamily="34" charset="-79"/>
              </a:rPr>
              <a:t> וַיִּשְׁלַח יְהוָה </a:t>
            </a:r>
            <a:r>
              <a:rPr lang="he-IL" sz="3200" b="1" dirty="0">
                <a:solidFill>
                  <a:srgbClr val="000000"/>
                </a:solidFill>
                <a:latin typeface="David" panose="020E0502060401010101" pitchFamily="34" charset="-79"/>
                <a:cs typeface="David" panose="020E0502060401010101" pitchFamily="34" charset="-79"/>
              </a:rPr>
              <a:t>אִישׁ נָבִיא</a:t>
            </a:r>
            <a:r>
              <a:rPr lang="he-IL" sz="3200" dirty="0">
                <a:solidFill>
                  <a:srgbClr val="000000"/>
                </a:solidFill>
                <a:latin typeface="David" panose="020E0502060401010101" pitchFamily="34" charset="-79"/>
                <a:cs typeface="David" panose="020E0502060401010101" pitchFamily="34" charset="-79"/>
              </a:rPr>
              <a:t>, אֶל-בְּנֵי יִשְׂרָאֵל; וַיֹּאמֶר לָהֶם כֹּה-אָמַר יְהוָה </a:t>
            </a:r>
            <a:r>
              <a:rPr lang="he-IL" sz="3200" dirty="0" err="1">
                <a:solidFill>
                  <a:srgbClr val="000000"/>
                </a:solidFill>
                <a:latin typeface="David" panose="020E0502060401010101" pitchFamily="34" charset="-79"/>
                <a:cs typeface="David" panose="020E0502060401010101" pitchFamily="34" charset="-79"/>
              </a:rPr>
              <a:t>אֱלֹהֵי</a:t>
            </a:r>
            <a:r>
              <a:rPr lang="he-IL" sz="3200" dirty="0">
                <a:solidFill>
                  <a:srgbClr val="000000"/>
                </a:solidFill>
                <a:latin typeface="David" panose="020E0502060401010101" pitchFamily="34" charset="-79"/>
                <a:cs typeface="David" panose="020E0502060401010101" pitchFamily="34" charset="-79"/>
              </a:rPr>
              <a:t> יִשְׂרָאֵל, אָנֹכִי הֶעֱלֵיתִי אֶתְכֶם מִמִּצְרַיִם, </a:t>
            </a:r>
            <a:r>
              <a:rPr lang="he-IL" sz="3200" dirty="0" err="1">
                <a:solidFill>
                  <a:srgbClr val="000000"/>
                </a:solidFill>
                <a:latin typeface="David" panose="020E0502060401010101" pitchFamily="34" charset="-79"/>
                <a:cs typeface="David" panose="020E0502060401010101" pitchFamily="34" charset="-79"/>
              </a:rPr>
              <a:t>וָאֹצִיא</a:t>
            </a:r>
            <a:r>
              <a:rPr lang="he-IL" sz="3200" dirty="0">
                <a:solidFill>
                  <a:srgbClr val="000000"/>
                </a:solidFill>
                <a:latin typeface="David" panose="020E0502060401010101" pitchFamily="34" charset="-79"/>
                <a:cs typeface="David" panose="020E0502060401010101" pitchFamily="34" charset="-79"/>
              </a:rPr>
              <a:t> אֶתְכֶם, מִבֵּית עֲבָדִים</a:t>
            </a:r>
            <a:endParaRPr lang="he-IL" sz="3200" dirty="0">
              <a:latin typeface="David" panose="020E0502060401010101" pitchFamily="34" charset="-79"/>
              <a:cs typeface="David" panose="020E0502060401010101" pitchFamily="34" charset="-79"/>
            </a:endParaRPr>
          </a:p>
        </p:txBody>
      </p:sp>
      <p:sp>
        <p:nvSpPr>
          <p:cNvPr id="4" name="TextBox 3"/>
          <p:cNvSpPr txBox="1"/>
          <p:nvPr/>
        </p:nvSpPr>
        <p:spPr>
          <a:xfrm>
            <a:off x="6167253" y="3543816"/>
            <a:ext cx="5803074" cy="2862322"/>
          </a:xfrm>
          <a:prstGeom prst="rect">
            <a:avLst/>
          </a:prstGeom>
          <a:solidFill>
            <a:schemeClr val="accent2">
              <a:lumMod val="60000"/>
              <a:lumOff val="40000"/>
            </a:schemeClr>
          </a:solidFill>
          <a:ln w="38100">
            <a:solidFill>
              <a:schemeClr val="tx1"/>
            </a:solidFill>
          </a:ln>
          <a:scene3d>
            <a:camera prst="isometricOffAxis1Right"/>
            <a:lightRig rig="threePt" dir="t"/>
          </a:scene3d>
        </p:spPr>
        <p:txBody>
          <a:bodyPr wrap="square" rtlCol="1">
            <a:spAutoFit/>
          </a:bodyPr>
          <a:lstStyle/>
          <a:p>
            <a:r>
              <a:rPr lang="he-IL" sz="3000" dirty="0" smtClean="0">
                <a:latin typeface="David" panose="020E0502060401010101" pitchFamily="34" charset="-79"/>
                <a:cs typeface="David" panose="020E0502060401010101" pitchFamily="34" charset="-79"/>
              </a:rPr>
              <a:t>" עין רואה רחמי שמים, </a:t>
            </a:r>
            <a:r>
              <a:rPr lang="he-IL" sz="3000" b="1" dirty="0" err="1" smtClean="0">
                <a:latin typeface="David" panose="020E0502060401010101" pitchFamily="34" charset="-79"/>
                <a:cs typeface="David" panose="020E0502060401010101" pitchFamily="34" charset="-79"/>
              </a:rPr>
              <a:t>בנ"י</a:t>
            </a:r>
            <a:r>
              <a:rPr lang="he-IL" sz="3000" b="1" dirty="0" smtClean="0">
                <a:latin typeface="David" panose="020E0502060401010101" pitchFamily="34" charset="-79"/>
                <a:cs typeface="David" panose="020E0502060401010101" pitchFamily="34" charset="-79"/>
              </a:rPr>
              <a:t> זעקו סתם , לא מתוך תשובה או מתוך תפילה, </a:t>
            </a:r>
            <a:r>
              <a:rPr lang="he-IL" sz="3000" dirty="0" smtClean="0">
                <a:latin typeface="David" panose="020E0502060401010101" pitchFamily="34" charset="-79"/>
                <a:cs typeface="David" panose="020E0502060401010101" pitchFamily="34" charset="-79"/>
              </a:rPr>
              <a:t>אלא זעקה של התרעמות על הרעה- מבלי לתת אל לב כי העוונות שגרמו לצרות אלו. וה' ברחמיו שלח להם נביא </a:t>
            </a:r>
            <a:r>
              <a:rPr lang="he-IL" sz="3000" dirty="0" err="1" smtClean="0">
                <a:latin typeface="David" panose="020E0502060401010101" pitchFamily="34" charset="-79"/>
                <a:cs typeface="David" panose="020E0502060401010101" pitchFamily="34" charset="-79"/>
              </a:rPr>
              <a:t>להוכיחם</a:t>
            </a:r>
            <a:r>
              <a:rPr lang="he-IL" sz="3000" dirty="0" smtClean="0">
                <a:latin typeface="David" panose="020E0502060401010101" pitchFamily="34" charset="-79"/>
                <a:cs typeface="David" panose="020E0502060401010101" pitchFamily="34" charset="-79"/>
              </a:rPr>
              <a:t> וע"י זה הרהרו תשובה.. </a:t>
            </a:r>
            <a:endParaRPr lang="he-IL" sz="3000"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4"/>
          <a:stretch>
            <a:fillRect/>
          </a:stretch>
        </p:blipFill>
        <p:spPr>
          <a:xfrm>
            <a:off x="285009" y="3024529"/>
            <a:ext cx="3258106" cy="3498335"/>
          </a:xfrm>
          <a:prstGeom prst="rect">
            <a:avLst/>
          </a:prstGeom>
        </p:spPr>
      </p:pic>
    </p:spTree>
    <p:extLst>
      <p:ext uri="{BB962C8B-B14F-4D97-AF65-F5344CB8AC3E}">
        <p14:creationId xmlns:p14="http://schemas.microsoft.com/office/powerpoint/2010/main" val="38437765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5" descr="×ª××× × ×§×©××¨×"/>
          <p:cNvPicPr preferRelativeResize="0"/>
          <p:nvPr/>
        </p:nvPicPr>
        <p:blipFill rotWithShape="1">
          <a:blip r:embed="rId3">
            <a:alphaModFix/>
          </a:blip>
          <a:srcRect l="7342" t="15884" r="14852" b="10759"/>
          <a:stretch/>
        </p:blipFill>
        <p:spPr>
          <a:xfrm>
            <a:off x="257522" y="218565"/>
            <a:ext cx="8464060" cy="6515443"/>
          </a:xfrm>
          <a:prstGeom prst="rect">
            <a:avLst/>
          </a:prstGeom>
          <a:noFill/>
          <a:ln>
            <a:noFill/>
          </a:ln>
        </p:spPr>
      </p:pic>
      <p:sp>
        <p:nvSpPr>
          <p:cNvPr id="110" name="Google Shape;110;p15"/>
          <p:cNvSpPr txBox="1"/>
          <p:nvPr/>
        </p:nvSpPr>
        <p:spPr>
          <a:xfrm>
            <a:off x="9007408" y="781321"/>
            <a:ext cx="2961853" cy="4524315"/>
          </a:xfrm>
          <a:prstGeom prst="rect">
            <a:avLst/>
          </a:prstGeom>
          <a:solidFill>
            <a:srgbClr val="FFFF00"/>
          </a:solidFill>
          <a:ln w="603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השונה בסיפור</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השעבוד המדייני הכלכלי-חקלאי</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הוא שלאחר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זעקת ישראל</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מגיעה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תוכחת הנביא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iw-IL" sz="3200" b="0" i="0" u="none" strike="noStrike" kern="0" cap="none" spc="0" normalizeH="0" baseline="0" noProof="0" dirty="0">
                <a:ln>
                  <a:noFill/>
                </a:ln>
                <a:solidFill>
                  <a:srgbClr val="C00000"/>
                </a:solidFill>
                <a:effectLst/>
                <a:uLnTx/>
                <a:uFillTx/>
                <a:latin typeface="Arial"/>
                <a:ea typeface="Arial"/>
                <a:cs typeface="Arial"/>
                <a:sym typeface="Arial"/>
              </a:rPr>
              <a:t>ורק אח"כ מינוי </a:t>
            </a:r>
            <a:r>
              <a:rPr lang="he-IL" sz="3200" kern="0" dirty="0">
                <a:solidFill>
                  <a:srgbClr val="C00000"/>
                </a:solidFill>
                <a:latin typeface="Arial"/>
                <a:ea typeface="Arial"/>
                <a:cs typeface="Arial"/>
                <a:sym typeface="Arial"/>
              </a:rPr>
              <a:t>ה</a:t>
            </a:r>
            <a:r>
              <a:rPr kumimoji="0" lang="iw-IL" sz="3200" b="0" i="0" u="none" strike="noStrike" kern="0" cap="none" spc="0" normalizeH="0" baseline="0" noProof="0" dirty="0" smtClean="0">
                <a:ln>
                  <a:noFill/>
                </a:ln>
                <a:solidFill>
                  <a:srgbClr val="C00000"/>
                </a:solidFill>
                <a:effectLst/>
                <a:uLnTx/>
                <a:uFillTx/>
                <a:latin typeface="Arial"/>
                <a:ea typeface="Arial"/>
                <a:cs typeface="Arial"/>
                <a:sym typeface="Arial"/>
              </a:rPr>
              <a:t>מושיע</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11" name="Google Shape;111;p15"/>
          <p:cNvSpPr txBox="1"/>
          <p:nvPr/>
        </p:nvSpPr>
        <p:spPr>
          <a:xfrm>
            <a:off x="3518772" y="3675579"/>
            <a:ext cx="1473023" cy="1200329"/>
          </a:xfrm>
          <a:prstGeom prst="rect">
            <a:avLst/>
          </a:prstGeom>
          <a:solidFill>
            <a:srgbClr val="FFFF00"/>
          </a:solidFill>
          <a:ln w="603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1" eaLnBrk="1" fontAlgn="auto" latinLnBrk="0" hangingPunct="1">
              <a:lnSpc>
                <a:spcPct val="100000"/>
              </a:lnSpc>
              <a:spcBef>
                <a:spcPts val="0"/>
              </a:spcBef>
              <a:spcAft>
                <a:spcPts val="0"/>
              </a:spcAft>
              <a:buClr>
                <a:srgbClr val="C00000"/>
              </a:buClr>
              <a:buSzPts val="3600"/>
              <a:buFont typeface="Arial"/>
              <a:buNone/>
              <a:tabLst/>
              <a:defRPr/>
            </a:pPr>
            <a:r>
              <a:rPr kumimoji="0" lang="iw-IL" sz="3600" b="0" i="0" u="none" strike="noStrike" kern="0" cap="none" spc="0" normalizeH="0" baseline="0" noProof="0" dirty="0">
                <a:ln>
                  <a:noFill/>
                </a:ln>
                <a:solidFill>
                  <a:srgbClr val="C00000"/>
                </a:solidFill>
                <a:effectLst/>
                <a:uLnTx/>
                <a:uFillTx/>
                <a:latin typeface="Arial"/>
                <a:ea typeface="Arial"/>
                <a:cs typeface="Arial"/>
                <a:sym typeface="Arial"/>
              </a:rPr>
              <a:t>תוכחת</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1" eaLnBrk="1" fontAlgn="auto" latinLnBrk="0" hangingPunct="1">
              <a:lnSpc>
                <a:spcPct val="100000"/>
              </a:lnSpc>
              <a:spcBef>
                <a:spcPts val="0"/>
              </a:spcBef>
              <a:spcAft>
                <a:spcPts val="0"/>
              </a:spcAft>
              <a:buClr>
                <a:srgbClr val="C00000"/>
              </a:buClr>
              <a:buSzPts val="3600"/>
              <a:buFont typeface="Arial"/>
              <a:buNone/>
              <a:tabLst/>
              <a:defRPr/>
            </a:pPr>
            <a:r>
              <a:rPr kumimoji="0" lang="iw-IL" sz="3600" b="0" i="0" u="none" strike="noStrike" kern="0" cap="none" spc="0" normalizeH="0" baseline="0" noProof="0" dirty="0">
                <a:ln>
                  <a:noFill/>
                </a:ln>
                <a:solidFill>
                  <a:srgbClr val="C00000"/>
                </a:solidFill>
                <a:effectLst/>
                <a:uLnTx/>
                <a:uFillTx/>
                <a:latin typeface="Arial"/>
                <a:ea typeface="Arial"/>
                <a:cs typeface="Arial"/>
                <a:sym typeface="Arial"/>
              </a:rPr>
              <a:t>נביא</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12" name="Google Shape;112;p15"/>
          <p:cNvSpPr/>
          <p:nvPr/>
        </p:nvSpPr>
        <p:spPr>
          <a:xfrm>
            <a:off x="5134708" y="3476287"/>
            <a:ext cx="3872700" cy="398585"/>
          </a:xfrm>
          <a:prstGeom prst="leftArrow">
            <a:avLst>
              <a:gd name="adj1" fmla="val 50000"/>
              <a:gd name="adj2" fmla="val 50000"/>
            </a:avLst>
          </a:prstGeom>
          <a:solidFill>
            <a:srgbClr val="FFC000"/>
          </a:solidFill>
          <a:ln w="127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1"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860143742"/>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1000"/>
                                        <p:tgtEl>
                                          <p:spTgt spid="109"/>
                                        </p:tgtEl>
                                      </p:cBhvr>
                                    </p:animEffect>
                                    <p:anim calcmode="lin" valueType="num">
                                      <p:cBhvr>
                                        <p:cTn id="8" dur="1000" fill="hold"/>
                                        <p:tgtEl>
                                          <p:spTgt spid="109"/>
                                        </p:tgtEl>
                                        <p:attrNameLst>
                                          <p:attrName>ppt_x</p:attrName>
                                        </p:attrNameLst>
                                      </p:cBhvr>
                                      <p:tavLst>
                                        <p:tav tm="0">
                                          <p:val>
                                            <p:strVal val="#ppt_x"/>
                                          </p:val>
                                        </p:tav>
                                        <p:tav tm="100000">
                                          <p:val>
                                            <p:strVal val="#ppt_x"/>
                                          </p:val>
                                        </p:tav>
                                      </p:tavLst>
                                    </p:anim>
                                    <p:anim calcmode="lin" valueType="num">
                                      <p:cBhvr>
                                        <p:cTn id="9" dur="1000" fill="hold"/>
                                        <p:tgtEl>
                                          <p:spTgt spid="10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1000"/>
                                        <p:tgtEl>
                                          <p:spTgt spid="110"/>
                                        </p:tgtEl>
                                      </p:cBhvr>
                                    </p:animEffect>
                                    <p:anim calcmode="lin" valueType="num">
                                      <p:cBhvr>
                                        <p:cTn id="15" dur="1000" fill="hold"/>
                                        <p:tgtEl>
                                          <p:spTgt spid="110"/>
                                        </p:tgtEl>
                                        <p:attrNameLst>
                                          <p:attrName>ppt_x</p:attrName>
                                        </p:attrNameLst>
                                      </p:cBhvr>
                                      <p:tavLst>
                                        <p:tav tm="0">
                                          <p:val>
                                            <p:strVal val="#ppt_x"/>
                                          </p:val>
                                        </p:tav>
                                        <p:tav tm="100000">
                                          <p:val>
                                            <p:strVal val="#ppt_x"/>
                                          </p:val>
                                        </p:tav>
                                      </p:tavLst>
                                    </p:anim>
                                    <p:anim calcmode="lin" valueType="num">
                                      <p:cBhvr>
                                        <p:cTn id="16"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112"/>
                                        </p:tgtEl>
                                        <p:attrNameLst>
                                          <p:attrName>style.visibility</p:attrName>
                                        </p:attrNameLst>
                                      </p:cBhvr>
                                      <p:to>
                                        <p:strVal val="visible"/>
                                      </p:to>
                                    </p:set>
                                    <p:animEffect transition="in" filter="circle(in)">
                                      <p:cBhvr>
                                        <p:cTn id="21" dur="2000"/>
                                        <p:tgtEl>
                                          <p:spTgt spid="112"/>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111"/>
                                        </p:tgtEl>
                                        <p:attrNameLst>
                                          <p:attrName>style.visibility</p:attrName>
                                        </p:attrNameLst>
                                      </p:cBhvr>
                                      <p:to>
                                        <p:strVal val="visible"/>
                                      </p:to>
                                    </p:set>
                                    <p:animEffect transition="in" filter="circle(in)">
                                      <p:cBhvr>
                                        <p:cTn id="26" dur="2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1" grpId="0" animBg="1"/>
      <p:bldP spid="1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368135" y="154379"/>
            <a:ext cx="5676405" cy="6494085"/>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ט</a:t>
            </a:r>
            <a:r>
              <a:rPr lang="he-IL" sz="3200" dirty="0" smtClean="0">
                <a:latin typeface="David" panose="020E0502060401010101" pitchFamily="34" charset="-79"/>
                <a:cs typeface="David" panose="020E0502060401010101" pitchFamily="34" charset="-79"/>
              </a:rPr>
              <a:t>. וגם לאחר שיצאתם ממצרים, הצלתי אתכם מיד המצרים שרדפו אחריכם </a:t>
            </a:r>
            <a:r>
              <a:rPr lang="he-IL" sz="2800" dirty="0" smtClean="0">
                <a:latin typeface="David" panose="020E0502060401010101" pitchFamily="34" charset="-79"/>
                <a:cs typeface="David" panose="020E0502060401010101" pitchFamily="34" charset="-79"/>
              </a:rPr>
              <a:t>(שקרעתי את הים והמצרים טבעו) </a:t>
            </a:r>
            <a:r>
              <a:rPr lang="he-IL" sz="3200" dirty="0" smtClean="0">
                <a:latin typeface="David" panose="020E0502060401010101" pitchFamily="34" charset="-79"/>
                <a:cs typeface="David" panose="020E0502060401010101" pitchFamily="34" charset="-79"/>
              </a:rPr>
              <a:t>וגם הצלתי אתכם מיד שאר לחציכם- הלא הם </a:t>
            </a:r>
            <a:r>
              <a:rPr lang="he-IL" sz="3200" dirty="0" err="1" smtClean="0">
                <a:latin typeface="David" panose="020E0502060401010101" pitchFamily="34" charset="-79"/>
                <a:cs typeface="David" panose="020E0502060401010101" pitchFamily="34" charset="-79"/>
              </a:rPr>
              <a:t>סיחון</a:t>
            </a:r>
            <a:r>
              <a:rPr lang="he-IL" sz="3200" dirty="0" smtClean="0">
                <a:latin typeface="David" panose="020E0502060401010101" pitchFamily="34" charset="-79"/>
                <a:cs typeface="David" panose="020E0502060401010101" pitchFamily="34" charset="-79"/>
              </a:rPr>
              <a:t> ועוג ומלכי כנען, ואף נתתי לכם את ארצם- </a:t>
            </a:r>
            <a:r>
              <a:rPr lang="he-IL" sz="2800" dirty="0" smtClean="0">
                <a:latin typeface="David" panose="020E0502060401010101" pitchFamily="34" charset="-79"/>
                <a:cs typeface="David" panose="020E0502060401010101" pitchFamily="34" charset="-79"/>
              </a:rPr>
              <a:t>וכל זה היה לכם לקחת מוסר ולהבין.</a:t>
            </a:r>
          </a:p>
          <a:p>
            <a:r>
              <a:rPr lang="he-IL" sz="3200" b="1" u="sng" dirty="0" smtClean="0">
                <a:latin typeface="David" panose="020E0502060401010101" pitchFamily="34" charset="-79"/>
                <a:cs typeface="David" panose="020E0502060401010101" pitchFamily="34" charset="-79"/>
              </a:rPr>
              <a:t>י</a:t>
            </a:r>
            <a:r>
              <a:rPr lang="he-IL" sz="3200" dirty="0" smtClean="0">
                <a:latin typeface="David" panose="020E0502060401010101" pitchFamily="34" charset="-79"/>
                <a:cs typeface="David" panose="020E0502060401010101" pitchFamily="34" charset="-79"/>
              </a:rPr>
              <a:t>. ואמרתי לכם קבלו על עליכם את עול מלכותי בלבד, ואל תסטו לעבוד את אלילי האמורי שאתם התנחלתם במקומם, וגם לאחר אזהרתי לא שמעתם בקולי ועבדתם עבודה זרה, ולכן נענשתם בשעבוד מדיין.</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282047" y="154379"/>
            <a:ext cx="5735782" cy="3046988"/>
          </a:xfrm>
          <a:prstGeom prst="rect">
            <a:avLst/>
          </a:prstGeom>
          <a:solidFill>
            <a:schemeClr val="accent4">
              <a:lumMod val="60000"/>
              <a:lumOff val="40000"/>
            </a:schemeClr>
          </a:solidFill>
        </p:spPr>
        <p:txBody>
          <a:bodyPr wrap="square">
            <a:spAutoFit/>
          </a:bodyPr>
          <a:lstStyle/>
          <a:p>
            <a:r>
              <a:rPr lang="he-IL" sz="3200" dirty="0">
                <a:solidFill>
                  <a:srgbClr val="000000"/>
                </a:solidFill>
                <a:latin typeface="David" panose="020E0502060401010101" pitchFamily="34" charset="-79"/>
                <a:cs typeface="David" panose="020E0502060401010101" pitchFamily="34" charset="-79"/>
              </a:rPr>
              <a:t> </a:t>
            </a:r>
            <a:r>
              <a:rPr lang="he-IL" sz="3200" b="1" dirty="0">
                <a:solidFill>
                  <a:srgbClr val="000000"/>
                </a:solidFill>
                <a:latin typeface="David" panose="020E0502060401010101" pitchFamily="34" charset="-79"/>
                <a:cs typeface="David" panose="020E0502060401010101" pitchFamily="34" charset="-79"/>
              </a:rPr>
              <a:t>ט</a:t>
            </a:r>
            <a:r>
              <a:rPr lang="he-IL" sz="3200" dirty="0">
                <a:solidFill>
                  <a:srgbClr val="000000"/>
                </a:solidFill>
                <a:latin typeface="David" panose="020E0502060401010101" pitchFamily="34" charset="-79"/>
                <a:cs typeface="David" panose="020E0502060401010101" pitchFamily="34" charset="-79"/>
              </a:rPr>
              <a:t> וָאַצִּל אֶתְכֶם מִיַּד מִצְרַיִם, וּמִיַּד כָּל-לֹחֲצֵיכֶם; וָאֲגָרֵשׁ אוֹתָם מִפְּנֵיכֶם, </a:t>
            </a:r>
            <a:r>
              <a:rPr lang="he-IL" sz="3200" b="1" dirty="0">
                <a:solidFill>
                  <a:srgbClr val="000000"/>
                </a:solidFill>
                <a:latin typeface="David" panose="020E0502060401010101" pitchFamily="34" charset="-79"/>
                <a:cs typeface="David" panose="020E0502060401010101" pitchFamily="34" charset="-79"/>
              </a:rPr>
              <a:t>וָאֶתְּנָה לָכֶם אֶת-אַרְצָם</a:t>
            </a:r>
            <a:r>
              <a:rPr lang="he-IL" sz="3200" dirty="0">
                <a:solidFill>
                  <a:srgbClr val="000000"/>
                </a:solidFill>
                <a:latin typeface="David" panose="020E0502060401010101" pitchFamily="34" charset="-79"/>
                <a:cs typeface="David" panose="020E0502060401010101" pitchFamily="34" charset="-79"/>
              </a:rPr>
              <a:t>.  </a:t>
            </a:r>
            <a:endParaRPr lang="he-IL" sz="3200" dirty="0" smtClean="0">
              <a:solidFill>
                <a:srgbClr val="000000"/>
              </a:solidFill>
              <a:latin typeface="David" panose="020E0502060401010101" pitchFamily="34" charset="-79"/>
              <a:cs typeface="David" panose="020E0502060401010101" pitchFamily="34" charset="-79"/>
            </a:endParaRPr>
          </a:p>
          <a:p>
            <a:r>
              <a:rPr lang="he-IL" sz="3200" b="1" dirty="0" smtClean="0">
                <a:solidFill>
                  <a:srgbClr val="000000"/>
                </a:solidFill>
                <a:latin typeface="David" panose="020E0502060401010101" pitchFamily="34" charset="-79"/>
                <a:cs typeface="David" panose="020E0502060401010101" pitchFamily="34" charset="-79"/>
              </a:rPr>
              <a:t>י</a:t>
            </a:r>
            <a:r>
              <a:rPr lang="he-IL" sz="3200" dirty="0">
                <a:solidFill>
                  <a:srgbClr val="000000"/>
                </a:solidFill>
                <a:latin typeface="David" panose="020E0502060401010101" pitchFamily="34" charset="-79"/>
                <a:cs typeface="David" panose="020E0502060401010101" pitchFamily="34" charset="-79"/>
              </a:rPr>
              <a:t> וָאֹמְרָה לָכֶם, אֲנִי יְהוָה </a:t>
            </a:r>
            <a:r>
              <a:rPr lang="he-IL" sz="3200" dirty="0" err="1">
                <a:solidFill>
                  <a:srgbClr val="000000"/>
                </a:solidFill>
                <a:latin typeface="David" panose="020E0502060401010101" pitchFamily="34" charset="-79"/>
                <a:cs typeface="David" panose="020E0502060401010101" pitchFamily="34" charset="-79"/>
              </a:rPr>
              <a:t>אֱלֹהֵיכֶם</a:t>
            </a:r>
            <a:r>
              <a:rPr lang="he-IL" sz="3200" dirty="0">
                <a:solidFill>
                  <a:srgbClr val="000000"/>
                </a:solidFill>
                <a:latin typeface="David" panose="020E0502060401010101" pitchFamily="34" charset="-79"/>
                <a:cs typeface="David" panose="020E0502060401010101" pitchFamily="34" charset="-79"/>
              </a:rPr>
              <a:t>--לֹא תִירְאוּ </a:t>
            </a:r>
            <a:r>
              <a:rPr lang="he-IL" sz="3200" dirty="0" err="1">
                <a:solidFill>
                  <a:srgbClr val="000000"/>
                </a:solidFill>
                <a:latin typeface="David" panose="020E0502060401010101" pitchFamily="34" charset="-79"/>
                <a:cs typeface="David" panose="020E0502060401010101" pitchFamily="34" charset="-79"/>
              </a:rPr>
              <a:t>אֶת-אֱלֹהֵי</a:t>
            </a:r>
            <a:r>
              <a:rPr lang="he-IL" sz="3200" dirty="0">
                <a:solidFill>
                  <a:srgbClr val="000000"/>
                </a:solidFill>
                <a:latin typeface="David" panose="020E0502060401010101" pitchFamily="34" charset="-79"/>
                <a:cs typeface="David" panose="020E0502060401010101" pitchFamily="34" charset="-79"/>
              </a:rPr>
              <a:t> </a:t>
            </a:r>
            <a:r>
              <a:rPr lang="he-IL" sz="3200" dirty="0" err="1">
                <a:solidFill>
                  <a:srgbClr val="000000"/>
                </a:solidFill>
                <a:latin typeface="David" panose="020E0502060401010101" pitchFamily="34" charset="-79"/>
                <a:cs typeface="David" panose="020E0502060401010101" pitchFamily="34" charset="-79"/>
              </a:rPr>
              <a:t>הָאֱמֹרִי</a:t>
            </a:r>
            <a:r>
              <a:rPr lang="he-IL" sz="3200" dirty="0">
                <a:solidFill>
                  <a:srgbClr val="000000"/>
                </a:solidFill>
                <a:latin typeface="David" panose="020E0502060401010101" pitchFamily="34" charset="-79"/>
                <a:cs typeface="David" panose="020E0502060401010101" pitchFamily="34" charset="-79"/>
              </a:rPr>
              <a:t>, אֲשֶׁר אַתֶּם יוֹשְׁבִים בְּאַרְצָם; </a:t>
            </a:r>
            <a:r>
              <a:rPr lang="he-IL" sz="3200" b="1" dirty="0">
                <a:solidFill>
                  <a:srgbClr val="000000"/>
                </a:solidFill>
                <a:latin typeface="David" panose="020E0502060401010101" pitchFamily="34" charset="-79"/>
                <a:cs typeface="David" panose="020E0502060401010101" pitchFamily="34" charset="-79"/>
              </a:rPr>
              <a:t>וְלֹא שְׁמַעְתֶּם, בְּקוֹלִי</a:t>
            </a:r>
            <a:r>
              <a:rPr lang="he-IL" sz="3200" dirty="0">
                <a:solidFill>
                  <a:srgbClr val="000000"/>
                </a:solidFill>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6365235" y="3532049"/>
            <a:ext cx="2656053" cy="299412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6" name="תמונה 5"/>
          <p:cNvPicPr>
            <a:picLocks noChangeAspect="1"/>
          </p:cNvPicPr>
          <p:nvPr/>
        </p:nvPicPr>
        <p:blipFill>
          <a:blip r:embed="rId4"/>
          <a:stretch>
            <a:fillRect/>
          </a:stretch>
        </p:blipFill>
        <p:spPr>
          <a:xfrm>
            <a:off x="9021288" y="3675172"/>
            <a:ext cx="3170712" cy="206661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isometricOffAxis1Right"/>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698111565"/>
      </p:ext>
    </p:extLst>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674421" y="330944"/>
            <a:ext cx="9079061" cy="1446550"/>
          </a:xfrm>
          <a:prstGeom prst="rect">
            <a:avLst/>
          </a:prstGeom>
          <a:solidFill>
            <a:schemeClr val="accent2">
              <a:lumMod val="60000"/>
              <a:lumOff val="40000"/>
            </a:schemeClr>
          </a:solidFill>
          <a:ln w="38100">
            <a:solidFill>
              <a:schemeClr val="tx1"/>
            </a:solidFill>
          </a:ln>
        </p:spPr>
        <p:txBody>
          <a:bodyPr wrap="square" rtlCol="1">
            <a:spAutoFit/>
          </a:bodyPr>
          <a:lstStyle/>
          <a:p>
            <a:pPr algn="ctr"/>
            <a:r>
              <a:rPr lang="he-IL" sz="4400" kern="0" dirty="0" smtClean="0">
                <a:solidFill>
                  <a:srgbClr val="C00000"/>
                </a:solidFill>
                <a:latin typeface="Arial"/>
                <a:ea typeface="Arial"/>
                <a:cs typeface="Arial"/>
                <a:sym typeface="Arial"/>
              </a:rPr>
              <a:t>השוואת </a:t>
            </a:r>
            <a:r>
              <a:rPr lang="iw-IL" sz="4400" kern="0" dirty="0" smtClean="0">
                <a:solidFill>
                  <a:srgbClr val="C00000"/>
                </a:solidFill>
                <a:latin typeface="Arial"/>
                <a:ea typeface="Arial"/>
                <a:cs typeface="Arial"/>
                <a:sym typeface="Arial"/>
              </a:rPr>
              <a:t>תוכחת הנביא</a:t>
            </a:r>
            <a:r>
              <a:rPr lang="he-IL" sz="4400" kern="0" dirty="0" smtClean="0">
                <a:solidFill>
                  <a:srgbClr val="C00000"/>
                </a:solidFill>
                <a:latin typeface="Arial"/>
                <a:ea typeface="Arial"/>
                <a:cs typeface="Arial"/>
                <a:sym typeface="Arial"/>
              </a:rPr>
              <a:t> </a:t>
            </a:r>
            <a:r>
              <a:rPr lang="he-IL" sz="4400" kern="0" dirty="0" err="1" smtClean="0">
                <a:solidFill>
                  <a:srgbClr val="C00000"/>
                </a:solidFill>
                <a:latin typeface="Arial"/>
                <a:ea typeface="Arial"/>
                <a:cs typeface="Arial"/>
                <a:sym typeface="Arial"/>
              </a:rPr>
              <a:t>אצלינו</a:t>
            </a:r>
            <a:r>
              <a:rPr lang="he-IL" sz="4400" kern="0" dirty="0" smtClean="0">
                <a:solidFill>
                  <a:srgbClr val="C00000"/>
                </a:solidFill>
                <a:latin typeface="Arial"/>
                <a:ea typeface="Arial"/>
                <a:cs typeface="Arial"/>
                <a:sym typeface="Arial"/>
              </a:rPr>
              <a:t> לעומת התוכחה בפרק ב' גם ע"י נביא:</a:t>
            </a:r>
            <a:endParaRPr lang="he-IL" sz="3200" b="1" dirty="0">
              <a:latin typeface="David" panose="020E0502060401010101" pitchFamily="34" charset="-79"/>
              <a:cs typeface="David" panose="020E0502060401010101" pitchFamily="34" charset="-79"/>
            </a:endParaRPr>
          </a:p>
        </p:txBody>
      </p:sp>
      <p:graphicFrame>
        <p:nvGraphicFramePr>
          <p:cNvPr id="2" name="טבלה 1"/>
          <p:cNvGraphicFramePr>
            <a:graphicFrameLocks noGrp="1"/>
          </p:cNvGraphicFramePr>
          <p:nvPr>
            <p:extLst>
              <p:ext uri="{D42A27DB-BD31-4B8C-83A1-F6EECF244321}">
                <p14:modId xmlns:p14="http://schemas.microsoft.com/office/powerpoint/2010/main" val="1629477709"/>
              </p:ext>
            </p:extLst>
          </p:nvPr>
        </p:nvGraphicFramePr>
        <p:xfrm>
          <a:off x="885701" y="2098758"/>
          <a:ext cx="8118150" cy="3803279"/>
        </p:xfrm>
        <a:graphic>
          <a:graphicData uri="http://schemas.openxmlformats.org/drawingml/2006/table">
            <a:tbl>
              <a:tblPr firstRow="1" bandRow="1">
                <a:gradFill>
                  <a:gsLst>
                    <a:gs pos="0">
                      <a:srgbClr val="7FB75F"/>
                    </a:gs>
                    <a:gs pos="50000">
                      <a:srgbClr val="6EB141"/>
                    </a:gs>
                    <a:gs pos="100000">
                      <a:srgbClr val="5FA134"/>
                    </a:gs>
                  </a:gsLst>
                  <a:lin ang="5400000" scaled="0"/>
                </a:gradFill>
              </a:tblPr>
              <a:tblGrid>
                <a:gridCol w="4202375">
                  <a:extLst>
                    <a:ext uri="{9D8B030D-6E8A-4147-A177-3AD203B41FA5}">
                      <a16:colId xmlns:a16="http://schemas.microsoft.com/office/drawing/2014/main" val="2480638659"/>
                    </a:ext>
                  </a:extLst>
                </a:gridCol>
                <a:gridCol w="3915775">
                  <a:extLst>
                    <a:ext uri="{9D8B030D-6E8A-4147-A177-3AD203B41FA5}">
                      <a16:colId xmlns:a16="http://schemas.microsoft.com/office/drawing/2014/main" val="1262062675"/>
                    </a:ext>
                  </a:extLst>
                </a:gridCol>
              </a:tblGrid>
              <a:tr h="715695">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800" b="1" u="none" strike="noStrike" cap="none" dirty="0">
                          <a:latin typeface="David" panose="020E0502060401010101" pitchFamily="34" charset="-79"/>
                          <a:cs typeface="David" panose="020E0502060401010101" pitchFamily="34" charset="-79"/>
                        </a:rPr>
                        <a:t>תוכחת מלאך ה' – פרק ב' א-ה</a:t>
                      </a:r>
                      <a:endParaRPr sz="1600" b="1"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800" b="1" u="none" strike="noStrike" cap="none" dirty="0">
                          <a:latin typeface="David" panose="020E0502060401010101" pitchFamily="34" charset="-79"/>
                          <a:cs typeface="David" panose="020E0502060401010101" pitchFamily="34" charset="-79"/>
                        </a:rPr>
                        <a:t>תוכחת הנביא – פרק ו' ח'-י'</a:t>
                      </a:r>
                      <a:endParaRPr sz="1600" b="1"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943050722"/>
                  </a:ext>
                </a:extLst>
              </a:tr>
              <a:tr h="1031700">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u="none" strike="noStrike" cap="none">
                          <a:latin typeface="David" panose="020E0502060401010101" pitchFamily="34" charset="-79"/>
                          <a:cs typeface="David" panose="020E0502060401010101" pitchFamily="34" charset="-79"/>
                        </a:rPr>
                        <a:t>על שכרתו ברית עם העמים ולא הכריתו אותם.</a:t>
                      </a:r>
                      <a:endParaRPr sz="1400" u="none" strike="noStrike" cap="none">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u="none" strike="noStrike" cap="none" dirty="0">
                          <a:latin typeface="David" panose="020E0502060401010101" pitchFamily="34" charset="-79"/>
                          <a:cs typeface="David" panose="020E0502060401010101" pitchFamily="34" charset="-79"/>
                        </a:rPr>
                        <a:t>על עבודה זרה</a:t>
                      </a:r>
                      <a:endParaRPr sz="1400"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3425224834"/>
                  </a:ext>
                </a:extLst>
              </a:tr>
              <a:tr h="1016475">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u="none" strike="noStrike" cap="none">
                          <a:latin typeface="David" panose="020E0502060401010101" pitchFamily="34" charset="-79"/>
                          <a:cs typeface="David" panose="020E0502060401010101" pitchFamily="34" charset="-79"/>
                        </a:rPr>
                        <a:t>יציאת מצרים ונתינת הארץ.</a:t>
                      </a:r>
                      <a:endParaRPr sz="1400" u="none" strike="noStrike" cap="none">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u="none" strike="noStrike" cap="none" dirty="0">
                          <a:latin typeface="David" panose="020E0502060401010101" pitchFamily="34" charset="-79"/>
                          <a:cs typeface="David" panose="020E0502060401010101" pitchFamily="34" charset="-79"/>
                        </a:rPr>
                        <a:t>יציאת מצרים </a:t>
                      </a:r>
                      <a:r>
                        <a:rPr lang="he-IL" sz="2400" u="none" strike="noStrike" cap="none" dirty="0" smtClean="0">
                          <a:latin typeface="David" panose="020E0502060401010101" pitchFamily="34" charset="-79"/>
                          <a:cs typeface="David" panose="020E0502060401010101" pitchFamily="34" charset="-79"/>
                        </a:rPr>
                        <a:t> מלכי האמורי </a:t>
                      </a:r>
                      <a:r>
                        <a:rPr lang="iw-IL" sz="2400" u="none" strike="noStrike" cap="none" dirty="0" smtClean="0">
                          <a:latin typeface="David" panose="020E0502060401010101" pitchFamily="34" charset="-79"/>
                          <a:cs typeface="David" panose="020E0502060401010101" pitchFamily="34" charset="-79"/>
                        </a:rPr>
                        <a:t>ונתינת </a:t>
                      </a:r>
                      <a:r>
                        <a:rPr lang="iw-IL" sz="2400" u="none" strike="noStrike" cap="none" dirty="0">
                          <a:latin typeface="David" panose="020E0502060401010101" pitchFamily="34" charset="-79"/>
                          <a:cs typeface="David" panose="020E0502060401010101" pitchFamily="34" charset="-79"/>
                        </a:rPr>
                        <a:t>הארץ.</a:t>
                      </a:r>
                      <a:endParaRPr sz="1400"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583421698"/>
                  </a:ext>
                </a:extLst>
              </a:tr>
              <a:tr h="1039409">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u="none" strike="noStrike" cap="none" dirty="0">
                          <a:latin typeface="David" panose="020E0502060401010101" pitchFamily="34" charset="-79"/>
                          <a:cs typeface="David" panose="020E0502060401010101" pitchFamily="34" charset="-79"/>
                        </a:rPr>
                        <a:t>בכו וזבחו לה</a:t>
                      </a:r>
                      <a:r>
                        <a:rPr lang="iw-IL" sz="2400" u="none" strike="noStrike" cap="none" dirty="0" smtClean="0">
                          <a:latin typeface="David" panose="020E0502060401010101" pitchFamily="34" charset="-79"/>
                          <a:cs typeface="David" panose="020E0502060401010101" pitchFamily="34" charset="-79"/>
                        </a:rPr>
                        <a:t>'.</a:t>
                      </a:r>
                      <a:r>
                        <a:rPr lang="he-IL" sz="2400" u="none" strike="noStrike" cap="none" dirty="0" smtClean="0">
                          <a:latin typeface="David" panose="020E0502060401010101" pitchFamily="34" charset="-79"/>
                          <a:cs typeface="David" panose="020E0502060401010101" pitchFamily="34" charset="-79"/>
                        </a:rPr>
                        <a:t> ונקרא המקום "בוכים". </a:t>
                      </a:r>
                      <a:endParaRPr sz="1400"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u="none" strike="noStrike" cap="none" dirty="0">
                          <a:latin typeface="David" panose="020E0502060401010101" pitchFamily="34" charset="-79"/>
                          <a:cs typeface="David" panose="020E0502060401010101" pitchFamily="34" charset="-79"/>
                        </a:rPr>
                        <a:t>אין תגובה.</a:t>
                      </a:r>
                      <a:endParaRPr sz="1400"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2437156271"/>
                  </a:ext>
                </a:extLst>
              </a:tr>
            </a:tbl>
          </a:graphicData>
        </a:graphic>
      </p:graphicFrame>
      <p:graphicFrame>
        <p:nvGraphicFramePr>
          <p:cNvPr id="5" name="טבלה 4"/>
          <p:cNvGraphicFramePr>
            <a:graphicFrameLocks noGrp="1"/>
          </p:cNvGraphicFramePr>
          <p:nvPr>
            <p:extLst>
              <p:ext uri="{D42A27DB-BD31-4B8C-83A1-F6EECF244321}">
                <p14:modId xmlns:p14="http://schemas.microsoft.com/office/powerpoint/2010/main" val="615019694"/>
              </p:ext>
            </p:extLst>
          </p:nvPr>
        </p:nvGraphicFramePr>
        <p:xfrm>
          <a:off x="9003851" y="2101933"/>
          <a:ext cx="2397450" cy="3800105"/>
        </p:xfrm>
        <a:graphic>
          <a:graphicData uri="http://schemas.openxmlformats.org/drawingml/2006/table">
            <a:tbl>
              <a:tblPr firstRow="1" bandRow="1">
                <a:gradFill>
                  <a:gsLst>
                    <a:gs pos="0">
                      <a:srgbClr val="7FB75F"/>
                    </a:gs>
                    <a:gs pos="50000">
                      <a:srgbClr val="6EB141"/>
                    </a:gs>
                    <a:gs pos="100000">
                      <a:srgbClr val="5FA134"/>
                    </a:gs>
                  </a:gsLst>
                  <a:lin ang="5400000" scaled="0"/>
                </a:gradFill>
              </a:tblPr>
              <a:tblGrid>
                <a:gridCol w="2397450">
                  <a:extLst>
                    <a:ext uri="{9D8B030D-6E8A-4147-A177-3AD203B41FA5}">
                      <a16:colId xmlns:a16="http://schemas.microsoft.com/office/drawing/2014/main" val="876321684"/>
                    </a:ext>
                  </a:extLst>
                </a:gridCol>
              </a:tblGrid>
              <a:tr h="861078">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endParaRPr sz="2400" b="1" u="none" strike="noStrike" cap="none" dirty="0">
                        <a:solidFill>
                          <a:schemeClr val="lt1"/>
                        </a:solidFill>
                        <a:latin typeface="David" panose="020E0502060401010101" pitchFamily="34" charset="-79"/>
                        <a:ea typeface="Calibri"/>
                        <a:cs typeface="David" panose="020E0502060401010101" pitchFamily="34" charset="-79"/>
                        <a:sym typeface="Calibri"/>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14150121"/>
                  </a:ext>
                </a:extLst>
              </a:tr>
              <a:tr h="1064108">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800" b="1" u="none" strike="noStrike" cap="none" dirty="0">
                          <a:latin typeface="David" panose="020E0502060401010101" pitchFamily="34" charset="-79"/>
                          <a:cs typeface="David" panose="020E0502060401010101" pitchFamily="34" charset="-79"/>
                        </a:rPr>
                        <a:t>על מה מוכיח את עם ישראל?</a:t>
                      </a:r>
                      <a:endParaRPr sz="1600" b="1"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48347916"/>
                  </a:ext>
                </a:extLst>
              </a:tr>
              <a:tr h="939058">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b="1" u="none" strike="noStrike" cap="none" dirty="0">
                          <a:latin typeface="David" panose="020E0502060401010101" pitchFamily="34" charset="-79"/>
                          <a:cs typeface="David" panose="020E0502060401010101" pitchFamily="34" charset="-79"/>
                        </a:rPr>
                        <a:t>אלו אירועים מזכיר בתוכחתו?</a:t>
                      </a:r>
                      <a:endParaRPr sz="1400" b="1"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147946777"/>
                  </a:ext>
                </a:extLst>
              </a:tr>
              <a:tr h="935861">
                <a:tc>
                  <a:txBody>
                    <a:bodyPr/>
                    <a:lstStyle>
                      <a:lvl1pPr marL="0" algn="r" defTabSz="914400" rtl="1" eaLnBrk="1" latinLnBrk="0" hangingPunct="1">
                        <a:defRPr sz="1800" kern="1200">
                          <a:solidFill>
                            <a:schemeClr val="tx1"/>
                          </a:solidFill>
                          <a:latin typeface="Arial"/>
                        </a:defRPr>
                      </a:lvl1pPr>
                      <a:lvl2pPr marL="457200" algn="r" defTabSz="914400" rtl="1" eaLnBrk="1" latinLnBrk="0" hangingPunct="1">
                        <a:defRPr sz="1800" kern="1200">
                          <a:solidFill>
                            <a:schemeClr val="tx1"/>
                          </a:solidFill>
                          <a:latin typeface="Arial"/>
                        </a:defRPr>
                      </a:lvl2pPr>
                      <a:lvl3pPr marL="914400" algn="r" defTabSz="914400" rtl="1" eaLnBrk="1" latinLnBrk="0" hangingPunct="1">
                        <a:defRPr sz="1800" kern="1200">
                          <a:solidFill>
                            <a:schemeClr val="tx1"/>
                          </a:solidFill>
                          <a:latin typeface="Arial"/>
                        </a:defRPr>
                      </a:lvl3pPr>
                      <a:lvl4pPr marL="1371600" algn="r" defTabSz="914400" rtl="1" eaLnBrk="1" latinLnBrk="0" hangingPunct="1">
                        <a:defRPr sz="1800" kern="1200">
                          <a:solidFill>
                            <a:schemeClr val="tx1"/>
                          </a:solidFill>
                          <a:latin typeface="Arial"/>
                        </a:defRPr>
                      </a:lvl4pPr>
                      <a:lvl5pPr marL="1828800" algn="r" defTabSz="914400" rtl="1" eaLnBrk="1" latinLnBrk="0" hangingPunct="1">
                        <a:defRPr sz="1800" kern="1200">
                          <a:solidFill>
                            <a:schemeClr val="tx1"/>
                          </a:solidFill>
                          <a:latin typeface="Arial"/>
                        </a:defRPr>
                      </a:lvl5pPr>
                      <a:lvl6pPr marL="2286000" algn="r" defTabSz="914400" rtl="1" eaLnBrk="1" latinLnBrk="0" hangingPunct="1">
                        <a:defRPr sz="1800" kern="1200">
                          <a:solidFill>
                            <a:schemeClr val="tx1"/>
                          </a:solidFill>
                          <a:latin typeface="Arial"/>
                        </a:defRPr>
                      </a:lvl6pPr>
                      <a:lvl7pPr marL="2743200" algn="r" defTabSz="914400" rtl="1" eaLnBrk="1" latinLnBrk="0" hangingPunct="1">
                        <a:defRPr sz="1800" kern="1200">
                          <a:solidFill>
                            <a:schemeClr val="tx1"/>
                          </a:solidFill>
                          <a:latin typeface="Arial"/>
                        </a:defRPr>
                      </a:lvl7pPr>
                      <a:lvl8pPr marL="3200400" algn="r" defTabSz="914400" rtl="1" eaLnBrk="1" latinLnBrk="0" hangingPunct="1">
                        <a:defRPr sz="1800" kern="1200">
                          <a:solidFill>
                            <a:schemeClr val="tx1"/>
                          </a:solidFill>
                          <a:latin typeface="Arial"/>
                        </a:defRPr>
                      </a:lvl8pPr>
                      <a:lvl9pPr marL="3657600" algn="r" defTabSz="914400" rtl="1" eaLnBrk="1" latinLnBrk="0" hangingPunct="1">
                        <a:defRPr sz="1800" kern="1200">
                          <a:solidFill>
                            <a:schemeClr val="tx1"/>
                          </a:solidFill>
                          <a:latin typeface="Arial"/>
                        </a:defRPr>
                      </a:lvl9pPr>
                    </a:lstStyle>
                    <a:p>
                      <a:pPr marL="0" marR="0" lvl="0" indent="0" algn="r" rtl="1">
                        <a:lnSpc>
                          <a:spcPct val="100000"/>
                        </a:lnSpc>
                        <a:spcBef>
                          <a:spcPts val="0"/>
                        </a:spcBef>
                        <a:spcAft>
                          <a:spcPts val="0"/>
                        </a:spcAft>
                        <a:buClr>
                          <a:srgbClr val="000000"/>
                        </a:buClr>
                        <a:buSzPts val="2400"/>
                        <a:buFont typeface="Arial"/>
                        <a:buNone/>
                      </a:pPr>
                      <a:r>
                        <a:rPr lang="iw-IL" sz="2400" b="1" u="none" strike="noStrike" cap="none" dirty="0">
                          <a:latin typeface="David" panose="020E0502060401010101" pitchFamily="34" charset="-79"/>
                          <a:cs typeface="David" panose="020E0502060401010101" pitchFamily="34" charset="-79"/>
                        </a:rPr>
                        <a:t>תגובת העם?</a:t>
                      </a:r>
                      <a:endParaRPr sz="1400" b="1" u="none" strike="noStrike" cap="none" dirty="0">
                        <a:latin typeface="David" panose="020E0502060401010101" pitchFamily="34" charset="-79"/>
                        <a:cs typeface="David" panose="020E0502060401010101" pitchFamily="34" charset="-79"/>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4024657639"/>
                  </a:ext>
                </a:extLst>
              </a:tr>
            </a:tbl>
          </a:graphicData>
        </a:graphic>
      </p:graphicFrame>
      <p:sp>
        <p:nvSpPr>
          <p:cNvPr id="6" name="Google Shape;119;p16"/>
          <p:cNvSpPr txBox="1">
            <a:spLocks/>
          </p:cNvSpPr>
          <p:nvPr/>
        </p:nvSpPr>
        <p:spPr>
          <a:xfrm>
            <a:off x="766948" y="6073165"/>
            <a:ext cx="10515600" cy="784835"/>
          </a:xfrm>
          <a:prstGeom prst="rect">
            <a:avLst/>
          </a:prstGeom>
          <a:noFill/>
          <a:ln>
            <a:noFill/>
          </a:ln>
        </p:spPr>
        <p:txBody>
          <a:bodyPr spcFirstLastPara="1" wrap="square" lIns="91425" tIns="45700" rIns="91425" bIns="45700" anchor="t" anchorCtr="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2800"/>
              <a:buFont typeface="Arial" panose="020B0604020202020204" pitchFamily="34" charset="0"/>
              <a:buNone/>
            </a:pPr>
            <a:r>
              <a:rPr lang="he-IL" dirty="0" smtClean="0"/>
              <a:t>מה ניתן ללמוד מהשוואה זו על ההתדרדרות במצבו הרוחני של עם ישראל?</a:t>
            </a:r>
            <a:endParaRPr lang="he-IL" dirty="0"/>
          </a:p>
        </p:txBody>
      </p:sp>
    </p:spTree>
    <p:extLst>
      <p:ext uri="{BB962C8B-B14F-4D97-AF65-F5344CB8AC3E}">
        <p14:creationId xmlns:p14="http://schemas.microsoft.com/office/powerpoint/2010/main" val="3540892558"/>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ircle(in)">
                                      <p:cBhvr>
                                        <p:cTn id="14" dur="2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22710" y="187037"/>
            <a:ext cx="5969331" cy="6124754"/>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dirty="0" smtClean="0">
                <a:latin typeface="David" panose="020E0502060401010101" pitchFamily="34" charset="-79"/>
                <a:cs typeface="David" panose="020E0502060401010101" pitchFamily="34" charset="-79"/>
              </a:rPr>
              <a:t>יא. </a:t>
            </a:r>
            <a:r>
              <a:rPr lang="he-IL" sz="2400" dirty="0" smtClean="0">
                <a:latin typeface="David" panose="020E0502060401010101" pitchFamily="34" charset="-79"/>
                <a:cs typeface="David" panose="020E0502060401010101" pitchFamily="34" charset="-79"/>
              </a:rPr>
              <a:t>{יואש ממשפחת אביעזר משבט מנשה, היה אדם זקן וכדי להביא פרנסה לביתו היה לוקח קצת חיטים מסתתר במקום מחבוא כדי שהמדיניים לא יתפסו אותו, ושם היה חובט את החיטה</a:t>
            </a:r>
            <a:r>
              <a:rPr lang="en-US" sz="2400" dirty="0" smtClean="0">
                <a:latin typeface="David" panose="020E0502060401010101" pitchFamily="34" charset="-79"/>
                <a:cs typeface="David" panose="020E0502060401010101" pitchFamily="34" charset="-79"/>
              </a:rPr>
              <a:t>  </a:t>
            </a:r>
            <a:r>
              <a:rPr lang="he-IL" sz="2400" dirty="0" smtClean="0">
                <a:latin typeface="David" panose="020E0502060401010101" pitchFamily="34" charset="-79"/>
                <a:cs typeface="David" panose="020E0502060401010101" pitchFamily="34" charset="-79"/>
              </a:rPr>
              <a:t>במקל  להפריד את הגרעין מהקליפה ואז לטחון ולהפוך לקמח. גדעון ראה ואמר לאביו אבא אתה זקן, אם המדיינים יבואו- לא תוכל לברוח מהם, לכן אמר לו שהוא יחבוט בחיטים. }</a:t>
            </a:r>
          </a:p>
          <a:p>
            <a:r>
              <a:rPr lang="he-IL" sz="3200" dirty="0" smtClean="0">
                <a:latin typeface="David" panose="020E0502060401010101" pitchFamily="34" charset="-79"/>
                <a:cs typeface="David" panose="020E0502060401010101" pitchFamily="34" charset="-79"/>
              </a:rPr>
              <a:t>הגיע מלאך מהשמיים וישב מתחת לעץ האלה שהיה בעופרה, שבנחלת יואש ממשפחת </a:t>
            </a:r>
            <a:r>
              <a:rPr lang="he-IL" sz="3200" dirty="0" err="1" smtClean="0">
                <a:latin typeface="David" panose="020E0502060401010101" pitchFamily="34" charset="-79"/>
                <a:cs typeface="David" panose="020E0502060401010101" pitchFamily="34" charset="-79"/>
              </a:rPr>
              <a:t>האבעזרי</a:t>
            </a:r>
            <a:r>
              <a:rPr lang="he-IL" sz="3200" dirty="0" smtClean="0">
                <a:latin typeface="David" panose="020E0502060401010101" pitchFamily="34" charset="-79"/>
                <a:cs typeface="David" panose="020E0502060401010101" pitchFamily="34" charset="-79"/>
              </a:rPr>
              <a:t>. וגדעון בנו של יואש היה דש חיטים בחבטות מקל בתוך בור דריכה של ענבים, </a:t>
            </a:r>
            <a:r>
              <a:rPr lang="he-IL" sz="3200" b="1" dirty="0" smtClean="0">
                <a:latin typeface="David" panose="020E0502060401010101" pitchFamily="34" charset="-79"/>
                <a:cs typeface="David" panose="020E0502060401010101" pitchFamily="34" charset="-79"/>
              </a:rPr>
              <a:t>להסתירם</a:t>
            </a:r>
            <a:r>
              <a:rPr lang="he-IL" sz="3200" dirty="0" smtClean="0">
                <a:latin typeface="David" panose="020E0502060401010101" pitchFamily="34" charset="-79"/>
                <a:cs typeface="David" panose="020E0502060401010101" pitchFamily="34" charset="-79"/>
              </a:rPr>
              <a:t> מהמדיינים.</a:t>
            </a:r>
            <a:r>
              <a:rPr lang="he-IL" sz="2400" dirty="0" smtClean="0">
                <a:latin typeface="David" panose="020E0502060401010101" pitchFamily="34" charset="-79"/>
                <a:cs typeface="David" panose="020E0502060401010101" pitchFamily="34" charset="-79"/>
              </a:rPr>
              <a:t> </a:t>
            </a:r>
            <a:r>
              <a:rPr lang="en-US" sz="2400" dirty="0" smtClean="0">
                <a:latin typeface="David" panose="020E0502060401010101" pitchFamily="34" charset="-79"/>
                <a:cs typeface="David" panose="020E0502060401010101" pitchFamily="34" charset="-79"/>
              </a:rPr>
              <a:t> </a:t>
            </a:r>
            <a:r>
              <a:rPr lang="he-IL" sz="2400" dirty="0" smtClean="0">
                <a:latin typeface="David" panose="020E0502060401010101" pitchFamily="34" charset="-79"/>
                <a:cs typeface="David" panose="020E0502060401010101" pitchFamily="34" charset="-79"/>
              </a:rPr>
              <a:t>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6270172" y="187037"/>
            <a:ext cx="5735782" cy="2062103"/>
          </a:xfrm>
          <a:prstGeom prst="rect">
            <a:avLst/>
          </a:prstGeom>
          <a:solidFill>
            <a:schemeClr val="accent2">
              <a:lumMod val="60000"/>
              <a:lumOff val="40000"/>
            </a:schemeClr>
          </a:solidFill>
        </p:spPr>
        <p:txBody>
          <a:bodyPr wrap="square">
            <a:spAutoFit/>
          </a:bodyPr>
          <a:lstStyle/>
          <a:p>
            <a:r>
              <a:rPr lang="he-IL" sz="3200" b="1" dirty="0">
                <a:solidFill>
                  <a:srgbClr val="000000"/>
                </a:solidFill>
                <a:latin typeface="David" panose="020E0502060401010101" pitchFamily="34" charset="-79"/>
                <a:cs typeface="David" panose="020E0502060401010101" pitchFamily="34" charset="-79"/>
              </a:rPr>
              <a:t>יא</a:t>
            </a:r>
            <a:r>
              <a:rPr lang="he-IL" sz="3200" dirty="0">
                <a:solidFill>
                  <a:srgbClr val="000000"/>
                </a:solidFill>
                <a:latin typeface="David" panose="020E0502060401010101" pitchFamily="34" charset="-79"/>
                <a:cs typeface="David" panose="020E0502060401010101" pitchFamily="34" charset="-79"/>
              </a:rPr>
              <a:t> וַיָּבֹא מַלְאַךְ יְהוָה, וַיֵּשֶׁב תַּחַת הָאֵלָה אֲשֶׁר בְּעָפְרָה, אֲשֶׁר לְיוֹאָשׁ, אֲבִי </a:t>
            </a:r>
            <a:r>
              <a:rPr lang="he-IL" sz="3200" dirty="0" err="1">
                <a:solidFill>
                  <a:srgbClr val="000000"/>
                </a:solidFill>
                <a:latin typeface="David" panose="020E0502060401010101" pitchFamily="34" charset="-79"/>
                <a:cs typeface="David" panose="020E0502060401010101" pitchFamily="34" charset="-79"/>
              </a:rPr>
              <a:t>הָעֶזְרִי</a:t>
            </a:r>
            <a:r>
              <a:rPr lang="he-IL" sz="3200" dirty="0">
                <a:solidFill>
                  <a:srgbClr val="000000"/>
                </a:solidFill>
                <a:latin typeface="David" panose="020E0502060401010101" pitchFamily="34" charset="-79"/>
                <a:cs typeface="David" panose="020E0502060401010101" pitchFamily="34" charset="-79"/>
              </a:rPr>
              <a:t>; וְגִדְעוֹן בְּנוֹ, חֹבֵט חִטִּים בַּגַּת, </a:t>
            </a:r>
            <a:r>
              <a:rPr lang="he-IL" sz="3200" b="1" dirty="0">
                <a:solidFill>
                  <a:srgbClr val="000000"/>
                </a:solidFill>
                <a:latin typeface="David" panose="020E0502060401010101" pitchFamily="34" charset="-79"/>
                <a:cs typeface="David" panose="020E0502060401010101" pitchFamily="34" charset="-79"/>
              </a:rPr>
              <a:t>לְהָנִיס, </a:t>
            </a:r>
            <a:r>
              <a:rPr lang="he-IL" sz="3200" dirty="0">
                <a:solidFill>
                  <a:srgbClr val="000000"/>
                </a:solidFill>
                <a:latin typeface="David" panose="020E0502060401010101" pitchFamily="34" charset="-79"/>
                <a:cs typeface="David" panose="020E0502060401010101" pitchFamily="34" charset="-79"/>
              </a:rPr>
              <a:t>מִפְּנֵי מִדְיָן.</a:t>
            </a:r>
            <a:endParaRPr lang="he-IL" sz="3200" dirty="0">
              <a:latin typeface="David" panose="020E0502060401010101" pitchFamily="34" charset="-79"/>
              <a:cs typeface="David" panose="020E0502060401010101" pitchFamily="34" charset="-79"/>
            </a:endParaRPr>
          </a:p>
        </p:txBody>
      </p:sp>
      <p:pic>
        <p:nvPicPr>
          <p:cNvPr id="4" name="תמונה 3"/>
          <p:cNvPicPr>
            <a:picLocks noChangeAspect="1"/>
          </p:cNvPicPr>
          <p:nvPr/>
        </p:nvPicPr>
        <p:blipFill>
          <a:blip r:embed="rId3"/>
          <a:stretch>
            <a:fillRect/>
          </a:stretch>
        </p:blipFill>
        <p:spPr>
          <a:xfrm>
            <a:off x="7647709" y="2315837"/>
            <a:ext cx="4227616" cy="2746370"/>
          </a:xfrm>
          <a:prstGeom prst="rect">
            <a:avLst/>
          </a:prstGeom>
        </p:spPr>
      </p:pic>
      <p:pic>
        <p:nvPicPr>
          <p:cNvPr id="5" name="תמונה 4"/>
          <p:cNvPicPr>
            <a:picLocks noChangeAspect="1"/>
          </p:cNvPicPr>
          <p:nvPr/>
        </p:nvPicPr>
        <p:blipFill>
          <a:blip r:embed="rId4"/>
          <a:stretch>
            <a:fillRect/>
          </a:stretch>
        </p:blipFill>
        <p:spPr>
          <a:xfrm>
            <a:off x="6311488" y="4462228"/>
            <a:ext cx="2933700" cy="2185307"/>
          </a:xfrm>
          <a:prstGeom prst="rect">
            <a:avLst/>
          </a:prstGeom>
        </p:spPr>
      </p:pic>
      <p:cxnSp>
        <p:nvCxnSpPr>
          <p:cNvPr id="7" name="מחבר חץ ישר 6"/>
          <p:cNvCxnSpPr/>
          <p:nvPr/>
        </p:nvCxnSpPr>
        <p:spPr>
          <a:xfrm>
            <a:off x="8372104" y="1626919"/>
            <a:ext cx="1389413" cy="23225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8" name="תמונה 7"/>
          <p:cNvPicPr>
            <a:picLocks noChangeAspect="1"/>
          </p:cNvPicPr>
          <p:nvPr/>
        </p:nvPicPr>
        <p:blipFill>
          <a:blip r:embed="rId5"/>
          <a:stretch>
            <a:fillRect/>
          </a:stretch>
        </p:blipFill>
        <p:spPr>
          <a:xfrm>
            <a:off x="693232" y="-144433"/>
            <a:ext cx="4117762" cy="6456224"/>
          </a:xfrm>
          <a:prstGeom prst="rect">
            <a:avLst/>
          </a:prstGeom>
        </p:spPr>
      </p:pic>
      <p:sp>
        <p:nvSpPr>
          <p:cNvPr id="9" name="Google Shape;127;p17"/>
          <p:cNvSpPr/>
          <p:nvPr/>
        </p:nvSpPr>
        <p:spPr>
          <a:xfrm>
            <a:off x="2917593" y="1626919"/>
            <a:ext cx="379563" cy="345056"/>
          </a:xfrm>
          <a:prstGeom prst="ellipse">
            <a:avLst/>
          </a:prstGeom>
          <a:no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4510351"/>
      </p:ext>
    </p:extLst>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1000" fill="hold"/>
                                        <p:tgtEl>
                                          <p:spTgt spid="4"/>
                                        </p:tgtEl>
                                        <p:attrNameLst>
                                          <p:attrName>ppt_w</p:attrName>
                                        </p:attrNameLst>
                                      </p:cBhvr>
                                      <p:tavLst>
                                        <p:tav tm="0">
                                          <p:val>
                                            <p:fltVal val="0"/>
                                          </p:val>
                                        </p:tav>
                                        <p:tav tm="100000">
                                          <p:val>
                                            <p:strVal val="#ppt_w"/>
                                          </p:val>
                                        </p:tav>
                                      </p:tavLst>
                                    </p:anim>
                                    <p:anim calcmode="lin" valueType="num">
                                      <p:cBhvr>
                                        <p:cTn id="32" dur="1000" fill="hold"/>
                                        <p:tgtEl>
                                          <p:spTgt spid="4"/>
                                        </p:tgtEl>
                                        <p:attrNameLst>
                                          <p:attrName>ppt_h</p:attrName>
                                        </p:attrNameLst>
                                      </p:cBhvr>
                                      <p:tavLst>
                                        <p:tav tm="0">
                                          <p:val>
                                            <p:fltVal val="0"/>
                                          </p:val>
                                        </p:tav>
                                        <p:tav tm="100000">
                                          <p:val>
                                            <p:strVal val="#ppt_h"/>
                                          </p:val>
                                        </p:tav>
                                      </p:tavLst>
                                    </p:anim>
                                    <p:anim calcmode="lin" valueType="num">
                                      <p:cBhvr>
                                        <p:cTn id="33" dur="1000" fill="hold"/>
                                        <p:tgtEl>
                                          <p:spTgt spid="4"/>
                                        </p:tgtEl>
                                        <p:attrNameLst>
                                          <p:attrName>style.rotation</p:attrName>
                                        </p:attrNameLst>
                                      </p:cBhvr>
                                      <p:tavLst>
                                        <p:tav tm="0">
                                          <p:val>
                                            <p:fltVal val="90"/>
                                          </p:val>
                                        </p:tav>
                                        <p:tav tm="100000">
                                          <p:val>
                                            <p:fltVal val="0"/>
                                          </p:val>
                                        </p:tav>
                                      </p:tavLst>
                                    </p:anim>
                                    <p:animEffect transition="in" filter="fade">
                                      <p:cBhvr>
                                        <p:cTn id="34" dur="10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8" y="260627"/>
            <a:ext cx="5529942" cy="6432530"/>
          </a:xfrm>
          <a:prstGeom prst="rect">
            <a:avLst/>
          </a:prstGeom>
          <a:solidFill>
            <a:schemeClr val="accent4">
              <a:lumMod val="40000"/>
              <a:lumOff val="60000"/>
            </a:schemeClr>
          </a:solidFill>
          <a:ln w="38100">
            <a:solidFill>
              <a:schemeClr val="tx1"/>
            </a:solidFill>
          </a:ln>
        </p:spPr>
        <p:txBody>
          <a:bodyPr wrap="square" rtlCol="1">
            <a:spAutoFit/>
          </a:bodyPr>
          <a:lstStyle/>
          <a:p>
            <a:r>
              <a:rPr lang="he-IL" sz="3200" b="1" u="sng" dirty="0" err="1" smtClean="0">
                <a:latin typeface="David" panose="020E0502060401010101" pitchFamily="34" charset="-79"/>
                <a:cs typeface="David" panose="020E0502060401010101" pitchFamily="34" charset="-79"/>
              </a:rPr>
              <a:t>יב</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נגלה המלאך לגדעון (מיכאל המלאך) ואמר לו:</a:t>
            </a:r>
            <a:r>
              <a:rPr lang="he-IL" sz="3200" b="1" dirty="0" smtClean="0">
                <a:latin typeface="David" panose="020E0502060401010101" pitchFamily="34" charset="-79"/>
                <a:cs typeface="David" panose="020E0502060401010101" pitchFamily="34" charset="-79"/>
              </a:rPr>
              <a:t> ה' בעזרתך גיבור חיל אתה, </a:t>
            </a:r>
            <a:r>
              <a:rPr lang="he-IL" sz="3200" dirty="0" smtClean="0">
                <a:latin typeface="David" panose="020E0502060401010101" pitchFamily="34" charset="-79"/>
                <a:cs typeface="David" panose="020E0502060401010101" pitchFamily="34" charset="-79"/>
              </a:rPr>
              <a:t>ולכן אתה עובד כאן </a:t>
            </a:r>
            <a:r>
              <a:rPr lang="he-IL" sz="3200" dirty="0" err="1" smtClean="0">
                <a:latin typeface="David" panose="020E0502060401010101" pitchFamily="34" charset="-79"/>
                <a:cs typeface="David" panose="020E0502060401010101" pitchFamily="34" charset="-79"/>
              </a:rPr>
              <a:t>בכזו</a:t>
            </a:r>
            <a:r>
              <a:rPr lang="he-IL" sz="3200" dirty="0" smtClean="0">
                <a:latin typeface="David" panose="020E0502060401010101" pitchFamily="34" charset="-79"/>
                <a:cs typeface="David" panose="020E0502060401010101" pitchFamily="34" charset="-79"/>
              </a:rPr>
              <a:t> גבורה וכן בזכות כיבוד ההורים שלך. </a:t>
            </a:r>
            <a:r>
              <a:rPr lang="he-IL" sz="2800" dirty="0" smtClean="0">
                <a:latin typeface="David" panose="020E0502060401010101" pitchFamily="34" charset="-79"/>
                <a:cs typeface="David" panose="020E0502060401010101" pitchFamily="34" charset="-79"/>
              </a:rPr>
              <a:t>ורמז לו לחזקו שיגבר וינצח את מדיין. </a:t>
            </a:r>
          </a:p>
          <a:p>
            <a:r>
              <a:rPr lang="he-IL" sz="3200" b="1" u="sng" dirty="0" err="1" smtClean="0">
                <a:latin typeface="David" panose="020E0502060401010101" pitchFamily="34" charset="-79"/>
                <a:cs typeface="David" panose="020E0502060401010101" pitchFamily="34" charset="-79"/>
              </a:rPr>
              <a:t>יג</a:t>
            </a:r>
            <a:r>
              <a:rPr lang="he-IL" sz="3200" b="1" u="sng" dirty="0" smtClean="0">
                <a:latin typeface="David" panose="020E0502060401010101" pitchFamily="34" charset="-79"/>
                <a:cs typeface="David" panose="020E0502060401010101" pitchFamily="34" charset="-79"/>
              </a:rPr>
              <a:t>. </a:t>
            </a:r>
            <a:r>
              <a:rPr lang="he-IL" sz="3200" dirty="0" smtClean="0">
                <a:latin typeface="David" panose="020E0502060401010101" pitchFamily="34" charset="-79"/>
                <a:cs typeface="David" panose="020E0502060401010101" pitchFamily="34" charset="-79"/>
              </a:rPr>
              <a:t>אמר גדעון למלאך בבקשה אדוני, אם באמת ה' אתנו ובעזרנו, למה קרה לנו כל זאת. ומדוע אין אנו רואים את </a:t>
            </a:r>
            <a:r>
              <a:rPr lang="he-IL" sz="3200" dirty="0" err="1" smtClean="0">
                <a:latin typeface="David" panose="020E0502060401010101" pitchFamily="34" charset="-79"/>
                <a:cs typeface="David" panose="020E0502060401010101" pitchFamily="34" charset="-79"/>
              </a:rPr>
              <a:t>ניסי</a:t>
            </a:r>
            <a:r>
              <a:rPr lang="he-IL" sz="3200" dirty="0" smtClean="0">
                <a:latin typeface="David" panose="020E0502060401010101" pitchFamily="34" charset="-79"/>
                <a:cs typeface="David" panose="020E0502060401010101" pitchFamily="34" charset="-79"/>
              </a:rPr>
              <a:t> ה', כמו שספרו לנו אבותינו וכך אמרו לנו: שמעבדות במצרים הוציאנו ה'. וכעת הסיר ה' את השגחתו מעלינו, ומסר אותה ביד המדיינים. </a:t>
            </a:r>
            <a:endParaRPr lang="he-IL" sz="3200" dirty="0">
              <a:latin typeface="David" panose="020E0502060401010101" pitchFamily="34" charset="-79"/>
              <a:cs typeface="David" panose="020E0502060401010101" pitchFamily="34" charset="-79"/>
            </a:endParaRPr>
          </a:p>
        </p:txBody>
      </p:sp>
      <p:sp>
        <p:nvSpPr>
          <p:cNvPr id="2" name="מלבן 1"/>
          <p:cNvSpPr/>
          <p:nvPr/>
        </p:nvSpPr>
        <p:spPr>
          <a:xfrm>
            <a:off x="5898078" y="233992"/>
            <a:ext cx="6096000" cy="3539430"/>
          </a:xfrm>
          <a:prstGeom prst="rect">
            <a:avLst/>
          </a:prstGeom>
          <a:solidFill>
            <a:schemeClr val="accent1">
              <a:lumMod val="60000"/>
              <a:lumOff val="40000"/>
            </a:schemeClr>
          </a:solidFill>
        </p:spPr>
        <p:txBody>
          <a:bodyPr>
            <a:spAutoFit/>
          </a:bodyPr>
          <a:lstStyle/>
          <a:p>
            <a:r>
              <a:rPr lang="he-IL" dirty="0"/>
              <a:t> </a:t>
            </a:r>
            <a:r>
              <a:rPr lang="he-IL" sz="3200" b="1" u="sng" dirty="0" err="1">
                <a:latin typeface="David" panose="020E0502060401010101" pitchFamily="34" charset="-79"/>
                <a:cs typeface="David" panose="020E0502060401010101" pitchFamily="34" charset="-79"/>
              </a:rPr>
              <a:t>יב</a:t>
            </a:r>
            <a:r>
              <a:rPr lang="he-IL" sz="3200" dirty="0">
                <a:latin typeface="David" panose="020E0502060401010101" pitchFamily="34" charset="-79"/>
                <a:cs typeface="David" panose="020E0502060401010101" pitchFamily="34" charset="-79"/>
              </a:rPr>
              <a:t> וַיֵּרָא אֵלָיו, מַלְאַךְ יְהוָה; וַיֹּאמֶר אֵלָיו, </a:t>
            </a:r>
            <a:r>
              <a:rPr lang="he-IL" sz="3200" b="1" dirty="0">
                <a:latin typeface="David" panose="020E0502060401010101" pitchFamily="34" charset="-79"/>
                <a:cs typeface="David" panose="020E0502060401010101" pitchFamily="34" charset="-79"/>
              </a:rPr>
              <a:t>יְהוָה עִמְּךָ </a:t>
            </a:r>
            <a:r>
              <a:rPr lang="he-IL" sz="3200" b="1" dirty="0" err="1">
                <a:latin typeface="David" panose="020E0502060401010101" pitchFamily="34" charset="-79"/>
                <a:cs typeface="David" panose="020E0502060401010101" pitchFamily="34" charset="-79"/>
              </a:rPr>
              <a:t>גִּבּוֹר</a:t>
            </a:r>
            <a:r>
              <a:rPr lang="he-IL" sz="3200" b="1" dirty="0">
                <a:latin typeface="David" panose="020E0502060401010101" pitchFamily="34" charset="-79"/>
                <a:cs typeface="David" panose="020E0502060401010101" pitchFamily="34" charset="-79"/>
              </a:rPr>
              <a:t> הֶחָיִל</a:t>
            </a:r>
            <a:r>
              <a:rPr lang="he-IL" sz="3200" dirty="0">
                <a:latin typeface="David" panose="020E0502060401010101" pitchFamily="34" charset="-79"/>
                <a:cs typeface="David" panose="020E0502060401010101" pitchFamily="34" charset="-79"/>
              </a:rPr>
              <a:t>.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יג</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וַיֹּאמֶר אֵלָיו גִּדְעוֹן, בִּי אֲדֹנִי, וְיֵשׁ יְהוָה עִמָּנוּ, </a:t>
            </a:r>
            <a:r>
              <a:rPr lang="he-IL" sz="3200" b="1" dirty="0">
                <a:latin typeface="David" panose="020E0502060401010101" pitchFamily="34" charset="-79"/>
                <a:cs typeface="David" panose="020E0502060401010101" pitchFamily="34" charset="-79"/>
              </a:rPr>
              <a:t>וְלָמָּה מְצָאַתְנוּ כָּל-זֹאת</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וְאַיֵּה </a:t>
            </a:r>
            <a:r>
              <a:rPr lang="he-IL" sz="3200" b="1" dirty="0" err="1">
                <a:latin typeface="David" panose="020E0502060401010101" pitchFamily="34" charset="-79"/>
                <a:cs typeface="David" panose="020E0502060401010101" pitchFamily="34" charset="-79"/>
              </a:rPr>
              <a:t>כָל-נִפְלְאֹתָיו</a:t>
            </a:r>
            <a:r>
              <a:rPr lang="he-IL" sz="3200" b="1" dirty="0">
                <a:latin typeface="David" panose="020E0502060401010101" pitchFamily="34" charset="-79"/>
                <a:cs typeface="David" panose="020E0502060401010101" pitchFamily="34" charset="-79"/>
              </a:rPr>
              <a:t> אֲשֶׁר סִפְּרוּ-לָנוּ אֲבוֹתֵינוּ </a:t>
            </a:r>
            <a:r>
              <a:rPr lang="he-IL" sz="3200" dirty="0" err="1">
                <a:latin typeface="David" panose="020E0502060401010101" pitchFamily="34" charset="-79"/>
                <a:cs typeface="David" panose="020E0502060401010101" pitchFamily="34" charset="-79"/>
              </a:rPr>
              <a:t>לֵאמֹר</a:t>
            </a:r>
            <a:r>
              <a:rPr lang="he-IL" sz="3200" dirty="0">
                <a:latin typeface="David" panose="020E0502060401010101" pitchFamily="34" charset="-79"/>
                <a:cs typeface="David" panose="020E0502060401010101" pitchFamily="34" charset="-79"/>
              </a:rPr>
              <a:t>, הֲלֹא מִמִּצְרַיִם הֶעֱלָנוּ יְהוָה, וְעַתָּה נְטָשָׁנוּ יְהוָה, </a:t>
            </a:r>
            <a:r>
              <a:rPr lang="he-IL" sz="3200" dirty="0" err="1">
                <a:latin typeface="David" panose="020E0502060401010101" pitchFamily="34" charset="-79"/>
                <a:cs typeface="David" panose="020E0502060401010101" pitchFamily="34" charset="-79"/>
              </a:rPr>
              <a:t>וַיִּתְּנֵנו</a:t>
            </a:r>
            <a:r>
              <a:rPr lang="he-IL" sz="3200" dirty="0">
                <a:latin typeface="David" panose="020E0502060401010101" pitchFamily="34" charset="-79"/>
                <a:cs typeface="David" panose="020E0502060401010101" pitchFamily="34" charset="-79"/>
              </a:rPr>
              <a:t>ּ בְּכַף-מִדְיָן.</a:t>
            </a:r>
          </a:p>
        </p:txBody>
      </p:sp>
      <p:pic>
        <p:nvPicPr>
          <p:cNvPr id="4" name="תמונה 3"/>
          <p:cNvPicPr>
            <a:picLocks noChangeAspect="1"/>
          </p:cNvPicPr>
          <p:nvPr/>
        </p:nvPicPr>
        <p:blipFill>
          <a:blip r:embed="rId3"/>
          <a:stretch>
            <a:fillRect/>
          </a:stretch>
        </p:blipFill>
        <p:spPr>
          <a:xfrm>
            <a:off x="5767449" y="3773422"/>
            <a:ext cx="3387994" cy="3035557"/>
          </a:xfrm>
          <a:prstGeom prst="rect">
            <a:avLst/>
          </a:prstGeom>
          <a:scene3d>
            <a:camera prst="perspectiveLeft"/>
            <a:lightRig rig="threePt" dir="t"/>
          </a:scene3d>
        </p:spPr>
      </p:pic>
      <p:sp>
        <p:nvSpPr>
          <p:cNvPr id="7" name="TextBox 6"/>
          <p:cNvSpPr txBox="1"/>
          <p:nvPr/>
        </p:nvSpPr>
        <p:spPr>
          <a:xfrm>
            <a:off x="9258362" y="4015501"/>
            <a:ext cx="2842593" cy="2677656"/>
          </a:xfrm>
          <a:prstGeom prst="rect">
            <a:avLst/>
          </a:prstGeom>
          <a:solidFill>
            <a:schemeClr val="accent2">
              <a:lumMod val="60000"/>
              <a:lumOff val="40000"/>
            </a:schemeClr>
          </a:solidFill>
          <a:ln w="38100">
            <a:solidFill>
              <a:schemeClr val="tx1"/>
            </a:solidFill>
          </a:ln>
        </p:spPr>
        <p:txBody>
          <a:bodyPr wrap="square" rtlCol="1">
            <a:spAutoFit/>
          </a:bodyPr>
          <a:lstStyle/>
          <a:p>
            <a:r>
              <a:rPr lang="he-IL" sz="2400" b="1" u="sng" dirty="0" smtClean="0">
                <a:latin typeface="David" panose="020E0502060401010101" pitchFamily="34" charset="-79"/>
                <a:cs typeface="David" panose="020E0502060401010101" pitchFamily="34" charset="-79"/>
              </a:rPr>
              <a:t>גדעון לימד זכות על ישראל: </a:t>
            </a:r>
            <a:r>
              <a:rPr lang="he-IL" sz="2000" dirty="0" smtClean="0">
                <a:latin typeface="David" panose="020E0502060401010101" pitchFamily="34" charset="-79"/>
                <a:cs typeface="David" panose="020E0502060401010101" pitchFamily="34" charset="-79"/>
              </a:rPr>
              <a:t>אמר אם אבותינו שנגאלו ממצרים היו צדיקים- אז שה' יגאל אותנו בזכותם. </a:t>
            </a:r>
          </a:p>
          <a:p>
            <a:r>
              <a:rPr lang="he-IL" sz="2000" dirty="0" smtClean="0">
                <a:latin typeface="David" panose="020E0502060401010101" pitchFamily="34" charset="-79"/>
                <a:cs typeface="David" panose="020E0502060401010101" pitchFamily="34" charset="-79"/>
              </a:rPr>
              <a:t>ואם הם רשעים- אז כמו שה' גאל אותם בחסד- שיגאל גם אותנו מיד המדיינים בחסד. </a:t>
            </a:r>
            <a:endParaRPr lang="he-IL" sz="20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9986863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2000"/>
                                        <p:tgtEl>
                                          <p:spTgt spid="7"/>
                                        </p:tgtEl>
                                      </p:cBhvr>
                                    </p:animEffect>
                                    <p:anim calcmode="lin" valueType="num">
                                      <p:cBhvr>
                                        <p:cTn id="25" dur="2000" fill="hold"/>
                                        <p:tgtEl>
                                          <p:spTgt spid="7"/>
                                        </p:tgtEl>
                                        <p:attrNameLst>
                                          <p:attrName>ppt_w</p:attrName>
                                        </p:attrNameLst>
                                      </p:cBhvr>
                                      <p:tavLst>
                                        <p:tav tm="0" fmla="#ppt_w*sin(2.5*pi*$)">
                                          <p:val>
                                            <p:fltVal val="0"/>
                                          </p:val>
                                        </p:tav>
                                        <p:tav tm="100000">
                                          <p:val>
                                            <p:fltVal val="1"/>
                                          </p:val>
                                        </p:tav>
                                      </p:tavLst>
                                    </p:anim>
                                    <p:anim calcmode="lin" valueType="num">
                                      <p:cBhvr>
                                        <p:cTn id="26"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5969330" y="263766"/>
            <a:ext cx="6096000" cy="4031873"/>
          </a:xfrm>
          <a:prstGeom prst="rect">
            <a:avLst/>
          </a:prstGeom>
          <a:solidFill>
            <a:schemeClr val="accent4">
              <a:lumMod val="60000"/>
              <a:lumOff val="40000"/>
            </a:schemeClr>
          </a:solidFill>
        </p:spPr>
        <p:txBody>
          <a:bodyPr>
            <a:spAutoFit/>
          </a:bodyPr>
          <a:lstStyle/>
          <a:p>
            <a:r>
              <a:rPr lang="he-IL" sz="3200" b="1" u="sng" dirty="0">
                <a:latin typeface="David" panose="020E0502060401010101" pitchFamily="34" charset="-79"/>
                <a:cs typeface="David" panose="020E0502060401010101" pitchFamily="34" charset="-79"/>
              </a:rPr>
              <a:t>יד</a:t>
            </a:r>
            <a:r>
              <a:rPr lang="he-IL" sz="3200" dirty="0">
                <a:latin typeface="David" panose="020E0502060401010101" pitchFamily="34" charset="-79"/>
                <a:cs typeface="David" panose="020E0502060401010101" pitchFamily="34" charset="-79"/>
              </a:rPr>
              <a:t> וַיִּפֶן אֵלָיו, יְהוָה, וַיֹּאמֶר לֵךְ </a:t>
            </a:r>
            <a:r>
              <a:rPr lang="he-IL" sz="3200" dirty="0" err="1">
                <a:latin typeface="David" panose="020E0502060401010101" pitchFamily="34" charset="-79"/>
                <a:cs typeface="David" panose="020E0502060401010101" pitchFamily="34" charset="-79"/>
              </a:rPr>
              <a:t>בְּכֹחֲך</a:t>
            </a:r>
            <a:r>
              <a:rPr lang="he-IL" sz="3200" dirty="0">
                <a:latin typeface="David" panose="020E0502060401010101" pitchFamily="34" charset="-79"/>
                <a:cs typeface="David" panose="020E0502060401010101" pitchFamily="34" charset="-79"/>
              </a:rPr>
              <a:t>ָ זֶה, וְהוֹשַׁעְתָּ אֶת-יִשְׂרָאֵל מִכַּף מִדְיָן:  הֲלֹא, שְׁלַחְתִּיךָ.  </a:t>
            </a:r>
            <a:endParaRPr lang="he-IL" sz="3200" dirty="0" smtClean="0">
              <a:latin typeface="David" panose="020E0502060401010101" pitchFamily="34" charset="-79"/>
              <a:cs typeface="David" panose="020E0502060401010101" pitchFamily="34" charset="-79"/>
            </a:endParaRPr>
          </a:p>
          <a:p>
            <a:r>
              <a:rPr lang="he-IL" sz="3200" b="1" u="sng" dirty="0" smtClean="0">
                <a:latin typeface="David" panose="020E0502060401010101" pitchFamily="34" charset="-79"/>
                <a:cs typeface="David" panose="020E0502060401010101" pitchFamily="34" charset="-79"/>
              </a:rPr>
              <a:t>טו</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וַיֹּאמֶר אֵלָיו בִּי אֲדֹנָי, בַּמָּה אוֹשִׁיעַ אֶת-יִשְׂרָאֵל; </a:t>
            </a:r>
            <a:r>
              <a:rPr lang="he-IL" sz="3200" b="1" dirty="0">
                <a:latin typeface="David" panose="020E0502060401010101" pitchFamily="34" charset="-79"/>
                <a:cs typeface="David" panose="020E0502060401010101" pitchFamily="34" charset="-79"/>
              </a:rPr>
              <a:t>הִנֵּה אַלְפִּי הַדַּל בִּמְנַשֶּׁה</a:t>
            </a:r>
            <a:r>
              <a:rPr lang="he-IL" sz="3200" dirty="0">
                <a:latin typeface="David" panose="020E0502060401010101" pitchFamily="34" charset="-79"/>
                <a:cs typeface="David" panose="020E0502060401010101" pitchFamily="34" charset="-79"/>
              </a:rPr>
              <a:t>, וְאָנֹכִי הַצָּעִיר בְּבֵית אָבִי.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טז</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וַיֹּאמֶר אֵלָיו יְהוָה, כִּי אֶהְיֶה עִמָּךְ; וְהִכִּיתָ אֶת-מִדְיָן, כְּאִישׁ אֶחָד.</a:t>
            </a:r>
          </a:p>
        </p:txBody>
      </p:sp>
      <p:sp>
        <p:nvSpPr>
          <p:cNvPr id="3" name="TextBox 2"/>
          <p:cNvSpPr txBox="1"/>
          <p:nvPr/>
        </p:nvSpPr>
        <p:spPr>
          <a:xfrm>
            <a:off x="124692" y="263766"/>
            <a:ext cx="5563589" cy="6494085"/>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200" b="1" u="sng" dirty="0" smtClean="0">
                <a:latin typeface="David" panose="020E0502060401010101" pitchFamily="34" charset="-79"/>
                <a:cs typeface="David" panose="020E0502060401010101" pitchFamily="34" charset="-79"/>
              </a:rPr>
              <a:t>יד. </a:t>
            </a:r>
            <a:r>
              <a:rPr lang="he-IL" sz="3200" dirty="0" smtClean="0">
                <a:latin typeface="David" panose="020E0502060401010101" pitchFamily="34" charset="-79"/>
                <a:cs typeface="David" panose="020E0502060401010101" pitchFamily="34" charset="-79"/>
              </a:rPr>
              <a:t>פנה ה' בעצמו אל גדעון ואמר לו: לך </a:t>
            </a:r>
            <a:r>
              <a:rPr lang="he-IL" sz="3200" dirty="0" err="1" smtClean="0">
                <a:latin typeface="David" panose="020E0502060401010101" pitchFamily="34" charset="-79"/>
                <a:cs typeface="David" panose="020E0502060401010101" pitchFamily="34" charset="-79"/>
              </a:rPr>
              <a:t>בכח</a:t>
            </a:r>
            <a:r>
              <a:rPr lang="he-IL" sz="3200" dirty="0" smtClean="0">
                <a:latin typeface="David" panose="020E0502060401010101" pitchFamily="34" charset="-79"/>
                <a:cs typeface="David" panose="020E0502060401010101" pitchFamily="34" charset="-79"/>
              </a:rPr>
              <a:t> זה שלימדת זכות על ישראל, ותושיע את ישראל מיד מדיין, ואל תתעכב, לך ועשה השליחות.</a:t>
            </a:r>
          </a:p>
          <a:p>
            <a:r>
              <a:rPr lang="he-IL" sz="3200" b="1" u="sng" dirty="0" smtClean="0">
                <a:latin typeface="David" panose="020E0502060401010101" pitchFamily="34" charset="-79"/>
                <a:cs typeface="David" panose="020E0502060401010101" pitchFamily="34" charset="-79"/>
              </a:rPr>
              <a:t>טו</a:t>
            </a:r>
            <a:r>
              <a:rPr lang="he-IL" sz="3200" dirty="0" smtClean="0">
                <a:latin typeface="David" panose="020E0502060401010101" pitchFamily="34" charset="-79"/>
                <a:cs typeface="David" panose="020E0502060401010101" pitchFamily="34" charset="-79"/>
              </a:rPr>
              <a:t>. ואז פנה גדעון ואמר רגע, בבקשה ה', </a:t>
            </a:r>
            <a:r>
              <a:rPr lang="he-IL" sz="3200" b="1" dirty="0" smtClean="0">
                <a:latin typeface="David" panose="020E0502060401010101" pitchFamily="34" charset="-79"/>
                <a:cs typeface="David" panose="020E0502060401010101" pitchFamily="34" charset="-79"/>
              </a:rPr>
              <a:t>איך אביא ישועה  לעם ישראל</a:t>
            </a:r>
            <a:r>
              <a:rPr lang="he-IL" sz="3200" dirty="0" smtClean="0">
                <a:latin typeface="David" panose="020E0502060401010101" pitchFamily="34" charset="-79"/>
                <a:cs typeface="David" panose="020E0502060401010101" pitchFamily="34" charset="-79"/>
              </a:rPr>
              <a:t>? הרי משפחתי </a:t>
            </a:r>
            <a:r>
              <a:rPr lang="he-IL" sz="3200" b="1" dirty="0" smtClean="0">
                <a:latin typeface="David" panose="020E0502060401010101" pitchFamily="34" charset="-79"/>
                <a:cs typeface="David" panose="020E0502060401010101" pitchFamily="34" charset="-79"/>
              </a:rPr>
              <a:t>מהמועטות</a:t>
            </a:r>
            <a:r>
              <a:rPr lang="he-IL" sz="3200" dirty="0" smtClean="0">
                <a:latin typeface="David" panose="020E0502060401010101" pitchFamily="34" charset="-79"/>
                <a:cs typeface="David" panose="020E0502060401010101" pitchFamily="34" charset="-79"/>
              </a:rPr>
              <a:t> בשבט מנשה, ואני הקטן והפחות חשוב במשפחתי, אז מי יבוא ויצטרף אלי?</a:t>
            </a:r>
          </a:p>
          <a:p>
            <a:r>
              <a:rPr lang="he-IL" sz="3200" b="1" u="sng" dirty="0" err="1" smtClean="0">
                <a:latin typeface="David" panose="020E0502060401010101" pitchFamily="34" charset="-79"/>
                <a:cs typeface="David" panose="020E0502060401010101" pitchFamily="34" charset="-79"/>
              </a:rPr>
              <a:t>טז</a:t>
            </a:r>
            <a:r>
              <a:rPr lang="he-IL" sz="3200" dirty="0" smtClean="0">
                <a:latin typeface="David" panose="020E0502060401010101" pitchFamily="34" charset="-79"/>
                <a:cs typeface="David" panose="020E0502060401010101" pitchFamily="34" charset="-79"/>
              </a:rPr>
              <a:t>. </a:t>
            </a:r>
            <a:r>
              <a:rPr lang="he-IL" sz="3200" b="1" u="sng" dirty="0" smtClean="0">
                <a:latin typeface="David" panose="020E0502060401010101" pitchFamily="34" charset="-79"/>
                <a:cs typeface="David" panose="020E0502060401010101" pitchFamily="34" charset="-79"/>
              </a:rPr>
              <a:t>ענה לו ה': </a:t>
            </a:r>
            <a:r>
              <a:rPr lang="he-IL" sz="3200" dirty="0" smtClean="0">
                <a:latin typeface="David" panose="020E0502060401010101" pitchFamily="34" charset="-79"/>
                <a:cs typeface="David" panose="020E0502060401010101" pitchFamily="34" charset="-79"/>
              </a:rPr>
              <a:t>תוכל לצאת ולהושיע את ישראל כי אני אהיה בעזרתך וכולם יצטרפו אליך, ותנצח את מדיין במהרה ובקלות.</a:t>
            </a:r>
            <a:endParaRPr lang="he-IL" sz="3200" dirty="0">
              <a:latin typeface="David" panose="020E0502060401010101" pitchFamily="34" charset="-79"/>
              <a:cs typeface="David" panose="020E0502060401010101" pitchFamily="34" charset="-79"/>
            </a:endParaRPr>
          </a:p>
        </p:txBody>
      </p:sp>
      <p:pic>
        <p:nvPicPr>
          <p:cNvPr id="4" name="תמונה 3"/>
          <p:cNvPicPr>
            <a:picLocks noChangeAspect="1"/>
          </p:cNvPicPr>
          <p:nvPr/>
        </p:nvPicPr>
        <p:blipFill>
          <a:blip r:embed="rId2"/>
          <a:stretch>
            <a:fillRect/>
          </a:stretch>
        </p:blipFill>
        <p:spPr>
          <a:xfrm>
            <a:off x="7634780" y="263766"/>
            <a:ext cx="4434981" cy="4913876"/>
          </a:xfrm>
          <a:prstGeom prst="rect">
            <a:avLst/>
          </a:prstGeom>
        </p:spPr>
      </p:pic>
    </p:spTree>
    <p:extLst>
      <p:ext uri="{BB962C8B-B14F-4D97-AF65-F5344CB8AC3E}">
        <p14:creationId xmlns:p14="http://schemas.microsoft.com/office/powerpoint/2010/main" val="400110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circle(in)">
                                      <p:cBhvr>
                                        <p:cTn id="19" dur="2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7" y="260627"/>
            <a:ext cx="5684321" cy="6555641"/>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יז</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פנה גדעון למלאך וביקש: אם ראוי אני לפניך, הראה לי מופת סימן שאתה שלוח אלי מאת 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b="1" u="sng" dirty="0" err="1" smtClean="0">
                <a:solidFill>
                  <a:prstClr val="black"/>
                </a:solidFill>
                <a:latin typeface="David" panose="020E0502060401010101" pitchFamily="34" charset="-79"/>
                <a:cs typeface="David" panose="020E0502060401010101" pitchFamily="34" charset="-79"/>
              </a:rPr>
              <a:t>יח</a:t>
            </a:r>
            <a:r>
              <a:rPr lang="he-IL" sz="2800" dirty="0" smtClean="0">
                <a:solidFill>
                  <a:prstClr val="black"/>
                </a:solidFill>
                <a:latin typeface="David" panose="020E0502060401010101" pitchFamily="34" charset="-79"/>
                <a:cs typeface="David" panose="020E0502060401010101" pitchFamily="34" charset="-79"/>
              </a:rPr>
              <a:t>. המשיך גדעון ואמר- בבקשה המתן ואל תלך מפה עד שאשוב אליך ואגיש את מנחתי ואניחה לפניך שתיקח מידי כמו עולה ומנחה וזה יהיה בידי לאות כי עם אלוקים דיברתי. ענה המלאך אני ממתין עד שתחזור.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יט</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גדעון בא לביתו והכין גדי עיזים ולש מידת בת שלוש </a:t>
            </a:r>
            <a:r>
              <a:rPr kumimoji="0" lang="he-IL" sz="2800" b="0"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סאין</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של קמח ואפה מהם מצות (כי היה זה בימי הפסח) את הבשר שהכין שם בסל ואת המרק הרוטב</a:t>
            </a:r>
            <a:r>
              <a:rPr kumimoji="0" lang="he-IL" sz="28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שם בסיר מנחושת, והוציא גדעון כל זה אל תחת האלה והגיש לה' את המנחה.</a:t>
            </a: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5" name="מלבן 4"/>
          <p:cNvSpPr/>
          <p:nvPr/>
        </p:nvSpPr>
        <p:spPr>
          <a:xfrm>
            <a:off x="5969330" y="106248"/>
            <a:ext cx="6096000" cy="3539430"/>
          </a:xfrm>
          <a:prstGeom prst="rect">
            <a:avLst/>
          </a:prstGeom>
          <a:solidFill>
            <a:schemeClr val="accent4"/>
          </a:solidFill>
        </p:spPr>
        <p:txBody>
          <a:bodyPr>
            <a:spAutoFit/>
          </a:bodyPr>
          <a:lstStyle/>
          <a:p>
            <a:r>
              <a:rPr lang="he-IL" sz="2800" b="1" u="sng" dirty="0" err="1">
                <a:latin typeface="David" panose="020E0502060401010101" pitchFamily="34" charset="-79"/>
                <a:cs typeface="David" panose="020E0502060401010101" pitchFamily="34" charset="-79"/>
              </a:rPr>
              <a:t>יז</a:t>
            </a:r>
            <a:r>
              <a:rPr lang="he-IL" sz="2800" dirty="0">
                <a:latin typeface="David" panose="020E0502060401010101" pitchFamily="34" charset="-79"/>
                <a:cs typeface="David" panose="020E0502060401010101" pitchFamily="34" charset="-79"/>
              </a:rPr>
              <a:t> וַיֹּאמֶר אֵלָיו, אִם-נָא מָצָאתִי חֵן בְּעֵינֶיךָ; </a:t>
            </a:r>
            <a:r>
              <a:rPr lang="he-IL" sz="2800" b="1" dirty="0">
                <a:latin typeface="David" panose="020E0502060401010101" pitchFamily="34" charset="-79"/>
                <a:cs typeface="David" panose="020E0502060401010101" pitchFamily="34" charset="-79"/>
              </a:rPr>
              <a:t>וְעָשִׂיתָ לִּי אוֹת</a:t>
            </a:r>
            <a:r>
              <a:rPr lang="he-IL" sz="2800" dirty="0">
                <a:latin typeface="David" panose="020E0502060401010101" pitchFamily="34" charset="-79"/>
                <a:cs typeface="David" panose="020E0502060401010101" pitchFamily="34" charset="-79"/>
              </a:rPr>
              <a:t>, שָׁאַתָּה מְדַבֵּר עִמִּי.  </a:t>
            </a:r>
            <a:endParaRPr lang="he-IL" sz="2800" dirty="0" smtClean="0">
              <a:latin typeface="David" panose="020E0502060401010101" pitchFamily="34" charset="-79"/>
              <a:cs typeface="David" panose="020E0502060401010101" pitchFamily="34" charset="-79"/>
            </a:endParaRPr>
          </a:p>
          <a:p>
            <a:r>
              <a:rPr lang="he-IL" sz="2800" b="1" u="sng" dirty="0" err="1" smtClean="0">
                <a:latin typeface="David" panose="020E0502060401010101" pitchFamily="34" charset="-79"/>
                <a:cs typeface="David" panose="020E0502060401010101" pitchFamily="34" charset="-79"/>
              </a:rPr>
              <a:t>יח</a:t>
            </a:r>
            <a:r>
              <a:rPr lang="he-IL" sz="2800" dirty="0" smtClean="0">
                <a:latin typeface="David" panose="020E0502060401010101" pitchFamily="34" charset="-79"/>
                <a:cs typeface="David" panose="020E0502060401010101" pitchFamily="34" charset="-79"/>
              </a:rPr>
              <a:t> </a:t>
            </a:r>
            <a:r>
              <a:rPr lang="he-IL" sz="2800" b="1" dirty="0">
                <a:latin typeface="David" panose="020E0502060401010101" pitchFamily="34" charset="-79"/>
                <a:cs typeface="David" panose="020E0502060401010101" pitchFamily="34" charset="-79"/>
              </a:rPr>
              <a:t>אַל-נָא </a:t>
            </a:r>
            <a:r>
              <a:rPr lang="he-IL" sz="2800" b="1" dirty="0" err="1">
                <a:latin typeface="David" panose="020E0502060401010101" pitchFamily="34" charset="-79"/>
                <a:cs typeface="David" panose="020E0502060401010101" pitchFamily="34" charset="-79"/>
              </a:rPr>
              <a:t>תָמֻש</a:t>
            </a:r>
            <a:r>
              <a:rPr lang="he-IL" sz="2800" b="1" dirty="0">
                <a:latin typeface="David" panose="020E0502060401010101" pitchFamily="34" charset="-79"/>
                <a:cs typeface="David" panose="020E0502060401010101" pitchFamily="34" charset="-79"/>
              </a:rPr>
              <a:t>ׁ מִזֶּה</a:t>
            </a:r>
            <a:r>
              <a:rPr lang="he-IL" sz="2800" dirty="0">
                <a:latin typeface="David" panose="020E0502060401010101" pitchFamily="34" charset="-79"/>
                <a:cs typeface="David" panose="020E0502060401010101" pitchFamily="34" charset="-79"/>
              </a:rPr>
              <a:t>, עַד-בֹּאִי אֵלֶיךָ, </a:t>
            </a:r>
            <a:r>
              <a:rPr lang="he-IL" sz="2800" dirty="0" err="1">
                <a:latin typeface="David" panose="020E0502060401010101" pitchFamily="34" charset="-79"/>
                <a:cs typeface="David" panose="020E0502060401010101" pitchFamily="34" charset="-79"/>
              </a:rPr>
              <a:t>וְהֹצֵאתִי</a:t>
            </a:r>
            <a:r>
              <a:rPr lang="he-IL" sz="2800" dirty="0">
                <a:latin typeface="David" panose="020E0502060401010101" pitchFamily="34" charset="-79"/>
                <a:cs typeface="David" panose="020E0502060401010101" pitchFamily="34" charset="-79"/>
              </a:rPr>
              <a:t> אֶת-מִנְחָתִי, וְהִנַּחְתִּי לְפָנֶיךָ; וַיֹּאמַר, אָנֹכִי אֵשֵׁב עַד שׁוּבֶךָ.  </a:t>
            </a:r>
            <a:endParaRPr lang="he-IL" sz="2800" dirty="0" smtClean="0">
              <a:latin typeface="David" panose="020E0502060401010101" pitchFamily="34" charset="-79"/>
              <a:cs typeface="David" panose="020E0502060401010101" pitchFamily="34" charset="-79"/>
            </a:endParaRPr>
          </a:p>
          <a:p>
            <a:r>
              <a:rPr lang="he-IL" sz="2800" b="1" u="sng" dirty="0" err="1" smtClean="0">
                <a:latin typeface="David" panose="020E0502060401010101" pitchFamily="34" charset="-79"/>
                <a:cs typeface="David" panose="020E0502060401010101" pitchFamily="34" charset="-79"/>
              </a:rPr>
              <a:t>יט</a:t>
            </a:r>
            <a:r>
              <a:rPr lang="he-IL" sz="2800" dirty="0" smtClean="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וְגִדְעוֹן בָּא, וַיַּעַשׂ </a:t>
            </a:r>
            <a:r>
              <a:rPr lang="he-IL" sz="2800" b="1" dirty="0">
                <a:latin typeface="David" panose="020E0502060401010101" pitchFamily="34" charset="-79"/>
                <a:cs typeface="David" panose="020E0502060401010101" pitchFamily="34" charset="-79"/>
              </a:rPr>
              <a:t>גְּדִי-עִזִּים וְאֵיפַת-קֶמַח מַצּוֹת, הַבָּשָׂר שָׂם בַּסַּל, וְהַמָּרַק שָׂם בַּפָּרוּר</a:t>
            </a:r>
            <a:r>
              <a:rPr lang="he-IL" sz="2800" dirty="0">
                <a:latin typeface="David" panose="020E0502060401010101" pitchFamily="34" charset="-79"/>
                <a:cs typeface="David" panose="020E0502060401010101" pitchFamily="34" charset="-79"/>
              </a:rPr>
              <a:t>; וַיּוֹצֵא אֵלָיו אֶל-תַּחַת הָאֵלָה, </a:t>
            </a:r>
            <a:r>
              <a:rPr lang="he-IL" sz="2800" dirty="0" err="1">
                <a:latin typeface="David" panose="020E0502060401010101" pitchFamily="34" charset="-79"/>
                <a:cs typeface="David" panose="020E0502060401010101" pitchFamily="34" charset="-79"/>
              </a:rPr>
              <a:t>וַיַּגַּש</a:t>
            </a:r>
            <a:r>
              <a:rPr lang="he-IL" sz="2800" dirty="0">
                <a:latin typeface="David" panose="020E0502060401010101" pitchFamily="34" charset="-79"/>
                <a:cs typeface="David" panose="020E0502060401010101" pitchFamily="34" charset="-79"/>
              </a:rPr>
              <a:t>ׁ.</a:t>
            </a:r>
          </a:p>
        </p:txBody>
      </p:sp>
      <p:pic>
        <p:nvPicPr>
          <p:cNvPr id="6" name="תמונה 5"/>
          <p:cNvPicPr>
            <a:picLocks noChangeAspect="1"/>
          </p:cNvPicPr>
          <p:nvPr/>
        </p:nvPicPr>
        <p:blipFill>
          <a:blip r:embed="rId3">
            <a:extLst>
              <a:ext uri="{BEBA8EAE-BF5A-486C-A8C5-ECC9F3942E4B}">
                <a14:imgProps xmlns:a14="http://schemas.microsoft.com/office/drawing/2010/main">
                  <a14:imgLayer r:embed="rId4">
                    <a14:imgEffect>
                      <a14:backgroundRemoval t="1923" b="89904" l="0" r="99587"/>
                    </a14:imgEffect>
                  </a14:imgLayer>
                </a14:imgProps>
              </a:ext>
            </a:extLst>
          </a:blip>
          <a:stretch>
            <a:fillRect/>
          </a:stretch>
        </p:blipFill>
        <p:spPr>
          <a:xfrm>
            <a:off x="5969330" y="3827812"/>
            <a:ext cx="3200819" cy="2751117"/>
          </a:xfrm>
          <a:prstGeom prst="rect">
            <a:avLst/>
          </a:prstGeom>
        </p:spPr>
      </p:pic>
      <p:pic>
        <p:nvPicPr>
          <p:cNvPr id="8" name="תמונה 7"/>
          <p:cNvPicPr>
            <a:picLocks noChangeAspect="1"/>
          </p:cNvPicPr>
          <p:nvPr/>
        </p:nvPicPr>
        <p:blipFill>
          <a:blip r:embed="rId5">
            <a:extLst>
              <a:ext uri="{BEBA8EAE-BF5A-486C-A8C5-ECC9F3942E4B}">
                <a14:imgProps xmlns:a14="http://schemas.microsoft.com/office/drawing/2010/main">
                  <a14:imgLayer r:embed="rId6">
                    <a14:imgEffect>
                      <a14:backgroundRemoval t="0" b="98182" l="0" r="100000"/>
                    </a14:imgEffect>
                  </a14:imgLayer>
                </a14:imgProps>
              </a:ext>
            </a:extLst>
          </a:blip>
          <a:stretch>
            <a:fillRect/>
          </a:stretch>
        </p:blipFill>
        <p:spPr>
          <a:xfrm>
            <a:off x="9277350" y="4017941"/>
            <a:ext cx="2914650" cy="1571625"/>
          </a:xfrm>
          <a:prstGeom prst="rect">
            <a:avLst/>
          </a:prstGeom>
        </p:spPr>
      </p:pic>
      <p:pic>
        <p:nvPicPr>
          <p:cNvPr id="9" name="תמונה 8"/>
          <p:cNvPicPr>
            <a:picLocks noChangeAspect="1"/>
          </p:cNvPicPr>
          <p:nvPr/>
        </p:nvPicPr>
        <p:blipFill>
          <a:blip r:embed="rId7">
            <a:extLst>
              <a:ext uri="{BEBA8EAE-BF5A-486C-A8C5-ECC9F3942E4B}">
                <a14:imgProps xmlns:a14="http://schemas.microsoft.com/office/drawing/2010/main">
                  <a14:imgLayer r:embed="rId8">
                    <a14:imgEffect>
                      <a14:backgroundRemoval t="27111" b="100000" l="0" r="98667"/>
                    </a14:imgEffect>
                  </a14:imgLayer>
                </a14:imgProps>
              </a:ext>
            </a:extLst>
          </a:blip>
          <a:stretch>
            <a:fillRect/>
          </a:stretch>
        </p:blipFill>
        <p:spPr>
          <a:xfrm>
            <a:off x="8152187" y="4617938"/>
            <a:ext cx="2143125" cy="2143125"/>
          </a:xfrm>
          <a:prstGeom prst="rect">
            <a:avLst/>
          </a:prstGeom>
        </p:spPr>
      </p:pic>
    </p:spTree>
    <p:extLst>
      <p:ext uri="{BB962C8B-B14F-4D97-AF65-F5344CB8AC3E}">
        <p14:creationId xmlns:p14="http://schemas.microsoft.com/office/powerpoint/2010/main" val="1869412980"/>
      </p:ext>
    </p:extLst>
  </p:cSld>
  <p:clrMapOvr>
    <a:masterClrMapping/>
  </p:clrMapOvr>
  <mc:AlternateContent xmlns:mc="http://schemas.openxmlformats.org/markup-compatibility/2006">
    <mc:Choice xmlns:p14="http://schemas.microsoft.com/office/powerpoint/2010/main" Requires="p14">
      <p:transition spd="slow" p14:dur="1600">
        <p14:conveyor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wipe(down)">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7" y="260627"/>
            <a:ext cx="5644737" cy="4524315"/>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כ</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אמר המלאך לגדעון-</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קח את הבשר והמצות ותניח אותם בבקשה על הסלע הגדול שנמצא ממול, ואת המרק תשפוך עליהם. וגדעון עשה כך.</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dirty="0" err="1" smtClean="0">
                <a:solidFill>
                  <a:prstClr val="black"/>
                </a:solidFill>
                <a:latin typeface="David" panose="020E0502060401010101" pitchFamily="34" charset="-79"/>
                <a:cs typeface="David" panose="020E0502060401010101" pitchFamily="34" charset="-79"/>
              </a:rPr>
              <a:t>כא</a:t>
            </a:r>
            <a:r>
              <a:rPr lang="he-IL" sz="3200" dirty="0" smtClean="0">
                <a:solidFill>
                  <a:prstClr val="black"/>
                </a:solidFill>
                <a:latin typeface="David" panose="020E0502060401010101" pitchFamily="34" charset="-79"/>
                <a:cs typeface="David" panose="020E0502060401010101" pitchFamily="34" charset="-79"/>
              </a:rPr>
              <a:t>. </a:t>
            </a:r>
            <a:r>
              <a:rPr lang="he-IL" sz="3200" b="1" dirty="0" smtClean="0">
                <a:solidFill>
                  <a:prstClr val="black"/>
                </a:solidFill>
                <a:latin typeface="David" panose="020E0502060401010101" pitchFamily="34" charset="-79"/>
                <a:cs typeface="David" panose="020E0502060401010101" pitchFamily="34" charset="-79"/>
              </a:rPr>
              <a:t>והושיט המלאך את קצה המקל הליכה </a:t>
            </a:r>
            <a:r>
              <a:rPr lang="he-IL" sz="3200" dirty="0" smtClean="0">
                <a:solidFill>
                  <a:prstClr val="black"/>
                </a:solidFill>
                <a:latin typeface="David" panose="020E0502060401010101" pitchFamily="34" charset="-79"/>
                <a:cs typeface="David" panose="020E0502060401010101" pitchFamily="34" charset="-79"/>
              </a:rPr>
              <a:t>שהחזיק בידו ונגע בבשר ובמצות ויצאה אש מהסלע ושרפה את הבשר ואת המצות , ומלאך ה' נעלם ממנו ולא ראהו. </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6004956" y="126483"/>
            <a:ext cx="6096000" cy="4031873"/>
          </a:xfrm>
          <a:prstGeom prst="rect">
            <a:avLst/>
          </a:prstGeom>
          <a:solidFill>
            <a:schemeClr val="accent6">
              <a:lumMod val="60000"/>
              <a:lumOff val="40000"/>
            </a:schemeClr>
          </a:solidFill>
        </p:spPr>
        <p:txBody>
          <a:bodyPr>
            <a:spAutoFit/>
          </a:bodyPr>
          <a:lstStyle/>
          <a:p>
            <a:r>
              <a:rPr lang="he-IL" sz="3200" b="1" u="sng" dirty="0">
                <a:latin typeface="David" panose="020E0502060401010101" pitchFamily="34" charset="-79"/>
                <a:cs typeface="David" panose="020E0502060401010101" pitchFamily="34" charset="-79"/>
              </a:rPr>
              <a:t>כ</a:t>
            </a:r>
            <a:r>
              <a:rPr lang="he-IL" sz="3200" dirty="0">
                <a:latin typeface="David" panose="020E0502060401010101" pitchFamily="34" charset="-79"/>
                <a:cs typeface="David" panose="020E0502060401010101" pitchFamily="34" charset="-79"/>
              </a:rPr>
              <a:t> וַיֹּאמֶר אֵלָיו מַלְאַךְ </a:t>
            </a:r>
            <a:r>
              <a:rPr lang="he-IL" sz="3200" dirty="0" err="1">
                <a:latin typeface="David" panose="020E0502060401010101" pitchFamily="34" charset="-79"/>
                <a:cs typeface="David" panose="020E0502060401010101" pitchFamily="34" charset="-79"/>
              </a:rPr>
              <a:t>הָאֱלֹהִים</a:t>
            </a:r>
            <a:r>
              <a:rPr lang="he-IL" sz="3200" dirty="0">
                <a:latin typeface="David" panose="020E0502060401010101" pitchFamily="34" charset="-79"/>
                <a:cs typeface="David" panose="020E0502060401010101" pitchFamily="34" charset="-79"/>
              </a:rPr>
              <a:t>, קַח אֶת-הַבָּשָׂר וְאֶת-הַמַּצּוֹת וְהַנַּח אֶל-הַסֶּלַע הַלָּז, וְאֶת-הַמָּרַק, שְׁפוֹךְ; וַיַּעַשׂ, כֵּן.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כא</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וַיִּשְׁלַח מַלְאַךְ יְהוָה, </a:t>
            </a:r>
            <a:r>
              <a:rPr lang="he-IL" sz="3200" b="1" dirty="0">
                <a:latin typeface="David" panose="020E0502060401010101" pitchFamily="34" charset="-79"/>
                <a:cs typeface="David" panose="020E0502060401010101" pitchFamily="34" charset="-79"/>
              </a:rPr>
              <a:t>אֶת-קְצֵה הַמִּשְׁעֶנֶת אֲשֶׁר בְּיָדוֹ</a:t>
            </a:r>
            <a:r>
              <a:rPr lang="he-IL" sz="3200" dirty="0">
                <a:latin typeface="David" panose="020E0502060401010101" pitchFamily="34" charset="-79"/>
                <a:cs typeface="David" panose="020E0502060401010101" pitchFamily="34" charset="-79"/>
              </a:rPr>
              <a:t>, וַיִּגַּע בַּבָּשָׂר, וּבַמַּצּוֹת; וַתַּעַל הָאֵשׁ מִן-הַצּוּר, וַתֹּאכַל אֶת-הַבָּשָׂר וְאֶת-הַמַּצּוֹת, </a:t>
            </a:r>
            <a:r>
              <a:rPr lang="he-IL" sz="3200" b="1" dirty="0">
                <a:latin typeface="David" panose="020E0502060401010101" pitchFamily="34" charset="-79"/>
                <a:cs typeface="David" panose="020E0502060401010101" pitchFamily="34" charset="-79"/>
              </a:rPr>
              <a:t>וּמַלְאַךְ יְהוָה, הָלַךְ מֵעֵינָיו.</a:t>
            </a:r>
          </a:p>
        </p:txBody>
      </p:sp>
      <p:pic>
        <p:nvPicPr>
          <p:cNvPr id="4" name="תמונה 3"/>
          <p:cNvPicPr>
            <a:picLocks noChangeAspect="1"/>
          </p:cNvPicPr>
          <p:nvPr/>
        </p:nvPicPr>
        <p:blipFill>
          <a:blip r:embed="rId3">
            <a:extLst>
              <a:ext uri="{BEBA8EAE-BF5A-486C-A8C5-ECC9F3942E4B}">
                <a14:imgProps xmlns:a14="http://schemas.microsoft.com/office/drawing/2010/main">
                  <a14:imgLayer r:embed="rId4">
                    <a14:imgEffect>
                      <a14:backgroundRemoval t="0" b="99405" l="10000" r="90000"/>
                    </a14:imgEffect>
                  </a14:imgLayer>
                </a14:imgProps>
              </a:ext>
            </a:extLst>
          </a:blip>
          <a:stretch>
            <a:fillRect/>
          </a:stretch>
        </p:blipFill>
        <p:spPr>
          <a:xfrm>
            <a:off x="4707709" y="4824922"/>
            <a:ext cx="7131990" cy="2073058"/>
          </a:xfrm>
          <a:prstGeom prst="rect">
            <a:avLst/>
          </a:prstGeom>
        </p:spPr>
      </p:pic>
      <p:pic>
        <p:nvPicPr>
          <p:cNvPr id="5" name="תמונה 4"/>
          <p:cNvPicPr>
            <a:picLocks noChangeAspect="1"/>
          </p:cNvPicPr>
          <p:nvPr/>
        </p:nvPicPr>
        <p:blipFill>
          <a:blip r:embed="rId5">
            <a:extLst>
              <a:ext uri="{BEBA8EAE-BF5A-486C-A8C5-ECC9F3942E4B}">
                <a14:imgProps xmlns:a14="http://schemas.microsoft.com/office/drawing/2010/main">
                  <a14:imgLayer r:embed="rId6">
                    <a14:imgEffect>
                      <a14:backgroundRemoval t="1031" b="97938" l="9653" r="89575"/>
                    </a14:imgEffect>
                  </a14:imgLayer>
                </a14:imgProps>
              </a:ext>
            </a:extLst>
          </a:blip>
          <a:stretch>
            <a:fillRect/>
          </a:stretch>
        </p:blipFill>
        <p:spPr>
          <a:xfrm>
            <a:off x="6345508" y="3973621"/>
            <a:ext cx="2466975" cy="1847850"/>
          </a:xfrm>
          <a:prstGeom prst="rect">
            <a:avLst/>
          </a:prstGeom>
        </p:spPr>
      </p:pic>
      <p:pic>
        <p:nvPicPr>
          <p:cNvPr id="6" name="תמונה 5"/>
          <p:cNvPicPr>
            <a:picLocks noChangeAspect="1"/>
          </p:cNvPicPr>
          <p:nvPr/>
        </p:nvPicPr>
        <p:blipFill>
          <a:blip r:embed="rId7">
            <a:extLst>
              <a:ext uri="{BEBA8EAE-BF5A-486C-A8C5-ECC9F3942E4B}">
                <a14:imgProps xmlns:a14="http://schemas.microsoft.com/office/drawing/2010/main">
                  <a14:imgLayer r:embed="rId8">
                    <a14:imgEffect>
                      <a14:backgroundRemoval t="0" b="98361" l="727" r="98182"/>
                    </a14:imgEffect>
                  </a14:imgLayer>
                </a14:imgProps>
              </a:ext>
            </a:extLst>
          </a:blip>
          <a:stretch>
            <a:fillRect/>
          </a:stretch>
        </p:blipFill>
        <p:spPr>
          <a:xfrm>
            <a:off x="8068979" y="4158356"/>
            <a:ext cx="2619375" cy="1743075"/>
          </a:xfrm>
          <a:prstGeom prst="rect">
            <a:avLst/>
          </a:prstGeom>
        </p:spPr>
      </p:pic>
      <p:pic>
        <p:nvPicPr>
          <p:cNvPr id="7" name="תמונה 6"/>
          <p:cNvPicPr>
            <a:picLocks noChangeAspect="1"/>
          </p:cNvPicPr>
          <p:nvPr/>
        </p:nvPicPr>
        <p:blipFill>
          <a:blip r:embed="rId9">
            <a:extLst>
              <a:ext uri="{BEBA8EAE-BF5A-486C-A8C5-ECC9F3942E4B}">
                <a14:imgProps xmlns:a14="http://schemas.microsoft.com/office/drawing/2010/main">
                  <a14:imgLayer r:embed="rId10">
                    <a14:imgEffect>
                      <a14:backgroundRemoval t="0" b="53282" l="0" r="99485"/>
                    </a14:imgEffect>
                  </a14:imgLayer>
                </a14:imgProps>
              </a:ext>
            </a:extLst>
          </a:blip>
          <a:stretch>
            <a:fillRect/>
          </a:stretch>
        </p:blipFill>
        <p:spPr>
          <a:xfrm>
            <a:off x="8114190" y="3551454"/>
            <a:ext cx="1847850" cy="2466975"/>
          </a:xfrm>
          <a:prstGeom prst="rect">
            <a:avLst/>
          </a:prstGeom>
        </p:spPr>
      </p:pic>
      <p:pic>
        <p:nvPicPr>
          <p:cNvPr id="8" name="תמונה 7"/>
          <p:cNvPicPr>
            <a:picLocks noChangeAspect="1"/>
          </p:cNvPicPr>
          <p:nvPr/>
        </p:nvPicPr>
        <p:blipFill>
          <a:blip r:embed="rId11">
            <a:extLst>
              <a:ext uri="{BEBA8EAE-BF5A-486C-A8C5-ECC9F3942E4B}">
                <a14:imgProps xmlns:a14="http://schemas.microsoft.com/office/drawing/2010/main">
                  <a14:imgLayer r:embed="rId12">
                    <a14:imgEffect>
                      <a14:backgroundRemoval t="4527" b="97119" l="1205" r="95663"/>
                    </a14:imgEffect>
                  </a14:imgLayer>
                </a14:imgProps>
              </a:ext>
            </a:extLst>
          </a:blip>
          <a:stretch>
            <a:fillRect/>
          </a:stretch>
        </p:blipFill>
        <p:spPr>
          <a:xfrm>
            <a:off x="4320829" y="4045150"/>
            <a:ext cx="3952875" cy="2314575"/>
          </a:xfrm>
          <a:prstGeom prst="rect">
            <a:avLst/>
          </a:prstGeom>
        </p:spPr>
      </p:pic>
      <p:pic>
        <p:nvPicPr>
          <p:cNvPr id="9" name="תמונה 8"/>
          <p:cNvPicPr>
            <a:picLocks noChangeAspect="1"/>
          </p:cNvPicPr>
          <p:nvPr/>
        </p:nvPicPr>
        <p:blipFill>
          <a:blip r:embed="rId13">
            <a:extLst>
              <a:ext uri="{BEBA8EAE-BF5A-486C-A8C5-ECC9F3942E4B}">
                <a14:imgProps xmlns:a14="http://schemas.microsoft.com/office/drawing/2010/main">
                  <a14:imgLayer r:embed="rId14">
                    <a14:imgEffect>
                      <a14:backgroundRemoval t="0" b="100000" l="0" r="97778"/>
                    </a14:imgEffect>
                  </a14:imgLayer>
                </a14:imgProps>
              </a:ext>
            </a:extLst>
          </a:blip>
          <a:stretch>
            <a:fillRect/>
          </a:stretch>
        </p:blipFill>
        <p:spPr>
          <a:xfrm>
            <a:off x="6004957" y="3185018"/>
            <a:ext cx="4530998" cy="2143125"/>
          </a:xfrm>
          <a:prstGeom prst="rect">
            <a:avLst/>
          </a:prstGeom>
        </p:spPr>
      </p:pic>
    </p:spTree>
    <p:extLst>
      <p:ext uri="{BB962C8B-B14F-4D97-AF65-F5344CB8AC3E}">
        <p14:creationId xmlns:p14="http://schemas.microsoft.com/office/powerpoint/2010/main" val="415401877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inVertical)">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circle(in)">
                                      <p:cBhvr>
                                        <p:cTn id="4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87087" y="164363"/>
            <a:ext cx="5529942" cy="6001643"/>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כב</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אז הבין גדעון שמי שדיבר אתו היה מלאך</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ה' שראה שיצאה אש ואכלה את מנחתו, אמר גדעון: מה יקרה לי? ה' שליט העולם שהרי פגשתי מלאך ה' ודיברתי אתו כשהוא מולי. וירא אני שמא אמות.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baseline="0" dirty="0" err="1" smtClean="0">
                <a:solidFill>
                  <a:prstClr val="black"/>
                </a:solidFill>
                <a:latin typeface="David" panose="020E0502060401010101" pitchFamily="34" charset="-79"/>
                <a:cs typeface="David" panose="020E0502060401010101" pitchFamily="34" charset="-79"/>
              </a:rPr>
              <a:t>כג</a:t>
            </a:r>
            <a:r>
              <a:rPr lang="he-IL" sz="3200" baseline="0" dirty="0" smtClean="0">
                <a:solidFill>
                  <a:prstClr val="black"/>
                </a:solidFill>
                <a:latin typeface="David" panose="020E0502060401010101" pitchFamily="34" charset="-79"/>
                <a:cs typeface="David" panose="020E0502060401010101" pitchFamily="34" charset="-79"/>
              </a:rPr>
              <a:t>.</a:t>
            </a:r>
            <a:r>
              <a:rPr lang="he-IL" sz="3200" dirty="0" smtClean="0">
                <a:solidFill>
                  <a:prstClr val="black"/>
                </a:solidFill>
                <a:latin typeface="David" panose="020E0502060401010101" pitchFamily="34" charset="-79"/>
                <a:cs typeface="David" panose="020E0502060401010101" pitchFamily="34" charset="-79"/>
              </a:rPr>
              <a:t> אמר לו ה' לגדעון: לא יקרה לך כלום, </a:t>
            </a:r>
            <a:r>
              <a:rPr lang="he-IL" sz="3200" b="1" dirty="0" smtClean="0">
                <a:solidFill>
                  <a:prstClr val="black"/>
                </a:solidFill>
                <a:latin typeface="David" panose="020E0502060401010101" pitchFamily="34" charset="-79"/>
                <a:cs typeface="David" panose="020E0502060401010101" pitchFamily="34" charset="-79"/>
              </a:rPr>
              <a:t>שלום לך </a:t>
            </a:r>
            <a:r>
              <a:rPr lang="he-IL" sz="3200" dirty="0" smtClean="0">
                <a:solidFill>
                  <a:prstClr val="black"/>
                </a:solidFill>
                <a:latin typeface="David" panose="020E0502060401010101" pitchFamily="34" charset="-79"/>
                <a:cs typeface="David" panose="020E0502060401010101" pitchFamily="34" charset="-79"/>
              </a:rPr>
              <a:t>אל תפחד- לא תמות.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כד</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אז בנה שם גדעון מזבח לכבוד ה' וקרא לו : ה' </a:t>
            </a:r>
            <a:r>
              <a:rPr kumimoji="0" lang="he-IL" sz="3200" b="0" i="0" u="none"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הבטחני</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שלום.</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ועד זמן כתיבת הספר עדיין נמצא המזבח בישוב עופרה שבנחלת אביעזר.</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5850577" y="150234"/>
            <a:ext cx="6096000" cy="4031873"/>
          </a:xfrm>
          <a:prstGeom prst="rect">
            <a:avLst/>
          </a:prstGeom>
          <a:blipFill>
            <a:blip r:embed="rId3"/>
            <a:tile tx="0" ty="0" sx="100000" sy="100000" flip="none" algn="tl"/>
          </a:blipFill>
        </p:spPr>
        <p:txBody>
          <a:bodyPr>
            <a:spAutoFit/>
          </a:bodyPr>
          <a:lstStyle/>
          <a:p>
            <a:r>
              <a:rPr lang="he-IL" sz="3200" b="1" u="sng" dirty="0" err="1">
                <a:latin typeface="David" panose="020E0502060401010101" pitchFamily="34" charset="-79"/>
                <a:cs typeface="David" panose="020E0502060401010101" pitchFamily="34" charset="-79"/>
              </a:rPr>
              <a:t>כב</a:t>
            </a:r>
            <a:r>
              <a:rPr lang="he-IL" sz="3200" dirty="0">
                <a:latin typeface="David" panose="020E0502060401010101" pitchFamily="34" charset="-79"/>
                <a:cs typeface="David" panose="020E0502060401010101" pitchFamily="34" charset="-79"/>
              </a:rPr>
              <a:t> וַיַּרְא גִּדְעוֹן, כִּי-מַלְאַךְ יְהוָה הוּא; וַיֹּאמֶר גִּדְעוֹן, אֲהָהּ אֲדֹנָי יְהוִה--כִּי-עַל-כֵּן רָאִיתִי </a:t>
            </a:r>
            <a:r>
              <a:rPr lang="he-IL" sz="3200" b="1" dirty="0">
                <a:latin typeface="David" panose="020E0502060401010101" pitchFamily="34" charset="-79"/>
                <a:cs typeface="David" panose="020E0502060401010101" pitchFamily="34" charset="-79"/>
              </a:rPr>
              <a:t>מַלְאַךְ יְהוָה, פָּנִים אֶל-פָּנִים</a:t>
            </a:r>
            <a:r>
              <a:rPr lang="he-IL" sz="3200" dirty="0">
                <a:latin typeface="David" panose="020E0502060401010101" pitchFamily="34" charset="-79"/>
                <a:cs typeface="David" panose="020E0502060401010101" pitchFamily="34" charset="-79"/>
              </a:rPr>
              <a:t>.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כג</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וַיֹּאמֶר לוֹ יְהוָה שָׁלוֹם לְךָ, אַל-תִּירָא:  לֹא, תָּמוּת.  </a:t>
            </a:r>
            <a:endParaRPr lang="he-IL" sz="3200" dirty="0" smtClean="0">
              <a:latin typeface="David" panose="020E0502060401010101" pitchFamily="34" charset="-79"/>
              <a:cs typeface="David" panose="020E0502060401010101" pitchFamily="34" charset="-79"/>
            </a:endParaRPr>
          </a:p>
          <a:p>
            <a:r>
              <a:rPr lang="he-IL" sz="3200" b="1" u="sng" dirty="0" smtClean="0">
                <a:latin typeface="David" panose="020E0502060401010101" pitchFamily="34" charset="-79"/>
                <a:cs typeface="David" panose="020E0502060401010101" pitchFamily="34" charset="-79"/>
              </a:rPr>
              <a:t>כד </a:t>
            </a:r>
            <a:r>
              <a:rPr lang="he-IL" sz="3200" dirty="0" err="1">
                <a:latin typeface="David" panose="020E0502060401010101" pitchFamily="34" charset="-79"/>
                <a:cs typeface="David" panose="020E0502060401010101" pitchFamily="34" charset="-79"/>
              </a:rPr>
              <a:t>וַיִּבֶן</a:t>
            </a:r>
            <a:r>
              <a:rPr lang="he-IL" sz="3200" dirty="0">
                <a:latin typeface="David" panose="020E0502060401010101" pitchFamily="34" charset="-79"/>
                <a:cs typeface="David" panose="020E0502060401010101" pitchFamily="34" charset="-79"/>
              </a:rPr>
              <a:t> שָׁם גִּדְעוֹן מִזְבֵּחַ לַיהוָה, וַיִּקְרָא-לוֹ </a:t>
            </a:r>
            <a:r>
              <a:rPr lang="he-IL" sz="3200" b="1" dirty="0">
                <a:latin typeface="David" panose="020E0502060401010101" pitchFamily="34" charset="-79"/>
                <a:cs typeface="David" panose="020E0502060401010101" pitchFamily="34" charset="-79"/>
              </a:rPr>
              <a:t>יְהוָה שָׁלוֹם</a:t>
            </a:r>
            <a:r>
              <a:rPr lang="he-IL" sz="3200" dirty="0">
                <a:latin typeface="David" panose="020E0502060401010101" pitchFamily="34" charset="-79"/>
                <a:cs typeface="David" panose="020E0502060401010101" pitchFamily="34" charset="-79"/>
              </a:rPr>
              <a:t>; עַד, הַיּוֹם הַזֶּה--עוֹדֶנּוּ, בְּעָפְרָת אֲבִי </a:t>
            </a:r>
            <a:r>
              <a:rPr lang="he-IL" sz="3200" dirty="0" err="1">
                <a:latin typeface="David" panose="020E0502060401010101" pitchFamily="34" charset="-79"/>
                <a:cs typeface="David" panose="020E0502060401010101" pitchFamily="34" charset="-79"/>
              </a:rPr>
              <a:t>הָעֶזְרִי</a:t>
            </a:r>
            <a:r>
              <a:rPr lang="he-IL" sz="3200" dirty="0">
                <a:latin typeface="David" panose="020E0502060401010101" pitchFamily="34" charset="-79"/>
                <a:cs typeface="David" panose="020E0502060401010101" pitchFamily="34" charset="-79"/>
              </a:rPr>
              <a:t>.</a:t>
            </a:r>
          </a:p>
        </p:txBody>
      </p:sp>
      <p:pic>
        <p:nvPicPr>
          <p:cNvPr id="4" name="תמונה 3"/>
          <p:cNvPicPr>
            <a:picLocks noChangeAspect="1"/>
          </p:cNvPicPr>
          <p:nvPr/>
        </p:nvPicPr>
        <p:blipFill>
          <a:blip r:embed="rId4">
            <a:extLst>
              <a:ext uri="{BEBA8EAE-BF5A-486C-A8C5-ECC9F3942E4B}">
                <a14:imgProps xmlns:a14="http://schemas.microsoft.com/office/drawing/2010/main">
                  <a14:imgLayer r:embed="rId5">
                    <a14:imgEffect>
                      <a14:backgroundRemoval t="20619" b="89691" l="0" r="98842"/>
                    </a14:imgEffect>
                  </a14:imgLayer>
                </a14:imgProps>
              </a:ext>
            </a:extLst>
          </a:blip>
          <a:stretch>
            <a:fillRect/>
          </a:stretch>
        </p:blipFill>
        <p:spPr>
          <a:xfrm>
            <a:off x="4031239" y="2920710"/>
            <a:ext cx="5433394" cy="4069800"/>
          </a:xfrm>
          <a:prstGeom prst="rect">
            <a:avLst/>
          </a:prstGeom>
        </p:spPr>
      </p:pic>
    </p:spTree>
    <p:extLst>
      <p:ext uri="{BB962C8B-B14F-4D97-AF65-F5344CB8AC3E}">
        <p14:creationId xmlns:p14="http://schemas.microsoft.com/office/powerpoint/2010/main" val="2207207277"/>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175658" y="177499"/>
            <a:ext cx="10367157" cy="2585323"/>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baseline="0" noProof="0" dirty="0" smtClean="0">
                <a:ln>
                  <a:noFill/>
                </a:ln>
                <a:solidFill>
                  <a:srgbClr val="C00000"/>
                </a:solidFill>
                <a:effectLst/>
                <a:uLnTx/>
                <a:uFillTx/>
                <a:latin typeface="David" panose="020E0502060401010101" pitchFamily="34" charset="-79"/>
                <a:ea typeface="+mn-ea"/>
                <a:cs typeface="David" panose="020E0502060401010101" pitchFamily="34" charset="-79"/>
              </a:rPr>
              <a:t>פסוקים כה-לה':</a:t>
            </a:r>
            <a:r>
              <a:rPr kumimoji="0" lang="he-IL" sz="5400" b="1" i="0" u="none" strike="noStrike" kern="1200" cap="none" spc="0" normalizeH="0" noProof="0" dirty="0" smtClean="0">
                <a:ln>
                  <a:noFill/>
                </a:ln>
                <a:solidFill>
                  <a:srgbClr val="C00000"/>
                </a:solidFill>
                <a:effectLst/>
                <a:uLnTx/>
                <a:uFillTx/>
                <a:latin typeface="David" panose="020E0502060401010101" pitchFamily="34" charset="-79"/>
                <a:ea typeface="+mn-ea"/>
                <a:cs typeface="David" panose="020E0502060401010101" pitchFamily="34" charset="-79"/>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noProof="0" dirty="0" smtClean="0">
                <a:ln>
                  <a:noFill/>
                </a:ln>
                <a:solidFill>
                  <a:srgbClr val="C00000"/>
                </a:solidFill>
                <a:effectLst/>
                <a:uLnTx/>
                <a:uFillTx/>
                <a:latin typeface="David" panose="020E0502060401010101" pitchFamily="34" charset="-79"/>
                <a:ea typeface="+mn-ea"/>
                <a:cs typeface="David" panose="020E0502060401010101" pitchFamily="34" charset="-79"/>
              </a:rPr>
              <a:t>שליחת ה' את גדעון לבער את העבודה זרה מעירו:</a:t>
            </a:r>
            <a:endParaRPr kumimoji="0" lang="he-IL" sz="5400" b="1" i="0" u="none" strike="noStrike" kern="1200" cap="none" spc="0" normalizeH="0" baseline="0" noProof="0" dirty="0">
              <a:ln>
                <a:noFill/>
              </a:ln>
              <a:solidFill>
                <a:srgbClr val="C00000"/>
              </a:solidFill>
              <a:effectLst/>
              <a:uLnTx/>
              <a:uFillTx/>
              <a:latin typeface="David" panose="020E0502060401010101" pitchFamily="34" charset="-79"/>
              <a:ea typeface="+mn-ea"/>
              <a:cs typeface="David" panose="020E0502060401010101" pitchFamily="34" charset="-79"/>
            </a:endParaRPr>
          </a:p>
        </p:txBody>
      </p:sp>
      <p:pic>
        <p:nvPicPr>
          <p:cNvPr id="2" name="תמונה 1"/>
          <p:cNvPicPr>
            <a:picLocks noChangeAspect="1"/>
          </p:cNvPicPr>
          <p:nvPr/>
        </p:nvPicPr>
        <p:blipFill>
          <a:blip r:embed="rId3"/>
          <a:stretch>
            <a:fillRect/>
          </a:stretch>
        </p:blipFill>
        <p:spPr>
          <a:xfrm>
            <a:off x="210018" y="2125065"/>
            <a:ext cx="4138764" cy="3100078"/>
          </a:xfrm>
          <a:prstGeom prst="rect">
            <a:avLst/>
          </a:prstGeom>
        </p:spPr>
      </p:pic>
      <p:pic>
        <p:nvPicPr>
          <p:cNvPr id="4" name="תמונה 3"/>
          <p:cNvPicPr>
            <a:picLocks noChangeAspect="1"/>
          </p:cNvPicPr>
          <p:nvPr/>
        </p:nvPicPr>
        <p:blipFill>
          <a:blip r:embed="rId4"/>
          <a:stretch>
            <a:fillRect/>
          </a:stretch>
        </p:blipFill>
        <p:spPr>
          <a:xfrm>
            <a:off x="3871912" y="3988780"/>
            <a:ext cx="3704545" cy="2655806"/>
          </a:xfrm>
          <a:prstGeom prst="rect">
            <a:avLst/>
          </a:prstGeom>
        </p:spPr>
      </p:pic>
      <p:pic>
        <p:nvPicPr>
          <p:cNvPr id="5" name="תמונה 4"/>
          <p:cNvPicPr>
            <a:picLocks noChangeAspect="1"/>
          </p:cNvPicPr>
          <p:nvPr/>
        </p:nvPicPr>
        <p:blipFill>
          <a:blip r:embed="rId5"/>
          <a:stretch>
            <a:fillRect/>
          </a:stretch>
        </p:blipFill>
        <p:spPr>
          <a:xfrm>
            <a:off x="7709682" y="2871169"/>
            <a:ext cx="4256887" cy="2353974"/>
          </a:xfrm>
          <a:prstGeom prst="rect">
            <a:avLst/>
          </a:prstGeom>
        </p:spPr>
      </p:pic>
    </p:spTree>
    <p:extLst>
      <p:ext uri="{BB962C8B-B14F-4D97-AF65-F5344CB8AC3E}">
        <p14:creationId xmlns:p14="http://schemas.microsoft.com/office/powerpoint/2010/main" val="202238780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18693" y="106248"/>
            <a:ext cx="5684321" cy="4031873"/>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כה</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{ליואש היה מזבח ליד הבית וכן פר אחד מיוחד שגידל אצלו}לאחר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התגלות ה' לגדעון , בא אליו שוב בלילה ואמר לו- תיקח את הפר בן בקר ששייך לאביך, וגם את הפר השני שפיטמו אותו במשך 7 שנים. ותשבור את מזבח הבעל ששייך לאביך ואת אילן האשרה הנטוע לידו תכרות.</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5905192" y="106248"/>
            <a:ext cx="6258297" cy="2062103"/>
          </a:xfrm>
          <a:prstGeom prst="rect">
            <a:avLst/>
          </a:prstGeom>
          <a:solidFill>
            <a:schemeClr val="accent4">
              <a:lumMod val="60000"/>
              <a:lumOff val="40000"/>
            </a:schemeClr>
          </a:solidFill>
        </p:spPr>
        <p:txBody>
          <a:bodyPr wrap="square">
            <a:spAutoFit/>
          </a:bodyPr>
          <a:lstStyle/>
          <a:p>
            <a:r>
              <a:rPr lang="he-IL" sz="3200" b="1" u="sng" dirty="0">
                <a:latin typeface="David" panose="020E0502060401010101" pitchFamily="34" charset="-79"/>
                <a:cs typeface="David" panose="020E0502060401010101" pitchFamily="34" charset="-79"/>
              </a:rPr>
              <a:t>כה</a:t>
            </a:r>
            <a:r>
              <a:rPr lang="he-IL" sz="3200" dirty="0">
                <a:latin typeface="David" panose="020E0502060401010101" pitchFamily="34" charset="-79"/>
                <a:cs typeface="David" panose="020E0502060401010101" pitchFamily="34" charset="-79"/>
              </a:rPr>
              <a:t> וַיְהִי, בַּלַּיְלָה הַהוּא, וַיֹּאמֶר לוֹ יְהוָה קַח אֶת-</a:t>
            </a:r>
            <a:r>
              <a:rPr lang="he-IL" sz="3200" b="1" dirty="0">
                <a:latin typeface="David" panose="020E0502060401010101" pitchFamily="34" charset="-79"/>
                <a:cs typeface="David" panose="020E0502060401010101" pitchFamily="34" charset="-79"/>
              </a:rPr>
              <a:t>פַּר-הַשּׁוֹר אֲשֶׁר לְאָבִיךָ</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וּפַר הַשֵּׁנִי שֶׁבַע שָׁנִים;</a:t>
            </a:r>
            <a:r>
              <a:rPr lang="he-IL" sz="3200" dirty="0">
                <a:latin typeface="David" panose="020E0502060401010101" pitchFamily="34" charset="-79"/>
                <a:cs typeface="David" panose="020E0502060401010101" pitchFamily="34" charset="-79"/>
              </a:rPr>
              <a:t> וְהָרַסְתָּ, אֶת-מִזְבַּח הַבַּעַל אֲשֶׁר לְאָבִיךָ, וְאֶת-הָאֲשֵׁרָה אֲשֶׁר-עָלָיו, </a:t>
            </a:r>
            <a:r>
              <a:rPr lang="he-IL" sz="3200" b="1" dirty="0" err="1">
                <a:latin typeface="David" panose="020E0502060401010101" pitchFamily="34" charset="-79"/>
                <a:cs typeface="David" panose="020E0502060401010101" pitchFamily="34" charset="-79"/>
              </a:rPr>
              <a:t>תִּכְרֹת</a:t>
            </a:r>
            <a:r>
              <a:rPr lang="he-IL" sz="3200" dirty="0">
                <a:latin typeface="David" panose="020E0502060401010101" pitchFamily="34" charset="-79"/>
                <a:cs typeface="David" panose="020E0502060401010101" pitchFamily="34" charset="-79"/>
              </a:rPr>
              <a:t>.</a:t>
            </a:r>
          </a:p>
        </p:txBody>
      </p:sp>
      <p:sp>
        <p:nvSpPr>
          <p:cNvPr id="4" name="TextBox 3"/>
          <p:cNvSpPr txBox="1"/>
          <p:nvPr/>
        </p:nvSpPr>
        <p:spPr>
          <a:xfrm>
            <a:off x="6222670" y="2349750"/>
            <a:ext cx="5623342" cy="4462760"/>
          </a:xfrm>
          <a:prstGeom prst="rect">
            <a:avLst/>
          </a:prstGeom>
          <a:solidFill>
            <a:schemeClr val="accent2">
              <a:lumMod val="60000"/>
              <a:lumOff val="40000"/>
            </a:schemeClr>
          </a:solidFill>
          <a:ln w="38100">
            <a:solidFill>
              <a:schemeClr val="tx1"/>
            </a:solidFill>
          </a:ln>
        </p:spPr>
        <p:txBody>
          <a:bodyPr wrap="square" rtlCol="1">
            <a:spAutoFit/>
          </a:bodyPr>
          <a:lstStyle/>
          <a:p>
            <a:r>
              <a:rPr lang="he-IL" sz="3200" b="1" u="sng" dirty="0" smtClean="0">
                <a:solidFill>
                  <a:srgbClr val="C00000"/>
                </a:solidFill>
                <a:latin typeface="David" panose="020E0502060401010101" pitchFamily="34" charset="-79"/>
                <a:cs typeface="David" panose="020E0502060401010101" pitchFamily="34" charset="-79"/>
              </a:rPr>
              <a:t>"פר שני שבע שנים"</a:t>
            </a:r>
          </a:p>
          <a:p>
            <a:r>
              <a:rPr lang="he-IL" sz="2800" b="1" dirty="0" smtClean="0">
                <a:latin typeface="David" panose="020E0502060401010101" pitchFamily="34" charset="-79"/>
                <a:cs typeface="David" panose="020E0502060401010101" pitchFamily="34" charset="-79"/>
              </a:rPr>
              <a:t>העבודה זרה שישראל עבדו בזמן ההוא נקראת "בעל" </a:t>
            </a:r>
            <a:r>
              <a:rPr lang="he-IL" sz="2800" dirty="0" smtClean="0">
                <a:latin typeface="David" panose="020E0502060401010101" pitchFamily="34" charset="-79"/>
                <a:cs typeface="David" panose="020E0502060401010101" pitchFamily="34" charset="-79"/>
              </a:rPr>
              <a:t>– כאשר המדיינים החלו לעשות צרות לעם ישראל, לקחו ישראל "פר" והתחילו לפטם אותו, לתת לו לאכול הרבה, עד שהשמין. הם אמרו שביום שהבעל יצילנו ממדיין נקריב לו את הפר הזה. וכבר עברו 7 שנים ולא קרה כלום, חוץ מזה שהפר נהיה שמן מאד. הם שכחו שרק ה' יכול לעזור להם!! </a:t>
            </a:r>
            <a:endParaRPr lang="he-IL" sz="2800" dirty="0">
              <a:latin typeface="David" panose="020E0502060401010101" pitchFamily="34" charset="-79"/>
              <a:cs typeface="David" panose="020E0502060401010101" pitchFamily="34" charset="-79"/>
            </a:endParaRPr>
          </a:p>
        </p:txBody>
      </p:sp>
      <p:pic>
        <p:nvPicPr>
          <p:cNvPr id="6" name="תמונה 5"/>
          <p:cNvPicPr>
            <a:picLocks noChangeAspect="1"/>
          </p:cNvPicPr>
          <p:nvPr/>
        </p:nvPicPr>
        <p:blipFill>
          <a:blip r:embed="rId3">
            <a:extLst>
              <a:ext uri="{BEBA8EAE-BF5A-486C-A8C5-ECC9F3942E4B}">
                <a14:imgProps xmlns:a14="http://schemas.microsoft.com/office/drawing/2010/main">
                  <a14:imgLayer r:embed="rId4">
                    <a14:imgEffect>
                      <a14:backgroundRemoval t="1948" b="88961" l="0" r="98261"/>
                    </a14:imgEffect>
                  </a14:imgLayer>
                </a14:imgProps>
              </a:ext>
            </a:extLst>
          </a:blip>
          <a:stretch>
            <a:fillRect/>
          </a:stretch>
        </p:blipFill>
        <p:spPr>
          <a:xfrm>
            <a:off x="2960854" y="4389277"/>
            <a:ext cx="3890035" cy="2604632"/>
          </a:xfrm>
          <a:prstGeom prst="rect">
            <a:avLst/>
          </a:prstGeom>
        </p:spPr>
      </p:pic>
      <p:pic>
        <p:nvPicPr>
          <p:cNvPr id="7" name="תמונה 6"/>
          <p:cNvPicPr>
            <a:picLocks noChangeAspect="1"/>
          </p:cNvPicPr>
          <p:nvPr/>
        </p:nvPicPr>
        <p:blipFill>
          <a:blip r:embed="rId5">
            <a:extLst>
              <a:ext uri="{BEBA8EAE-BF5A-486C-A8C5-ECC9F3942E4B}">
                <a14:imgProps xmlns:a14="http://schemas.microsoft.com/office/drawing/2010/main">
                  <a14:imgLayer r:embed="rId6">
                    <a14:imgEffect>
                      <a14:backgroundRemoval t="0" b="100000" l="0" r="100000"/>
                    </a14:imgEffect>
                  </a14:imgLayer>
                </a14:imgProps>
              </a:ext>
            </a:extLst>
          </a:blip>
          <a:stretch>
            <a:fillRect/>
          </a:stretch>
        </p:blipFill>
        <p:spPr>
          <a:xfrm>
            <a:off x="237508" y="4389276"/>
            <a:ext cx="2319584" cy="2311161"/>
          </a:xfrm>
          <a:prstGeom prst="rect">
            <a:avLst/>
          </a:prstGeom>
        </p:spPr>
      </p:pic>
    </p:spTree>
    <p:extLst>
      <p:ext uri="{BB962C8B-B14F-4D97-AF65-F5344CB8AC3E}">
        <p14:creationId xmlns:p14="http://schemas.microsoft.com/office/powerpoint/2010/main" val="81596733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7" y="260627"/>
            <a:ext cx="5755573" cy="6432530"/>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כו</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לאחר מכן, תבנה מזבח לה' אלוקיך, </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בראש הסלע</a:t>
            </a:r>
            <a:r>
              <a:rPr kumimoji="0" lang="he-IL" sz="3200" b="1"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הזה</a:t>
            </a:r>
            <a:r>
              <a:rPr kumimoji="0" lang="he-IL" sz="2800" b="1"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28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(שעליו הקרבת קודם לכן את מנחתך – עם המלאך) </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באבנים מסודרות </a:t>
            </a:r>
            <a:r>
              <a:rPr kumimoji="0" lang="he-IL" sz="28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(שהמזבח יהיה ישר שתוכל לשים עליו זבח) </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ותיקח את הפר השני שפיטמו אותו לע"ז. ותעלה אותו לקורבן עולה, ותבעיר את האש במזבח ע"י עצי האשרה שתכרות.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baseline="0" dirty="0" err="1" smtClean="0">
                <a:solidFill>
                  <a:prstClr val="black"/>
                </a:solidFill>
                <a:latin typeface="David" panose="020E0502060401010101" pitchFamily="34" charset="-79"/>
                <a:cs typeface="David" panose="020E0502060401010101" pitchFamily="34" charset="-79"/>
              </a:rPr>
              <a:t>כז</a:t>
            </a:r>
            <a:r>
              <a:rPr lang="he-IL" sz="3200" baseline="0" dirty="0" smtClean="0">
                <a:solidFill>
                  <a:prstClr val="black"/>
                </a:solidFill>
                <a:latin typeface="David" panose="020E0502060401010101" pitchFamily="34" charset="-79"/>
                <a:cs typeface="David" panose="020E0502060401010101" pitchFamily="34" charset="-79"/>
              </a:rPr>
              <a:t>. </a:t>
            </a:r>
            <a:r>
              <a:rPr lang="he-IL" sz="3200" b="1" baseline="0" dirty="0" smtClean="0">
                <a:solidFill>
                  <a:prstClr val="black"/>
                </a:solidFill>
                <a:latin typeface="David" panose="020E0502060401010101" pitchFamily="34" charset="-79"/>
                <a:cs typeface="David" panose="020E0502060401010101" pitchFamily="34" charset="-79"/>
              </a:rPr>
              <a:t>גדעון לקח עשרה אנשים </a:t>
            </a:r>
            <a:r>
              <a:rPr lang="he-IL" sz="3200" baseline="0" dirty="0" smtClean="0">
                <a:solidFill>
                  <a:prstClr val="black"/>
                </a:solidFill>
                <a:latin typeface="David" panose="020E0502060401010101" pitchFamily="34" charset="-79"/>
                <a:cs typeface="David" panose="020E0502060401010101" pitchFamily="34" charset="-79"/>
              </a:rPr>
              <a:t>ועשה כפי שנצטווה מאת ה'. והיות וגדעון פחד ממשפחת אביו ומתושבי</a:t>
            </a:r>
            <a:r>
              <a:rPr lang="he-IL" sz="3200" dirty="0" smtClean="0">
                <a:solidFill>
                  <a:prstClr val="black"/>
                </a:solidFill>
                <a:latin typeface="David" panose="020E0502060401010101" pitchFamily="34" charset="-79"/>
                <a:cs typeface="David" panose="020E0502060401010101" pitchFamily="34" charset="-79"/>
              </a:rPr>
              <a:t> העיר שלא ימנעו ממנו לעשות זאת, </a:t>
            </a:r>
            <a:r>
              <a:rPr lang="he-IL" sz="3200" b="1" dirty="0" smtClean="0">
                <a:solidFill>
                  <a:prstClr val="black"/>
                </a:solidFill>
                <a:latin typeface="David" panose="020E0502060401010101" pitchFamily="34" charset="-79"/>
                <a:cs typeface="David" panose="020E0502060401010101" pitchFamily="34" charset="-79"/>
              </a:rPr>
              <a:t>לכן עשה את </a:t>
            </a:r>
            <a:r>
              <a:rPr lang="he-IL" sz="3200" b="1" dirty="0" err="1" smtClean="0">
                <a:solidFill>
                  <a:prstClr val="black"/>
                </a:solidFill>
                <a:latin typeface="David" panose="020E0502060401010101" pitchFamily="34" charset="-79"/>
                <a:cs typeface="David" panose="020E0502060401010101" pitchFamily="34" charset="-79"/>
              </a:rPr>
              <a:t>הכל</a:t>
            </a:r>
            <a:r>
              <a:rPr lang="he-IL" sz="3200" b="1" dirty="0" smtClean="0">
                <a:solidFill>
                  <a:prstClr val="black"/>
                </a:solidFill>
                <a:latin typeface="David" panose="020E0502060401010101" pitchFamily="34" charset="-79"/>
                <a:cs typeface="David" panose="020E0502060401010101" pitchFamily="34" charset="-79"/>
              </a:rPr>
              <a:t> בחשיכה – בלילה.</a:t>
            </a:r>
            <a:endParaRPr kumimoji="0" lang="he-IL" sz="3200" b="1" i="0" u="none" strike="noStrike" kern="1200" cap="none" spc="0" normalizeH="0" baseline="0" noProof="0" dirty="0">
              <a:ln>
                <a:noFill/>
              </a:ln>
              <a:solidFill>
                <a:prstClr val="black"/>
              </a:solidFill>
              <a:effectLst/>
              <a:uLnTx/>
              <a:uFillTx/>
              <a:latin typeface="David" panose="020E0502060401010101" pitchFamily="34" charset="-79"/>
              <a:cs typeface="David" panose="020E0502060401010101" pitchFamily="34" charset="-79"/>
            </a:endParaRPr>
          </a:p>
        </p:txBody>
      </p:sp>
      <p:sp>
        <p:nvSpPr>
          <p:cNvPr id="2" name="מלבן 1"/>
          <p:cNvSpPr/>
          <p:nvPr/>
        </p:nvSpPr>
        <p:spPr>
          <a:xfrm>
            <a:off x="6127668" y="260627"/>
            <a:ext cx="5854534" cy="4031873"/>
          </a:xfrm>
          <a:prstGeom prst="rect">
            <a:avLst/>
          </a:prstGeom>
          <a:solidFill>
            <a:schemeClr val="accent6">
              <a:lumMod val="60000"/>
              <a:lumOff val="40000"/>
            </a:schemeClr>
          </a:solidFill>
        </p:spPr>
        <p:txBody>
          <a:bodyPr wrap="square">
            <a:spAutoFit/>
          </a:bodyPr>
          <a:lstStyle/>
          <a:p>
            <a:r>
              <a:rPr lang="he-IL" sz="3200" b="1" u="sng" dirty="0" err="1">
                <a:latin typeface="David" panose="020E0502060401010101" pitchFamily="34" charset="-79"/>
                <a:cs typeface="David" panose="020E0502060401010101" pitchFamily="34" charset="-79"/>
              </a:rPr>
              <a:t>כו</a:t>
            </a:r>
            <a:r>
              <a:rPr lang="he-IL" sz="3200" dirty="0">
                <a:latin typeface="David" panose="020E0502060401010101" pitchFamily="34" charset="-79"/>
                <a:cs typeface="David" panose="020E0502060401010101" pitchFamily="34" charset="-79"/>
              </a:rPr>
              <a:t> </a:t>
            </a:r>
            <a:r>
              <a:rPr lang="he-IL" sz="3200" b="1" dirty="0">
                <a:latin typeface="David" panose="020E0502060401010101" pitchFamily="34" charset="-79"/>
                <a:cs typeface="David" panose="020E0502060401010101" pitchFamily="34" charset="-79"/>
              </a:rPr>
              <a:t>וּבָנִיתָ מִזְבֵּחַ לַיהוָה </a:t>
            </a:r>
            <a:r>
              <a:rPr lang="he-IL" sz="3200" b="1" dirty="0" err="1">
                <a:latin typeface="David" panose="020E0502060401010101" pitchFamily="34" charset="-79"/>
                <a:cs typeface="David" panose="020E0502060401010101" pitchFamily="34" charset="-79"/>
              </a:rPr>
              <a:t>אֱלֹהֶיך</a:t>
            </a:r>
            <a:r>
              <a:rPr lang="he-IL" sz="3200" b="1" dirty="0">
                <a:latin typeface="David" panose="020E0502060401010101" pitchFamily="34" charset="-79"/>
                <a:cs typeface="David" panose="020E0502060401010101" pitchFamily="34" charset="-79"/>
              </a:rPr>
              <a:t>ָ</a:t>
            </a:r>
            <a:r>
              <a:rPr lang="he-IL" sz="3200" dirty="0">
                <a:latin typeface="David" panose="020E0502060401010101" pitchFamily="34" charset="-79"/>
                <a:cs typeface="David" panose="020E0502060401010101" pitchFamily="34" charset="-79"/>
              </a:rPr>
              <a:t>, עַל רֹאשׁ הַמָּעוֹז הַזֶּה--בַּמַּעֲרָכָה; וְלָקַחְתָּ, אֶת-הַפָּר הַשֵּׁנִי, </a:t>
            </a:r>
            <a:r>
              <a:rPr lang="he-IL" sz="3200" b="1" dirty="0">
                <a:latin typeface="David" panose="020E0502060401010101" pitchFamily="34" charset="-79"/>
                <a:cs typeface="David" panose="020E0502060401010101" pitchFamily="34" charset="-79"/>
              </a:rPr>
              <a:t>וְהַעֲלִיתָ עוֹלָה</a:t>
            </a:r>
            <a:r>
              <a:rPr lang="he-IL" sz="3200" dirty="0">
                <a:latin typeface="David" panose="020E0502060401010101" pitchFamily="34" charset="-79"/>
                <a:cs typeface="David" panose="020E0502060401010101" pitchFamily="34" charset="-79"/>
              </a:rPr>
              <a:t>, בַּעֲצֵי הָאֲשֵׁרָה אֲשֶׁר </a:t>
            </a:r>
            <a:r>
              <a:rPr lang="he-IL" sz="3200" dirty="0" err="1">
                <a:latin typeface="David" panose="020E0502060401010101" pitchFamily="34" charset="-79"/>
                <a:cs typeface="David" panose="020E0502060401010101" pitchFamily="34" charset="-79"/>
              </a:rPr>
              <a:t>תִּכְרֹת</a:t>
            </a:r>
            <a:r>
              <a:rPr lang="he-IL" sz="3200" dirty="0">
                <a:latin typeface="David" panose="020E0502060401010101" pitchFamily="34" charset="-79"/>
                <a:cs typeface="David" panose="020E0502060401010101" pitchFamily="34" charset="-79"/>
              </a:rPr>
              <a:t>.  </a:t>
            </a:r>
            <a:endParaRPr lang="he-IL" sz="3200" dirty="0" smtClean="0">
              <a:latin typeface="David" panose="020E0502060401010101" pitchFamily="34" charset="-79"/>
              <a:cs typeface="David" panose="020E0502060401010101" pitchFamily="34" charset="-79"/>
            </a:endParaRPr>
          </a:p>
          <a:p>
            <a:r>
              <a:rPr lang="he-IL" sz="3200" b="1" u="sng" dirty="0" err="1" smtClean="0">
                <a:latin typeface="David" panose="020E0502060401010101" pitchFamily="34" charset="-79"/>
                <a:cs typeface="David" panose="020E0502060401010101" pitchFamily="34" charset="-79"/>
              </a:rPr>
              <a:t>כז</a:t>
            </a:r>
            <a:r>
              <a:rPr lang="he-IL" sz="3200" dirty="0" smtClean="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וַיִּקַּח</a:t>
            </a:r>
            <a:r>
              <a:rPr lang="he-IL" sz="3200" dirty="0">
                <a:latin typeface="David" panose="020E0502060401010101" pitchFamily="34" charset="-79"/>
                <a:cs typeface="David" panose="020E0502060401010101" pitchFamily="34" charset="-79"/>
              </a:rPr>
              <a:t> גִּדְעוֹן </a:t>
            </a:r>
            <a:r>
              <a:rPr lang="he-IL" sz="3200" b="1" dirty="0">
                <a:solidFill>
                  <a:srgbClr val="C00000"/>
                </a:solidFill>
                <a:latin typeface="David" panose="020E0502060401010101" pitchFamily="34" charset="-79"/>
                <a:cs typeface="David" panose="020E0502060401010101" pitchFamily="34" charset="-79"/>
              </a:rPr>
              <a:t>עֲשָׂרָה אֲנָשִׁים</a:t>
            </a:r>
            <a:r>
              <a:rPr lang="he-IL" sz="3200" dirty="0">
                <a:latin typeface="David" panose="020E0502060401010101" pitchFamily="34" charset="-79"/>
                <a:cs typeface="David" panose="020E0502060401010101" pitchFamily="34" charset="-79"/>
              </a:rPr>
              <a:t>, מֵעֲבָדָיו, וַיַּעַשׂ, כַּאֲשֶׁר דִּבֶּר אֵלָיו יְהוָה; וַיְהִי כַּאֲשֶׁר יָרֵא אֶת-בֵּית אָבִיו וְאֶת-אַנְשֵׁי הָעִיר, </a:t>
            </a:r>
            <a:r>
              <a:rPr lang="he-IL" sz="3200" b="1" dirty="0">
                <a:latin typeface="David" panose="020E0502060401010101" pitchFamily="34" charset="-79"/>
                <a:cs typeface="David" panose="020E0502060401010101" pitchFamily="34" charset="-79"/>
              </a:rPr>
              <a:t>מֵעֲשׂוֹת יוֹמָם--וַיַּעַשׂ לָיְלָה</a:t>
            </a:r>
            <a:r>
              <a:rPr lang="he-IL" sz="3200" dirty="0">
                <a:latin typeface="David" panose="020E0502060401010101" pitchFamily="34" charset="-79"/>
                <a:cs typeface="David" panose="020E0502060401010101" pitchFamily="34" charset="-79"/>
              </a:rPr>
              <a:t>. </a:t>
            </a:r>
          </a:p>
        </p:txBody>
      </p:sp>
      <p:pic>
        <p:nvPicPr>
          <p:cNvPr id="4" name="תמונה 3"/>
          <p:cNvPicPr>
            <a:picLocks noChangeAspect="1"/>
          </p:cNvPicPr>
          <p:nvPr/>
        </p:nvPicPr>
        <p:blipFill>
          <a:blip r:embed="rId3">
            <a:extLst>
              <a:ext uri="{BEBA8EAE-BF5A-486C-A8C5-ECC9F3942E4B}">
                <a14:imgProps xmlns:a14="http://schemas.microsoft.com/office/drawing/2010/main">
                  <a14:imgLayer r:embed="rId4">
                    <a14:imgEffect>
                      <a14:backgroundRemoval t="0" b="98551" l="1230" r="88934">
                        <a14:foregroundMark x1="2459" y1="1932" x2="88934" y2="48792"/>
                        <a14:foregroundMark x1="86885" y1="47826" x2="86066" y2="97585"/>
                        <a14:foregroundMark x1="83197" y1="96618" x2="1639" y2="98551"/>
                        <a14:foregroundMark x1="78689" y1="57005" x2="3279" y2="77778"/>
                        <a14:foregroundMark x1="40574" y1="33333" x2="59836" y2="36232"/>
                        <a14:foregroundMark x1="50410" y1="34783" x2="50410" y2="34783"/>
                        <a14:foregroundMark x1="50000" y1="34783" x2="17213" y2="77778"/>
                        <a14:foregroundMark x1="40164" y1="48792" x2="58197" y2="54106"/>
                      </a14:backgroundRemoval>
                    </a14:imgEffect>
                  </a14:imgLayer>
                </a14:imgProps>
              </a:ext>
            </a:extLst>
          </a:blip>
          <a:stretch>
            <a:fillRect/>
          </a:stretch>
        </p:blipFill>
        <p:spPr>
          <a:xfrm>
            <a:off x="6127668" y="4405745"/>
            <a:ext cx="5011387" cy="2287412"/>
          </a:xfrm>
          <a:prstGeom prst="rect">
            <a:avLst/>
          </a:prstGeom>
        </p:spPr>
      </p:pic>
    </p:spTree>
    <p:extLst>
      <p:ext uri="{BB962C8B-B14F-4D97-AF65-F5344CB8AC3E}">
        <p14:creationId xmlns:p14="http://schemas.microsoft.com/office/powerpoint/2010/main" val="273241196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מלבן 4"/>
          <p:cNvSpPr/>
          <p:nvPr/>
        </p:nvSpPr>
        <p:spPr>
          <a:xfrm>
            <a:off x="629393" y="187696"/>
            <a:ext cx="11281558" cy="4805162"/>
          </a:xfrm>
          <a:prstGeom prst="rect">
            <a:avLst/>
          </a:prstGeom>
          <a:solidFill>
            <a:schemeClr val="accent6">
              <a:lumMod val="60000"/>
              <a:lumOff val="40000"/>
            </a:schemeClr>
          </a:solidFill>
        </p:spPr>
        <p:txBody>
          <a:bodyPr wrap="square">
            <a:spAutoFit/>
          </a:bodyPr>
          <a:lstStyle/>
          <a:p>
            <a:pPr algn="just">
              <a:lnSpc>
                <a:spcPct val="107000"/>
              </a:lnSpc>
              <a:spcAft>
                <a:spcPts val="800"/>
              </a:spcAft>
            </a:pPr>
            <a:r>
              <a:rPr lang="he-IL" sz="2800" b="1" u="sng" dirty="0">
                <a:latin typeface="David" panose="020E0502060401010101" pitchFamily="34" charset="-79"/>
                <a:ea typeface="Calibri" panose="020F0502020204030204" pitchFamily="34" charset="0"/>
                <a:cs typeface="David" panose="020E0502060401010101" pitchFamily="34" charset="-79"/>
              </a:rPr>
              <a:t>נאמר המדרש רבא יד א':</a:t>
            </a:r>
            <a:r>
              <a:rPr lang="he-IL" sz="2800" dirty="0">
                <a:latin typeface="David" panose="020E0502060401010101" pitchFamily="34" charset="-79"/>
                <a:ea typeface="Calibri" panose="020F0502020204030204" pitchFamily="34" charset="0"/>
                <a:cs typeface="David" panose="020E0502060401010101" pitchFamily="34" charset="-79"/>
              </a:rPr>
              <a:t> על הפסוק: </a:t>
            </a:r>
            <a:r>
              <a:rPr lang="he-IL" sz="2800" b="1" dirty="0">
                <a:solidFill>
                  <a:srgbClr val="C00000"/>
                </a:solidFill>
                <a:latin typeface="David" panose="020E0502060401010101" pitchFamily="34" charset="-79"/>
                <a:ea typeface="Calibri" panose="020F0502020204030204" pitchFamily="34" charset="0"/>
                <a:cs typeface="David" panose="020E0502060401010101" pitchFamily="34" charset="-79"/>
              </a:rPr>
              <a:t>"לי גלעד ולי מנשה ואפרים מעוז ראשי יהודה מחוקקי" </a:t>
            </a:r>
            <a:r>
              <a:rPr lang="he-IL" sz="2800" dirty="0">
                <a:latin typeface="David" panose="020E0502060401010101" pitchFamily="34" charset="-79"/>
                <a:ea typeface="Calibri" panose="020F0502020204030204" pitchFamily="34" charset="0"/>
                <a:cs typeface="David" panose="020E0502060401010101" pitchFamily="34" charset="-79"/>
              </a:rPr>
              <a:t>: לי גלעד- זה אליהו הנביא שבא מגלעד שהקריב בבמה . </a:t>
            </a:r>
            <a:r>
              <a:rPr lang="he-IL" sz="2800" b="1" dirty="0">
                <a:latin typeface="David" panose="020E0502060401010101" pitchFamily="34" charset="-79"/>
                <a:ea typeface="Calibri" panose="020F0502020204030204" pitchFamily="34" charset="0"/>
                <a:cs typeface="David" panose="020E0502060401010101" pitchFamily="34" charset="-79"/>
              </a:rPr>
              <a:t>לי מנשה- </a:t>
            </a:r>
            <a:r>
              <a:rPr lang="he-IL" sz="2800" dirty="0">
                <a:latin typeface="David" panose="020E0502060401010101" pitchFamily="34" charset="-79"/>
                <a:ea typeface="Calibri" panose="020F0502020204030204" pitchFamily="34" charset="0"/>
                <a:cs typeface="David" panose="020E0502060401010101" pitchFamily="34" charset="-79"/>
              </a:rPr>
              <a:t>זה גדעון שהקריב במזבח שבנה מחוץ למשכן. ואפרים מעוז ראשי- זה יהושע שבנה מזבח ליד הר עיבל והקריב שם. יהודה מחוקקי- זה דוד המלך שגם הקריב מחוץ למשכן על מזבח שבנה</a:t>
            </a:r>
            <a:endParaRPr lang="en-US" sz="2000" dirty="0">
              <a:latin typeface="David" panose="020E0502060401010101" pitchFamily="34" charset="-79"/>
              <a:ea typeface="Calibri" panose="020F0502020204030204" pitchFamily="34" charset="0"/>
              <a:cs typeface="David" panose="020E0502060401010101" pitchFamily="34" charset="-79"/>
            </a:endParaRPr>
          </a:p>
          <a:p>
            <a:pPr algn="just">
              <a:lnSpc>
                <a:spcPct val="107000"/>
              </a:lnSpc>
              <a:spcAft>
                <a:spcPts val="800"/>
              </a:spcAft>
            </a:pPr>
            <a:r>
              <a:rPr lang="he-IL" sz="2800" b="1" i="1" u="sng" dirty="0">
                <a:latin typeface="David" panose="020E0502060401010101" pitchFamily="34" charset="-79"/>
                <a:ea typeface="Calibri" panose="020F0502020204030204" pitchFamily="34" charset="0"/>
                <a:cs typeface="David" panose="020E0502060401010101" pitchFamily="34" charset="-79"/>
              </a:rPr>
              <a:t>נאמר במסכת תמורה </a:t>
            </a:r>
            <a:r>
              <a:rPr lang="he-IL" sz="2800" b="1" i="1" u="sng" dirty="0" err="1">
                <a:latin typeface="David" panose="020E0502060401010101" pitchFamily="34" charset="-79"/>
                <a:ea typeface="Calibri" panose="020F0502020204030204" pitchFamily="34" charset="0"/>
                <a:cs typeface="David" panose="020E0502060401010101" pitchFamily="34" charset="-79"/>
              </a:rPr>
              <a:t>כח</a:t>
            </a:r>
            <a:r>
              <a:rPr lang="he-IL" sz="2800" b="1" i="1" u="sng" dirty="0">
                <a:latin typeface="David" panose="020E0502060401010101" pitchFamily="34" charset="-79"/>
                <a:ea typeface="Calibri" panose="020F0502020204030204" pitchFamily="34" charset="0"/>
                <a:cs typeface="David" panose="020E0502060401010101" pitchFamily="34" charset="-79"/>
              </a:rPr>
              <a:t>':</a:t>
            </a:r>
            <a:r>
              <a:rPr lang="he-IL" sz="2800" b="1" u="sng" dirty="0">
                <a:latin typeface="David" panose="020E0502060401010101" pitchFamily="34" charset="-79"/>
                <a:ea typeface="Calibri" panose="020F0502020204030204" pitchFamily="34" charset="0"/>
                <a:cs typeface="David" panose="020E0502060401010101" pitchFamily="34" charset="-79"/>
              </a:rPr>
              <a:t> </a:t>
            </a:r>
            <a:r>
              <a:rPr lang="he-IL" sz="2800" dirty="0">
                <a:latin typeface="David" panose="020E0502060401010101" pitchFamily="34" charset="-79"/>
                <a:ea typeface="Calibri" panose="020F0502020204030204" pitchFamily="34" charset="0"/>
                <a:cs typeface="David" panose="020E0502060401010101" pitchFamily="34" charset="-79"/>
              </a:rPr>
              <a:t>אמר רבי אבא בר כהנא שמונה דברים הותרו באותו לילה-  </a:t>
            </a:r>
            <a:r>
              <a:rPr lang="he-IL" sz="2800" b="1" dirty="0">
                <a:latin typeface="David" panose="020E0502060401010101" pitchFamily="34" charset="-79"/>
                <a:ea typeface="Calibri" panose="020F0502020204030204" pitchFamily="34" charset="0"/>
                <a:cs typeface="David" panose="020E0502060401010101" pitchFamily="34" charset="-79"/>
              </a:rPr>
              <a:t>א</a:t>
            </a:r>
            <a:r>
              <a:rPr lang="he-IL" sz="2800" dirty="0">
                <a:latin typeface="David" panose="020E0502060401010101" pitchFamily="34" charset="-79"/>
                <a:ea typeface="Calibri" panose="020F0502020204030204" pitchFamily="34" charset="0"/>
                <a:cs typeface="David" panose="020E0502060401010101" pitchFamily="34" charset="-79"/>
              </a:rPr>
              <a:t>. להקריב קורבן מחוץ למשכן.   </a:t>
            </a:r>
            <a:r>
              <a:rPr lang="he-IL" sz="2800" b="1" dirty="0">
                <a:latin typeface="David" panose="020E0502060401010101" pitchFamily="34" charset="-79"/>
                <a:ea typeface="Calibri" panose="020F0502020204030204" pitchFamily="34" charset="0"/>
                <a:cs typeface="David" panose="020E0502060401010101" pitchFamily="34" charset="-79"/>
              </a:rPr>
              <a:t>ב</a:t>
            </a:r>
            <a:r>
              <a:rPr lang="he-IL" sz="2800" dirty="0">
                <a:latin typeface="David" panose="020E0502060401010101" pitchFamily="34" charset="-79"/>
                <a:ea typeface="Calibri" panose="020F0502020204030204" pitchFamily="34" charset="0"/>
                <a:cs typeface="David" panose="020E0502060401010101" pitchFamily="34" charset="-79"/>
              </a:rPr>
              <a:t>. להקריב קורבן בלילה.  </a:t>
            </a:r>
            <a:r>
              <a:rPr lang="he-IL" sz="2800" b="1" dirty="0">
                <a:latin typeface="David" panose="020E0502060401010101" pitchFamily="34" charset="-79"/>
                <a:ea typeface="Calibri" panose="020F0502020204030204" pitchFamily="34" charset="0"/>
                <a:cs typeface="David" panose="020E0502060401010101" pitchFamily="34" charset="-79"/>
              </a:rPr>
              <a:t>ג.</a:t>
            </a:r>
            <a:r>
              <a:rPr lang="he-IL" sz="2800" dirty="0">
                <a:latin typeface="David" panose="020E0502060401010101" pitchFamily="34" charset="-79"/>
                <a:ea typeface="Calibri" panose="020F0502020204030204" pitchFamily="34" charset="0"/>
                <a:cs typeface="David" panose="020E0502060401010101" pitchFamily="34" charset="-79"/>
              </a:rPr>
              <a:t> להקריב קורבן בידי זר ישראל.    ד. כלי אשרה שקצץ והשתמש לאש המזבח.   ה. שלקח אבנים ממזבח הבעל לבנות מזבח לה'.  ו. שהקריב את הפר שהוקצה לבעל.   ז. פר שסחב משא לבעל הוקרב לה'.  </a:t>
            </a:r>
            <a:endParaRPr lang="en-US" sz="2000" dirty="0">
              <a:effectLst/>
              <a:latin typeface="David" panose="020E0502060401010101" pitchFamily="34" charset="-79"/>
              <a:ea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3728502914"/>
      </p:ext>
    </p:extLst>
  </p:cSld>
  <p:clrMapOvr>
    <a:masterClrMapping/>
  </p:clrMapOvr>
  <p:transition spd="slow">
    <p:wheel spokes="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8" y="176772"/>
            <a:ext cx="5814950" cy="6494085"/>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כח</a:t>
            </a:r>
            <a:r>
              <a:rPr lang="he-IL" sz="3200" dirty="0" smtClean="0">
                <a:solidFill>
                  <a:prstClr val="black"/>
                </a:solidFill>
                <a:latin typeface="David" panose="020E0502060401010101" pitchFamily="34" charset="-79"/>
                <a:cs typeface="David" panose="020E0502060401010101" pitchFamily="34" charset="-79"/>
              </a:rPr>
              <a:t>. </a:t>
            </a:r>
            <a:r>
              <a:rPr lang="he-IL" sz="3200" b="1" dirty="0" smtClean="0">
                <a:solidFill>
                  <a:prstClr val="black"/>
                </a:solidFill>
                <a:latin typeface="David" panose="020E0502060401010101" pitchFamily="34" charset="-79"/>
                <a:cs typeface="David" panose="020E0502060401010101" pitchFamily="34" charset="-79"/>
              </a:rPr>
              <a:t>ומיד שקמו תושבי עופרה</a:t>
            </a:r>
            <a:r>
              <a:rPr lang="he-IL" sz="3200" dirty="0" smtClean="0">
                <a:solidFill>
                  <a:prstClr val="black"/>
                </a:solidFill>
                <a:latin typeface="David" panose="020E0502060401010101" pitchFamily="34" charset="-79"/>
                <a:cs typeface="David" panose="020E0502060401010101" pitchFamily="34" charset="-79"/>
              </a:rPr>
              <a:t>, בבקר הלכו לעבודה זרה, והנה ראו כל מה שנעשה: נהרס ונשבר המזבח, והאשרה הסמוכה לו נכרתה, ואת הפר השני המפוטם העלו על המזבח החדש הבנוי.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כט</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שאלו אחד את השני: </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"מי העז לעשות דבר כזה"?</a:t>
            </a:r>
            <a:r>
              <a:rPr kumimoji="0" lang="he-IL" sz="3200" b="1"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חקרו וחיפשו וספרו להם: שגדעון הבן של יואש עשה את המעשה הזה (ובנה מזבח חדש לה').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baseline="0" dirty="0" smtClean="0">
                <a:solidFill>
                  <a:prstClr val="black"/>
                </a:solidFill>
                <a:latin typeface="David" panose="020E0502060401010101" pitchFamily="34" charset="-79"/>
                <a:cs typeface="David" panose="020E0502060401010101" pitchFamily="34" charset="-79"/>
              </a:rPr>
              <a:t>ל</a:t>
            </a:r>
            <a:r>
              <a:rPr lang="he-IL" sz="3200" baseline="0" dirty="0" smtClean="0">
                <a:solidFill>
                  <a:prstClr val="black"/>
                </a:solidFill>
                <a:latin typeface="David" panose="020E0502060401010101" pitchFamily="34" charset="-79"/>
                <a:cs typeface="David" panose="020E0502060401010101" pitchFamily="34" charset="-79"/>
              </a:rPr>
              <a:t>.</a:t>
            </a:r>
            <a:r>
              <a:rPr lang="he-IL" sz="3200" dirty="0" smtClean="0">
                <a:solidFill>
                  <a:prstClr val="black"/>
                </a:solidFill>
                <a:latin typeface="David" panose="020E0502060401010101" pitchFamily="34" charset="-79"/>
                <a:cs typeface="David" panose="020E0502060401010101" pitchFamily="34" charset="-79"/>
              </a:rPr>
              <a:t> באו כל אנשי העיר אל יואש, ואמרו לו: </a:t>
            </a:r>
            <a:r>
              <a:rPr lang="he-IL" sz="3200" b="1" dirty="0" smtClean="0">
                <a:solidFill>
                  <a:prstClr val="black"/>
                </a:solidFill>
                <a:latin typeface="David" panose="020E0502060401010101" pitchFamily="34" charset="-79"/>
                <a:cs typeface="David" panose="020E0502060401010101" pitchFamily="34" charset="-79"/>
              </a:rPr>
              <a:t>תוציא החוצה את הבן שלך ונהרוג אותו.</a:t>
            </a:r>
            <a:r>
              <a:rPr lang="he-IL" sz="3200" dirty="0" smtClean="0">
                <a:solidFill>
                  <a:prstClr val="black"/>
                </a:solidFill>
                <a:latin typeface="David" panose="020E0502060401010101" pitchFamily="34" charset="-79"/>
                <a:cs typeface="David" panose="020E0502060401010101" pitchFamily="34" charset="-79"/>
              </a:rPr>
              <a:t> על כך שהרס את מזבח הבעל וגם כרת את עץ האשרה שהיה נטוע.</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6115791" y="176772"/>
            <a:ext cx="5902037" cy="3970318"/>
          </a:xfrm>
          <a:prstGeom prst="rect">
            <a:avLst/>
          </a:prstGeom>
          <a:solidFill>
            <a:schemeClr val="accent3">
              <a:lumMod val="60000"/>
              <a:lumOff val="40000"/>
            </a:schemeClr>
          </a:solidFill>
        </p:spPr>
        <p:txBody>
          <a:bodyPr wrap="square">
            <a:spAutoFit/>
          </a:bodyPr>
          <a:lstStyle/>
          <a:p>
            <a:r>
              <a:rPr lang="he-IL" sz="2800" b="1" u="sng" dirty="0" err="1">
                <a:latin typeface="David" panose="020E0502060401010101" pitchFamily="34" charset="-79"/>
                <a:cs typeface="David" panose="020E0502060401010101" pitchFamily="34" charset="-79"/>
              </a:rPr>
              <a:t>כח</a:t>
            </a:r>
            <a:r>
              <a:rPr lang="he-IL" sz="2800" dirty="0">
                <a:latin typeface="David" panose="020E0502060401010101" pitchFamily="34" charset="-79"/>
                <a:cs typeface="David" panose="020E0502060401010101" pitchFamily="34" charset="-79"/>
              </a:rPr>
              <a:t> וַיַּשְׁכִּימוּ אַנְשֵׁי הָעִיר, בַּבֹּקֶר, </a:t>
            </a:r>
            <a:r>
              <a:rPr lang="he-IL" sz="2800" b="1" dirty="0">
                <a:latin typeface="David" panose="020E0502060401010101" pitchFamily="34" charset="-79"/>
                <a:cs typeface="David" panose="020E0502060401010101" pitchFamily="34" charset="-79"/>
              </a:rPr>
              <a:t>וְהִנֵּה נֻתַּץ מִזְבַּח הַבַּעַל, וְהָאֲשֵׁרָה אֲשֶׁר-עָלָיו כֹּרָתָה</a:t>
            </a:r>
            <a:r>
              <a:rPr lang="he-IL" sz="2800" dirty="0">
                <a:latin typeface="David" panose="020E0502060401010101" pitchFamily="34" charset="-79"/>
                <a:cs typeface="David" panose="020E0502060401010101" pitchFamily="34" charset="-79"/>
              </a:rPr>
              <a:t>; וְאֵת, הַפָּר הַשֵּׁנִי, הֹעֲלָה, עַל-הַמִּזְבֵּחַ הַבָּנוּי.  </a:t>
            </a:r>
            <a:endParaRPr lang="he-IL" sz="2800" dirty="0" smtClean="0">
              <a:latin typeface="David" panose="020E0502060401010101" pitchFamily="34" charset="-79"/>
              <a:cs typeface="David" panose="020E0502060401010101" pitchFamily="34" charset="-79"/>
            </a:endParaRPr>
          </a:p>
          <a:p>
            <a:r>
              <a:rPr lang="he-IL" sz="2800" b="1" u="sng" dirty="0" err="1" smtClean="0">
                <a:latin typeface="David" panose="020E0502060401010101" pitchFamily="34" charset="-79"/>
                <a:cs typeface="David" panose="020E0502060401010101" pitchFamily="34" charset="-79"/>
              </a:rPr>
              <a:t>כט</a:t>
            </a:r>
            <a:r>
              <a:rPr lang="he-IL" sz="2800" dirty="0" smtClean="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וַיֹּאמְרוּ אִישׁ אֶל-רֵעֵהוּ, </a:t>
            </a:r>
            <a:r>
              <a:rPr lang="he-IL" sz="2800" b="1" dirty="0">
                <a:latin typeface="David" panose="020E0502060401010101" pitchFamily="34" charset="-79"/>
                <a:cs typeface="David" panose="020E0502060401010101" pitchFamily="34" charset="-79"/>
              </a:rPr>
              <a:t>מִי עָשָׂה הַדָּבָר הַזֶּה</a:t>
            </a:r>
            <a:r>
              <a:rPr lang="he-IL" sz="2800" dirty="0">
                <a:latin typeface="David" panose="020E0502060401010101" pitchFamily="34" charset="-79"/>
                <a:cs typeface="David" panose="020E0502060401010101" pitchFamily="34" charset="-79"/>
              </a:rPr>
              <a:t>; וַיִּדְרְשׁוּ, וַיְבַקְשׁוּ--וַיֹּאמְרוּ, גִּדְעוֹן בֶּן-יוֹאָשׁ עָשָׂה הַדָּבָר הַזֶּה.  </a:t>
            </a:r>
            <a:endParaRPr lang="he-IL" sz="2800" dirty="0" smtClean="0">
              <a:latin typeface="David" panose="020E0502060401010101" pitchFamily="34" charset="-79"/>
              <a:cs typeface="David" panose="020E0502060401010101" pitchFamily="34" charset="-79"/>
            </a:endParaRPr>
          </a:p>
          <a:p>
            <a:r>
              <a:rPr lang="he-IL" sz="2800" b="1" u="sng" dirty="0" smtClean="0">
                <a:latin typeface="David" panose="020E0502060401010101" pitchFamily="34" charset="-79"/>
                <a:cs typeface="David" panose="020E0502060401010101" pitchFamily="34" charset="-79"/>
              </a:rPr>
              <a:t>ל</a:t>
            </a:r>
            <a:r>
              <a:rPr lang="he-IL" sz="2800" dirty="0" smtClean="0">
                <a:latin typeface="David" panose="020E0502060401010101" pitchFamily="34" charset="-79"/>
                <a:cs typeface="David" panose="020E0502060401010101" pitchFamily="34" charset="-79"/>
              </a:rPr>
              <a:t> </a:t>
            </a:r>
            <a:r>
              <a:rPr lang="he-IL" sz="2800" dirty="0">
                <a:latin typeface="David" panose="020E0502060401010101" pitchFamily="34" charset="-79"/>
                <a:cs typeface="David" panose="020E0502060401010101" pitchFamily="34" charset="-79"/>
              </a:rPr>
              <a:t>וַיֹּאמְרוּ אַנְשֵׁי הָעִיר, אֶל-יוֹאָשׁ, </a:t>
            </a:r>
            <a:r>
              <a:rPr lang="he-IL" sz="2800" b="1" dirty="0">
                <a:latin typeface="David" panose="020E0502060401010101" pitchFamily="34" charset="-79"/>
                <a:cs typeface="David" panose="020E0502060401010101" pitchFamily="34" charset="-79"/>
              </a:rPr>
              <a:t>הוֹצֵא אֶת-בִּנְךָ, וְיָמֹת:</a:t>
            </a:r>
            <a:r>
              <a:rPr lang="he-IL" sz="2800" dirty="0">
                <a:latin typeface="David" panose="020E0502060401010101" pitchFamily="34" charset="-79"/>
                <a:cs typeface="David" panose="020E0502060401010101" pitchFamily="34" charset="-79"/>
              </a:rPr>
              <a:t>  כִּי נָתַץ אֶת-מִזְבַּח הַבַּעַל, וְכִי כָרַת הָאֲשֵׁרָה אֲשֶׁר-עָלָיו. </a:t>
            </a:r>
          </a:p>
        </p:txBody>
      </p:sp>
      <p:sp>
        <p:nvSpPr>
          <p:cNvPr id="4" name="Google Shape;110;p15"/>
          <p:cNvSpPr txBox="1"/>
          <p:nvPr/>
        </p:nvSpPr>
        <p:spPr>
          <a:xfrm>
            <a:off x="5949538" y="4269591"/>
            <a:ext cx="5378456" cy="2318139"/>
          </a:xfrm>
          <a:prstGeom prst="rect">
            <a:avLst/>
          </a:prstGeom>
          <a:solidFill>
            <a:srgbClr val="FFFF00"/>
          </a:solidFill>
          <a:ln w="60325" cap="flat" cmpd="sng">
            <a:solidFill>
              <a:srgbClr val="C00000"/>
            </a:solidFill>
            <a:prstDash val="solid"/>
            <a:round/>
            <a:headEnd type="none" w="sm" len="sm"/>
            <a:tailEnd type="none" w="sm" len="sm"/>
          </a:ln>
          <a:scene3d>
            <a:camera prst="perspectiveLeft"/>
            <a:lightRig rig="threePt" dir="t"/>
          </a:scene3d>
        </p:spPr>
        <p:txBody>
          <a:bodyPr spcFirstLastPara="1" wrap="square" lIns="91425" tIns="45700" rIns="91425" bIns="45700" anchor="t" anchorCtr="0">
            <a:noAutofit/>
          </a:bodyPr>
          <a:lstStyle/>
          <a:p>
            <a:pPr marL="0" marR="0" lvl="0" indent="0" defTabSz="914400" rtl="1" eaLnBrk="1" fontAlgn="auto" latinLnBrk="0" hangingPunct="1">
              <a:lnSpc>
                <a:spcPct val="100000"/>
              </a:lnSpc>
              <a:spcBef>
                <a:spcPts val="0"/>
              </a:spcBef>
              <a:spcAft>
                <a:spcPts val="0"/>
              </a:spcAft>
              <a:buClr>
                <a:srgbClr val="C00000"/>
              </a:buClr>
              <a:buSzPts val="3200"/>
              <a:buFont typeface="Arial"/>
              <a:buNone/>
              <a:tabLst/>
              <a:defRPr/>
            </a:pPr>
            <a:r>
              <a:rPr kumimoji="0" lang="he-IL" sz="2800" b="1" i="0" u="sng" strike="noStrike" kern="0" cap="none" spc="0" normalizeH="0" baseline="0" noProof="0" dirty="0" smtClean="0">
                <a:ln>
                  <a:noFill/>
                </a:ln>
                <a:solidFill>
                  <a:srgbClr val="000000"/>
                </a:solidFill>
                <a:effectLst/>
                <a:uLnTx/>
                <a:uFillTx/>
                <a:latin typeface="David" panose="020E0502060401010101" pitchFamily="34" charset="-79"/>
                <a:ea typeface="Arial"/>
                <a:cs typeface="David" panose="020E0502060401010101" pitchFamily="34" charset="-79"/>
                <a:sym typeface="Arial"/>
              </a:rPr>
              <a:t>מדוע</a:t>
            </a:r>
            <a:r>
              <a:rPr kumimoji="0" lang="he-IL" sz="2800" b="1" i="0" u="sng" strike="noStrike" kern="0" cap="none" spc="0" normalizeH="0" noProof="0" dirty="0" smtClean="0">
                <a:ln>
                  <a:noFill/>
                </a:ln>
                <a:solidFill>
                  <a:srgbClr val="000000"/>
                </a:solidFill>
                <a:effectLst/>
                <a:uLnTx/>
                <a:uFillTx/>
                <a:latin typeface="David" panose="020E0502060401010101" pitchFamily="34" charset="-79"/>
                <a:ea typeface="Arial"/>
                <a:cs typeface="David" panose="020E0502060401010101" pitchFamily="34" charset="-79"/>
                <a:sym typeface="Arial"/>
              </a:rPr>
              <a:t> חשדו ישר בגדעון?</a:t>
            </a:r>
          </a:p>
          <a:p>
            <a:pPr marL="0" marR="0" lvl="0" indent="0" defTabSz="914400" rtl="1" eaLnBrk="1" fontAlgn="auto" latinLnBrk="0" hangingPunct="1">
              <a:lnSpc>
                <a:spcPct val="100000"/>
              </a:lnSpc>
              <a:spcBef>
                <a:spcPts val="0"/>
              </a:spcBef>
              <a:spcAft>
                <a:spcPts val="0"/>
              </a:spcAft>
              <a:buClr>
                <a:srgbClr val="C00000"/>
              </a:buClr>
              <a:buSzPts val="3200"/>
              <a:buFont typeface="Arial"/>
              <a:buNone/>
              <a:tabLst/>
              <a:defRPr/>
            </a:pPr>
            <a:r>
              <a:rPr lang="he-IL" sz="2400" kern="0" baseline="0" dirty="0" smtClean="0">
                <a:solidFill>
                  <a:srgbClr val="000000"/>
                </a:solidFill>
                <a:latin typeface="David" panose="020E0502060401010101" pitchFamily="34" charset="-79"/>
                <a:ea typeface="Arial"/>
                <a:cs typeface="David" panose="020E0502060401010101" pitchFamily="34" charset="-79"/>
                <a:sym typeface="Arial"/>
              </a:rPr>
              <a:t>כיוון</a:t>
            </a:r>
            <a:r>
              <a:rPr lang="he-IL" sz="2400" kern="0" dirty="0" smtClean="0">
                <a:solidFill>
                  <a:srgbClr val="000000"/>
                </a:solidFill>
                <a:latin typeface="David" panose="020E0502060401010101" pitchFamily="34" charset="-79"/>
                <a:ea typeface="Arial"/>
                <a:cs typeface="David" panose="020E0502060401010101" pitchFamily="34" charset="-79"/>
                <a:sym typeface="Arial"/>
              </a:rPr>
              <a:t> שכל מעשיהם של אנשי עפרה היו רעים, ולא נמצא מעשה טוב אלא בגדעון שהיה מכבד את אביו כמו שראינו למעלה (שהוא חבט בחיטים בגת במקום אביו). לפיכך חשדו אותו מיד. </a:t>
            </a:r>
            <a:endParaRPr kumimoji="0" sz="2400" b="0" i="0" u="none" strike="noStrike" kern="0" cap="none" spc="0" normalizeH="0" baseline="0" noProof="0" dirty="0">
              <a:ln>
                <a:noFill/>
              </a:ln>
              <a:solidFill>
                <a:srgbClr val="000000"/>
              </a:solidFill>
              <a:effectLst/>
              <a:uLnTx/>
              <a:uFillTx/>
              <a:latin typeface="David" panose="020E0502060401010101" pitchFamily="34" charset="-79"/>
              <a:ea typeface="Arial"/>
              <a:cs typeface="David" panose="020E0502060401010101" pitchFamily="34" charset="-79"/>
              <a:sym typeface="Arial"/>
            </a:endParaRPr>
          </a:p>
        </p:txBody>
      </p:sp>
    </p:spTree>
    <p:extLst>
      <p:ext uri="{BB962C8B-B14F-4D97-AF65-F5344CB8AC3E}">
        <p14:creationId xmlns:p14="http://schemas.microsoft.com/office/powerpoint/2010/main" val="4003746857"/>
      </p:ext>
    </p:extLst>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8" y="260627"/>
            <a:ext cx="5708072" cy="6494085"/>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לא</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אמר יואש לכל האנשים שהתקהלו לידו- </a:t>
            </a:r>
            <a:r>
              <a:rPr kumimoji="0" lang="he-IL" sz="32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האם מנה אתכם הבעל(הפסל) לתבוע את דינו?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(ולנקום את הנקמה שלו?</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והאם אתם סבורים שהוא זקוק לעזרתכם? מי שימשיך לבקש את נקמת הבעל ייהרג. אלא נמתין עד מחר, ואם יש </a:t>
            </a:r>
            <a:r>
              <a:rPr kumimoji="0" lang="he-IL" sz="3200" b="0" i="0" u="none" strike="noStrike" kern="1200" cap="none" spc="0" normalizeH="0" noProof="0" dirty="0" err="1" smtClean="0">
                <a:ln>
                  <a:noFill/>
                </a:ln>
                <a:solidFill>
                  <a:prstClr val="black"/>
                </a:solidFill>
                <a:effectLst/>
                <a:uLnTx/>
                <a:uFillTx/>
                <a:latin typeface="David" panose="020E0502060401010101" pitchFamily="34" charset="-79"/>
                <a:ea typeface="+mn-ea"/>
                <a:cs typeface="David" panose="020E0502060401010101" pitchFamily="34" charset="-79"/>
              </a:rPr>
              <a:t>כח</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לבעל הוא עצמו ינקום במי שהרס את המזבח שלו.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baseline="0" dirty="0" smtClean="0">
                <a:solidFill>
                  <a:prstClr val="black"/>
                </a:solidFill>
                <a:latin typeface="David" panose="020E0502060401010101" pitchFamily="34" charset="-79"/>
                <a:cs typeface="David" panose="020E0502060401010101" pitchFamily="34" charset="-79"/>
              </a:rPr>
              <a:t>לב</a:t>
            </a:r>
            <a:r>
              <a:rPr lang="he-IL" sz="3200" baseline="0" dirty="0" smtClean="0">
                <a:solidFill>
                  <a:prstClr val="black"/>
                </a:solidFill>
                <a:latin typeface="David" panose="020E0502060401010101" pitchFamily="34" charset="-79"/>
                <a:cs typeface="David" panose="020E0502060401010101" pitchFamily="34" charset="-79"/>
              </a:rPr>
              <a:t>. יואש קרא לבנו גדעון בשם </a:t>
            </a:r>
            <a:r>
              <a:rPr lang="he-IL" sz="3200" b="1" baseline="0" dirty="0" smtClean="0">
                <a:solidFill>
                  <a:prstClr val="black"/>
                </a:solidFill>
                <a:latin typeface="David" panose="020E0502060401010101" pitchFamily="34" charset="-79"/>
                <a:cs typeface="David" panose="020E0502060401010101" pitchFamily="34" charset="-79"/>
              </a:rPr>
              <a:t>"</a:t>
            </a:r>
            <a:r>
              <a:rPr lang="he-IL" sz="3200" b="1" baseline="0" dirty="0" err="1" smtClean="0">
                <a:solidFill>
                  <a:prstClr val="black"/>
                </a:solidFill>
                <a:latin typeface="David" panose="020E0502060401010101" pitchFamily="34" charset="-79"/>
                <a:cs typeface="David" panose="020E0502060401010101" pitchFamily="34" charset="-79"/>
              </a:rPr>
              <a:t>ירובעל</a:t>
            </a:r>
            <a:r>
              <a:rPr lang="he-IL" sz="3200" b="1" baseline="0" dirty="0" smtClean="0">
                <a:solidFill>
                  <a:prstClr val="black"/>
                </a:solidFill>
                <a:latin typeface="David" panose="020E0502060401010101" pitchFamily="34" charset="-79"/>
                <a:cs typeface="David" panose="020E0502060401010101" pitchFamily="34" charset="-79"/>
              </a:rPr>
              <a:t>" מלשון יריב ויפרע ממנו הבעל </a:t>
            </a:r>
            <a:r>
              <a:rPr lang="he-IL" sz="3200" baseline="0" dirty="0" smtClean="0">
                <a:solidFill>
                  <a:prstClr val="black"/>
                </a:solidFill>
                <a:latin typeface="David" panose="020E0502060401010101" pitchFamily="34" charset="-79"/>
                <a:cs typeface="David" panose="020E0502060401010101" pitchFamily="34" charset="-79"/>
              </a:rPr>
              <a:t>(</a:t>
            </a:r>
            <a:r>
              <a:rPr lang="he-IL" sz="3200" baseline="0" dirty="0" err="1" smtClean="0">
                <a:solidFill>
                  <a:prstClr val="black"/>
                </a:solidFill>
                <a:latin typeface="David" panose="020E0502060401010101" pitchFamily="34" charset="-79"/>
                <a:cs typeface="David" panose="020E0502060401010101" pitchFamily="34" charset="-79"/>
              </a:rPr>
              <a:t>ירב</a:t>
            </a:r>
            <a:r>
              <a:rPr lang="he-IL" sz="3200" baseline="0" dirty="0" smtClean="0">
                <a:solidFill>
                  <a:prstClr val="black"/>
                </a:solidFill>
                <a:latin typeface="David" panose="020E0502060401010101" pitchFamily="34" charset="-79"/>
                <a:cs typeface="David" panose="020E0502060401010101" pitchFamily="34" charset="-79"/>
              </a:rPr>
              <a:t>- בעל) על אשר הרס לו את המזבח.</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6068291" y="245237"/>
            <a:ext cx="5973288" cy="4093428"/>
          </a:xfrm>
          <a:prstGeom prst="rect">
            <a:avLst/>
          </a:prstGeom>
          <a:solidFill>
            <a:schemeClr val="accent2">
              <a:lumMod val="60000"/>
              <a:lumOff val="40000"/>
            </a:schemeClr>
          </a:solidFill>
        </p:spPr>
        <p:txBody>
          <a:bodyPr wrap="square">
            <a:spAutoFit/>
          </a:bodyPr>
          <a:lstStyle/>
          <a:p>
            <a:r>
              <a:rPr lang="he-IL" sz="3200" b="1" u="sng" dirty="0">
                <a:latin typeface="David" panose="020E0502060401010101" pitchFamily="34" charset="-79"/>
                <a:cs typeface="David" panose="020E0502060401010101" pitchFamily="34" charset="-79"/>
              </a:rPr>
              <a:t>לא </a:t>
            </a:r>
            <a:r>
              <a:rPr lang="he-IL" sz="3200" dirty="0">
                <a:latin typeface="David" panose="020E0502060401010101" pitchFamily="34" charset="-79"/>
                <a:cs typeface="David" panose="020E0502060401010101" pitchFamily="34" charset="-79"/>
              </a:rPr>
              <a:t>וַיֹּאמֶר יוֹאָשׁ לְכֹל אֲשֶׁר-עָמְדוּ עָלָיו </a:t>
            </a:r>
            <a:r>
              <a:rPr lang="he-IL" sz="3200" b="1" dirty="0" err="1">
                <a:latin typeface="David" panose="020E0502060401010101" pitchFamily="34" charset="-79"/>
                <a:cs typeface="David" panose="020E0502060401010101" pitchFamily="34" charset="-79"/>
              </a:rPr>
              <a:t>הַאַתֶּם</a:t>
            </a:r>
            <a:r>
              <a:rPr lang="he-IL" sz="3200" b="1" dirty="0">
                <a:latin typeface="David" panose="020E0502060401010101" pitchFamily="34" charset="-79"/>
                <a:cs typeface="David" panose="020E0502060401010101" pitchFamily="34" charset="-79"/>
              </a:rPr>
              <a:t> </a:t>
            </a:r>
            <a:r>
              <a:rPr lang="he-IL" sz="3200" b="1" dirty="0" err="1">
                <a:latin typeface="David" panose="020E0502060401010101" pitchFamily="34" charset="-79"/>
                <a:cs typeface="David" panose="020E0502060401010101" pitchFamily="34" charset="-79"/>
              </a:rPr>
              <a:t>תְּרִיבוּן</a:t>
            </a:r>
            <a:r>
              <a:rPr lang="he-IL" sz="3200" b="1" dirty="0">
                <a:latin typeface="David" panose="020E0502060401010101" pitchFamily="34" charset="-79"/>
                <a:cs typeface="David" panose="020E0502060401010101" pitchFamily="34" charset="-79"/>
              </a:rPr>
              <a:t> לַבַּעַל</a:t>
            </a:r>
            <a:r>
              <a:rPr lang="he-IL" sz="3200" dirty="0">
                <a:latin typeface="David" panose="020E0502060401010101" pitchFamily="34" charset="-79"/>
                <a:cs typeface="David" panose="020E0502060401010101" pitchFamily="34" charset="-79"/>
              </a:rPr>
              <a:t>, אִם-אַתֶּם תּוֹשִׁיעוּן אוֹתוֹ, </a:t>
            </a:r>
            <a:r>
              <a:rPr lang="he-IL" sz="3200" b="1" dirty="0">
                <a:latin typeface="David" panose="020E0502060401010101" pitchFamily="34" charset="-79"/>
                <a:cs typeface="David" panose="020E0502060401010101" pitchFamily="34" charset="-79"/>
              </a:rPr>
              <a:t>אֲשֶׁר יָרִיב לוֹ יוּמַת, עַד-הַבֹּקֶר;</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אִם-אֱלֹהִים</a:t>
            </a:r>
            <a:r>
              <a:rPr lang="he-IL" sz="3200" dirty="0">
                <a:latin typeface="David" panose="020E0502060401010101" pitchFamily="34" charset="-79"/>
                <a:cs typeface="David" panose="020E0502060401010101" pitchFamily="34" charset="-79"/>
              </a:rPr>
              <a:t> הוּא </a:t>
            </a:r>
            <a:r>
              <a:rPr lang="he-IL" sz="3200" dirty="0" err="1">
                <a:latin typeface="David" panose="020E0502060401010101" pitchFamily="34" charset="-79"/>
                <a:cs typeface="David" panose="020E0502060401010101" pitchFamily="34" charset="-79"/>
              </a:rPr>
              <a:t>יָרֶב</a:t>
            </a:r>
            <a:r>
              <a:rPr lang="he-IL" sz="3200" dirty="0">
                <a:latin typeface="David" panose="020E0502060401010101" pitchFamily="34" charset="-79"/>
                <a:cs typeface="David" panose="020E0502060401010101" pitchFamily="34" charset="-79"/>
              </a:rPr>
              <a:t> לוֹ, כִּי נָתַץ אֶת-מִזְבְּחוֹ.  </a:t>
            </a:r>
            <a:endParaRPr lang="he-IL" sz="3200" dirty="0" smtClean="0">
              <a:latin typeface="David" panose="020E0502060401010101" pitchFamily="34" charset="-79"/>
              <a:cs typeface="David" panose="020E0502060401010101" pitchFamily="34" charset="-79"/>
            </a:endParaRPr>
          </a:p>
          <a:p>
            <a:r>
              <a:rPr lang="he-IL" sz="3200" b="1" u="sng" dirty="0" smtClean="0">
                <a:latin typeface="David" panose="020E0502060401010101" pitchFamily="34" charset="-79"/>
                <a:cs typeface="David" panose="020E0502060401010101" pitchFamily="34" charset="-79"/>
              </a:rPr>
              <a:t>לב</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וַיִּקְרָא-לוֹ בַיּוֹם-הַהוּא,</a:t>
            </a:r>
            <a:r>
              <a:rPr lang="he-IL" sz="3600" b="1" dirty="0">
                <a:solidFill>
                  <a:srgbClr val="C00000"/>
                </a:solidFill>
                <a:latin typeface="David" panose="020E0502060401010101" pitchFamily="34" charset="-79"/>
                <a:cs typeface="David" panose="020E0502060401010101" pitchFamily="34" charset="-79"/>
              </a:rPr>
              <a:t> </a:t>
            </a:r>
            <a:r>
              <a:rPr lang="he-IL" sz="3600" b="1" dirty="0" err="1">
                <a:solidFill>
                  <a:srgbClr val="C00000"/>
                </a:solidFill>
                <a:latin typeface="David" panose="020E0502060401010101" pitchFamily="34" charset="-79"/>
                <a:cs typeface="David" panose="020E0502060401010101" pitchFamily="34" charset="-79"/>
              </a:rPr>
              <a:t>יְרֻבַּעַל</a:t>
            </a:r>
            <a:r>
              <a:rPr lang="he-IL" sz="3600" b="1" dirty="0">
                <a:solidFill>
                  <a:srgbClr val="C00000"/>
                </a:solidFill>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לֵאמֹר</a:t>
            </a:r>
            <a:r>
              <a:rPr lang="he-IL" sz="3200" dirty="0">
                <a:latin typeface="David" panose="020E0502060401010101" pitchFamily="34" charset="-79"/>
                <a:cs typeface="David" panose="020E0502060401010101" pitchFamily="34" charset="-79"/>
              </a:rPr>
              <a:t>:  </a:t>
            </a:r>
            <a:r>
              <a:rPr lang="he-IL" sz="3200" b="1" dirty="0" err="1">
                <a:latin typeface="David" panose="020E0502060401010101" pitchFamily="34" charset="-79"/>
                <a:cs typeface="David" panose="020E0502060401010101" pitchFamily="34" charset="-79"/>
              </a:rPr>
              <a:t>יָרֶב</a:t>
            </a:r>
            <a:r>
              <a:rPr lang="he-IL" sz="3200" b="1" dirty="0">
                <a:latin typeface="David" panose="020E0502060401010101" pitchFamily="34" charset="-79"/>
                <a:cs typeface="David" panose="020E0502060401010101" pitchFamily="34" charset="-79"/>
              </a:rPr>
              <a:t> בּוֹ הַבַּעַל</a:t>
            </a:r>
            <a:r>
              <a:rPr lang="he-IL" sz="3200" dirty="0">
                <a:latin typeface="David" panose="020E0502060401010101" pitchFamily="34" charset="-79"/>
                <a:cs typeface="David" panose="020E0502060401010101" pitchFamily="34" charset="-79"/>
              </a:rPr>
              <a:t>, כִּי נָתַץ אֶת-מִזְבְּחוֹ. </a:t>
            </a:r>
          </a:p>
        </p:txBody>
      </p:sp>
      <p:sp>
        <p:nvSpPr>
          <p:cNvPr id="4" name="מלבן 3"/>
          <p:cNvSpPr/>
          <p:nvPr/>
        </p:nvSpPr>
        <p:spPr>
          <a:xfrm>
            <a:off x="6483927" y="4338665"/>
            <a:ext cx="5450774" cy="2431435"/>
          </a:xfrm>
          <a:prstGeom prst="rect">
            <a:avLst/>
          </a:prstGeom>
          <a:solidFill>
            <a:schemeClr val="accent6">
              <a:lumMod val="40000"/>
              <a:lumOff val="60000"/>
            </a:schemeClr>
          </a:solidFill>
        </p:spPr>
        <p:txBody>
          <a:bodyPr wrap="square">
            <a:spAutoFit/>
          </a:bodyPr>
          <a:lstStyle/>
          <a:p>
            <a:r>
              <a:rPr lang="he-IL" sz="3200" b="1" u="sng" dirty="0">
                <a:latin typeface="David" panose="020E0502060401010101" pitchFamily="34" charset="-79"/>
                <a:cs typeface="David" panose="020E0502060401010101" pitchFamily="34" charset="-79"/>
              </a:rPr>
              <a:t>"אם </a:t>
            </a:r>
            <a:r>
              <a:rPr lang="he-IL" sz="3200" b="1" u="sng" dirty="0" err="1">
                <a:latin typeface="David" panose="020E0502060401010101" pitchFamily="34" charset="-79"/>
                <a:cs typeface="David" panose="020E0502060401010101" pitchFamily="34" charset="-79"/>
              </a:rPr>
              <a:t>אלהים</a:t>
            </a:r>
            <a:r>
              <a:rPr lang="he-IL" sz="3200" b="1" u="sng" dirty="0">
                <a:latin typeface="David" panose="020E0502060401010101" pitchFamily="34" charset="-79"/>
                <a:cs typeface="David" panose="020E0502060401010101" pitchFamily="34" charset="-79"/>
              </a:rPr>
              <a:t> הוא" </a:t>
            </a:r>
            <a:r>
              <a:rPr lang="he-IL" sz="3200" b="1" dirty="0">
                <a:latin typeface="David" panose="020E0502060401010101" pitchFamily="34" charset="-79"/>
                <a:cs typeface="David" panose="020E0502060401010101" pitchFamily="34" charset="-79"/>
              </a:rPr>
              <a:t>-</a:t>
            </a:r>
            <a:r>
              <a:rPr lang="he-IL" sz="4800" b="1" dirty="0">
                <a:latin typeface="David" panose="020E0502060401010101" pitchFamily="34" charset="-79"/>
                <a:cs typeface="David" panose="020E0502060401010101" pitchFamily="34" charset="-79"/>
              </a:rPr>
              <a:t> </a:t>
            </a:r>
            <a:r>
              <a:rPr lang="he-IL" sz="2800" dirty="0">
                <a:latin typeface="Guttman Rashi" panose="02010401010101010101" pitchFamily="2" charset="-79"/>
                <a:cs typeface="Guttman Rashi" panose="02010401010101010101" pitchFamily="2" charset="-79"/>
              </a:rPr>
              <a:t>יריב הוא לעצמו ריבו ונקמתו </a:t>
            </a:r>
            <a:r>
              <a:rPr lang="he-IL" sz="2800" b="1" dirty="0">
                <a:latin typeface="Guttman Rashi" panose="02010401010101010101" pitchFamily="2" charset="-79"/>
                <a:cs typeface="Guttman Rashi" panose="02010401010101010101" pitchFamily="2" charset="-79"/>
              </a:rPr>
              <a:t>וכדי לדחותם עד שיברח גדעון היה אומר </a:t>
            </a:r>
            <a:r>
              <a:rPr lang="he-IL" sz="2800" b="1" dirty="0" smtClean="0">
                <a:latin typeface="Guttman Rashi" panose="02010401010101010101" pitchFamily="2" charset="-79"/>
                <a:cs typeface="Guttman Rashi" panose="02010401010101010101" pitchFamily="2" charset="-79"/>
              </a:rPr>
              <a:t>כן – </a:t>
            </a:r>
          </a:p>
          <a:p>
            <a:r>
              <a:rPr lang="he-IL" sz="2400" dirty="0" smtClean="0">
                <a:latin typeface="David" panose="020E0502060401010101" pitchFamily="34" charset="-79"/>
                <a:cs typeface="David" panose="020E0502060401010101" pitchFamily="34" charset="-79"/>
              </a:rPr>
              <a:t>יואש אמר להם כך נחכה עד הבקר כדי למשוך זמן שגדעון יוכל לברוח עד הבקר. </a:t>
            </a:r>
            <a:endParaRPr lang="he-IL" sz="28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07249293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261257" y="147855"/>
            <a:ext cx="5869815" cy="3416320"/>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לג</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אחרי כל זה כל אנשי מדיין ועמלק והאנשים שישבו בקרבתם,</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נאספו יחד להשחית את תבואת ישראל ועברו כולם את הירדן וחנו בעמק יזרעאל. </a:t>
            </a:r>
            <a:r>
              <a:rPr kumimoji="0" lang="he-IL" sz="28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מדיין ועמלק תכננו כמו כל שנה להגיע ולהשחית את היבול, אולם הפעם חיכתה להם הפתעה}. </a:t>
            </a:r>
            <a:endParaRPr kumimoji="0" lang="he-IL" sz="28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6554233" y="60572"/>
            <a:ext cx="5272644" cy="1569660"/>
          </a:xfrm>
          <a:prstGeom prst="rect">
            <a:avLst/>
          </a:prstGeom>
          <a:solidFill>
            <a:schemeClr val="accent1">
              <a:lumMod val="60000"/>
              <a:lumOff val="40000"/>
            </a:schemeClr>
          </a:solidFill>
        </p:spPr>
        <p:txBody>
          <a:bodyPr wrap="square">
            <a:spAutoFit/>
          </a:bodyPr>
          <a:lstStyle/>
          <a:p>
            <a:r>
              <a:rPr lang="he-IL" sz="3200" b="1" dirty="0">
                <a:latin typeface="David" panose="020E0502060401010101" pitchFamily="34" charset="-79"/>
                <a:cs typeface="David" panose="020E0502060401010101" pitchFamily="34" charset="-79"/>
              </a:rPr>
              <a:t>לג</a:t>
            </a:r>
            <a:r>
              <a:rPr lang="he-IL" sz="3200" dirty="0">
                <a:latin typeface="David" panose="020E0502060401010101" pitchFamily="34" charset="-79"/>
                <a:cs typeface="David" panose="020E0502060401010101" pitchFamily="34" charset="-79"/>
              </a:rPr>
              <a:t> וְכָל-מִדְיָן וַעֲמָלֵק וּבְנֵי-קֶדֶם, נֶאֶסְפוּ יַחְדָּו; וַיַּעַבְרוּ וַיַּחֲנוּ, בְּעֵמֶק יִזְרְעֶאל.  </a:t>
            </a:r>
            <a:endParaRPr lang="he-IL" sz="3200" dirty="0" smtClean="0">
              <a:latin typeface="David" panose="020E0502060401010101" pitchFamily="34" charset="-79"/>
              <a:cs typeface="David" panose="020E0502060401010101" pitchFamily="34" charset="-79"/>
            </a:endParaRPr>
          </a:p>
        </p:txBody>
      </p:sp>
      <p:pic>
        <p:nvPicPr>
          <p:cNvPr id="4" name="תמונה 3"/>
          <p:cNvPicPr>
            <a:picLocks noChangeAspect="1"/>
          </p:cNvPicPr>
          <p:nvPr/>
        </p:nvPicPr>
        <p:blipFill>
          <a:blip r:embed="rId3"/>
          <a:stretch>
            <a:fillRect/>
          </a:stretch>
        </p:blipFill>
        <p:spPr>
          <a:xfrm>
            <a:off x="6350288" y="1814897"/>
            <a:ext cx="5547841" cy="4877223"/>
          </a:xfrm>
          <a:prstGeom prst="rect">
            <a:avLst/>
          </a:prstGeom>
        </p:spPr>
      </p:pic>
      <p:cxnSp>
        <p:nvCxnSpPr>
          <p:cNvPr id="5" name="Google Shape;162;p21"/>
          <p:cNvCxnSpPr/>
          <p:nvPr/>
        </p:nvCxnSpPr>
        <p:spPr>
          <a:xfrm>
            <a:off x="7374577" y="2826327"/>
            <a:ext cx="2315688" cy="1475696"/>
          </a:xfrm>
          <a:prstGeom prst="straightConnector1">
            <a:avLst/>
          </a:prstGeom>
          <a:noFill/>
          <a:ln w="57150" cap="flat" cmpd="sng">
            <a:solidFill>
              <a:schemeClr val="accent1"/>
            </a:solidFill>
            <a:prstDash val="solid"/>
            <a:miter lim="800000"/>
            <a:headEnd type="none" w="sm" len="sm"/>
            <a:tailEnd type="triangle" w="med" len="med"/>
          </a:ln>
        </p:spPr>
      </p:cxnSp>
      <p:sp>
        <p:nvSpPr>
          <p:cNvPr id="6" name="Google Shape;163;p21"/>
          <p:cNvSpPr txBox="1"/>
          <p:nvPr/>
        </p:nvSpPr>
        <p:spPr>
          <a:xfrm>
            <a:off x="6131072" y="1950036"/>
            <a:ext cx="1535499" cy="1077218"/>
          </a:xfrm>
          <a:prstGeom prst="rect">
            <a:avLst/>
          </a:prstGeom>
          <a:noFill/>
          <a:ln>
            <a:noFill/>
          </a:ln>
        </p:spPr>
        <p:txBody>
          <a:bodyPr spcFirstLastPara="1" wrap="square" lIns="91425" tIns="45700" rIns="91425" bIns="45700" anchor="t" anchorCtr="0">
            <a:noAutofit/>
          </a:bodyPr>
          <a:lstStyle/>
          <a:p>
            <a:pPr marL="0" marR="0" lvl="0" indent="0" algn="r" rtl="1">
              <a:lnSpc>
                <a:spcPct val="100000"/>
              </a:lnSpc>
              <a:spcBef>
                <a:spcPts val="0"/>
              </a:spcBef>
              <a:spcAft>
                <a:spcPts val="0"/>
              </a:spcAft>
              <a:buClr>
                <a:srgbClr val="000000"/>
              </a:buClr>
              <a:buSzPts val="3200"/>
              <a:buFont typeface="Arial"/>
              <a:buNone/>
            </a:pPr>
            <a:r>
              <a:rPr lang="iw-IL" sz="3200" b="0" i="0" u="none" strike="noStrike" cap="none" dirty="0">
                <a:solidFill>
                  <a:schemeClr val="dk1"/>
                </a:solidFill>
                <a:latin typeface="Calibri"/>
                <a:ea typeface="Calibri"/>
                <a:cs typeface="Calibri"/>
                <a:sym typeface="Calibri"/>
              </a:rPr>
              <a:t>עמק יזרעאל</a:t>
            </a:r>
            <a:endParaRPr sz="1400" b="0" i="0" u="none" strike="noStrike" cap="none" dirty="0">
              <a:solidFill>
                <a:srgbClr val="000000"/>
              </a:solidFill>
              <a:latin typeface="Arial"/>
              <a:ea typeface="Arial"/>
              <a:cs typeface="Arial"/>
              <a:sym typeface="Arial"/>
            </a:endParaRPr>
          </a:p>
        </p:txBody>
      </p:sp>
      <p:pic>
        <p:nvPicPr>
          <p:cNvPr id="10" name="תמונה 9"/>
          <p:cNvPicPr>
            <a:picLocks noChangeAspect="1"/>
          </p:cNvPicPr>
          <p:nvPr/>
        </p:nvPicPr>
        <p:blipFill>
          <a:blip r:embed="rId4"/>
          <a:stretch>
            <a:fillRect/>
          </a:stretch>
        </p:blipFill>
        <p:spPr>
          <a:xfrm>
            <a:off x="807522" y="3636485"/>
            <a:ext cx="4458071" cy="3055635"/>
          </a:xfrm>
          <a:prstGeom prst="rect">
            <a:avLst/>
          </a:prstGeom>
          <a:ln w="88900" cap="sq" cmpd="thickThin">
            <a:solidFill>
              <a:srgbClr val="000000"/>
            </a:solidFill>
            <a:prstDash val="solid"/>
            <a:miter lim="800000"/>
          </a:ln>
          <a:effectLst>
            <a:innerShdw blurRad="76200">
              <a:srgbClr val="000000"/>
            </a:innerShdw>
          </a:effectLst>
          <a:scene3d>
            <a:camera prst="perspectiveAbove"/>
            <a:lightRig rig="threePt" dir="t"/>
          </a:scene3d>
        </p:spPr>
      </p:pic>
      <p:cxnSp>
        <p:nvCxnSpPr>
          <p:cNvPr id="11" name="Google Shape;162;p21"/>
          <p:cNvCxnSpPr/>
          <p:nvPr/>
        </p:nvCxnSpPr>
        <p:spPr>
          <a:xfrm flipH="1">
            <a:off x="4863620" y="2954251"/>
            <a:ext cx="1864323" cy="1532437"/>
          </a:xfrm>
          <a:prstGeom prst="straightConnector1">
            <a:avLst/>
          </a:prstGeom>
          <a:noFill/>
          <a:ln w="57150" cap="flat" cmpd="sng">
            <a:solidFill>
              <a:srgbClr val="00B050"/>
            </a:solidFill>
            <a:prstDash val="solid"/>
            <a:miter lim="800000"/>
            <a:headEnd type="none" w="sm" len="sm"/>
            <a:tailEnd type="triangle" w="med" len="med"/>
          </a:ln>
        </p:spPr>
      </p:cxnSp>
    </p:spTree>
    <p:extLst>
      <p:ext uri="{BB962C8B-B14F-4D97-AF65-F5344CB8AC3E}">
        <p14:creationId xmlns:p14="http://schemas.microsoft.com/office/powerpoint/2010/main" val="1272413958"/>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2000"/>
                                        <p:tgtEl>
                                          <p:spTgt spid="5"/>
                                        </p:tgtEl>
                                      </p:cBhvr>
                                    </p:animEffect>
                                    <p:anim calcmode="lin" valueType="num">
                                      <p:cBhvr>
                                        <p:cTn id="25" dur="2000" fill="hold"/>
                                        <p:tgtEl>
                                          <p:spTgt spid="5"/>
                                        </p:tgtEl>
                                        <p:attrNameLst>
                                          <p:attrName>ppt_w</p:attrName>
                                        </p:attrNameLst>
                                      </p:cBhvr>
                                      <p:tavLst>
                                        <p:tav tm="0" fmla="#ppt_w*sin(2.5*pi*$)">
                                          <p:val>
                                            <p:fltVal val="0"/>
                                          </p:val>
                                        </p:tav>
                                        <p:tav tm="100000">
                                          <p:val>
                                            <p:fltVal val="1"/>
                                          </p:val>
                                        </p:tav>
                                      </p:tavLst>
                                    </p:anim>
                                    <p:anim calcmode="lin" valueType="num">
                                      <p:cBhvr>
                                        <p:cTn id="26"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arn(inVertical)">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ircle(in)">
                                      <p:cBhvr>
                                        <p:cTn id="3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8" y="260627"/>
            <a:ext cx="5529942" cy="3539430"/>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לד</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ורוח גבורה מאת ה' נחה</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על גדעון ותקע בשופר והתאספו משפחת אביעזר משבט מנשה אחרי גדעון.</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noProof="0" dirty="0" smtClean="0">
                <a:solidFill>
                  <a:prstClr val="black"/>
                </a:solidFill>
                <a:latin typeface="David" panose="020E0502060401010101" pitchFamily="34" charset="-79"/>
                <a:cs typeface="David" panose="020E0502060401010101" pitchFamily="34" charset="-79"/>
              </a:rPr>
              <a:t>לה</a:t>
            </a:r>
            <a:r>
              <a:rPr lang="he-IL" sz="3200" noProof="0" dirty="0" smtClean="0">
                <a:solidFill>
                  <a:prstClr val="black"/>
                </a:solidFill>
                <a:latin typeface="David" panose="020E0502060401010101" pitchFamily="34" charset="-79"/>
                <a:cs typeface="David" panose="020E0502060401010101" pitchFamily="34" charset="-79"/>
              </a:rPr>
              <a:t>. ואחר כך שלח שליחים בכל שבט מנשה, וגם הם התאספו אליו, וגם שליחים שלח לשבטי אשר זבולון ונפתלי (ובאו מאזור הצפון) .</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5969330" y="260627"/>
            <a:ext cx="6096000" cy="2554545"/>
          </a:xfrm>
          <a:prstGeom prst="rect">
            <a:avLst/>
          </a:prstGeom>
          <a:solidFill>
            <a:schemeClr val="accent4">
              <a:lumMod val="60000"/>
              <a:lumOff val="40000"/>
            </a:schemeClr>
          </a:solidFill>
        </p:spPr>
        <p:txBody>
          <a:bodyPr>
            <a:spAutoFit/>
          </a:bodyPr>
          <a:lstStyle/>
          <a:p>
            <a:pPr lvl="0"/>
            <a:r>
              <a:rPr lang="he-IL" sz="3200" b="1" dirty="0">
                <a:solidFill>
                  <a:prstClr val="black"/>
                </a:solidFill>
                <a:latin typeface="David" panose="020E0502060401010101" pitchFamily="34" charset="-79"/>
                <a:cs typeface="David" panose="020E0502060401010101" pitchFamily="34" charset="-79"/>
              </a:rPr>
              <a:t>לד</a:t>
            </a:r>
            <a:r>
              <a:rPr lang="he-IL" sz="3200" dirty="0">
                <a:solidFill>
                  <a:prstClr val="black"/>
                </a:solidFill>
                <a:latin typeface="David" panose="020E0502060401010101" pitchFamily="34" charset="-79"/>
                <a:cs typeface="David" panose="020E0502060401010101" pitchFamily="34" charset="-79"/>
              </a:rPr>
              <a:t> וְרוּחַ יְהוָה, לָבְשָׁה אֶת-גִּדְעוֹן; ו</a:t>
            </a:r>
            <a:r>
              <a:rPr lang="he-IL" sz="3200" b="1" dirty="0">
                <a:solidFill>
                  <a:prstClr val="black"/>
                </a:solidFill>
                <a:latin typeface="David" panose="020E0502060401010101" pitchFamily="34" charset="-79"/>
                <a:cs typeface="David" panose="020E0502060401010101" pitchFamily="34" charset="-79"/>
              </a:rPr>
              <a:t>ַיִּתְקַע, בַּשּׁוֹפָר</a:t>
            </a:r>
            <a:r>
              <a:rPr lang="he-IL" sz="3200" dirty="0">
                <a:solidFill>
                  <a:prstClr val="black"/>
                </a:solidFill>
                <a:latin typeface="David" panose="020E0502060401010101" pitchFamily="34" charset="-79"/>
                <a:cs typeface="David" panose="020E0502060401010101" pitchFamily="34" charset="-79"/>
              </a:rPr>
              <a:t>, וַיִּזָּעֵק אֲבִיעֶזֶר, אַחֲרָיו.  </a:t>
            </a:r>
          </a:p>
          <a:p>
            <a:pPr lvl="0"/>
            <a:r>
              <a:rPr lang="he-IL" sz="3200" b="1" dirty="0">
                <a:solidFill>
                  <a:prstClr val="black"/>
                </a:solidFill>
                <a:latin typeface="David" panose="020E0502060401010101" pitchFamily="34" charset="-79"/>
                <a:cs typeface="David" panose="020E0502060401010101" pitchFamily="34" charset="-79"/>
              </a:rPr>
              <a:t>לה</a:t>
            </a:r>
            <a:r>
              <a:rPr lang="he-IL" sz="3200" dirty="0">
                <a:solidFill>
                  <a:prstClr val="black"/>
                </a:solidFill>
                <a:latin typeface="David" panose="020E0502060401010101" pitchFamily="34" charset="-79"/>
                <a:cs typeface="David" panose="020E0502060401010101" pitchFamily="34" charset="-79"/>
              </a:rPr>
              <a:t> </a:t>
            </a:r>
            <a:r>
              <a:rPr lang="he-IL" sz="3200" b="1" dirty="0">
                <a:solidFill>
                  <a:prstClr val="black"/>
                </a:solidFill>
                <a:latin typeface="David" panose="020E0502060401010101" pitchFamily="34" charset="-79"/>
                <a:cs typeface="David" panose="020E0502060401010101" pitchFamily="34" charset="-79"/>
              </a:rPr>
              <a:t>וּמַלְאָכִים</a:t>
            </a:r>
            <a:r>
              <a:rPr lang="he-IL" sz="3200" dirty="0">
                <a:solidFill>
                  <a:prstClr val="black"/>
                </a:solidFill>
                <a:latin typeface="David" panose="020E0502060401010101" pitchFamily="34" charset="-79"/>
                <a:cs typeface="David" panose="020E0502060401010101" pitchFamily="34" charset="-79"/>
              </a:rPr>
              <a:t> שָׁלַח ב</a:t>
            </a:r>
            <a:r>
              <a:rPr lang="he-IL" sz="3200" b="1" dirty="0">
                <a:solidFill>
                  <a:prstClr val="black"/>
                </a:solidFill>
                <a:latin typeface="David" panose="020E0502060401010101" pitchFamily="34" charset="-79"/>
                <a:cs typeface="David" panose="020E0502060401010101" pitchFamily="34" charset="-79"/>
              </a:rPr>
              <a:t>ְּכָל-מְנַשֶּׁה</a:t>
            </a:r>
            <a:r>
              <a:rPr lang="he-IL" sz="3200" dirty="0">
                <a:solidFill>
                  <a:prstClr val="black"/>
                </a:solidFill>
                <a:latin typeface="David" panose="020E0502060401010101" pitchFamily="34" charset="-79"/>
                <a:cs typeface="David" panose="020E0502060401010101" pitchFamily="34" charset="-79"/>
              </a:rPr>
              <a:t>, וַיִּזָּעֵק גַּם-הוּא אַחֲרָיו; וּמַלְאָכִים שָׁלַח, </a:t>
            </a:r>
            <a:r>
              <a:rPr lang="he-IL" sz="3200" b="1" dirty="0">
                <a:solidFill>
                  <a:prstClr val="black"/>
                </a:solidFill>
                <a:latin typeface="David" panose="020E0502060401010101" pitchFamily="34" charset="-79"/>
                <a:cs typeface="David" panose="020E0502060401010101" pitchFamily="34" charset="-79"/>
              </a:rPr>
              <a:t>בְּאָשֵׁר </a:t>
            </a:r>
            <a:r>
              <a:rPr lang="he-IL" sz="3200" b="1" dirty="0" err="1">
                <a:solidFill>
                  <a:prstClr val="black"/>
                </a:solidFill>
                <a:latin typeface="David" panose="020E0502060401010101" pitchFamily="34" charset="-79"/>
                <a:cs typeface="David" panose="020E0502060401010101" pitchFamily="34" charset="-79"/>
              </a:rPr>
              <a:t>וּבִזְבֻלוּן</a:t>
            </a:r>
            <a:r>
              <a:rPr lang="he-IL" sz="3200" b="1" dirty="0">
                <a:solidFill>
                  <a:prstClr val="black"/>
                </a:solidFill>
                <a:latin typeface="David" panose="020E0502060401010101" pitchFamily="34" charset="-79"/>
                <a:cs typeface="David" panose="020E0502060401010101" pitchFamily="34" charset="-79"/>
              </a:rPr>
              <a:t> וּבְנַפְתָּלִי</a:t>
            </a:r>
            <a:r>
              <a:rPr lang="he-IL" sz="3200" dirty="0">
                <a:solidFill>
                  <a:prstClr val="black"/>
                </a:solidFill>
                <a:latin typeface="David" panose="020E0502060401010101" pitchFamily="34" charset="-79"/>
                <a:cs typeface="David" panose="020E0502060401010101" pitchFamily="34" charset="-79"/>
              </a:rPr>
              <a:t>, וַיַּעֲלוּ, לִקְרָאתָם.</a:t>
            </a:r>
            <a:endParaRPr lang="he-IL" sz="3200" dirty="0">
              <a:solidFill>
                <a:prstClr val="black"/>
              </a:solidFill>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7069598" y="2980706"/>
            <a:ext cx="4507896" cy="3706303"/>
          </a:xfrm>
          <a:prstGeom prst="rect">
            <a:avLst/>
          </a:prstGeom>
        </p:spPr>
      </p:pic>
      <p:pic>
        <p:nvPicPr>
          <p:cNvPr id="6" name="תמונה 5"/>
          <p:cNvPicPr>
            <a:picLocks noChangeAspect="1"/>
          </p:cNvPicPr>
          <p:nvPr/>
        </p:nvPicPr>
        <p:blipFill>
          <a:blip r:embed="rId4"/>
          <a:stretch>
            <a:fillRect/>
          </a:stretch>
        </p:blipFill>
        <p:spPr>
          <a:xfrm>
            <a:off x="134588" y="3906982"/>
            <a:ext cx="4950031" cy="2613725"/>
          </a:xfrm>
          <a:prstGeom prst="roundRect">
            <a:avLst>
              <a:gd name="adj" fmla="val 16667"/>
            </a:avLst>
          </a:prstGeom>
          <a:ln>
            <a:noFill/>
          </a:ln>
          <a:effectLst>
            <a:outerShdw blurRad="76200" dist="38100" dir="7800000" algn="tl" rotWithShape="0">
              <a:srgbClr val="000000">
                <a:alpha val="40000"/>
              </a:srgbClr>
            </a:outerShdw>
          </a:effectLst>
          <a:scene3d>
            <a:camera prst="isometricOffAxis2Lef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2695880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18752" y="198641"/>
            <a:ext cx="6175169" cy="5509200"/>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לו</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אמר גדעון אל ה' : תן לי סימן האם תושיע בידי את ישראל כמו שהבטחת.</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u="sng" baseline="0" dirty="0" err="1" smtClean="0">
                <a:solidFill>
                  <a:prstClr val="black"/>
                </a:solidFill>
                <a:latin typeface="David" panose="020E0502060401010101" pitchFamily="34" charset="-79"/>
                <a:cs typeface="David" panose="020E0502060401010101" pitchFamily="34" charset="-79"/>
              </a:rPr>
              <a:t>לז</a:t>
            </a:r>
            <a:r>
              <a:rPr lang="he-IL" sz="3200" baseline="0" dirty="0" smtClean="0">
                <a:solidFill>
                  <a:prstClr val="black"/>
                </a:solidFill>
                <a:latin typeface="David" panose="020E0502060401010101" pitchFamily="34" charset="-79"/>
                <a:cs typeface="David" panose="020E0502060401010101" pitchFamily="34" charset="-79"/>
              </a:rPr>
              <a:t>.</a:t>
            </a:r>
            <a:r>
              <a:rPr lang="he-IL" sz="3200" dirty="0" smtClean="0">
                <a:solidFill>
                  <a:prstClr val="black"/>
                </a:solidFill>
                <a:latin typeface="David" panose="020E0502060401010101" pitchFamily="34" charset="-79"/>
                <a:cs typeface="David" panose="020E0502060401010101" pitchFamily="34" charset="-79"/>
              </a:rPr>
              <a:t> </a:t>
            </a:r>
            <a:r>
              <a:rPr lang="he-IL" sz="3200" b="1" dirty="0" smtClean="0">
                <a:solidFill>
                  <a:prstClr val="black"/>
                </a:solidFill>
                <a:latin typeface="David" panose="020E0502060401010101" pitchFamily="34" charset="-79"/>
                <a:cs typeface="David" panose="020E0502060401010101" pitchFamily="34" charset="-79"/>
              </a:rPr>
              <a:t>והסימן הוא</a:t>
            </a:r>
            <a:r>
              <a:rPr lang="he-IL" sz="3200" dirty="0" smtClean="0">
                <a:solidFill>
                  <a:prstClr val="black"/>
                </a:solidFill>
                <a:latin typeface="David" panose="020E0502060401010101" pitchFamily="34" charset="-79"/>
                <a:cs typeface="David" panose="020E0502060401010101" pitchFamily="34" charset="-79"/>
              </a:rPr>
              <a:t>: אני מעמיד חתיכת צמר בגורן (מקום דישת התבואה) </a:t>
            </a:r>
            <a:r>
              <a:rPr lang="he-IL" sz="3200" b="1" dirty="0" smtClean="0">
                <a:solidFill>
                  <a:prstClr val="black"/>
                </a:solidFill>
                <a:latin typeface="David" panose="020E0502060401010101" pitchFamily="34" charset="-79"/>
                <a:cs typeface="David" panose="020E0502060401010101" pitchFamily="34" charset="-79"/>
              </a:rPr>
              <a:t>אם תוריד טל והוא יהיה רק על הצמר לבד, ושאר פני האדמה יהיו יבשים</a:t>
            </a:r>
            <a:r>
              <a:rPr lang="he-IL" sz="3200" dirty="0" smtClean="0">
                <a:solidFill>
                  <a:prstClr val="black"/>
                </a:solidFill>
                <a:latin typeface="David" panose="020E0502060401010101" pitchFamily="34" charset="-79"/>
                <a:cs typeface="David" panose="020E0502060401010101" pitchFamily="34" charset="-79"/>
              </a:rPr>
              <a:t>, סימן יהיה לי שאכן תבוא הישועה באמצעותי לישראל.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לח. </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וכפי</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שהתנה כך היה, קם למחרת </a:t>
            </a:r>
            <a:r>
              <a:rPr kumimoji="0" lang="he-IL" sz="3200" b="1"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וסחט</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את חתיכת הצמר, </a:t>
            </a:r>
            <a:r>
              <a:rPr kumimoji="0" lang="he-IL" sz="3200" b="1"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ונסחטה כמות טל מגיזת הצמר שמלאה ספל שלם במים</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2" name="מלבן 1"/>
          <p:cNvSpPr/>
          <p:nvPr/>
        </p:nvSpPr>
        <p:spPr>
          <a:xfrm>
            <a:off x="6628415" y="1059695"/>
            <a:ext cx="5421083" cy="5509200"/>
          </a:xfrm>
          <a:prstGeom prst="rect">
            <a:avLst/>
          </a:prstGeom>
          <a:solidFill>
            <a:schemeClr val="accent4">
              <a:lumMod val="20000"/>
              <a:lumOff val="80000"/>
            </a:schemeClr>
          </a:solidFill>
        </p:spPr>
        <p:txBody>
          <a:bodyPr wrap="square">
            <a:spAutoFit/>
          </a:bodyPr>
          <a:lstStyle/>
          <a:p>
            <a:r>
              <a:rPr lang="he-IL" sz="3200" b="1" dirty="0">
                <a:latin typeface="David" panose="020E0502060401010101" pitchFamily="34" charset="-79"/>
                <a:cs typeface="David" panose="020E0502060401010101" pitchFamily="34" charset="-79"/>
              </a:rPr>
              <a:t>לו</a:t>
            </a:r>
            <a:r>
              <a:rPr lang="he-IL" sz="3200" dirty="0">
                <a:latin typeface="David" panose="020E0502060401010101" pitchFamily="34" charset="-79"/>
                <a:cs typeface="David" panose="020E0502060401010101" pitchFamily="34" charset="-79"/>
              </a:rPr>
              <a:t> וַיֹּאמֶר גִּדְעוֹן, </a:t>
            </a:r>
            <a:r>
              <a:rPr lang="he-IL" sz="3200" dirty="0" err="1">
                <a:latin typeface="David" panose="020E0502060401010101" pitchFamily="34" charset="-79"/>
                <a:cs typeface="David" panose="020E0502060401010101" pitchFamily="34" charset="-79"/>
              </a:rPr>
              <a:t>אֶל-הָאֱלֹהִים</a:t>
            </a:r>
            <a:r>
              <a:rPr lang="he-IL" sz="3200" dirty="0">
                <a:latin typeface="David" panose="020E0502060401010101" pitchFamily="34" charset="-79"/>
                <a:cs typeface="David" panose="020E0502060401010101" pitchFamily="34" charset="-79"/>
              </a:rPr>
              <a:t>:  </a:t>
            </a:r>
            <a:r>
              <a:rPr lang="he-IL" sz="3200" dirty="0" err="1">
                <a:latin typeface="David" panose="020E0502060401010101" pitchFamily="34" charset="-79"/>
                <a:cs typeface="David" panose="020E0502060401010101" pitchFamily="34" charset="-79"/>
              </a:rPr>
              <a:t>אִם-יֶשְׁך</a:t>
            </a:r>
            <a:r>
              <a:rPr lang="he-IL" sz="3200" dirty="0">
                <a:latin typeface="David" panose="020E0502060401010101" pitchFamily="34" charset="-79"/>
                <a:cs typeface="David" panose="020E0502060401010101" pitchFamily="34" charset="-79"/>
              </a:rPr>
              <a:t>ָ מוֹשִׁיעַ בְּיָדִי, אֶת-יִשְׂרָאֵל--כַּאֲשֶׁר דִּבַּרְתָּ.  </a:t>
            </a:r>
            <a:endParaRPr lang="he-IL" sz="3200" dirty="0" smtClean="0">
              <a:latin typeface="David" panose="020E0502060401010101" pitchFamily="34" charset="-79"/>
              <a:cs typeface="David" panose="020E0502060401010101" pitchFamily="34" charset="-79"/>
            </a:endParaRPr>
          </a:p>
          <a:p>
            <a:r>
              <a:rPr lang="he-IL" sz="3200" b="1" dirty="0" err="1" smtClean="0">
                <a:latin typeface="David" panose="020E0502060401010101" pitchFamily="34" charset="-79"/>
                <a:cs typeface="David" panose="020E0502060401010101" pitchFamily="34" charset="-79"/>
              </a:rPr>
              <a:t>לז</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הִנֵּה אָנֹכִי, </a:t>
            </a:r>
            <a:r>
              <a:rPr lang="he-IL" sz="3200" b="1" dirty="0">
                <a:latin typeface="David" panose="020E0502060401010101" pitchFamily="34" charset="-79"/>
                <a:cs typeface="David" panose="020E0502060401010101" pitchFamily="34" charset="-79"/>
              </a:rPr>
              <a:t>מַצִּיג אֶת-גִּזַּת הַצֶּמֶר--</a:t>
            </a:r>
            <a:r>
              <a:rPr lang="he-IL" sz="3200" b="1" dirty="0" err="1">
                <a:latin typeface="David" panose="020E0502060401010101" pitchFamily="34" charset="-79"/>
                <a:cs typeface="David" panose="020E0502060401010101" pitchFamily="34" charset="-79"/>
              </a:rPr>
              <a:t>בַּגֹּרֶן</a:t>
            </a:r>
            <a:r>
              <a:rPr lang="he-IL" sz="3200" b="1" dirty="0">
                <a:latin typeface="David" panose="020E0502060401010101" pitchFamily="34" charset="-79"/>
                <a:cs typeface="David" panose="020E0502060401010101" pitchFamily="34" charset="-79"/>
              </a:rPr>
              <a:t>:</a:t>
            </a:r>
            <a:r>
              <a:rPr lang="he-IL" sz="3200" dirty="0">
                <a:latin typeface="David" panose="020E0502060401010101" pitchFamily="34" charset="-79"/>
                <a:cs typeface="David" panose="020E0502060401010101" pitchFamily="34" charset="-79"/>
              </a:rPr>
              <a:t>  </a:t>
            </a:r>
            <a:r>
              <a:rPr lang="he-IL" sz="3200" b="1" dirty="0">
                <a:solidFill>
                  <a:srgbClr val="C00000"/>
                </a:solidFill>
                <a:latin typeface="David" panose="020E0502060401010101" pitchFamily="34" charset="-79"/>
                <a:cs typeface="David" panose="020E0502060401010101" pitchFamily="34" charset="-79"/>
              </a:rPr>
              <a:t>אִם טַל יִהְיֶה עַל-הַגִּזָּה לְבַדָּהּ</a:t>
            </a:r>
            <a:r>
              <a:rPr lang="he-IL" sz="3200" dirty="0">
                <a:latin typeface="David" panose="020E0502060401010101" pitchFamily="34" charset="-79"/>
                <a:cs typeface="David" panose="020E0502060401010101" pitchFamily="34" charset="-79"/>
              </a:rPr>
              <a:t>, </a:t>
            </a:r>
            <a:r>
              <a:rPr lang="he-IL" sz="3200" b="1" dirty="0">
                <a:solidFill>
                  <a:srgbClr val="C00000"/>
                </a:solidFill>
                <a:latin typeface="David" panose="020E0502060401010101" pitchFamily="34" charset="-79"/>
                <a:cs typeface="David" panose="020E0502060401010101" pitchFamily="34" charset="-79"/>
              </a:rPr>
              <a:t>וְעַל-כָּל-הָאָרֶץ חֹרֶב-</a:t>
            </a:r>
            <a:r>
              <a:rPr lang="he-IL" sz="3200" dirty="0">
                <a:latin typeface="David" panose="020E0502060401010101" pitchFamily="34" charset="-79"/>
                <a:cs typeface="David" panose="020E0502060401010101" pitchFamily="34" charset="-79"/>
              </a:rPr>
              <a:t>-וְיָדַעְתִּי כִּי-תוֹשִׁיעַ בְּיָדִי אֶת-יִשְׂרָאֵל, כַּאֲשֶׁר דִּבַּרְתָּ.  </a:t>
            </a:r>
            <a:endParaRPr lang="he-IL" sz="3200" dirty="0" smtClean="0">
              <a:latin typeface="David" panose="020E0502060401010101" pitchFamily="34" charset="-79"/>
              <a:cs typeface="David" panose="020E0502060401010101" pitchFamily="34" charset="-79"/>
            </a:endParaRPr>
          </a:p>
          <a:p>
            <a:r>
              <a:rPr lang="he-IL" sz="3200" b="1" dirty="0" smtClean="0">
                <a:latin typeface="David" panose="020E0502060401010101" pitchFamily="34" charset="-79"/>
                <a:cs typeface="David" panose="020E0502060401010101" pitchFamily="34" charset="-79"/>
              </a:rPr>
              <a:t>לח</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וַיְהִי-כֵן--</a:t>
            </a:r>
            <a:r>
              <a:rPr lang="he-IL" sz="3200" dirty="0" err="1">
                <a:latin typeface="David" panose="020E0502060401010101" pitchFamily="34" charset="-79"/>
                <a:cs typeface="David" panose="020E0502060401010101" pitchFamily="34" charset="-79"/>
              </a:rPr>
              <a:t>וַיַּשְׁכֵּם</a:t>
            </a:r>
            <a:r>
              <a:rPr lang="he-IL" sz="3200" dirty="0">
                <a:latin typeface="David" panose="020E0502060401010101" pitchFamily="34" charset="-79"/>
                <a:cs typeface="David" panose="020E0502060401010101" pitchFamily="34" charset="-79"/>
              </a:rPr>
              <a:t> מִמָּחֳרָת, </a:t>
            </a:r>
            <a:r>
              <a:rPr lang="he-IL" sz="3200" b="1" dirty="0" err="1">
                <a:latin typeface="David" panose="020E0502060401010101" pitchFamily="34" charset="-79"/>
                <a:cs typeface="David" panose="020E0502060401010101" pitchFamily="34" charset="-79"/>
              </a:rPr>
              <a:t>וַיָּזַר</a:t>
            </a:r>
            <a:r>
              <a:rPr lang="he-IL" sz="3200" dirty="0">
                <a:latin typeface="David" panose="020E0502060401010101" pitchFamily="34" charset="-79"/>
                <a:cs typeface="David" panose="020E0502060401010101" pitchFamily="34" charset="-79"/>
              </a:rPr>
              <a:t> אֶת-הַגִּזָּה; </a:t>
            </a:r>
            <a:r>
              <a:rPr lang="he-IL" sz="3200" b="1" dirty="0" err="1">
                <a:latin typeface="David" panose="020E0502060401010101" pitchFamily="34" charset="-79"/>
                <a:cs typeface="David" panose="020E0502060401010101" pitchFamily="34" charset="-79"/>
              </a:rPr>
              <a:t>וַיִּמֶץ</a:t>
            </a:r>
            <a:r>
              <a:rPr lang="he-IL" sz="3200" b="1" dirty="0">
                <a:latin typeface="David" panose="020E0502060401010101" pitchFamily="34" charset="-79"/>
                <a:cs typeface="David" panose="020E0502060401010101" pitchFamily="34" charset="-79"/>
              </a:rPr>
              <a:t> טַל </a:t>
            </a:r>
            <a:r>
              <a:rPr lang="he-IL" sz="3200" dirty="0">
                <a:latin typeface="David" panose="020E0502060401010101" pitchFamily="34" charset="-79"/>
                <a:cs typeface="David" panose="020E0502060401010101" pitchFamily="34" charset="-79"/>
              </a:rPr>
              <a:t>מִן-הַגִּזָּה, </a:t>
            </a:r>
            <a:r>
              <a:rPr lang="he-IL" sz="3200" b="1" dirty="0">
                <a:latin typeface="David" panose="020E0502060401010101" pitchFamily="34" charset="-79"/>
                <a:cs typeface="David" panose="020E0502060401010101" pitchFamily="34" charset="-79"/>
              </a:rPr>
              <a:t>מְלוֹא הַסֵּפֶל מָיִם.</a:t>
            </a:r>
          </a:p>
        </p:txBody>
      </p:sp>
      <p:sp>
        <p:nvSpPr>
          <p:cNvPr id="4" name="TextBox 3"/>
          <p:cNvSpPr txBox="1"/>
          <p:nvPr/>
        </p:nvSpPr>
        <p:spPr>
          <a:xfrm>
            <a:off x="6557160" y="342968"/>
            <a:ext cx="5529942" cy="523220"/>
          </a:xfrm>
          <a:prstGeom prst="rect">
            <a:avLst/>
          </a:prstGeom>
          <a:solidFill>
            <a:schemeClr val="accent2">
              <a:lumMod val="60000"/>
              <a:lumOff val="4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קבלת אותות מה' על נצחונו במלחמה:</a:t>
            </a:r>
            <a:endParaRPr kumimoji="0" lang="he-IL" sz="2800" b="1"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1135754" y="473597"/>
            <a:ext cx="4428948" cy="2976253"/>
          </a:xfrm>
          <a:prstGeom prst="rect">
            <a:avLst/>
          </a:prstGeom>
          <a:scene3d>
            <a:camera prst="perspectiveLeft"/>
            <a:lightRig rig="threePt" dir="t"/>
          </a:scene3d>
        </p:spPr>
      </p:pic>
      <p:cxnSp>
        <p:nvCxnSpPr>
          <p:cNvPr id="7" name="מחבר חץ ישר 6"/>
          <p:cNvCxnSpPr/>
          <p:nvPr/>
        </p:nvCxnSpPr>
        <p:spPr>
          <a:xfrm flipH="1" flipV="1">
            <a:off x="4952010" y="2953241"/>
            <a:ext cx="5272645" cy="3233803"/>
          </a:xfrm>
          <a:prstGeom prst="straightConnector1">
            <a:avLst/>
          </a:prstGeom>
          <a:ln>
            <a:solidFill>
              <a:srgbClr val="7030A0"/>
            </a:solidFill>
            <a:tailEnd type="triangle"/>
          </a:ln>
        </p:spPr>
        <p:style>
          <a:lnRef idx="3">
            <a:schemeClr val="dk1"/>
          </a:lnRef>
          <a:fillRef idx="0">
            <a:schemeClr val="dk1"/>
          </a:fillRef>
          <a:effectRef idx="2">
            <a:schemeClr val="dk1"/>
          </a:effectRef>
          <a:fontRef idx="minor">
            <a:schemeClr val="tx1"/>
          </a:fontRef>
        </p:style>
      </p:cxnSp>
      <p:pic>
        <p:nvPicPr>
          <p:cNvPr id="9" name="תמונה 8"/>
          <p:cNvPicPr>
            <a:picLocks noChangeAspect="1"/>
          </p:cNvPicPr>
          <p:nvPr/>
        </p:nvPicPr>
        <p:blipFill>
          <a:blip r:embed="rId4">
            <a:extLst>
              <a:ext uri="{BEBA8EAE-BF5A-486C-A8C5-ECC9F3942E4B}">
                <a14:imgProps xmlns:a14="http://schemas.microsoft.com/office/drawing/2010/main">
                  <a14:imgLayer r:embed="rId5">
                    <a14:imgEffect>
                      <a14:backgroundRemoval t="702" b="100000" l="0" r="98361"/>
                    </a14:imgEffect>
                  </a14:imgLayer>
                </a14:imgProps>
              </a:ext>
            </a:extLst>
          </a:blip>
          <a:stretch>
            <a:fillRect/>
          </a:stretch>
        </p:blipFill>
        <p:spPr>
          <a:xfrm>
            <a:off x="1734079" y="3814295"/>
            <a:ext cx="6103635" cy="3043705"/>
          </a:xfrm>
          <a:prstGeom prst="rect">
            <a:avLst/>
          </a:prstGeom>
        </p:spPr>
      </p:pic>
      <p:pic>
        <p:nvPicPr>
          <p:cNvPr id="8" name="תמונה 7"/>
          <p:cNvPicPr>
            <a:picLocks noChangeAspect="1"/>
          </p:cNvPicPr>
          <p:nvPr/>
        </p:nvPicPr>
        <p:blipFill>
          <a:blip r:embed="rId6">
            <a:extLst>
              <a:ext uri="{BEBA8EAE-BF5A-486C-A8C5-ECC9F3942E4B}">
                <a14:imgProps xmlns:a14="http://schemas.microsoft.com/office/drawing/2010/main">
                  <a14:imgLayer r:embed="rId7">
                    <a14:imgEffect>
                      <a14:backgroundRemoval t="3315" b="89503" l="2878" r="100000"/>
                    </a14:imgEffect>
                  </a14:imgLayer>
                </a14:imgProps>
              </a:ext>
            </a:extLst>
          </a:blip>
          <a:stretch>
            <a:fillRect/>
          </a:stretch>
        </p:blipFill>
        <p:spPr>
          <a:xfrm>
            <a:off x="1818288" y="5133975"/>
            <a:ext cx="2647950" cy="1724025"/>
          </a:xfrm>
          <a:prstGeom prst="rect">
            <a:avLst/>
          </a:prstGeom>
        </p:spPr>
      </p:pic>
    </p:spTree>
    <p:extLst>
      <p:ext uri="{BB962C8B-B14F-4D97-AF65-F5344CB8AC3E}">
        <p14:creationId xmlns:p14="http://schemas.microsoft.com/office/powerpoint/2010/main" val="36383387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down)">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134588" y="260627"/>
            <a:ext cx="5529942" cy="4524315"/>
          </a:xfrm>
          <a:prstGeom prst="rect">
            <a:avLst/>
          </a:prstGeom>
          <a:solidFill>
            <a:schemeClr val="accent4">
              <a:lumMod val="40000"/>
              <a:lumOff val="60000"/>
            </a:schemeClr>
          </a:solidFill>
          <a:ln w="38100">
            <a:solidFill>
              <a:schemeClr val="tx1"/>
            </a:solidFill>
          </a:ln>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sng"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לט</a:t>
            </a:r>
            <a:r>
              <a:rPr kumimoji="0" lang="he-IL" sz="3200" b="0" i="0" u="none" strike="noStrike" kern="1200" cap="none" spc="0" normalizeH="0" baseline="0" noProof="0" dirty="0" smtClean="0">
                <a:ln>
                  <a:noFill/>
                </a:ln>
                <a:solidFill>
                  <a:prstClr val="black"/>
                </a:solidFill>
                <a:effectLst/>
                <a:uLnTx/>
                <a:uFillTx/>
                <a:latin typeface="David" panose="020E0502060401010101" pitchFamily="34" charset="-79"/>
                <a:ea typeface="+mn-ea"/>
                <a:cs typeface="David" panose="020E0502060401010101" pitchFamily="34" charset="-79"/>
              </a:rPr>
              <a:t>. לאחר שהצליח, ביקש גדעון עוד סימן. אמר גדעון אל ה' אנא אל תכעס עלי, רצוני לבדוק עוד</a:t>
            </a:r>
            <a:r>
              <a:rPr kumimoji="0" lang="he-IL" sz="3200" b="0" i="0" u="none" strike="noStrike" kern="1200" cap="none" spc="0" normalizeH="0" noProof="0" dirty="0" smtClean="0">
                <a:ln>
                  <a:noFill/>
                </a:ln>
                <a:solidFill>
                  <a:prstClr val="black"/>
                </a:solidFill>
                <a:effectLst/>
                <a:uLnTx/>
                <a:uFillTx/>
                <a:latin typeface="David" panose="020E0502060401010101" pitchFamily="34" charset="-79"/>
                <a:ea typeface="+mn-ea"/>
                <a:cs typeface="David" panose="020E0502060401010101" pitchFamily="34" charset="-79"/>
              </a:rPr>
              <a:t> פעם. אבל הפעם הפוך, ירד טל ועל הגיזה יהיה יבש, וכל שאר האדמה תהיה רטובה מהטל.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baseline="0" dirty="0" smtClean="0">
                <a:solidFill>
                  <a:prstClr val="black"/>
                </a:solidFill>
                <a:latin typeface="David" panose="020E0502060401010101" pitchFamily="34" charset="-79"/>
                <a:cs typeface="David" panose="020E0502060401010101" pitchFamily="34" charset="-79"/>
              </a:rPr>
              <a:t>מ</a:t>
            </a:r>
            <a:r>
              <a:rPr lang="he-IL" sz="3200" baseline="0" dirty="0" smtClean="0">
                <a:solidFill>
                  <a:prstClr val="black"/>
                </a:solidFill>
                <a:latin typeface="David" panose="020E0502060401010101" pitchFamily="34" charset="-79"/>
                <a:cs typeface="David" panose="020E0502060401010101" pitchFamily="34" charset="-79"/>
              </a:rPr>
              <a:t>.</a:t>
            </a:r>
            <a:r>
              <a:rPr lang="he-IL" sz="3200" dirty="0" smtClean="0">
                <a:solidFill>
                  <a:prstClr val="black"/>
                </a:solidFill>
                <a:latin typeface="David" panose="020E0502060401010101" pitchFamily="34" charset="-79"/>
                <a:cs typeface="David" panose="020E0502060401010101" pitchFamily="34" charset="-79"/>
              </a:rPr>
              <a:t> עשה ה' כרצון גדעון בלילה נשארה יבשה גיזת הצמר בלבד, וכל פני האדמה נרטבו מהטל.</a:t>
            </a:r>
            <a:endParaRPr kumimoji="0" lang="he-IL" sz="3200" b="0" i="0" u="none" strike="noStrike" kern="1200" cap="none" spc="0" normalizeH="0" baseline="0" noProof="0" dirty="0">
              <a:ln>
                <a:noFill/>
              </a:ln>
              <a:solidFill>
                <a:prstClr val="black"/>
              </a:solidFill>
              <a:effectLst/>
              <a:uLnTx/>
              <a:uFillTx/>
              <a:latin typeface="David" panose="020E0502060401010101" pitchFamily="34" charset="-79"/>
              <a:ea typeface="+mn-ea"/>
              <a:cs typeface="David" panose="020E0502060401010101" pitchFamily="34" charset="-79"/>
            </a:endParaRPr>
          </a:p>
        </p:txBody>
      </p:sp>
      <p:sp>
        <p:nvSpPr>
          <p:cNvPr id="4" name="מלבן 3"/>
          <p:cNvSpPr/>
          <p:nvPr/>
        </p:nvSpPr>
        <p:spPr>
          <a:xfrm>
            <a:off x="6198919" y="260627"/>
            <a:ext cx="5830785" cy="3539430"/>
          </a:xfrm>
          <a:prstGeom prst="rect">
            <a:avLst/>
          </a:prstGeom>
          <a:solidFill>
            <a:schemeClr val="accent6">
              <a:lumMod val="60000"/>
              <a:lumOff val="40000"/>
            </a:schemeClr>
          </a:solidFill>
        </p:spPr>
        <p:txBody>
          <a:bodyPr wrap="square">
            <a:spAutoFit/>
          </a:bodyPr>
          <a:lstStyle/>
          <a:p>
            <a:r>
              <a:rPr lang="he-IL" dirty="0"/>
              <a:t> </a:t>
            </a:r>
            <a:r>
              <a:rPr lang="he-IL" sz="3200" b="1" dirty="0">
                <a:latin typeface="David" panose="020E0502060401010101" pitchFamily="34" charset="-79"/>
                <a:cs typeface="David" panose="020E0502060401010101" pitchFamily="34" charset="-79"/>
              </a:rPr>
              <a:t>לט</a:t>
            </a:r>
            <a:r>
              <a:rPr lang="he-IL" sz="3200" dirty="0">
                <a:latin typeface="David" panose="020E0502060401010101" pitchFamily="34" charset="-79"/>
                <a:cs typeface="David" panose="020E0502060401010101" pitchFamily="34" charset="-79"/>
              </a:rPr>
              <a:t> וַיֹּאמֶר גִּדְעוֹן, </a:t>
            </a:r>
            <a:r>
              <a:rPr lang="he-IL" sz="3200" dirty="0" err="1">
                <a:latin typeface="David" panose="020E0502060401010101" pitchFamily="34" charset="-79"/>
                <a:cs typeface="David" panose="020E0502060401010101" pitchFamily="34" charset="-79"/>
              </a:rPr>
              <a:t>אֶל-הָאֱלֹהִים</a:t>
            </a:r>
            <a:r>
              <a:rPr lang="he-IL" sz="3200" dirty="0">
                <a:latin typeface="David" panose="020E0502060401010101" pitchFamily="34" charset="-79"/>
                <a:cs typeface="David" panose="020E0502060401010101" pitchFamily="34" charset="-79"/>
              </a:rPr>
              <a:t>,</a:t>
            </a:r>
            <a:r>
              <a:rPr lang="he-IL" sz="3200" b="1" dirty="0">
                <a:latin typeface="David" panose="020E0502060401010101" pitchFamily="34" charset="-79"/>
                <a:cs typeface="David" panose="020E0502060401010101" pitchFamily="34" charset="-79"/>
              </a:rPr>
              <a:t> </a:t>
            </a:r>
            <a:r>
              <a:rPr lang="he-IL" sz="3200" b="1" dirty="0" err="1">
                <a:latin typeface="David" panose="020E0502060401010101" pitchFamily="34" charset="-79"/>
                <a:cs typeface="David" panose="020E0502060401010101" pitchFamily="34" charset="-79"/>
              </a:rPr>
              <a:t>אַל-יִחַר</a:t>
            </a:r>
            <a:r>
              <a:rPr lang="he-IL" sz="3200" b="1" dirty="0">
                <a:latin typeface="David" panose="020E0502060401010101" pitchFamily="34" charset="-79"/>
                <a:cs typeface="David" panose="020E0502060401010101" pitchFamily="34" charset="-79"/>
              </a:rPr>
              <a:t> אַפְּךָ בִּי, </a:t>
            </a:r>
            <a:r>
              <a:rPr lang="he-IL" sz="3200" dirty="0" err="1">
                <a:latin typeface="David" panose="020E0502060401010101" pitchFamily="34" charset="-79"/>
                <a:cs typeface="David" panose="020E0502060401010101" pitchFamily="34" charset="-79"/>
              </a:rPr>
              <a:t>וַאֲדַבְּרָה</a:t>
            </a:r>
            <a:r>
              <a:rPr lang="he-IL" sz="3200" dirty="0">
                <a:latin typeface="David" panose="020E0502060401010101" pitchFamily="34" charset="-79"/>
                <a:cs typeface="David" panose="020E0502060401010101" pitchFamily="34" charset="-79"/>
              </a:rPr>
              <a:t> אַךְ הַפָּעַם; אֲנַסֶּה נָּא-רַק-הַפַּעַם, </a:t>
            </a:r>
            <a:r>
              <a:rPr lang="he-IL" sz="3200" b="1" dirty="0">
                <a:latin typeface="David" panose="020E0502060401010101" pitchFamily="34" charset="-79"/>
                <a:cs typeface="David" panose="020E0502060401010101" pitchFamily="34" charset="-79"/>
              </a:rPr>
              <a:t>בַּגִּזָּה--יְהִי-נָא חֹרֶב אֶל-הַגִּזָּה לְבַדָּהּ, וְעַל-כָּל-הָאָרֶץ יִהְיֶה-טָּל.  </a:t>
            </a:r>
            <a:endParaRPr lang="he-IL" sz="3200" b="1" dirty="0" smtClean="0">
              <a:latin typeface="David" panose="020E0502060401010101" pitchFamily="34" charset="-79"/>
              <a:cs typeface="David" panose="020E0502060401010101" pitchFamily="34" charset="-79"/>
            </a:endParaRPr>
          </a:p>
          <a:p>
            <a:r>
              <a:rPr lang="he-IL" sz="3200" b="1" dirty="0" smtClean="0">
                <a:latin typeface="David" panose="020E0502060401010101" pitchFamily="34" charset="-79"/>
                <a:cs typeface="David" panose="020E0502060401010101" pitchFamily="34" charset="-79"/>
              </a:rPr>
              <a:t>מ</a:t>
            </a:r>
            <a:r>
              <a:rPr lang="he-IL" sz="3200" dirty="0" smtClean="0">
                <a:latin typeface="David" panose="020E0502060401010101" pitchFamily="34" charset="-79"/>
                <a:cs typeface="David" panose="020E0502060401010101" pitchFamily="34" charset="-79"/>
              </a:rPr>
              <a:t> </a:t>
            </a:r>
            <a:r>
              <a:rPr lang="he-IL" sz="3200" dirty="0">
                <a:latin typeface="David" panose="020E0502060401010101" pitchFamily="34" charset="-79"/>
                <a:cs typeface="David" panose="020E0502060401010101" pitchFamily="34" charset="-79"/>
              </a:rPr>
              <a:t>וַיַּעַשׂ </a:t>
            </a:r>
            <a:r>
              <a:rPr lang="he-IL" sz="3200" dirty="0" err="1">
                <a:latin typeface="David" panose="020E0502060401010101" pitchFamily="34" charset="-79"/>
                <a:cs typeface="David" panose="020E0502060401010101" pitchFamily="34" charset="-79"/>
              </a:rPr>
              <a:t>אֱלֹהִים</a:t>
            </a:r>
            <a:r>
              <a:rPr lang="he-IL" sz="3200" dirty="0">
                <a:latin typeface="David" panose="020E0502060401010101" pitchFamily="34" charset="-79"/>
                <a:cs typeface="David" panose="020E0502060401010101" pitchFamily="34" charset="-79"/>
              </a:rPr>
              <a:t> כֵּן, בַּלַּיְלָה הַהוּא; וַיְהִי-חֹרֶב אֶל-הַגִּזָּה לְבַדָּהּ, וְעַל-כָּל-הָאָרֶץ הָיָה טָל. </a:t>
            </a:r>
          </a:p>
        </p:txBody>
      </p:sp>
      <p:pic>
        <p:nvPicPr>
          <p:cNvPr id="2" name="תמונה 1"/>
          <p:cNvPicPr>
            <a:picLocks noChangeAspect="1"/>
          </p:cNvPicPr>
          <p:nvPr/>
        </p:nvPicPr>
        <p:blipFill>
          <a:blip r:embed="rId3"/>
          <a:stretch>
            <a:fillRect/>
          </a:stretch>
        </p:blipFill>
        <p:spPr>
          <a:xfrm>
            <a:off x="6293922" y="3448667"/>
            <a:ext cx="4191000" cy="3143250"/>
          </a:xfrm>
          <a:prstGeom prst="rect">
            <a:avLst/>
          </a:prstGeom>
        </p:spPr>
      </p:pic>
    </p:spTree>
    <p:extLst>
      <p:ext uri="{BB962C8B-B14F-4D97-AF65-F5344CB8AC3E}">
        <p14:creationId xmlns:p14="http://schemas.microsoft.com/office/powerpoint/2010/main" val="30110052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436984" y="308129"/>
            <a:ext cx="5529942" cy="4278094"/>
          </a:xfrm>
          <a:prstGeom prst="rect">
            <a:avLst/>
          </a:prstGeom>
          <a:solidFill>
            <a:schemeClr val="accent4">
              <a:lumMod val="40000"/>
              <a:lumOff val="60000"/>
            </a:schemeClr>
          </a:solidFill>
          <a:ln w="38100">
            <a:solidFill>
              <a:schemeClr val="tx1"/>
            </a:solidFill>
          </a:ln>
          <a:scene3d>
            <a:camera prst="isometricOffAxis1Right"/>
            <a:lightRig rig="threePt" dir="t"/>
          </a:scene3d>
        </p:spPr>
        <p:txBody>
          <a:bodyPr wrap="square" rtlCol="1">
            <a:spAutoFit/>
          </a:bodyPr>
          <a:lstStyle/>
          <a:p>
            <a:pPr lvl="0"/>
            <a:r>
              <a:rPr lang="he-IL" sz="4000" b="1" dirty="0">
                <a:solidFill>
                  <a:srgbClr val="C00000"/>
                </a:solidFill>
                <a:latin typeface="David" panose="020E0502060401010101" pitchFamily="34" charset="-79"/>
                <a:cs typeface="David" panose="020E0502060401010101" pitchFamily="34" charset="-79"/>
              </a:rPr>
              <a:t>מדוע גדעון מנסה את ה' והרי הדבר אסור?</a:t>
            </a:r>
            <a:r>
              <a:rPr lang="he-IL" sz="3200" dirty="0">
                <a:solidFill>
                  <a:prstClr val="black"/>
                </a:solidFill>
                <a:latin typeface="David" panose="020E0502060401010101" pitchFamily="34" charset="-79"/>
                <a:cs typeface="David" panose="020E0502060401010101" pitchFamily="34" charset="-79"/>
              </a:rPr>
              <a:t/>
            </a:r>
            <a:br>
              <a:rPr lang="he-IL" sz="3200" dirty="0">
                <a:solidFill>
                  <a:prstClr val="black"/>
                </a:solidFill>
                <a:latin typeface="David" panose="020E0502060401010101" pitchFamily="34" charset="-79"/>
                <a:cs typeface="David" panose="020E0502060401010101" pitchFamily="34" charset="-79"/>
              </a:rPr>
            </a:br>
            <a:r>
              <a:rPr lang="he-IL" sz="3200" b="1" u="sng" dirty="0" err="1">
                <a:solidFill>
                  <a:prstClr val="black"/>
                </a:solidFill>
                <a:latin typeface="David" panose="020E0502060401010101" pitchFamily="34" charset="-79"/>
                <a:cs typeface="David" panose="020E0502060401010101" pitchFamily="34" charset="-79"/>
              </a:rPr>
              <a:t>רד"ק</a:t>
            </a:r>
            <a:r>
              <a:rPr lang="he-IL" sz="3200" b="1" u="sng" dirty="0">
                <a:solidFill>
                  <a:prstClr val="black"/>
                </a:solidFill>
                <a:latin typeface="David" panose="020E0502060401010101" pitchFamily="34" charset="-79"/>
                <a:cs typeface="David" panose="020E0502060401010101" pitchFamily="34" charset="-79"/>
              </a:rPr>
              <a:t> פסוק ל"ט</a:t>
            </a:r>
          </a:p>
          <a:p>
            <a:pPr lvl="0"/>
            <a:r>
              <a:rPr lang="he-IL" sz="3200" b="1" dirty="0">
                <a:solidFill>
                  <a:prstClr val="black"/>
                </a:solidFill>
                <a:latin typeface="David" panose="020E0502060401010101" pitchFamily="34" charset="-79"/>
                <a:cs typeface="David" panose="020E0502060401010101" pitchFamily="34" charset="-79"/>
              </a:rPr>
              <a:t>אנסה נא </a:t>
            </a:r>
            <a:r>
              <a:rPr lang="he-IL" sz="3200" dirty="0">
                <a:solidFill>
                  <a:prstClr val="black"/>
                </a:solidFill>
                <a:latin typeface="David" panose="020E0502060401010101" pitchFamily="34" charset="-79"/>
                <a:cs typeface="David" panose="020E0502060401010101" pitchFamily="34" charset="-79"/>
              </a:rPr>
              <a:t>- כתב רבינו סעדיה ז"ל כי </a:t>
            </a:r>
            <a:r>
              <a:rPr lang="he-IL" sz="3200" dirty="0" smtClean="0">
                <a:solidFill>
                  <a:prstClr val="black"/>
                </a:solidFill>
                <a:latin typeface="David" panose="020E0502060401010101" pitchFamily="34" charset="-79"/>
                <a:cs typeface="David" panose="020E0502060401010101" pitchFamily="34" charset="-79"/>
              </a:rPr>
              <a:t>הניסיון </a:t>
            </a:r>
            <a:r>
              <a:rPr lang="he-IL" sz="3200" dirty="0">
                <a:solidFill>
                  <a:prstClr val="black"/>
                </a:solidFill>
                <a:latin typeface="David" panose="020E0502060401010101" pitchFamily="34" charset="-79"/>
                <a:cs typeface="David" panose="020E0502060401010101" pitchFamily="34" charset="-79"/>
              </a:rPr>
              <a:t>ביכולת הבורא אסור ... אבל גדעון לא היה לו ספק ביכולת הבורא אלא רצה לנסות אם הוא ראוי לנס גדול </a:t>
            </a:r>
            <a:r>
              <a:rPr lang="he-IL" sz="3200" dirty="0" smtClean="0">
                <a:solidFill>
                  <a:prstClr val="black"/>
                </a:solidFill>
                <a:latin typeface="David" panose="020E0502060401010101" pitchFamily="34" charset="-79"/>
                <a:cs typeface="David" panose="020E0502060401010101" pitchFamily="34" charset="-79"/>
              </a:rPr>
              <a:t>כזה</a:t>
            </a:r>
            <a:endParaRPr lang="he-IL" sz="3200" dirty="0">
              <a:solidFill>
                <a:prstClr val="black"/>
              </a:solidFill>
              <a:latin typeface="David" panose="020E0502060401010101" pitchFamily="34" charset="-79"/>
              <a:cs typeface="David" panose="020E0502060401010101" pitchFamily="34" charset="-79"/>
            </a:endParaRPr>
          </a:p>
        </p:txBody>
      </p:sp>
      <p:sp>
        <p:nvSpPr>
          <p:cNvPr id="4" name="מלבן 3"/>
          <p:cNvSpPr/>
          <p:nvPr/>
        </p:nvSpPr>
        <p:spPr>
          <a:xfrm>
            <a:off x="6586846" y="308129"/>
            <a:ext cx="5830785" cy="5878532"/>
          </a:xfrm>
          <a:prstGeom prst="rect">
            <a:avLst/>
          </a:prstGeom>
          <a:solidFill>
            <a:schemeClr val="accent6">
              <a:lumMod val="60000"/>
              <a:lumOff val="40000"/>
            </a:schemeClr>
          </a:solidFill>
          <a:scene3d>
            <a:camera prst="isometricOffAxis1Right"/>
            <a:lightRig rig="threePt" dir="t"/>
          </a:scene3d>
        </p:spPr>
        <p:txBody>
          <a:bodyPr wrap="square">
            <a:spAutoFit/>
          </a:bodyPr>
          <a:lstStyle/>
          <a:p>
            <a:r>
              <a:rPr lang="he-IL" dirty="0"/>
              <a:t> </a:t>
            </a:r>
            <a:r>
              <a:rPr lang="he-IL" sz="3200" b="1" u="sng" dirty="0" smtClean="0"/>
              <a:t>מה רמוז בשני הסימנים הללו?</a:t>
            </a:r>
          </a:p>
          <a:p>
            <a:r>
              <a:rPr lang="he-IL" sz="3200" dirty="0" smtClean="0">
                <a:latin typeface="David" panose="020E0502060401010101" pitchFamily="34" charset="-79"/>
                <a:cs typeface="David" panose="020E0502060401010101" pitchFamily="34" charset="-79"/>
              </a:rPr>
              <a:t>האות הראשון- טל על הגיזה לבדה לרמוז על זכותו של גדעון לבד שיגן, ויהיה כדי לנצח. ועל הארץ רצה לומר עמי הארץ יהיה חרבה.</a:t>
            </a:r>
          </a:p>
          <a:p>
            <a:r>
              <a:rPr lang="he-IL" sz="3200" dirty="0" smtClean="0">
                <a:latin typeface="David" panose="020E0502060401010101" pitchFamily="34" charset="-79"/>
                <a:cs typeface="David" panose="020E0502060401010101" pitchFamily="34" charset="-79"/>
              </a:rPr>
              <a:t>ואחר שהיה לו אותו על עצמו, ביקש גם אות על ישראל, שיה הטל על כל הארץ, שיהיה השפע על פני כל הארץ אלו ישראל שנקראים "ארץ חפץ" בלי הצטרפות זכותו של גדעון, וזה שביקש שהגיזה (שזה הוא גדעון) תהיה יבשה</a:t>
            </a:r>
            <a:r>
              <a:rPr lang="he-IL" sz="2800" dirty="0" smtClean="0">
                <a:latin typeface="David" panose="020E0502060401010101" pitchFamily="34" charset="-79"/>
                <a:cs typeface="David" panose="020E0502060401010101" pitchFamily="34" charset="-79"/>
              </a:rPr>
              <a:t>. </a:t>
            </a:r>
            <a:r>
              <a:rPr lang="he-IL" sz="2400" dirty="0" smtClean="0">
                <a:latin typeface="David" panose="020E0502060401010101" pitchFamily="34" charset="-79"/>
                <a:cs typeface="David" panose="020E0502060401010101" pitchFamily="34" charset="-79"/>
              </a:rPr>
              <a:t> (מנחה קטנה) </a:t>
            </a:r>
            <a:endParaRPr lang="he-IL" sz="2400" dirty="0">
              <a:latin typeface="David" panose="020E0502060401010101" pitchFamily="34" charset="-79"/>
              <a:cs typeface="David" panose="020E0502060401010101" pitchFamily="34" charset="-79"/>
            </a:endParaRPr>
          </a:p>
        </p:txBody>
      </p:sp>
      <p:pic>
        <p:nvPicPr>
          <p:cNvPr id="5" name="תמונה 4"/>
          <p:cNvPicPr>
            <a:picLocks noChangeAspect="1"/>
          </p:cNvPicPr>
          <p:nvPr/>
        </p:nvPicPr>
        <p:blipFill>
          <a:blip r:embed="rId3"/>
          <a:stretch>
            <a:fillRect/>
          </a:stretch>
        </p:blipFill>
        <p:spPr>
          <a:xfrm>
            <a:off x="147595" y="3815832"/>
            <a:ext cx="6108721" cy="3042168"/>
          </a:xfrm>
          <a:prstGeom prst="rect">
            <a:avLst/>
          </a:prstGeom>
        </p:spPr>
      </p:pic>
      <p:pic>
        <p:nvPicPr>
          <p:cNvPr id="6" name="תמונה 5"/>
          <p:cNvPicPr>
            <a:picLocks noChangeAspect="1"/>
          </p:cNvPicPr>
          <p:nvPr/>
        </p:nvPicPr>
        <p:blipFill>
          <a:blip r:embed="rId4"/>
          <a:stretch>
            <a:fillRect/>
          </a:stretch>
        </p:blipFill>
        <p:spPr>
          <a:xfrm>
            <a:off x="106455" y="5132682"/>
            <a:ext cx="2651990" cy="1725318"/>
          </a:xfrm>
          <a:prstGeom prst="rect">
            <a:avLst/>
          </a:prstGeom>
        </p:spPr>
      </p:pic>
    </p:spTree>
    <p:extLst>
      <p:ext uri="{BB962C8B-B14F-4D97-AF65-F5344CB8AC3E}">
        <p14:creationId xmlns:p14="http://schemas.microsoft.com/office/powerpoint/2010/main" val="19516569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invX="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מלבן 4"/>
          <p:cNvSpPr/>
          <p:nvPr/>
        </p:nvSpPr>
        <p:spPr>
          <a:xfrm>
            <a:off x="4817423" y="248752"/>
            <a:ext cx="6096000" cy="6332503"/>
          </a:xfrm>
          <a:prstGeom prst="rect">
            <a:avLst/>
          </a:prstGeom>
        </p:spPr>
        <p:txBody>
          <a:bodyPr>
            <a:spAutoFit/>
          </a:bodyPr>
          <a:lstStyle/>
          <a:p>
            <a:pPr>
              <a:lnSpc>
                <a:spcPct val="150000"/>
              </a:lnSpc>
            </a:pPr>
            <a:r>
              <a:rPr lang="he-IL" sz="3200" b="1" u="sng" dirty="0">
                <a:latin typeface="David" panose="020E0502060401010101" pitchFamily="34" charset="-79"/>
                <a:ea typeface="Times New Roman" panose="02020603050405020304" pitchFamily="18" charset="0"/>
                <a:cs typeface="David" panose="020E0502060401010101" pitchFamily="34" charset="-79"/>
              </a:rPr>
              <a:t>שאלות לפרק ו'</a:t>
            </a:r>
            <a:endParaRPr lang="en-US" sz="3200" b="1" u="sng" dirty="0">
              <a:latin typeface="David" panose="020E0502060401010101" pitchFamily="34" charset="-79"/>
              <a:ea typeface="Times New Roman" panose="02020603050405020304" pitchFamily="18" charset="0"/>
              <a:cs typeface="David" panose="020E0502060401010101" pitchFamily="34" charset="-79"/>
            </a:endParaRPr>
          </a:p>
          <a:p>
            <a:pPr marL="342900" lvl="0" indent="-342900">
              <a:lnSpc>
                <a:spcPct val="150000"/>
              </a:lnSpc>
              <a:buFont typeface="+mj-lt"/>
              <a:buAutoNum type="arabicPeriod"/>
              <a:tabLst>
                <a:tab pos="457200" algn="l"/>
              </a:tabLst>
            </a:pPr>
            <a:r>
              <a:rPr lang="he-IL" sz="2000" dirty="0">
                <a:latin typeface="David" panose="020E0502060401010101" pitchFamily="34" charset="-79"/>
                <a:ea typeface="Times New Roman" panose="02020603050405020304" pitchFamily="18" charset="0"/>
                <a:cs typeface="David" panose="020E0502060401010101" pitchFamily="34" charset="-79"/>
              </a:rPr>
              <a:t>תאר במספר משפטים את הלחץ שהיה לעם ישראל מפני מדין! </a:t>
            </a:r>
          </a:p>
          <a:p>
            <a:pPr marL="342900" lvl="0" indent="-342900">
              <a:lnSpc>
                <a:spcPct val="150000"/>
              </a:lnSpc>
              <a:buFont typeface="+mj-lt"/>
              <a:buAutoNum type="arabicPeriod"/>
              <a:tabLst>
                <a:tab pos="457200" algn="l"/>
              </a:tabLst>
            </a:pPr>
            <a:r>
              <a:rPr lang="he-IL" sz="2000" dirty="0" smtClean="0">
                <a:latin typeface="David" panose="020E0502060401010101" pitchFamily="34" charset="-79"/>
                <a:ea typeface="Times New Roman" panose="02020603050405020304" pitchFamily="18" charset="0"/>
                <a:cs typeface="David" panose="020E0502060401010101" pitchFamily="34" charset="-79"/>
              </a:rPr>
              <a:t>לצורך </a:t>
            </a:r>
            <a:r>
              <a:rPr lang="he-IL" sz="2000" dirty="0">
                <a:latin typeface="David" panose="020E0502060401010101" pitchFamily="34" charset="-79"/>
                <a:ea typeface="Times New Roman" panose="02020603050405020304" pitchFamily="18" charset="0"/>
                <a:cs typeface="David" panose="020E0502060401010101" pitchFamily="34" charset="-79"/>
              </a:rPr>
              <a:t>מה בא אליהם הנביא? ומה הוא אומר להם? </a:t>
            </a:r>
          </a:p>
          <a:p>
            <a:pPr marL="342900" lvl="0" indent="-342900">
              <a:lnSpc>
                <a:spcPct val="150000"/>
              </a:lnSpc>
              <a:buFont typeface="+mj-lt"/>
              <a:buAutoNum type="arabicPeriod"/>
              <a:tabLst>
                <a:tab pos="457200" algn="l"/>
              </a:tabLst>
            </a:pPr>
            <a:r>
              <a:rPr lang="he-IL" sz="2000" dirty="0" smtClean="0">
                <a:latin typeface="David" panose="020E0502060401010101" pitchFamily="34" charset="-79"/>
                <a:ea typeface="Times New Roman" panose="02020603050405020304" pitchFamily="18" charset="0"/>
                <a:cs typeface="David" panose="020E0502060401010101" pitchFamily="34" charset="-79"/>
              </a:rPr>
              <a:t>כתבו </a:t>
            </a:r>
            <a:r>
              <a:rPr lang="he-IL" sz="2000" dirty="0">
                <a:latin typeface="David" panose="020E0502060401010101" pitchFamily="34" charset="-79"/>
                <a:ea typeface="Times New Roman" panose="02020603050405020304" pitchFamily="18" charset="0"/>
                <a:cs typeface="David" panose="020E0502060401010101" pitchFamily="34" charset="-79"/>
              </a:rPr>
              <a:t>את הדו-שיח שהיה בין המלאך </a:t>
            </a:r>
            <a:r>
              <a:rPr lang="he-IL" sz="2000" dirty="0" smtClean="0">
                <a:latin typeface="David" panose="020E0502060401010101" pitchFamily="34" charset="-79"/>
                <a:ea typeface="Times New Roman" panose="02020603050405020304" pitchFamily="18" charset="0"/>
                <a:cs typeface="David" panose="020E0502060401010101" pitchFamily="34" charset="-79"/>
              </a:rPr>
              <a:t>לגדעון! </a:t>
            </a:r>
          </a:p>
          <a:p>
            <a:pPr marL="342900" lvl="0" indent="-342900">
              <a:lnSpc>
                <a:spcPct val="150000"/>
              </a:lnSpc>
              <a:buFont typeface="+mj-lt"/>
              <a:buAutoNum type="arabicPeriod"/>
              <a:tabLst>
                <a:tab pos="457200" algn="l"/>
              </a:tabLst>
            </a:pPr>
            <a:r>
              <a:rPr lang="he-IL" sz="2000" dirty="0" smtClean="0">
                <a:latin typeface="David" panose="020E0502060401010101" pitchFamily="34" charset="-79"/>
                <a:ea typeface="Times New Roman" panose="02020603050405020304" pitchFamily="18" charset="0"/>
                <a:cs typeface="David" panose="020E0502060401010101" pitchFamily="34" charset="-79"/>
              </a:rPr>
              <a:t> מה </a:t>
            </a:r>
            <a:r>
              <a:rPr lang="he-IL" sz="2000" dirty="0">
                <a:latin typeface="David" panose="020E0502060401010101" pitchFamily="34" charset="-79"/>
                <a:ea typeface="Times New Roman" panose="02020603050405020304" pitchFamily="18" charset="0"/>
                <a:cs typeface="David" panose="020E0502060401010101" pitchFamily="34" charset="-79"/>
              </a:rPr>
              <a:t>מצוה המלאך את גדעון לעשות עם הקרבן? וממה חושש גדעון לאחר </a:t>
            </a:r>
            <a:r>
              <a:rPr lang="he-IL" sz="2000" dirty="0" smtClean="0">
                <a:latin typeface="David" panose="020E0502060401010101" pitchFamily="34" charset="-79"/>
                <a:ea typeface="Times New Roman" panose="02020603050405020304" pitchFamily="18" charset="0"/>
                <a:cs typeface="David" panose="020E0502060401010101" pitchFamily="34" charset="-79"/>
              </a:rPr>
              <a:t>היעלמותו </a:t>
            </a:r>
            <a:r>
              <a:rPr lang="he-IL" sz="2000" dirty="0">
                <a:latin typeface="David" panose="020E0502060401010101" pitchFamily="34" charset="-79"/>
                <a:ea typeface="Times New Roman" panose="02020603050405020304" pitchFamily="18" charset="0"/>
                <a:cs typeface="David" panose="020E0502060401010101" pitchFamily="34" charset="-79"/>
              </a:rPr>
              <a:t>של המלאך? </a:t>
            </a:r>
            <a:endParaRPr lang="en-US" sz="2000" dirty="0">
              <a:latin typeface="David" panose="020E0502060401010101" pitchFamily="34" charset="-79"/>
              <a:ea typeface="Times New Roman" panose="02020603050405020304" pitchFamily="18" charset="0"/>
              <a:cs typeface="David" panose="020E0502060401010101" pitchFamily="34" charset="-79"/>
            </a:endParaRPr>
          </a:p>
          <a:p>
            <a:pPr marL="342900" lvl="0" indent="-342900">
              <a:lnSpc>
                <a:spcPct val="150000"/>
              </a:lnSpc>
              <a:buFont typeface="+mj-lt"/>
              <a:buAutoNum type="arabicPeriod"/>
              <a:tabLst>
                <a:tab pos="457200" algn="l"/>
              </a:tabLst>
            </a:pPr>
            <a:r>
              <a:rPr lang="he-IL" sz="2000" dirty="0">
                <a:latin typeface="David" panose="020E0502060401010101" pitchFamily="34" charset="-79"/>
                <a:ea typeface="Times New Roman" panose="02020603050405020304" pitchFamily="18" charset="0"/>
                <a:cs typeface="David" panose="020E0502060401010101" pitchFamily="34" charset="-79"/>
              </a:rPr>
              <a:t>מה מצוה ה' את גדעון לעשות? </a:t>
            </a:r>
            <a:endParaRPr lang="en-US" sz="2000" dirty="0">
              <a:latin typeface="David" panose="020E0502060401010101" pitchFamily="34" charset="-79"/>
              <a:ea typeface="Times New Roman" panose="02020603050405020304" pitchFamily="18" charset="0"/>
              <a:cs typeface="David" panose="020E0502060401010101" pitchFamily="34" charset="-79"/>
            </a:endParaRPr>
          </a:p>
          <a:p>
            <a:pPr marL="342900" lvl="0" indent="-342900">
              <a:lnSpc>
                <a:spcPct val="150000"/>
              </a:lnSpc>
              <a:buFont typeface="+mj-lt"/>
              <a:buAutoNum type="arabicPeriod"/>
              <a:tabLst>
                <a:tab pos="457200" algn="l"/>
              </a:tabLst>
            </a:pPr>
            <a:r>
              <a:rPr lang="he-IL" sz="2000" dirty="0">
                <a:latin typeface="David" panose="020E0502060401010101" pitchFamily="34" charset="-79"/>
                <a:ea typeface="Times New Roman" panose="02020603050405020304" pitchFamily="18" charset="0"/>
                <a:cs typeface="David" panose="020E0502060401010101" pitchFamily="34" charset="-79"/>
              </a:rPr>
              <a:t>כיצד הגיבו אנשי העיר לאור מעשהו של גדעון? וכיצד ניצל גדעון מהם? </a:t>
            </a:r>
            <a:endParaRPr lang="en-US" sz="2000" dirty="0">
              <a:latin typeface="David" panose="020E0502060401010101" pitchFamily="34" charset="-79"/>
              <a:ea typeface="Times New Roman" panose="02020603050405020304" pitchFamily="18" charset="0"/>
              <a:cs typeface="David" panose="020E0502060401010101" pitchFamily="34" charset="-79"/>
            </a:endParaRPr>
          </a:p>
          <a:p>
            <a:pPr marL="342900" lvl="0" indent="-342900">
              <a:lnSpc>
                <a:spcPct val="150000"/>
              </a:lnSpc>
              <a:buFont typeface="+mj-lt"/>
              <a:buAutoNum type="arabicPeriod"/>
              <a:tabLst>
                <a:tab pos="457200" algn="l"/>
              </a:tabLst>
            </a:pPr>
            <a:r>
              <a:rPr lang="he-IL" sz="2000" dirty="0">
                <a:latin typeface="David" panose="020E0502060401010101" pitchFamily="34" charset="-79"/>
                <a:ea typeface="Times New Roman" panose="02020603050405020304" pitchFamily="18" charset="0"/>
                <a:cs typeface="David" panose="020E0502060401010101" pitchFamily="34" charset="-79"/>
              </a:rPr>
              <a:t>אלו שבטים אוסף גדעון למלחמה מול מדין</a:t>
            </a:r>
            <a:r>
              <a:rPr lang="he-IL" sz="2000" dirty="0" smtClean="0">
                <a:latin typeface="David" panose="020E0502060401010101" pitchFamily="34" charset="-79"/>
                <a:ea typeface="Times New Roman" panose="02020603050405020304" pitchFamily="18" charset="0"/>
                <a:cs typeface="David" panose="020E0502060401010101" pitchFamily="34" charset="-79"/>
              </a:rPr>
              <a:t>?</a:t>
            </a:r>
          </a:p>
          <a:p>
            <a:pPr marL="342900" lvl="0" indent="-342900">
              <a:lnSpc>
                <a:spcPct val="150000"/>
              </a:lnSpc>
              <a:buFont typeface="+mj-lt"/>
              <a:buAutoNum type="arabicPeriod"/>
              <a:tabLst>
                <a:tab pos="457200" algn="l"/>
              </a:tabLst>
            </a:pPr>
            <a:r>
              <a:rPr lang="he-IL" sz="2000" dirty="0" smtClean="0">
                <a:latin typeface="David" panose="020E0502060401010101" pitchFamily="34" charset="-79"/>
                <a:ea typeface="Times New Roman" panose="02020603050405020304" pitchFamily="18" charset="0"/>
                <a:cs typeface="David" panose="020E0502060401010101" pitchFamily="34" charset="-79"/>
              </a:rPr>
              <a:t> מה </a:t>
            </a:r>
            <a:r>
              <a:rPr lang="he-IL" sz="2000" dirty="0">
                <a:latin typeface="David" panose="020E0502060401010101" pitchFamily="34" charset="-79"/>
                <a:ea typeface="Times New Roman" panose="02020603050405020304" pitchFamily="18" charset="0"/>
                <a:cs typeface="David" panose="020E0502060401010101" pitchFamily="34" charset="-79"/>
              </a:rPr>
              <a:t>הם האותות שמבקש גדעון מה' לעשות? ומדוע הוא לא מסתפק באות אחד? </a:t>
            </a:r>
            <a:endParaRPr lang="he-IL" sz="20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9108970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invX="1"/>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18578</TotalTime>
  <Words>3007</Words>
  <Application>Microsoft Office PowerPoint</Application>
  <PresentationFormat>מסך רחב</PresentationFormat>
  <Paragraphs>139</Paragraphs>
  <Slides>27</Slides>
  <Notes>1</Notes>
  <HiddenSlides>0</HiddenSlides>
  <MMClips>0</MMClips>
  <ScaleCrop>false</ScaleCrop>
  <HeadingPairs>
    <vt:vector size="6" baseType="variant">
      <vt:variant>
        <vt:lpstr>גופנים בשימוש</vt:lpstr>
      </vt:variant>
      <vt:variant>
        <vt:i4>6</vt:i4>
      </vt:variant>
      <vt:variant>
        <vt:lpstr>ערכת נושא</vt:lpstr>
      </vt:variant>
      <vt:variant>
        <vt:i4>2</vt:i4>
      </vt:variant>
      <vt:variant>
        <vt:lpstr>כותרות שקופיות</vt:lpstr>
      </vt:variant>
      <vt:variant>
        <vt:i4>27</vt:i4>
      </vt:variant>
    </vt:vector>
  </HeadingPairs>
  <TitlesOfParts>
    <vt:vector size="35" baseType="lpstr">
      <vt:lpstr>Arial</vt:lpstr>
      <vt:lpstr>Calibri</vt:lpstr>
      <vt:lpstr>Calibri Light</vt:lpstr>
      <vt:lpstr>David</vt:lpstr>
      <vt:lpstr>Guttman Rashi</vt:lpstr>
      <vt:lpstr>Times New Roman</vt:lpstr>
      <vt:lpstr>ערכת נושא Office</vt:lpstr>
      <vt:lpstr>1_ערכת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User</dc:creator>
  <cp:lastModifiedBy>User</cp:lastModifiedBy>
  <cp:revision>102</cp:revision>
  <dcterms:created xsi:type="dcterms:W3CDTF">2023-12-23T21:29:57Z</dcterms:created>
  <dcterms:modified xsi:type="dcterms:W3CDTF">2024-01-08T17:49:54Z</dcterms:modified>
</cp:coreProperties>
</file>