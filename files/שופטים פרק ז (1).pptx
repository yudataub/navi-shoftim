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 id="2147483672" r:id="rId3"/>
  </p:sldMasterIdLst>
  <p:notesMasterIdLst>
    <p:notesMasterId r:id="rId27"/>
  </p:notesMasterIdLst>
  <p:sldIdLst>
    <p:sldId id="256" r:id="rId4"/>
    <p:sldId id="259" r:id="rId5"/>
    <p:sldId id="260" r:id="rId6"/>
    <p:sldId id="261" r:id="rId7"/>
    <p:sldId id="262" r:id="rId8"/>
    <p:sldId id="266" r:id="rId9"/>
    <p:sldId id="263" r:id="rId10"/>
    <p:sldId id="264" r:id="rId11"/>
    <p:sldId id="269" r:id="rId12"/>
    <p:sldId id="265" r:id="rId13"/>
    <p:sldId id="267" r:id="rId14"/>
    <p:sldId id="270" r:id="rId15"/>
    <p:sldId id="268" r:id="rId16"/>
    <p:sldId id="271" r:id="rId17"/>
    <p:sldId id="272" r:id="rId18"/>
    <p:sldId id="273" r:id="rId19"/>
    <p:sldId id="274" r:id="rId20"/>
    <p:sldId id="278" r:id="rId21"/>
    <p:sldId id="275" r:id="rId22"/>
    <p:sldId id="280" r:id="rId23"/>
    <p:sldId id="276" r:id="rId24"/>
    <p:sldId id="277" r:id="rId25"/>
    <p:sldId id="279" r:id="rId2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971" autoAdjust="0"/>
    <p:restoredTop sz="94660"/>
  </p:normalViewPr>
  <p:slideViewPr>
    <p:cSldViewPr snapToGrid="0">
      <p:cViewPr varScale="1">
        <p:scale>
          <a:sx n="81" d="100"/>
          <a:sy n="81" d="100"/>
        </p:scale>
        <p:origin x="1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 /><Relationship Id="rId13" Type="http://schemas.openxmlformats.org/officeDocument/2006/relationships/slide" Target="slides/slide10.xml" /><Relationship Id="rId18" Type="http://schemas.openxmlformats.org/officeDocument/2006/relationships/slide" Target="slides/slide15.xml" /><Relationship Id="rId26" Type="http://schemas.openxmlformats.org/officeDocument/2006/relationships/slide" Target="slides/slide23.xml" /><Relationship Id="rId3" Type="http://schemas.openxmlformats.org/officeDocument/2006/relationships/slideMaster" Target="slideMasters/slideMaster3.xml" /><Relationship Id="rId21" Type="http://schemas.openxmlformats.org/officeDocument/2006/relationships/slide" Target="slides/slide18.xml" /><Relationship Id="rId7" Type="http://schemas.openxmlformats.org/officeDocument/2006/relationships/slide" Target="slides/slide4.xml" /><Relationship Id="rId12" Type="http://schemas.openxmlformats.org/officeDocument/2006/relationships/slide" Target="slides/slide9.xml" /><Relationship Id="rId17" Type="http://schemas.openxmlformats.org/officeDocument/2006/relationships/slide" Target="slides/slide14.xml" /><Relationship Id="rId25" Type="http://schemas.openxmlformats.org/officeDocument/2006/relationships/slide" Target="slides/slide22.xml" /><Relationship Id="rId2" Type="http://schemas.openxmlformats.org/officeDocument/2006/relationships/slideMaster" Target="slideMasters/slideMaster2.xml" /><Relationship Id="rId16" Type="http://schemas.openxmlformats.org/officeDocument/2006/relationships/slide" Target="slides/slide13.xml" /><Relationship Id="rId20" Type="http://schemas.openxmlformats.org/officeDocument/2006/relationships/slide" Target="slides/slide17.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3.xml" /><Relationship Id="rId11" Type="http://schemas.openxmlformats.org/officeDocument/2006/relationships/slide" Target="slides/slide8.xml" /><Relationship Id="rId24" Type="http://schemas.openxmlformats.org/officeDocument/2006/relationships/slide" Target="slides/slide21.xml" /><Relationship Id="rId5" Type="http://schemas.openxmlformats.org/officeDocument/2006/relationships/slide" Target="slides/slide2.xml" /><Relationship Id="rId15" Type="http://schemas.openxmlformats.org/officeDocument/2006/relationships/slide" Target="slides/slide12.xml" /><Relationship Id="rId23" Type="http://schemas.openxmlformats.org/officeDocument/2006/relationships/slide" Target="slides/slide20.xml" /><Relationship Id="rId28" Type="http://schemas.openxmlformats.org/officeDocument/2006/relationships/presProps" Target="presProps.xml" /><Relationship Id="rId10" Type="http://schemas.openxmlformats.org/officeDocument/2006/relationships/slide" Target="slides/slide7.xml" /><Relationship Id="rId19" Type="http://schemas.openxmlformats.org/officeDocument/2006/relationships/slide" Target="slides/slide16.xml" /><Relationship Id="rId31" Type="http://schemas.openxmlformats.org/officeDocument/2006/relationships/tableStyles" Target="tableStyles.xml" /><Relationship Id="rId4" Type="http://schemas.openxmlformats.org/officeDocument/2006/relationships/slide" Target="slides/slide1.xml" /><Relationship Id="rId9" Type="http://schemas.openxmlformats.org/officeDocument/2006/relationships/slide" Target="slides/slide6.xml" /><Relationship Id="rId14" Type="http://schemas.openxmlformats.org/officeDocument/2006/relationships/slide" Target="slides/slide11.xml" /><Relationship Id="rId22" Type="http://schemas.openxmlformats.org/officeDocument/2006/relationships/slide" Target="slides/slide19.xml" /><Relationship Id="rId27" Type="http://schemas.openxmlformats.org/officeDocument/2006/relationships/notesMaster" Target="notesMasters/notesMaster1.xml"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26F404AE-FB7D-4E07-9336-449D71583C2B}" type="datetimeFigureOut">
              <a:rPr lang="he-IL" smtClean="0"/>
              <a:t>ד'/אדר א/תשפ"ד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4F356FC-74BD-424C-AA61-2188EEC90908}" type="slidenum">
              <a:rPr lang="he-IL" smtClean="0"/>
              <a:t>‹#›</a:t>
            </a:fld>
            <a:endParaRPr lang="he-IL"/>
          </a:p>
        </p:txBody>
      </p:sp>
    </p:spTree>
    <p:extLst>
      <p:ext uri="{BB962C8B-B14F-4D97-AF65-F5344CB8AC3E}">
        <p14:creationId xmlns:p14="http://schemas.microsoft.com/office/powerpoint/2010/main" val="283690836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5113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53434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622316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95777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207765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3640650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421322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1430543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160915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331375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3822967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ד'/אדר א/תשפ"ד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338054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כותרת ותוכן" type="obj">
  <p:cSld name="כותרת ותוכן">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0" name="Google Shape;20;p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760878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כותרת מקטע עליונה">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rgbClr val="888888"/>
              </a:buClr>
              <a:buSzPts val="2400"/>
              <a:buNone/>
              <a:defRPr sz="2400">
                <a:solidFill>
                  <a:srgbClr val="888888"/>
                </a:solidFill>
              </a:defRPr>
            </a:lvl1pPr>
            <a:lvl2pPr marL="914400" lvl="1" indent="-228600" algn="r" rtl="1">
              <a:lnSpc>
                <a:spcPct val="90000"/>
              </a:lnSpc>
              <a:spcBef>
                <a:spcPts val="500"/>
              </a:spcBef>
              <a:spcAft>
                <a:spcPts val="0"/>
              </a:spcAft>
              <a:buClr>
                <a:srgbClr val="888888"/>
              </a:buClr>
              <a:buSzPts val="2000"/>
              <a:buNone/>
              <a:defRPr sz="2000">
                <a:solidFill>
                  <a:srgbClr val="888888"/>
                </a:solidFill>
              </a:defRPr>
            </a:lvl2pPr>
            <a:lvl3pPr marL="1371600" lvl="2" indent="-228600" algn="r" rtl="1">
              <a:lnSpc>
                <a:spcPct val="90000"/>
              </a:lnSpc>
              <a:spcBef>
                <a:spcPts val="500"/>
              </a:spcBef>
              <a:spcAft>
                <a:spcPts val="0"/>
              </a:spcAft>
              <a:buClr>
                <a:srgbClr val="888888"/>
              </a:buClr>
              <a:buSzPts val="1800"/>
              <a:buNone/>
              <a:defRPr sz="1800">
                <a:solidFill>
                  <a:srgbClr val="888888"/>
                </a:solidFill>
              </a:defRPr>
            </a:lvl3pPr>
            <a:lvl4pPr marL="1828800" lvl="3" indent="-228600" algn="r" rtl="1">
              <a:lnSpc>
                <a:spcPct val="90000"/>
              </a:lnSpc>
              <a:spcBef>
                <a:spcPts val="500"/>
              </a:spcBef>
              <a:spcAft>
                <a:spcPts val="0"/>
              </a:spcAft>
              <a:buClr>
                <a:srgbClr val="888888"/>
              </a:buClr>
              <a:buSzPts val="1600"/>
              <a:buNone/>
              <a:defRPr sz="1600">
                <a:solidFill>
                  <a:srgbClr val="888888"/>
                </a:solidFill>
              </a:defRPr>
            </a:lvl4pPr>
            <a:lvl5pPr marL="2286000" lvl="4" indent="-228600" algn="r" rtl="1">
              <a:lnSpc>
                <a:spcPct val="90000"/>
              </a:lnSpc>
              <a:spcBef>
                <a:spcPts val="500"/>
              </a:spcBef>
              <a:spcAft>
                <a:spcPts val="0"/>
              </a:spcAft>
              <a:buClr>
                <a:srgbClr val="888888"/>
              </a:buClr>
              <a:buSzPts val="1600"/>
              <a:buNone/>
              <a:defRPr sz="1600">
                <a:solidFill>
                  <a:srgbClr val="888888"/>
                </a:solidFill>
              </a:defRPr>
            </a:lvl5pPr>
            <a:lvl6pPr marL="2743200" lvl="5" indent="-228600" algn="r" rtl="1">
              <a:lnSpc>
                <a:spcPct val="90000"/>
              </a:lnSpc>
              <a:spcBef>
                <a:spcPts val="500"/>
              </a:spcBef>
              <a:spcAft>
                <a:spcPts val="0"/>
              </a:spcAft>
              <a:buClr>
                <a:srgbClr val="888888"/>
              </a:buClr>
              <a:buSzPts val="1600"/>
              <a:buNone/>
              <a:defRPr sz="1600">
                <a:solidFill>
                  <a:srgbClr val="888888"/>
                </a:solidFill>
              </a:defRPr>
            </a:lvl6pPr>
            <a:lvl7pPr marL="3200400" lvl="6" indent="-228600" algn="r" rtl="1">
              <a:lnSpc>
                <a:spcPct val="90000"/>
              </a:lnSpc>
              <a:spcBef>
                <a:spcPts val="500"/>
              </a:spcBef>
              <a:spcAft>
                <a:spcPts val="0"/>
              </a:spcAft>
              <a:buClr>
                <a:srgbClr val="888888"/>
              </a:buClr>
              <a:buSzPts val="1600"/>
              <a:buNone/>
              <a:defRPr sz="1600">
                <a:solidFill>
                  <a:srgbClr val="888888"/>
                </a:solidFill>
              </a:defRPr>
            </a:lvl7pPr>
            <a:lvl8pPr marL="3657600" lvl="7" indent="-228600" algn="r" rtl="1">
              <a:lnSpc>
                <a:spcPct val="90000"/>
              </a:lnSpc>
              <a:spcBef>
                <a:spcPts val="500"/>
              </a:spcBef>
              <a:spcAft>
                <a:spcPts val="0"/>
              </a:spcAft>
              <a:buClr>
                <a:srgbClr val="888888"/>
              </a:buClr>
              <a:buSzPts val="1600"/>
              <a:buNone/>
              <a:defRPr sz="1600">
                <a:solidFill>
                  <a:srgbClr val="888888"/>
                </a:solidFill>
              </a:defRPr>
            </a:lvl8pPr>
            <a:lvl9pPr marL="4114800" lvl="8" indent="-228600" algn="r" rtl="1">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3"/>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6" name="Google Shape;26;p3"/>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051489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השוואה" type="twoTxTwoObj">
  <p:cSld name="השוואה">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30" name="Google Shape;30;p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31" name="Google Shape;31;p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32" name="Google Shape;32;p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33" name="Google Shape;33;p4"/>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4" name="Google Shape;34;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5" name="Google Shape;35;p4"/>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071873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שקופית כותרת" type="title">
  <p:cSld name="שקופית כותרת">
    <p:spTree>
      <p:nvGrpSpPr>
        <p:cNvPr id="1" name="Shape 36"/>
        <p:cNvGrpSpPr/>
        <p:nvPr/>
      </p:nvGrpSpPr>
      <p:grpSpPr>
        <a:xfrm>
          <a:off x="0" y="0"/>
          <a:ext cx="0" cy="0"/>
          <a:chOff x="0" y="0"/>
          <a:chExt cx="0" cy="0"/>
        </a:xfrm>
      </p:grpSpPr>
      <p:sp>
        <p:nvSpPr>
          <p:cNvPr id="37" name="Google Shape;37;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rtl="1">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rtl="1">
              <a:lnSpc>
                <a:spcPct val="90000"/>
              </a:lnSpc>
              <a:spcBef>
                <a:spcPts val="1000"/>
              </a:spcBef>
              <a:spcAft>
                <a:spcPts val="0"/>
              </a:spcAft>
              <a:buClr>
                <a:schemeClr val="dk1"/>
              </a:buClr>
              <a:buSzPts val="2400"/>
              <a:buNone/>
              <a:defRPr sz="2400"/>
            </a:lvl1pPr>
            <a:lvl2pPr lvl="1" algn="ctr" rtl="1">
              <a:lnSpc>
                <a:spcPct val="90000"/>
              </a:lnSpc>
              <a:spcBef>
                <a:spcPts val="500"/>
              </a:spcBef>
              <a:spcAft>
                <a:spcPts val="0"/>
              </a:spcAft>
              <a:buClr>
                <a:schemeClr val="dk1"/>
              </a:buClr>
              <a:buSzPts val="2000"/>
              <a:buNone/>
              <a:defRPr sz="2000"/>
            </a:lvl2pPr>
            <a:lvl3pPr lvl="2" algn="ctr" rtl="1">
              <a:lnSpc>
                <a:spcPct val="90000"/>
              </a:lnSpc>
              <a:spcBef>
                <a:spcPts val="500"/>
              </a:spcBef>
              <a:spcAft>
                <a:spcPts val="0"/>
              </a:spcAft>
              <a:buClr>
                <a:schemeClr val="dk1"/>
              </a:buClr>
              <a:buSzPts val="1800"/>
              <a:buNone/>
              <a:defRPr sz="1800"/>
            </a:lvl3pPr>
            <a:lvl4pPr lvl="3" algn="ctr" rtl="1">
              <a:lnSpc>
                <a:spcPct val="90000"/>
              </a:lnSpc>
              <a:spcBef>
                <a:spcPts val="500"/>
              </a:spcBef>
              <a:spcAft>
                <a:spcPts val="0"/>
              </a:spcAft>
              <a:buClr>
                <a:schemeClr val="dk1"/>
              </a:buClr>
              <a:buSzPts val="1600"/>
              <a:buNone/>
              <a:defRPr sz="1600"/>
            </a:lvl4pPr>
            <a:lvl5pPr lvl="4" algn="ctr" rtl="1">
              <a:lnSpc>
                <a:spcPct val="90000"/>
              </a:lnSpc>
              <a:spcBef>
                <a:spcPts val="500"/>
              </a:spcBef>
              <a:spcAft>
                <a:spcPts val="0"/>
              </a:spcAft>
              <a:buClr>
                <a:schemeClr val="dk1"/>
              </a:buClr>
              <a:buSzPts val="1600"/>
              <a:buNone/>
              <a:defRPr sz="1600"/>
            </a:lvl5pPr>
            <a:lvl6pPr lvl="5" algn="ctr" rtl="1">
              <a:lnSpc>
                <a:spcPct val="90000"/>
              </a:lnSpc>
              <a:spcBef>
                <a:spcPts val="500"/>
              </a:spcBef>
              <a:spcAft>
                <a:spcPts val="0"/>
              </a:spcAft>
              <a:buClr>
                <a:schemeClr val="dk1"/>
              </a:buClr>
              <a:buSzPts val="1600"/>
              <a:buNone/>
              <a:defRPr sz="1600"/>
            </a:lvl6pPr>
            <a:lvl7pPr lvl="6" algn="ctr" rtl="1">
              <a:lnSpc>
                <a:spcPct val="90000"/>
              </a:lnSpc>
              <a:spcBef>
                <a:spcPts val="500"/>
              </a:spcBef>
              <a:spcAft>
                <a:spcPts val="0"/>
              </a:spcAft>
              <a:buClr>
                <a:schemeClr val="dk1"/>
              </a:buClr>
              <a:buSzPts val="1600"/>
              <a:buNone/>
              <a:defRPr sz="1600"/>
            </a:lvl7pPr>
            <a:lvl8pPr lvl="7" algn="ctr" rtl="1">
              <a:lnSpc>
                <a:spcPct val="90000"/>
              </a:lnSpc>
              <a:spcBef>
                <a:spcPts val="500"/>
              </a:spcBef>
              <a:spcAft>
                <a:spcPts val="0"/>
              </a:spcAft>
              <a:buClr>
                <a:schemeClr val="dk1"/>
              </a:buClr>
              <a:buSzPts val="1600"/>
              <a:buNone/>
              <a:defRPr sz="1600"/>
            </a:lvl8pPr>
            <a:lvl9pPr lvl="8" algn="ctr" rtl="1">
              <a:lnSpc>
                <a:spcPct val="90000"/>
              </a:lnSpc>
              <a:spcBef>
                <a:spcPts val="500"/>
              </a:spcBef>
              <a:spcAft>
                <a:spcPts val="0"/>
              </a:spcAft>
              <a:buClr>
                <a:schemeClr val="dk1"/>
              </a:buClr>
              <a:buSzPts val="1600"/>
              <a:buNone/>
              <a:defRPr sz="1600"/>
            </a:lvl9pPr>
          </a:lstStyle>
          <a:p>
            <a:endParaRPr/>
          </a:p>
        </p:txBody>
      </p:sp>
      <p:sp>
        <p:nvSpPr>
          <p:cNvPr id="39" name="Google Shape;39;p5"/>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0" name="Google Shape;40;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1" name="Google Shape;41;p5"/>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099400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שני תכנים" type="twoObj">
  <p:cSld name="שני תכנים">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8" name="Google Shape;48;p6"/>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123268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כותרת בלבד" type="titleOnly">
  <p:cSld name="כותרת בלבד">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3" name="Google Shape;53;p7"/>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0553488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ריק" type="blank">
  <p:cSld name="ריק">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7" name="Google Shape;57;p8"/>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4153861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תוכן עם כיתוב" type="objTx">
  <p:cSld name="תוכן עם כיתוב">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r" rtl="1">
              <a:lnSpc>
                <a:spcPct val="90000"/>
              </a:lnSpc>
              <a:spcBef>
                <a:spcPts val="1000"/>
              </a:spcBef>
              <a:spcAft>
                <a:spcPts val="0"/>
              </a:spcAft>
              <a:buClr>
                <a:schemeClr val="dk1"/>
              </a:buClr>
              <a:buSzPts val="3200"/>
              <a:buChar char="•"/>
              <a:defRPr sz="3200"/>
            </a:lvl1pPr>
            <a:lvl2pPr marL="914400" lvl="1" indent="-406400" algn="r" rtl="1">
              <a:lnSpc>
                <a:spcPct val="90000"/>
              </a:lnSpc>
              <a:spcBef>
                <a:spcPts val="500"/>
              </a:spcBef>
              <a:spcAft>
                <a:spcPts val="0"/>
              </a:spcAft>
              <a:buClr>
                <a:schemeClr val="dk1"/>
              </a:buClr>
              <a:buSzPts val="2800"/>
              <a:buChar char="•"/>
              <a:defRPr sz="2800"/>
            </a:lvl2pPr>
            <a:lvl3pPr marL="1371600" lvl="2" indent="-381000" algn="r" rtl="1">
              <a:lnSpc>
                <a:spcPct val="90000"/>
              </a:lnSpc>
              <a:spcBef>
                <a:spcPts val="500"/>
              </a:spcBef>
              <a:spcAft>
                <a:spcPts val="0"/>
              </a:spcAft>
              <a:buClr>
                <a:schemeClr val="dk1"/>
              </a:buClr>
              <a:buSzPts val="2400"/>
              <a:buChar char="•"/>
              <a:defRPr sz="2400"/>
            </a:lvl3pPr>
            <a:lvl4pPr marL="1828800" lvl="3" indent="-355600" algn="r" rtl="1">
              <a:lnSpc>
                <a:spcPct val="90000"/>
              </a:lnSpc>
              <a:spcBef>
                <a:spcPts val="500"/>
              </a:spcBef>
              <a:spcAft>
                <a:spcPts val="0"/>
              </a:spcAft>
              <a:buClr>
                <a:schemeClr val="dk1"/>
              </a:buClr>
              <a:buSzPts val="2000"/>
              <a:buChar char="•"/>
              <a:defRPr sz="2000"/>
            </a:lvl4pPr>
            <a:lvl5pPr marL="2286000" lvl="4" indent="-355600" algn="r" rtl="1">
              <a:lnSpc>
                <a:spcPct val="90000"/>
              </a:lnSpc>
              <a:spcBef>
                <a:spcPts val="500"/>
              </a:spcBef>
              <a:spcAft>
                <a:spcPts val="0"/>
              </a:spcAft>
              <a:buClr>
                <a:schemeClr val="dk1"/>
              </a:buClr>
              <a:buSzPts val="2000"/>
              <a:buChar char="•"/>
              <a:defRPr sz="2000"/>
            </a:lvl5pPr>
            <a:lvl6pPr marL="2743200" lvl="5" indent="-355600" algn="r" rtl="1">
              <a:lnSpc>
                <a:spcPct val="90000"/>
              </a:lnSpc>
              <a:spcBef>
                <a:spcPts val="500"/>
              </a:spcBef>
              <a:spcAft>
                <a:spcPts val="0"/>
              </a:spcAft>
              <a:buClr>
                <a:schemeClr val="dk1"/>
              </a:buClr>
              <a:buSzPts val="2000"/>
              <a:buChar char="•"/>
              <a:defRPr sz="2000"/>
            </a:lvl6pPr>
            <a:lvl7pPr marL="3200400" lvl="6" indent="-355600" algn="r" rtl="1">
              <a:lnSpc>
                <a:spcPct val="90000"/>
              </a:lnSpc>
              <a:spcBef>
                <a:spcPts val="500"/>
              </a:spcBef>
              <a:spcAft>
                <a:spcPts val="0"/>
              </a:spcAft>
              <a:buClr>
                <a:schemeClr val="dk1"/>
              </a:buClr>
              <a:buSzPts val="2000"/>
              <a:buChar char="•"/>
              <a:defRPr sz="2000"/>
            </a:lvl7pPr>
            <a:lvl8pPr marL="3657600" lvl="7" indent="-355600" algn="r" rtl="1">
              <a:lnSpc>
                <a:spcPct val="90000"/>
              </a:lnSpc>
              <a:spcBef>
                <a:spcPts val="500"/>
              </a:spcBef>
              <a:spcAft>
                <a:spcPts val="0"/>
              </a:spcAft>
              <a:buClr>
                <a:schemeClr val="dk1"/>
              </a:buClr>
              <a:buSzPts val="2000"/>
              <a:buChar char="•"/>
              <a:defRPr sz="2000"/>
            </a:lvl8pPr>
            <a:lvl9pPr marL="4114800" lvl="8" indent="-355600" algn="r" rtl="1">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64" name="Google Shape;64;p9"/>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26139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תמונה עם כיתוב" type="picTx">
  <p:cSld name="תמונה עם כיתוב">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1" name="Google Shape;71;p10"/>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6220995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כותרת וטקסט אנכי">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7" name="Google Shape;77;p1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381518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כותרת אנכית וטקסט">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83" name="Google Shape;83;p1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1202521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0133499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2563019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985967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9844364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905870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4541204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033058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5912357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5709643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1654781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083293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2464975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0238058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he-IL"/>
              <a:t>לחץ כדי לערוך סגנון כותרת של תבנית בסיס</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5360651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1195112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968488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 /><Relationship Id="rId13" Type="http://schemas.openxmlformats.org/officeDocument/2006/relationships/slideLayout" Target="../slideLayouts/slideLayout35.xml" /><Relationship Id="rId3" Type="http://schemas.openxmlformats.org/officeDocument/2006/relationships/slideLayout" Target="../slideLayouts/slideLayout25.xml" /><Relationship Id="rId7" Type="http://schemas.openxmlformats.org/officeDocument/2006/relationships/slideLayout" Target="../slideLayouts/slideLayout29.xml" /><Relationship Id="rId12" Type="http://schemas.openxmlformats.org/officeDocument/2006/relationships/slideLayout" Target="../slideLayouts/slideLayout34.xml" /><Relationship Id="rId17" Type="http://schemas.openxmlformats.org/officeDocument/2006/relationships/theme" Target="../theme/theme3.xml" /><Relationship Id="rId2" Type="http://schemas.openxmlformats.org/officeDocument/2006/relationships/slideLayout" Target="../slideLayouts/slideLayout24.xml" /><Relationship Id="rId16" Type="http://schemas.openxmlformats.org/officeDocument/2006/relationships/slideLayout" Target="../slideLayouts/slideLayout38.xml" /><Relationship Id="rId1" Type="http://schemas.openxmlformats.org/officeDocument/2006/relationships/slideLayout" Target="../slideLayouts/slideLayout23.xml" /><Relationship Id="rId6" Type="http://schemas.openxmlformats.org/officeDocument/2006/relationships/slideLayout" Target="../slideLayouts/slideLayout28.xml" /><Relationship Id="rId11" Type="http://schemas.openxmlformats.org/officeDocument/2006/relationships/slideLayout" Target="../slideLayouts/slideLayout33.xml" /><Relationship Id="rId5" Type="http://schemas.openxmlformats.org/officeDocument/2006/relationships/slideLayout" Target="../slideLayouts/slideLayout27.xml" /><Relationship Id="rId15" Type="http://schemas.openxmlformats.org/officeDocument/2006/relationships/slideLayout" Target="../slideLayouts/slideLayout37.xml" /><Relationship Id="rId10" Type="http://schemas.openxmlformats.org/officeDocument/2006/relationships/slideLayout" Target="../slideLayouts/slideLayout32.xml" /><Relationship Id="rId4" Type="http://schemas.openxmlformats.org/officeDocument/2006/relationships/slideLayout" Target="../slideLayouts/slideLayout26.xml" /><Relationship Id="rId9" Type="http://schemas.openxmlformats.org/officeDocument/2006/relationships/slideLayout" Target="../slideLayouts/slideLayout31.xml" /><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5A0B23AD-753F-47AD-8869-5B12F3039965}" type="datetimeFigureOut">
              <a:rPr lang="he-IL" smtClean="0"/>
              <a:t>ד'/אדר א/תשפ"ד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A6A09A5-4C0C-46AF-971F-347DEC941D95}" type="slidenum">
              <a:rPr lang="he-IL" smtClean="0"/>
              <a:t>‹#›</a:t>
            </a:fld>
            <a:endParaRPr lang="he-IL"/>
          </a:p>
        </p:txBody>
      </p:sp>
    </p:spTree>
    <p:extLst>
      <p:ext uri="{BB962C8B-B14F-4D97-AF65-F5344CB8AC3E}">
        <p14:creationId xmlns:p14="http://schemas.microsoft.com/office/powerpoint/2010/main" val="892423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7CAAC"/>
            </a:gs>
            <a:gs pos="100000">
              <a:srgbClr val="ED823A"/>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r" rtl="1">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r" rtl="1">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r" rtl="1">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r" rtl="1">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1">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4" name="Google Shape;14;p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48143382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ד'/אדר א/תשפ"ד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3256643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1" eaLnBrk="1" latinLnBrk="0" hangingPunct="1">
        <a:spcBef>
          <a:spcPct val="0"/>
        </a:spcBef>
        <a:buNone/>
        <a:defRPr sz="3600" kern="1200">
          <a:solidFill>
            <a:schemeClr val="tx1">
              <a:lumMod val="85000"/>
              <a:lumOff val="15000"/>
            </a:schemeClr>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4.pn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6.png" /></Relationships>
</file>

<file path=ppt/slides/_rels/slide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8.png" /></Relationships>
</file>

<file path=ppt/slides/_rels/slide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11.png" /><Relationship Id="rId4" Type="http://schemas.openxmlformats.org/officeDocument/2006/relationships/image" Target="../media/image10.png" /></Relationships>
</file>

<file path=ppt/slides/_rels/slide6.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2.xml" /><Relationship Id="rId4" Type="http://schemas.openxmlformats.org/officeDocument/2006/relationships/image" Target="../media/image12.png" /></Relationships>
</file>

<file path=ppt/slides/_rels/slide7.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14.png" /><Relationship Id="rId7" Type="http://schemas.openxmlformats.org/officeDocument/2006/relationships/image" Target="../media/image17.png" /><Relationship Id="rId2" Type="http://schemas.openxmlformats.org/officeDocument/2006/relationships/image" Target="../media/image1.jpeg" /><Relationship Id="rId1" Type="http://schemas.openxmlformats.org/officeDocument/2006/relationships/slideLayout" Target="../slideLayouts/slideLayout7.xml" /><Relationship Id="rId6" Type="http://schemas.microsoft.com/office/2007/relationships/hdphoto" Target="../media/hdphoto1.wdp" /><Relationship Id="rId5" Type="http://schemas.openxmlformats.org/officeDocument/2006/relationships/image" Target="../media/image16.png" /><Relationship Id="rId4" Type="http://schemas.openxmlformats.org/officeDocument/2006/relationships/image" Target="../media/image15.png" /></Relationships>
</file>

<file path=ppt/slides/_rels/slide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18.jpe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1.png" /><Relationship Id="rId5" Type="http://schemas.openxmlformats.org/officeDocument/2006/relationships/image" Target="../media/image20.png" /><Relationship Id="rId4" Type="http://schemas.openxmlformats.org/officeDocument/2006/relationships/image" Target="../media/image19.png" /></Relationships>
</file>

<file path=ppt/slides/_rels/slide11.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1.jpeg" /><Relationship Id="rId1" Type="http://schemas.openxmlformats.org/officeDocument/2006/relationships/slideLayout" Target="../slideLayouts/slideLayout7.xml" /><Relationship Id="rId6" Type="http://schemas.microsoft.com/office/2007/relationships/hdphoto" Target="../media/hdphoto2.wdp" /><Relationship Id="rId5" Type="http://schemas.openxmlformats.org/officeDocument/2006/relationships/image" Target="../media/image23.png" /><Relationship Id="rId4" Type="http://schemas.openxmlformats.org/officeDocument/2006/relationships/image" Target="../media/image2.png" /></Relationships>
</file>

<file path=ppt/slides/_rels/slide12.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image" Target="../media/image1.jpeg" /><Relationship Id="rId1" Type="http://schemas.openxmlformats.org/officeDocument/2006/relationships/slideLayout" Target="../slideLayouts/slideLayout27.xml" /><Relationship Id="rId5" Type="http://schemas.openxmlformats.org/officeDocument/2006/relationships/image" Target="../media/image26.png" /><Relationship Id="rId4" Type="http://schemas.openxmlformats.org/officeDocument/2006/relationships/image" Target="../media/image25.png" /></Relationships>
</file>

<file path=ppt/slides/_rels/slide13.xml.rels><?xml version="1.0" encoding="UTF-8" standalone="yes"?>
<Relationships xmlns="http://schemas.openxmlformats.org/package/2006/relationships"><Relationship Id="rId3" Type="http://schemas.openxmlformats.org/officeDocument/2006/relationships/image" Target="../media/image27.jpeg" /><Relationship Id="rId7" Type="http://schemas.openxmlformats.org/officeDocument/2006/relationships/image" Target="../media/image30.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9.png" /><Relationship Id="rId5" Type="http://schemas.microsoft.com/office/2007/relationships/hdphoto" Target="../media/hdphoto3.wdp" /><Relationship Id="rId4" Type="http://schemas.openxmlformats.org/officeDocument/2006/relationships/image" Target="../media/image28.png" /></Relationships>
</file>

<file path=ppt/slides/_rels/slide1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33.png" /><Relationship Id="rId4" Type="http://schemas.openxmlformats.org/officeDocument/2006/relationships/image" Target="../media/image32.png" /></Relationships>
</file>

<file path=ppt/slides/_rels/slide17.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3" Type="http://schemas.openxmlformats.org/officeDocument/2006/relationships/image" Target="../media/image36.png" /><Relationship Id="rId2" Type="http://schemas.openxmlformats.org/officeDocument/2006/relationships/image" Target="../media/image35.pn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תמונה 3"/>
          <p:cNvPicPr>
            <a:picLocks noChangeAspect="1"/>
          </p:cNvPicPr>
          <p:nvPr/>
        </p:nvPicPr>
        <p:blipFill>
          <a:blip r:embed="rId3"/>
          <a:stretch>
            <a:fillRect/>
          </a:stretch>
        </p:blipFill>
        <p:spPr>
          <a:xfrm>
            <a:off x="511196" y="4267509"/>
            <a:ext cx="2619375" cy="2275795"/>
          </a:xfrm>
          <a:prstGeom prst="rect">
            <a:avLst/>
          </a:prstGeom>
        </p:spPr>
      </p:pic>
      <p:pic>
        <p:nvPicPr>
          <p:cNvPr id="5" name="תמונה 4"/>
          <p:cNvPicPr>
            <a:picLocks noChangeAspect="1"/>
          </p:cNvPicPr>
          <p:nvPr/>
        </p:nvPicPr>
        <p:blipFill>
          <a:blip r:embed="rId4"/>
          <a:stretch>
            <a:fillRect/>
          </a:stretch>
        </p:blipFill>
        <p:spPr>
          <a:xfrm>
            <a:off x="4617808" y="4361718"/>
            <a:ext cx="3715032" cy="2087376"/>
          </a:xfrm>
          <a:prstGeom prst="rect">
            <a:avLst/>
          </a:prstGeom>
        </p:spPr>
      </p:pic>
      <p:pic>
        <p:nvPicPr>
          <p:cNvPr id="6" name="תמונה 5"/>
          <p:cNvPicPr>
            <a:picLocks noChangeAspect="1"/>
          </p:cNvPicPr>
          <p:nvPr/>
        </p:nvPicPr>
        <p:blipFill>
          <a:blip r:embed="rId5"/>
          <a:stretch>
            <a:fillRect/>
          </a:stretch>
        </p:blipFill>
        <p:spPr>
          <a:xfrm>
            <a:off x="9584607" y="3991433"/>
            <a:ext cx="2273095" cy="2551871"/>
          </a:xfrm>
          <a:prstGeom prst="rect">
            <a:avLst/>
          </a:prstGeom>
        </p:spPr>
      </p:pic>
      <p:sp>
        <p:nvSpPr>
          <p:cNvPr id="7" name="TextBox 6"/>
          <p:cNvSpPr txBox="1"/>
          <p:nvPr/>
        </p:nvSpPr>
        <p:spPr>
          <a:xfrm>
            <a:off x="2446316" y="285008"/>
            <a:ext cx="7837715" cy="707886"/>
          </a:xfrm>
          <a:prstGeom prst="rect">
            <a:avLst/>
          </a:prstGeom>
          <a:solidFill>
            <a:schemeClr val="accent2">
              <a:lumMod val="60000"/>
              <a:lumOff val="40000"/>
            </a:schemeClr>
          </a:solidFill>
          <a:ln w="38100">
            <a:solidFill>
              <a:schemeClr val="tx1"/>
            </a:solidFill>
          </a:ln>
        </p:spPr>
        <p:txBody>
          <a:bodyPr wrap="square" rtlCol="1">
            <a:spAutoFit/>
          </a:bodyPr>
          <a:lstStyle/>
          <a:p>
            <a:r>
              <a:rPr lang="he-IL" sz="4000" b="1" dirty="0">
                <a:latin typeface="David" panose="020E0502060401010101" pitchFamily="34" charset="-79"/>
                <a:cs typeface="David" panose="020E0502060401010101" pitchFamily="34" charset="-79"/>
              </a:rPr>
              <a:t>שופטים פרק ז': מלחמת ישראל במדיין:</a:t>
            </a:r>
          </a:p>
        </p:txBody>
      </p:sp>
      <p:sp>
        <p:nvSpPr>
          <p:cNvPr id="8" name="TextBox 7"/>
          <p:cNvSpPr txBox="1"/>
          <p:nvPr/>
        </p:nvSpPr>
        <p:spPr>
          <a:xfrm>
            <a:off x="2556466" y="1214891"/>
            <a:ext cx="7837715" cy="2554545"/>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a:latin typeface="David" panose="020E0502060401010101" pitchFamily="34" charset="-79"/>
                <a:cs typeface="David" panose="020E0502060401010101" pitchFamily="34" charset="-79"/>
              </a:rPr>
              <a:t>נושאי הפרק:</a:t>
            </a:r>
          </a:p>
          <a:p>
            <a:pPr marL="457200" indent="-457200">
              <a:buFont typeface="Arial" panose="020B0604020202020204" pitchFamily="34" charset="0"/>
              <a:buChar char="•"/>
            </a:pPr>
            <a:r>
              <a:rPr lang="he-IL" sz="3200" dirty="0">
                <a:latin typeface="David" panose="020E0502060401010101" pitchFamily="34" charset="-79"/>
                <a:cs typeface="David" panose="020E0502060401010101" pitchFamily="34" charset="-79"/>
              </a:rPr>
              <a:t>גדעון מקבל ציווי מה' להחזיר מספר גדול של חיילים מהמלחמה.</a:t>
            </a:r>
          </a:p>
          <a:p>
            <a:pPr marL="457200" indent="-457200">
              <a:buFont typeface="Arial" panose="020B0604020202020204" pitchFamily="34" charset="0"/>
              <a:buChar char="•"/>
            </a:pPr>
            <a:r>
              <a:rPr lang="he-IL" sz="3200" dirty="0">
                <a:latin typeface="David" panose="020E0502060401010101" pitchFamily="34" charset="-79"/>
                <a:cs typeface="David" panose="020E0502060401010101" pitchFamily="34" charset="-79"/>
              </a:rPr>
              <a:t>גדעון מקבל מה' עוד סימן על ניצחונו על מדיין.</a:t>
            </a:r>
          </a:p>
          <a:p>
            <a:pPr marL="457200" indent="-457200">
              <a:buFont typeface="Arial" panose="020B0604020202020204" pitchFamily="34" charset="0"/>
              <a:buChar char="•"/>
            </a:pPr>
            <a:r>
              <a:rPr lang="he-IL" sz="3200" dirty="0">
                <a:latin typeface="David" panose="020E0502060401010101" pitchFamily="34" charset="-79"/>
                <a:cs typeface="David" panose="020E0502060401010101" pitchFamily="34" charset="-79"/>
              </a:rPr>
              <a:t>המלחמה מול מדיין בשלוש מחנות שחילק גדעון. </a:t>
            </a:r>
          </a:p>
        </p:txBody>
      </p:sp>
    </p:spTree>
    <p:extLst>
      <p:ext uri="{BB962C8B-B14F-4D97-AF65-F5344CB8AC3E}">
        <p14:creationId xmlns:p14="http://schemas.microsoft.com/office/powerpoint/2010/main" val="89862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61258" y="1621359"/>
            <a:ext cx="3650514" cy="4524315"/>
          </a:xfrm>
          <a:prstGeom prst="rect">
            <a:avLst/>
          </a:prstGeom>
          <a:noFill/>
          <a:ln w="38100">
            <a:solidFill>
              <a:schemeClr val="tx1"/>
            </a:solidFill>
          </a:ln>
        </p:spPr>
        <p:txBody>
          <a:bodyPr wrap="square" rtlCol="1">
            <a:spAutoFit/>
          </a:bodyPr>
          <a:lstStyle/>
          <a:p>
            <a:r>
              <a:rPr lang="he-IL" sz="2400" dirty="0">
                <a:latin typeface="David" panose="020E0502060401010101" pitchFamily="34" charset="-79"/>
                <a:cs typeface="David" panose="020E0502060401010101" pitchFamily="34" charset="-79"/>
              </a:rPr>
              <a:t>לאחר שגדעון קיבל שני סימנים מהקב"ה התחזק ליבו והוא קם מוקדם למחרת בבקר (גדעון שנקרא גם </a:t>
            </a:r>
            <a:r>
              <a:rPr lang="he-IL" sz="2400" dirty="0" err="1">
                <a:latin typeface="David" panose="020E0502060401010101" pitchFamily="34" charset="-79"/>
                <a:cs typeface="David" panose="020E0502060401010101" pitchFamily="34" charset="-79"/>
              </a:rPr>
              <a:t>ירובעל</a:t>
            </a:r>
            <a:r>
              <a:rPr lang="he-IL" sz="2400" dirty="0">
                <a:latin typeface="David" panose="020E0502060401010101" pitchFamily="34" charset="-79"/>
                <a:cs typeface="David" panose="020E0502060401010101" pitchFamily="34" charset="-79"/>
              </a:rPr>
              <a:t> וגם כל העם שאתו – משפחת אביעזר ומנשה ואשר ונפתלי וזבולון</a:t>
            </a:r>
            <a:r>
              <a:rPr lang="he-IL" sz="2800" dirty="0">
                <a:latin typeface="David" panose="020E0502060401010101" pitchFamily="34" charset="-79"/>
                <a:cs typeface="David" panose="020E0502060401010101" pitchFamily="34" charset="-79"/>
              </a:rPr>
              <a:t>. והם חנו ליד מעיין </a:t>
            </a:r>
            <a:r>
              <a:rPr lang="he-IL" sz="2800" b="1" dirty="0">
                <a:latin typeface="David" panose="020E0502060401010101" pitchFamily="34" charset="-79"/>
                <a:cs typeface="David" panose="020E0502060401010101" pitchFamily="34" charset="-79"/>
              </a:rPr>
              <a:t>"עין חרוד מצפון להר הגלבוע. </a:t>
            </a:r>
            <a:r>
              <a:rPr lang="he-IL" sz="2800" dirty="0">
                <a:latin typeface="David" panose="020E0502060401010101" pitchFamily="34" charset="-79"/>
                <a:cs typeface="David" panose="020E0502060401010101" pitchFamily="34" charset="-79"/>
              </a:rPr>
              <a:t>ומחנה מדיין חנו </a:t>
            </a:r>
            <a:r>
              <a:rPr lang="he-IL" sz="2800" b="1" dirty="0">
                <a:latin typeface="David" panose="020E0502060401010101" pitchFamily="34" charset="-79"/>
                <a:cs typeface="David" panose="020E0502060401010101" pitchFamily="34" charset="-79"/>
              </a:rPr>
              <a:t>צפונית למחנה גדעון </a:t>
            </a:r>
            <a:r>
              <a:rPr lang="he-IL" sz="2800" dirty="0">
                <a:latin typeface="David" panose="020E0502060401010101" pitchFamily="34" charset="-79"/>
                <a:cs typeface="David" panose="020E0502060401010101" pitchFamily="34" charset="-79"/>
              </a:rPr>
              <a:t>והיו ממוקמים מגבעת המורה .</a:t>
            </a:r>
          </a:p>
        </p:txBody>
      </p:sp>
      <p:sp>
        <p:nvSpPr>
          <p:cNvPr id="2" name="מלבן 1"/>
          <p:cNvSpPr/>
          <p:nvPr/>
        </p:nvSpPr>
        <p:spPr>
          <a:xfrm>
            <a:off x="2897579" y="234613"/>
            <a:ext cx="9108375" cy="1077218"/>
          </a:xfrm>
          <a:prstGeom prst="rect">
            <a:avLst/>
          </a:prstGeom>
          <a:solidFill>
            <a:schemeClr val="accent2">
              <a:lumMod val="60000"/>
              <a:lumOff val="40000"/>
            </a:schemeClr>
          </a:solidFill>
        </p:spPr>
        <p:txBody>
          <a:bodyPr wrap="square">
            <a:spAutoFit/>
          </a:bodyPr>
          <a:lstStyle/>
          <a:p>
            <a:r>
              <a:rPr lang="he-IL" sz="3200" b="1" i="0" dirty="0">
                <a:solidFill>
                  <a:srgbClr val="000000"/>
                </a:solidFill>
                <a:effectLst/>
                <a:latin typeface="David" panose="020E0502060401010101" pitchFamily="34" charset="-79"/>
                <a:cs typeface="David" panose="020E0502060401010101" pitchFamily="34" charset="-79"/>
              </a:rPr>
              <a:t>א</a:t>
            </a:r>
            <a:r>
              <a:rPr lang="he-IL" sz="3200" b="0" i="0" dirty="0">
                <a:solidFill>
                  <a:srgbClr val="000000"/>
                </a:solidFill>
                <a:effectLst/>
                <a:latin typeface="David" panose="020E0502060401010101" pitchFamily="34" charset="-79"/>
                <a:cs typeface="David" panose="020E0502060401010101" pitchFamily="34" charset="-79"/>
              </a:rPr>
              <a:t> </a:t>
            </a:r>
            <a:r>
              <a:rPr lang="he-IL" sz="3200" b="0" i="0" dirty="0" err="1">
                <a:solidFill>
                  <a:srgbClr val="000000"/>
                </a:solidFill>
                <a:effectLst/>
                <a:latin typeface="David" panose="020E0502060401010101" pitchFamily="34" charset="-79"/>
                <a:cs typeface="David" panose="020E0502060401010101" pitchFamily="34" charset="-79"/>
              </a:rPr>
              <a:t>וַיַּשְׁכֵּם</a:t>
            </a:r>
            <a:r>
              <a:rPr lang="he-IL" sz="3200" b="0" i="0" dirty="0">
                <a:solidFill>
                  <a:srgbClr val="000000"/>
                </a:solidFill>
                <a:effectLst/>
                <a:latin typeface="David" panose="020E0502060401010101" pitchFamily="34" charset="-79"/>
                <a:cs typeface="David" panose="020E0502060401010101" pitchFamily="34" charset="-79"/>
              </a:rPr>
              <a:t> </a:t>
            </a:r>
            <a:r>
              <a:rPr lang="he-IL" sz="3200" b="0" i="0" dirty="0" err="1">
                <a:solidFill>
                  <a:srgbClr val="000000"/>
                </a:solidFill>
                <a:effectLst/>
                <a:latin typeface="David" panose="020E0502060401010101" pitchFamily="34" charset="-79"/>
                <a:cs typeface="David" panose="020E0502060401010101" pitchFamily="34" charset="-79"/>
              </a:rPr>
              <a:t>יְרֻבַּעַל</a:t>
            </a:r>
            <a:r>
              <a:rPr lang="he-IL" sz="3200" b="0" i="0" dirty="0">
                <a:solidFill>
                  <a:srgbClr val="000000"/>
                </a:solidFill>
                <a:effectLst/>
                <a:latin typeface="David" panose="020E0502060401010101" pitchFamily="34" charset="-79"/>
                <a:cs typeface="David" panose="020E0502060401010101" pitchFamily="34" charset="-79"/>
              </a:rPr>
              <a:t> הוּא גִדְעוֹן, וְכָל-הָעָם אֲשֶׁר אִתּוֹ, וַיַּחֲנוּ, </a:t>
            </a:r>
            <a:r>
              <a:rPr lang="he-IL" sz="3200" b="1" i="0" dirty="0">
                <a:solidFill>
                  <a:srgbClr val="000000"/>
                </a:solidFill>
                <a:effectLst/>
                <a:latin typeface="David" panose="020E0502060401010101" pitchFamily="34" charset="-79"/>
                <a:cs typeface="David" panose="020E0502060401010101" pitchFamily="34" charset="-79"/>
              </a:rPr>
              <a:t>עַל-עֵין חֲרֹד</a:t>
            </a:r>
            <a:r>
              <a:rPr lang="he-IL" sz="3200" b="0" i="0" dirty="0">
                <a:solidFill>
                  <a:srgbClr val="000000"/>
                </a:solidFill>
                <a:effectLst/>
                <a:latin typeface="David" panose="020E0502060401010101" pitchFamily="34" charset="-79"/>
                <a:cs typeface="David" panose="020E0502060401010101" pitchFamily="34" charset="-79"/>
              </a:rPr>
              <a:t>; וּמַחֲנֵה מִדְיָן הָיָה-לוֹ מִצָּפוֹן, </a:t>
            </a:r>
            <a:r>
              <a:rPr lang="he-IL" sz="3200" b="1" i="0" dirty="0">
                <a:solidFill>
                  <a:srgbClr val="000000"/>
                </a:solidFill>
                <a:effectLst/>
                <a:latin typeface="David" panose="020E0502060401010101" pitchFamily="34" charset="-79"/>
                <a:cs typeface="David" panose="020E0502060401010101" pitchFamily="34" charset="-79"/>
              </a:rPr>
              <a:t>מִגִּבְעַת הַמּוֹרֶה בָּעֵמֶק.  </a:t>
            </a:r>
            <a:endParaRPr lang="he-IL" sz="3200" b="1" dirty="0">
              <a:latin typeface="David" panose="020E0502060401010101" pitchFamily="34" charset="-79"/>
              <a:cs typeface="David" panose="020E0502060401010101" pitchFamily="34" charset="-79"/>
            </a:endParaRPr>
          </a:p>
        </p:txBody>
      </p:sp>
      <p:pic>
        <p:nvPicPr>
          <p:cNvPr id="9" name="Google Shape;95;p14"/>
          <p:cNvPicPr preferRelativeResize="0"/>
          <p:nvPr/>
        </p:nvPicPr>
        <p:blipFill rotWithShape="1">
          <a:blip r:embed="rId3">
            <a:alphaModFix/>
          </a:blip>
          <a:srcRect l="12913" t="13875" r="42693" b="5422"/>
          <a:stretch/>
        </p:blipFill>
        <p:spPr>
          <a:xfrm>
            <a:off x="7398327" y="1840960"/>
            <a:ext cx="4607627" cy="40851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scene3d>
            <a:camera prst="perspectiveLeft"/>
            <a:lightRig rig="threePt" dir="t"/>
          </a:scene3d>
        </p:spPr>
      </p:pic>
      <p:pic>
        <p:nvPicPr>
          <p:cNvPr id="3" name="תמונה 2"/>
          <p:cNvPicPr>
            <a:picLocks noChangeAspect="1"/>
          </p:cNvPicPr>
          <p:nvPr/>
        </p:nvPicPr>
        <p:blipFill>
          <a:blip r:embed="rId4"/>
          <a:stretch>
            <a:fillRect/>
          </a:stretch>
        </p:blipFill>
        <p:spPr>
          <a:xfrm>
            <a:off x="4168564" y="1448789"/>
            <a:ext cx="3229763" cy="5272643"/>
          </a:xfrm>
          <a:prstGeom prst="rect">
            <a:avLst/>
          </a:prstGeom>
        </p:spPr>
      </p:pic>
      <p:sp>
        <p:nvSpPr>
          <p:cNvPr id="10" name="אליפסה 9"/>
          <p:cNvSpPr/>
          <p:nvPr/>
        </p:nvSpPr>
        <p:spPr>
          <a:xfrm>
            <a:off x="9904020" y="3538847"/>
            <a:ext cx="842823" cy="5462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אליפסה 10"/>
          <p:cNvSpPr/>
          <p:nvPr/>
        </p:nvSpPr>
        <p:spPr>
          <a:xfrm>
            <a:off x="5014997" y="2873294"/>
            <a:ext cx="1333415" cy="9262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אליפסה 11"/>
          <p:cNvSpPr/>
          <p:nvPr/>
        </p:nvSpPr>
        <p:spPr>
          <a:xfrm>
            <a:off x="9884570" y="3965537"/>
            <a:ext cx="725543" cy="5291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חץ שמאלה-ימינה 12"/>
          <p:cNvSpPr/>
          <p:nvPr/>
        </p:nvSpPr>
        <p:spPr>
          <a:xfrm>
            <a:off x="6314942" y="3336432"/>
            <a:ext cx="3464451" cy="560626"/>
          </a:xfrm>
          <a:prstGeom prst="lef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40633567"/>
      </p:ext>
    </p:extLst>
  </p:cSld>
  <p:clrMapOvr>
    <a:masterClrMapping/>
  </p:clrMapOvr>
  <mc:AlternateContent xmlns:mc="http://schemas.openxmlformats.org/markup-compatibility/2006" xmlns:p14="http://schemas.microsoft.com/office/powerpoint/2010/main">
    <mc:Choice Requires="p14">
      <p:transition spd="slow" p14:dur="1600">
        <p14:gallery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06879" y="239751"/>
            <a:ext cx="6282046" cy="6093976"/>
          </a:xfrm>
          <a:prstGeom prst="rect">
            <a:avLst/>
          </a:prstGeom>
          <a:solidFill>
            <a:schemeClr val="accent3">
              <a:lumMod val="40000"/>
              <a:lumOff val="60000"/>
            </a:schemeClr>
          </a:solidFill>
          <a:ln w="38100">
            <a:solidFill>
              <a:schemeClr val="tx1"/>
            </a:solidFill>
          </a:ln>
        </p:spPr>
        <p:txBody>
          <a:bodyPr wrap="square" rtlCol="1">
            <a:spAutoFit/>
          </a:bodyPr>
          <a:lstStyle/>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ב': </a:t>
            </a:r>
            <a:r>
              <a:rPr lang="he-IL" sz="3000" dirty="0">
                <a:latin typeface="David" panose="020E0502060401010101" pitchFamily="34" charset="-79"/>
                <a:cs typeface="David" panose="020E0502060401010101" pitchFamily="34" charset="-79"/>
              </a:rPr>
              <a:t>אמר ה' לגדעון בנבואה- נמצאים אתך 32,000 חיילים וזו כמות גדולה מדי, ואני לא יכול למסור בידכם את מדיין כשיש לכם כמות כזו של חיילים, כי ברגע שינצחו </a:t>
            </a:r>
            <a:r>
              <a:rPr lang="he-IL" sz="3000" b="1" dirty="0">
                <a:latin typeface="David" panose="020E0502060401010101" pitchFamily="34" charset="-79"/>
                <a:cs typeface="David" panose="020E0502060401010101" pitchFamily="34" charset="-79"/>
              </a:rPr>
              <a:t>יש חשש שהם יתגאו ויאמרו "ידי הושיעה לי"- בכוחנו ניצחנו את מדיין ולא היה צורך בעזרת ה'.</a:t>
            </a:r>
          </a:p>
          <a:p>
            <a:r>
              <a:rPr lang="he-IL" sz="3000" b="1" u="sng" dirty="0" err="1">
                <a:latin typeface="David" panose="020E0502060401010101" pitchFamily="34" charset="-79"/>
                <a:cs typeface="David" panose="020E0502060401010101" pitchFamily="34" charset="-79"/>
              </a:rPr>
              <a:t>פ"ס</a:t>
            </a:r>
            <a:r>
              <a:rPr lang="he-IL" sz="3000" b="1" u="sng" dirty="0">
                <a:latin typeface="David" panose="020E0502060401010101" pitchFamily="34" charset="-79"/>
                <a:cs typeface="David" panose="020E0502060401010101" pitchFamily="34" charset="-79"/>
              </a:rPr>
              <a:t> ג': </a:t>
            </a:r>
            <a:r>
              <a:rPr lang="he-IL" sz="3000" dirty="0">
                <a:latin typeface="David" panose="020E0502060401010101" pitchFamily="34" charset="-79"/>
                <a:cs typeface="David" panose="020E0502060401010101" pitchFamily="34" charset="-79"/>
              </a:rPr>
              <a:t>מה תעשה? תודיע ותאמר לעם אשר אתך </a:t>
            </a:r>
            <a:r>
              <a:rPr lang="he-IL" sz="3000" b="1" dirty="0">
                <a:latin typeface="David" panose="020E0502060401010101" pitchFamily="34" charset="-79"/>
                <a:cs typeface="David" panose="020E0502060401010101" pitchFamily="34" charset="-79"/>
              </a:rPr>
              <a:t>מי שחש פחד </a:t>
            </a:r>
            <a:r>
              <a:rPr lang="he-IL" sz="3000" dirty="0">
                <a:latin typeface="David" panose="020E0502060401010101" pitchFamily="34" charset="-79"/>
                <a:cs typeface="David" panose="020E0502060401010101" pitchFamily="34" charset="-79"/>
              </a:rPr>
              <a:t>מחיילי מדיין וחושש שמא לא ינצחו ישראל את מדיין </a:t>
            </a:r>
            <a:r>
              <a:rPr lang="he-IL" sz="3000" b="1" dirty="0">
                <a:latin typeface="David" panose="020E0502060401010101" pitchFamily="34" charset="-79"/>
                <a:cs typeface="David" panose="020E0502060401010101" pitchFamily="34" charset="-79"/>
              </a:rPr>
              <a:t>יקום בבקר וישוב </a:t>
            </a:r>
            <a:r>
              <a:rPr lang="he-IL" sz="3000" dirty="0">
                <a:latin typeface="David" panose="020E0502060401010101" pitchFamily="34" charset="-79"/>
                <a:cs typeface="David" panose="020E0502060401010101" pitchFamily="34" charset="-79"/>
              </a:rPr>
              <a:t>דרך הר הגלעד בלי שאף אחד ישים לב וישוב לביתו. וחזרו מהם 22,000 חיילים ואז </a:t>
            </a:r>
            <a:r>
              <a:rPr lang="he-IL" sz="3000" b="1" dirty="0">
                <a:latin typeface="David" panose="020E0502060401010101" pitchFamily="34" charset="-79"/>
                <a:cs typeface="David" panose="020E0502060401010101" pitchFamily="34" charset="-79"/>
              </a:rPr>
              <a:t>נשארו עשרת אלפים חיילים שלא פחדו</a:t>
            </a:r>
            <a:r>
              <a:rPr lang="he-IL" sz="3000" dirty="0">
                <a:latin typeface="David" panose="020E0502060401010101" pitchFamily="34" charset="-79"/>
                <a:cs typeface="David" panose="020E0502060401010101" pitchFamily="34" charset="-79"/>
              </a:rPr>
              <a:t>.</a:t>
            </a:r>
          </a:p>
        </p:txBody>
      </p:sp>
      <p:sp>
        <p:nvSpPr>
          <p:cNvPr id="2" name="מלבן 1"/>
          <p:cNvSpPr/>
          <p:nvPr/>
        </p:nvSpPr>
        <p:spPr>
          <a:xfrm>
            <a:off x="6483927" y="224361"/>
            <a:ext cx="5498275" cy="4031873"/>
          </a:xfrm>
          <a:prstGeom prst="rect">
            <a:avLst/>
          </a:prstGeom>
          <a:solidFill>
            <a:schemeClr val="accent6">
              <a:lumMod val="60000"/>
              <a:lumOff val="40000"/>
            </a:schemeClr>
          </a:solidFill>
        </p:spPr>
        <p:txBody>
          <a:bodyPr wrap="square">
            <a:spAutoFit/>
          </a:bodyPr>
          <a:lstStyle/>
          <a:p>
            <a:r>
              <a:rPr lang="he-IL" sz="3200" b="1" u="sng" dirty="0">
                <a:latin typeface="David" panose="020E0502060401010101" pitchFamily="34" charset="-79"/>
                <a:cs typeface="David" panose="020E0502060401010101" pitchFamily="34" charset="-79"/>
              </a:rPr>
              <a:t>ב</a:t>
            </a:r>
            <a:r>
              <a:rPr lang="he-IL" sz="3200" dirty="0">
                <a:latin typeface="David" panose="020E0502060401010101" pitchFamily="34" charset="-79"/>
                <a:cs typeface="David" panose="020E0502060401010101" pitchFamily="34" charset="-79"/>
              </a:rPr>
              <a:t> וַיֹּאמֶר יְהוָה, אֶל-גִּדְעוֹן, רַב הָעָם אֲשֶׁר אִתָּךְ, מִתִּתִּי אֶת-מִדְיָן בְּיָדָם:  </a:t>
            </a:r>
            <a:r>
              <a:rPr lang="he-IL" sz="3200" b="1" dirty="0">
                <a:latin typeface="David" panose="020E0502060401010101" pitchFamily="34" charset="-79"/>
                <a:cs typeface="David" panose="020E0502060401010101" pitchFamily="34" charset="-79"/>
              </a:rPr>
              <a:t>פֶּן-יִתְפָּאֵר עָלַי יִשְׂרָאֵל </a:t>
            </a:r>
            <a:r>
              <a:rPr lang="he-IL" sz="3200" b="1" dirty="0" err="1">
                <a:latin typeface="David" panose="020E0502060401010101" pitchFamily="34" charset="-79"/>
                <a:cs typeface="David" panose="020E0502060401010101" pitchFamily="34" charset="-79"/>
              </a:rPr>
              <a:t>לֵאמֹר</a:t>
            </a:r>
            <a:r>
              <a:rPr lang="he-IL" sz="3200" b="1" dirty="0">
                <a:latin typeface="David" panose="020E0502060401010101" pitchFamily="34" charset="-79"/>
                <a:cs typeface="David" panose="020E0502060401010101" pitchFamily="34" charset="-79"/>
              </a:rPr>
              <a:t>, יָדִי הוֹשִׁיעָה לִּי.  </a:t>
            </a:r>
          </a:p>
          <a:p>
            <a:r>
              <a:rPr lang="he-IL" sz="3200" b="1" u="sng" dirty="0">
                <a:latin typeface="David" panose="020E0502060401010101" pitchFamily="34" charset="-79"/>
                <a:cs typeface="David" panose="020E0502060401010101" pitchFamily="34" charset="-79"/>
              </a:rPr>
              <a:t>ג</a:t>
            </a:r>
            <a:r>
              <a:rPr lang="he-IL" sz="3200" dirty="0">
                <a:latin typeface="David" panose="020E0502060401010101" pitchFamily="34" charset="-79"/>
                <a:cs typeface="David" panose="020E0502060401010101" pitchFamily="34" charset="-79"/>
              </a:rPr>
              <a:t> וְעַתָּה, קְרָא נָא בְּאָזְנֵי הָעָם </a:t>
            </a:r>
            <a:r>
              <a:rPr lang="he-IL" sz="3200" dirty="0" err="1">
                <a:latin typeface="David" panose="020E0502060401010101" pitchFamily="34" charset="-79"/>
                <a:cs typeface="David" panose="020E0502060401010101" pitchFamily="34" charset="-79"/>
              </a:rPr>
              <a:t>לֵאמֹר</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מִי-יָרֵא וְחָרֵד, יָשֹׁב </a:t>
            </a:r>
            <a:r>
              <a:rPr lang="he-IL" sz="3200" b="1" dirty="0" err="1">
                <a:latin typeface="David" panose="020E0502060401010101" pitchFamily="34" charset="-79"/>
                <a:cs typeface="David" panose="020E0502060401010101" pitchFamily="34" charset="-79"/>
              </a:rPr>
              <a:t>וְיִצְפֹּר</a:t>
            </a:r>
            <a:r>
              <a:rPr lang="he-IL" sz="3200" b="1"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מֵהַר הַגִּלְעָד; וַיָּשָׁב מִן-הָעָם, עֶשְׂרִים וּשְׁנַיִם אֶלֶף, וַעֲשֶׂרֶת אֲלָפִים, נִשְׁאָרוּ.</a:t>
            </a:r>
          </a:p>
        </p:txBody>
      </p:sp>
      <p:pic>
        <p:nvPicPr>
          <p:cNvPr id="3" name="תמונה 2"/>
          <p:cNvPicPr>
            <a:picLocks noChangeAspect="1"/>
          </p:cNvPicPr>
          <p:nvPr/>
        </p:nvPicPr>
        <p:blipFill>
          <a:blip r:embed="rId3"/>
          <a:stretch>
            <a:fillRect/>
          </a:stretch>
        </p:blipFill>
        <p:spPr>
          <a:xfrm>
            <a:off x="9456819" y="4364966"/>
            <a:ext cx="2525383" cy="1762702"/>
          </a:xfrm>
          <a:prstGeom prst="rect">
            <a:avLst/>
          </a:prstGeom>
          <a:scene3d>
            <a:camera prst="perspectiveHeroicExtremeRightFacing"/>
            <a:lightRig rig="threePt" dir="t"/>
          </a:scene3d>
        </p:spPr>
      </p:pic>
      <p:pic>
        <p:nvPicPr>
          <p:cNvPr id="4" name="תמונה 3"/>
          <p:cNvPicPr>
            <a:picLocks noChangeAspect="1"/>
          </p:cNvPicPr>
          <p:nvPr/>
        </p:nvPicPr>
        <p:blipFill>
          <a:blip r:embed="rId4"/>
          <a:stretch>
            <a:fillRect/>
          </a:stretch>
        </p:blipFill>
        <p:spPr>
          <a:xfrm>
            <a:off x="6554333" y="4256234"/>
            <a:ext cx="2737077" cy="2441449"/>
          </a:xfrm>
          <a:prstGeom prst="rect">
            <a:avLst/>
          </a:prstGeom>
        </p:spPr>
      </p:pic>
    </p:spTree>
    <p:extLst>
      <p:ext uri="{BB962C8B-B14F-4D97-AF65-F5344CB8AC3E}">
        <p14:creationId xmlns:p14="http://schemas.microsoft.com/office/powerpoint/2010/main" val="39870223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p:cTn id="19"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ppt_w</p:attrName>
                                        </p:attrNameLst>
                                      </p:cBhvr>
                                      <p:tavLst>
                                        <p:tav tm="0">
                                          <p:val>
                                            <p:fltVal val="0"/>
                                          </p:val>
                                        </p:tav>
                                        <p:tav tm="100000">
                                          <p:val>
                                            <p:strVal val="#ppt_w"/>
                                          </p:val>
                                        </p:tav>
                                      </p:tavLst>
                                    </p:anim>
                                    <p:anim calcmode="lin" valueType="num">
                                      <p:cBhvr>
                                        <p:cTn id="27" dur="1000" fill="hold"/>
                                        <p:tgtEl>
                                          <p:spTgt spid="3"/>
                                        </p:tgtEl>
                                        <p:attrNameLst>
                                          <p:attrName>ppt_h</p:attrName>
                                        </p:attrNameLst>
                                      </p:cBhvr>
                                      <p:tavLst>
                                        <p:tav tm="0">
                                          <p:val>
                                            <p:fltVal val="0"/>
                                          </p:val>
                                        </p:tav>
                                        <p:tav tm="100000">
                                          <p:val>
                                            <p:strVal val="#ppt_h"/>
                                          </p:val>
                                        </p:tav>
                                      </p:tavLst>
                                    </p:anim>
                                    <p:anim calcmode="lin" valueType="num">
                                      <p:cBhvr>
                                        <p:cTn id="28" dur="1000" fill="hold"/>
                                        <p:tgtEl>
                                          <p:spTgt spid="3"/>
                                        </p:tgtEl>
                                        <p:attrNameLst>
                                          <p:attrName>style.rotation</p:attrName>
                                        </p:attrNameLst>
                                      </p:cBhvr>
                                      <p:tavLst>
                                        <p:tav tm="0">
                                          <p:val>
                                            <p:fltVal val="90"/>
                                          </p:val>
                                        </p:tav>
                                        <p:tav tm="100000">
                                          <p:val>
                                            <p:fltVal val="0"/>
                                          </p:val>
                                        </p:tav>
                                      </p:tavLst>
                                    </p:anim>
                                    <p:animEffect transition="in" filter="fade">
                                      <p:cBhvr>
                                        <p:cTn id="2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98273" y="273133"/>
            <a:ext cx="6528158" cy="6324808"/>
          </a:xfrm>
          <a:prstGeom prst="rect">
            <a:avLst/>
          </a:prstGeom>
          <a:solidFill>
            <a:schemeClr val="accent4">
              <a:lumMod val="60000"/>
              <a:lumOff val="40000"/>
            </a:schemeClr>
          </a:solidFill>
          <a:ln w="38100">
            <a:solidFill>
              <a:schemeClr val="tx1"/>
            </a:solidFill>
          </a:ln>
        </p:spPr>
        <p:txBody>
          <a:bodyPr wrap="square" rtlCol="1">
            <a:spAutoFit/>
          </a:bodyPr>
          <a:lstStyle/>
          <a:p>
            <a:r>
              <a:rPr lang="he-IL" sz="2700" b="1" u="sng" dirty="0" err="1">
                <a:latin typeface="David" panose="020E0502060401010101" pitchFamily="34" charset="-79"/>
                <a:cs typeface="David" panose="020E0502060401010101" pitchFamily="34" charset="-79"/>
              </a:rPr>
              <a:t>פ"ס</a:t>
            </a:r>
            <a:r>
              <a:rPr lang="he-IL" sz="2700" b="1" u="sng" dirty="0">
                <a:latin typeface="David" panose="020E0502060401010101" pitchFamily="34" charset="-79"/>
                <a:cs typeface="David" panose="020E0502060401010101" pitchFamily="34" charset="-79"/>
              </a:rPr>
              <a:t> ד': </a:t>
            </a:r>
            <a:r>
              <a:rPr lang="he-IL" sz="2700" dirty="0">
                <a:latin typeface="David" panose="020E0502060401010101" pitchFamily="34" charset="-79"/>
                <a:cs typeface="David" panose="020E0502060401010101" pitchFamily="34" charset="-79"/>
              </a:rPr>
              <a:t>המשיך ה' ואמר עוד לגדעון שזה עדיין כמות גדולה של חיילים, צריך לנפות עוד. וכך תעשה: תוריד את העם אל המים , למעיין חרוד ואני שם אבחר לך מי האנשים: כל חייל שאומר לך שהוא יצא למלחמה – הוא יצא , וכל מי שאומר לך שלא יצא- הוא לא יצא למלחמה.</a:t>
            </a:r>
          </a:p>
          <a:p>
            <a:r>
              <a:rPr lang="he-IL" sz="2700" b="1" u="sng" dirty="0" err="1">
                <a:latin typeface="David" panose="020E0502060401010101" pitchFamily="34" charset="-79"/>
                <a:cs typeface="David" panose="020E0502060401010101" pitchFamily="34" charset="-79"/>
              </a:rPr>
              <a:t>פ"ס</a:t>
            </a:r>
            <a:r>
              <a:rPr lang="he-IL" sz="2700" b="1" u="sng" dirty="0">
                <a:latin typeface="David" panose="020E0502060401010101" pitchFamily="34" charset="-79"/>
                <a:cs typeface="David" panose="020E0502060401010101" pitchFamily="34" charset="-79"/>
              </a:rPr>
              <a:t> ה': </a:t>
            </a:r>
            <a:r>
              <a:rPr lang="he-IL" sz="2700" dirty="0">
                <a:latin typeface="David" panose="020E0502060401010101" pitchFamily="34" charset="-79"/>
                <a:cs typeface="David" panose="020E0502060401010101" pitchFamily="34" charset="-79"/>
              </a:rPr>
              <a:t>גדעון הוריד את עשרת אלפים חייל למעיין  </a:t>
            </a:r>
            <a:r>
              <a:rPr lang="he-IL" sz="2700" u="sng" dirty="0">
                <a:latin typeface="David" panose="020E0502060401010101" pitchFamily="34" charset="-79"/>
                <a:cs typeface="David" panose="020E0502060401010101" pitchFamily="34" charset="-79"/>
              </a:rPr>
              <a:t>אמר לו ה': </a:t>
            </a:r>
            <a:r>
              <a:rPr lang="he-IL" sz="2700" b="1" dirty="0">
                <a:latin typeface="David" panose="020E0502060401010101" pitchFamily="34" charset="-79"/>
                <a:cs typeface="David" panose="020E0502060401010101" pitchFamily="34" charset="-79"/>
              </a:rPr>
              <a:t>כל מי שירים מים לתוך ידיו וילקק את המים וישתה כמו הכלב שעומד ושותה- תעמיד בקבוצה אחת. וכל מי שיכרע על ברכיו ויתכופף וישתה מהמים תעמיד אותו בקבוצה שנייה </a:t>
            </a:r>
            <a:r>
              <a:rPr lang="he-IL" sz="2700" dirty="0">
                <a:latin typeface="David" panose="020E0502060401010101" pitchFamily="34" charset="-79"/>
                <a:cs typeface="David" panose="020E0502060401010101" pitchFamily="34" charset="-79"/>
              </a:rPr>
              <a:t>, שמי שרגיל לכרוע לבעל ולע"ז גם יכרע למעיין לשתות </a:t>
            </a:r>
          </a:p>
          <a:p>
            <a:r>
              <a:rPr lang="he-IL" sz="2700" b="1" u="sng" dirty="0" err="1">
                <a:latin typeface="David" panose="020E0502060401010101" pitchFamily="34" charset="-79"/>
                <a:cs typeface="David" panose="020E0502060401010101" pitchFamily="34" charset="-79"/>
              </a:rPr>
              <a:t>פ"ס</a:t>
            </a:r>
            <a:r>
              <a:rPr lang="he-IL" sz="2700" b="1" u="sng" dirty="0">
                <a:latin typeface="David" panose="020E0502060401010101" pitchFamily="34" charset="-79"/>
                <a:cs typeface="David" panose="020E0502060401010101" pitchFamily="34" charset="-79"/>
              </a:rPr>
              <a:t> ו': </a:t>
            </a:r>
            <a:r>
              <a:rPr lang="he-IL" sz="2700" dirty="0">
                <a:latin typeface="David" panose="020E0502060401010101" pitchFamily="34" charset="-79"/>
                <a:cs typeface="David" panose="020E0502060401010101" pitchFamily="34" charset="-79"/>
              </a:rPr>
              <a:t>מספר האנשים שלקחו מים לידם וליקקו היו 300 איש. ואילו שאר האנשים- 9,700 איש כרעו על ברכיהם ושתו מים. </a:t>
            </a:r>
          </a:p>
        </p:txBody>
      </p:sp>
      <p:sp>
        <p:nvSpPr>
          <p:cNvPr id="2" name="מלבן 1"/>
          <p:cNvSpPr/>
          <p:nvPr/>
        </p:nvSpPr>
        <p:spPr>
          <a:xfrm>
            <a:off x="6792685" y="273133"/>
            <a:ext cx="5296395" cy="6093976"/>
          </a:xfrm>
          <a:prstGeom prst="rect">
            <a:avLst/>
          </a:prstGeom>
          <a:solidFill>
            <a:schemeClr val="accent2">
              <a:lumMod val="60000"/>
              <a:lumOff val="40000"/>
            </a:schemeClr>
          </a:solidFill>
        </p:spPr>
        <p:txBody>
          <a:bodyPr wrap="square">
            <a:spAutoFit/>
          </a:bodyPr>
          <a:lstStyle/>
          <a:p>
            <a:r>
              <a:rPr lang="he-IL" sz="3000" b="0" i="0" dirty="0">
                <a:solidFill>
                  <a:srgbClr val="000000"/>
                </a:solidFill>
                <a:effectLst/>
                <a:latin typeface="David" panose="020E0502060401010101" pitchFamily="34" charset="-79"/>
                <a:cs typeface="David" panose="020E0502060401010101" pitchFamily="34" charset="-79"/>
              </a:rPr>
              <a:t> </a:t>
            </a:r>
            <a:r>
              <a:rPr lang="he-IL" sz="3000" b="1" i="0" dirty="0">
                <a:solidFill>
                  <a:srgbClr val="000000"/>
                </a:solidFill>
                <a:effectLst/>
                <a:latin typeface="David" panose="020E0502060401010101" pitchFamily="34" charset="-79"/>
                <a:cs typeface="David" panose="020E0502060401010101" pitchFamily="34" charset="-79"/>
              </a:rPr>
              <a:t>ד</a:t>
            </a:r>
            <a:r>
              <a:rPr lang="he-IL" sz="3000" b="0" i="0" dirty="0">
                <a:solidFill>
                  <a:srgbClr val="000000"/>
                </a:solidFill>
                <a:effectLst/>
                <a:latin typeface="David" panose="020E0502060401010101" pitchFamily="34" charset="-79"/>
                <a:cs typeface="David" panose="020E0502060401010101" pitchFamily="34" charset="-79"/>
              </a:rPr>
              <a:t> וַיֹּאמֶר יְהוָה אֶל-גִּדְעוֹן, </a:t>
            </a:r>
            <a:r>
              <a:rPr lang="he-IL" sz="3000" b="1" i="0" dirty="0">
                <a:solidFill>
                  <a:srgbClr val="000000"/>
                </a:solidFill>
                <a:effectLst/>
                <a:latin typeface="David" panose="020E0502060401010101" pitchFamily="34" charset="-79"/>
                <a:cs typeface="David" panose="020E0502060401010101" pitchFamily="34" charset="-79"/>
              </a:rPr>
              <a:t>עוֹד הָעָם רָב, הוֹרֵד אוֹתָם אֶל-הַמַּיִם, </a:t>
            </a:r>
            <a:r>
              <a:rPr lang="he-IL" sz="3000" b="1" i="0" dirty="0" err="1">
                <a:solidFill>
                  <a:srgbClr val="000000"/>
                </a:solidFill>
                <a:effectLst/>
                <a:latin typeface="David" panose="020E0502060401010101" pitchFamily="34" charset="-79"/>
                <a:cs typeface="David" panose="020E0502060401010101" pitchFamily="34" charset="-79"/>
              </a:rPr>
              <a:t>וְאֶצְרְפֶנּו</a:t>
            </a:r>
            <a:r>
              <a:rPr lang="he-IL" sz="3000" b="1" i="0" dirty="0">
                <a:solidFill>
                  <a:srgbClr val="000000"/>
                </a:solidFill>
                <a:effectLst/>
                <a:latin typeface="David" panose="020E0502060401010101" pitchFamily="34" charset="-79"/>
                <a:cs typeface="David" panose="020E0502060401010101" pitchFamily="34" charset="-79"/>
              </a:rPr>
              <a:t>ּ לְךָ שָׁם</a:t>
            </a:r>
            <a:r>
              <a:rPr lang="he-IL" sz="3000" b="0" i="0" dirty="0">
                <a:solidFill>
                  <a:srgbClr val="000000"/>
                </a:solidFill>
                <a:effectLst/>
                <a:latin typeface="David" panose="020E0502060401010101" pitchFamily="34" charset="-79"/>
                <a:cs typeface="David" panose="020E0502060401010101" pitchFamily="34" charset="-79"/>
              </a:rPr>
              <a:t>; וְהָיָה אֲשֶׁר אֹמַר אֵלֶיךָ זֶה יֵלֵךְ אִתָּךְ, הוּא יֵלֵךְ אִתָּךְ, וְכֹל אֲשֶׁר-אֹמַר אֵלֶיךָ זֶה לֹא-יֵלֵךְ עִמָּךְ, הוּא לֹא יֵלֵךְ.  </a:t>
            </a:r>
          </a:p>
          <a:p>
            <a:r>
              <a:rPr lang="he-IL" sz="3000" b="1" i="0" dirty="0">
                <a:solidFill>
                  <a:srgbClr val="000000"/>
                </a:solidFill>
                <a:effectLst/>
                <a:latin typeface="David" panose="020E0502060401010101" pitchFamily="34" charset="-79"/>
                <a:cs typeface="David" panose="020E0502060401010101" pitchFamily="34" charset="-79"/>
              </a:rPr>
              <a:t>ה</a:t>
            </a:r>
            <a:r>
              <a:rPr lang="he-IL" sz="3000" b="0" i="0" dirty="0">
                <a:solidFill>
                  <a:srgbClr val="000000"/>
                </a:solidFill>
                <a:effectLst/>
                <a:latin typeface="David" panose="020E0502060401010101" pitchFamily="34" charset="-79"/>
                <a:cs typeface="David" panose="020E0502060401010101" pitchFamily="34" charset="-79"/>
              </a:rPr>
              <a:t> וַיּוֹרֶד אֶת-הָעָם, אֶל-הַמָּיִם; וַיֹּאמֶר יְהוָה אֶל-גִּדְעוֹן, </a:t>
            </a:r>
            <a:r>
              <a:rPr lang="he-IL" sz="3000" b="1" i="0" dirty="0">
                <a:solidFill>
                  <a:srgbClr val="000000"/>
                </a:solidFill>
                <a:effectLst/>
                <a:latin typeface="David" panose="020E0502060401010101" pitchFamily="34" charset="-79"/>
                <a:cs typeface="David" panose="020E0502060401010101" pitchFamily="34" charset="-79"/>
              </a:rPr>
              <a:t>כֹּל אֲשֶׁר-יָלֹק בִּלְשׁוֹנוֹ מִן-הַמַּיִם כַּאֲשֶׁר יָלֹק הַכֶּלֶב תַּצִּיג אוֹתוֹ לְבָד, וְכֹל אֲשֶׁר-יִכְרַע עַל-בִּרְכָּיו, לִשְׁתּוֹת.  </a:t>
            </a:r>
          </a:p>
          <a:p>
            <a:r>
              <a:rPr lang="he-IL" sz="3000" b="1" i="0" dirty="0">
                <a:solidFill>
                  <a:srgbClr val="000000"/>
                </a:solidFill>
                <a:effectLst/>
                <a:latin typeface="David" panose="020E0502060401010101" pitchFamily="34" charset="-79"/>
                <a:cs typeface="David" panose="020E0502060401010101" pitchFamily="34" charset="-79"/>
              </a:rPr>
              <a:t>ו</a:t>
            </a:r>
            <a:r>
              <a:rPr lang="he-IL" sz="3000" b="0" i="0" dirty="0">
                <a:solidFill>
                  <a:srgbClr val="000000"/>
                </a:solidFill>
                <a:effectLst/>
                <a:latin typeface="David" panose="020E0502060401010101" pitchFamily="34" charset="-79"/>
                <a:cs typeface="David" panose="020E0502060401010101" pitchFamily="34" charset="-79"/>
              </a:rPr>
              <a:t> וַיְהִי, </a:t>
            </a:r>
            <a:r>
              <a:rPr lang="he-IL" sz="3000" b="1" i="0" dirty="0">
                <a:solidFill>
                  <a:srgbClr val="FF0000"/>
                </a:solidFill>
                <a:effectLst/>
                <a:latin typeface="David" panose="020E0502060401010101" pitchFamily="34" charset="-79"/>
                <a:cs typeface="David" panose="020E0502060401010101" pitchFamily="34" charset="-79"/>
              </a:rPr>
              <a:t>מִסְפַּר הַמְלַקְקִים בְּיָדָם אֶל-פִּיהֶם--שְׁלֹשׁ מֵאוֹת</a:t>
            </a:r>
            <a:r>
              <a:rPr lang="he-IL" sz="3000" b="0" i="0" dirty="0">
                <a:solidFill>
                  <a:srgbClr val="000000"/>
                </a:solidFill>
                <a:effectLst/>
                <a:latin typeface="David" panose="020E0502060401010101" pitchFamily="34" charset="-79"/>
                <a:cs typeface="David" panose="020E0502060401010101" pitchFamily="34" charset="-79"/>
              </a:rPr>
              <a:t>, אִישׁ; וְכֹל יֶתֶר הָעָם, כָּרְעוּ עַל-בִּרְכֵיהֶם לִשְׁתּוֹת מָיִם.</a:t>
            </a:r>
            <a:endParaRPr lang="he-IL" sz="30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00214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מלבן 2"/>
          <p:cNvSpPr/>
          <p:nvPr/>
        </p:nvSpPr>
        <p:spPr>
          <a:xfrm>
            <a:off x="2149434" y="102233"/>
            <a:ext cx="7825839" cy="1015663"/>
          </a:xfrm>
          <a:prstGeom prst="rect">
            <a:avLst/>
          </a:prstGeom>
          <a:solidFill>
            <a:schemeClr val="accent2">
              <a:lumMod val="40000"/>
              <a:lumOff val="60000"/>
            </a:schemeClr>
          </a:solidFill>
        </p:spPr>
        <p:txBody>
          <a:bodyPr wrap="square">
            <a:spAutoFit/>
          </a:bodyPr>
          <a:lstStyle/>
          <a:p>
            <a:pPr lvl="0"/>
            <a:r>
              <a:rPr lang="he-IL" sz="3000" dirty="0">
                <a:solidFill>
                  <a:srgbClr val="000000"/>
                </a:solidFill>
                <a:latin typeface="David" panose="020E0502060401010101" pitchFamily="34" charset="-79"/>
                <a:cs typeface="David" panose="020E0502060401010101" pitchFamily="34" charset="-79"/>
              </a:rPr>
              <a:t>, </a:t>
            </a:r>
            <a:r>
              <a:rPr lang="he-IL" sz="3000" b="1" dirty="0">
                <a:solidFill>
                  <a:srgbClr val="000000"/>
                </a:solidFill>
                <a:latin typeface="David" panose="020E0502060401010101" pitchFamily="34" charset="-79"/>
                <a:cs typeface="David" panose="020E0502060401010101" pitchFamily="34" charset="-79"/>
              </a:rPr>
              <a:t>כֹּל אֲשֶׁר-יָלֹק בִּלְשׁוֹנוֹ מִן-הַמַּיִם כַּאֲשֶׁר יָלֹק הַכֶּלֶב תַּצִּיג אוֹתוֹ לְבָד, וְכֹל אֲשֶׁר-יִכְרַע עַל-בִּרְכָּיו, לִשְׁתּוֹת.  </a:t>
            </a:r>
          </a:p>
        </p:txBody>
      </p:sp>
      <p:pic>
        <p:nvPicPr>
          <p:cNvPr id="4" name="תמונה 3"/>
          <p:cNvPicPr>
            <a:picLocks noChangeAspect="1"/>
          </p:cNvPicPr>
          <p:nvPr/>
        </p:nvPicPr>
        <p:blipFill>
          <a:blip r:embed="rId3"/>
          <a:stretch>
            <a:fillRect/>
          </a:stretch>
        </p:blipFill>
        <p:spPr>
          <a:xfrm>
            <a:off x="288281" y="1698171"/>
            <a:ext cx="5601880" cy="5029497"/>
          </a:xfrm>
          <a:prstGeom prst="rect">
            <a:avLst/>
          </a:prstGeom>
        </p:spPr>
      </p:pic>
      <p:pic>
        <p:nvPicPr>
          <p:cNvPr id="6" name="תמונה 5"/>
          <p:cNvPicPr>
            <a:picLocks noChangeAspect="1"/>
          </p:cNvPicPr>
          <p:nvPr/>
        </p:nvPicPr>
        <p:blipFill>
          <a:blip r:embed="rId4"/>
          <a:stretch>
            <a:fillRect/>
          </a:stretch>
        </p:blipFill>
        <p:spPr>
          <a:xfrm>
            <a:off x="8737832" y="1202928"/>
            <a:ext cx="3291872" cy="2499344"/>
          </a:xfrm>
          <a:prstGeom prst="rect">
            <a:avLst/>
          </a:prstGeom>
        </p:spPr>
      </p:pic>
      <p:sp>
        <p:nvSpPr>
          <p:cNvPr id="7" name="מלבן 6"/>
          <p:cNvSpPr/>
          <p:nvPr/>
        </p:nvSpPr>
        <p:spPr>
          <a:xfrm>
            <a:off x="8737832" y="3702272"/>
            <a:ext cx="3291872"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"מערת גדעון" ממנה נובע מעיין חרוד, שם על פי המסורת ערך גדעון לבני ישראל את מבחן "המלקקים"</a:t>
            </a:r>
          </a:p>
        </p:txBody>
      </p:sp>
      <p:sp>
        <p:nvSpPr>
          <p:cNvPr id="9" name="Google Shape;120;p16"/>
          <p:cNvSpPr/>
          <p:nvPr/>
        </p:nvSpPr>
        <p:spPr>
          <a:xfrm>
            <a:off x="4838283" y="3112461"/>
            <a:ext cx="3607861" cy="830997"/>
          </a:xfrm>
          <a:prstGeom prst="rect">
            <a:avLst/>
          </a:prstGeom>
          <a:solidFill>
            <a:srgbClr val="FFFF00"/>
          </a:solidFill>
          <a:ln>
            <a:noFill/>
          </a:ln>
        </p:spPr>
        <p:txBody>
          <a:bodyPr spcFirstLastPara="1" wrap="square" lIns="91425" tIns="45700" rIns="91425" bIns="45700" anchor="t" anchorCtr="0">
            <a:noAutofit/>
          </a:bodyPr>
          <a:lstStyle/>
          <a:p>
            <a:pPr marL="0" marR="0" lvl="0" indent="0" algn="ctr" rtl="1">
              <a:lnSpc>
                <a:spcPct val="100000"/>
              </a:lnSpc>
              <a:spcBef>
                <a:spcPts val="0"/>
              </a:spcBef>
              <a:spcAft>
                <a:spcPts val="0"/>
              </a:spcAft>
              <a:buClr>
                <a:srgbClr val="000000"/>
              </a:buClr>
              <a:buSzPts val="2400"/>
              <a:buFont typeface="Arial"/>
              <a:buNone/>
            </a:pPr>
            <a:r>
              <a:rPr lang="iw-IL" sz="2400" b="0" i="0" u="none" strike="noStrike" cap="none" dirty="0">
                <a:solidFill>
                  <a:schemeClr val="dk1"/>
                </a:solidFill>
                <a:latin typeface="Arial"/>
                <a:ea typeface="Arial"/>
                <a:cs typeface="Arial"/>
                <a:sym typeface="Arial"/>
              </a:rPr>
              <a:t>כֹּל אֲשֶׁר יָלֹק בִּלְשׁוֹנוֹ מִן-הַמַּיִם</a:t>
            </a:r>
            <a:endParaRPr sz="1400" b="0" i="0" u="none" strike="noStrike" cap="none" dirty="0">
              <a:solidFill>
                <a:srgbClr val="000000"/>
              </a:solidFill>
              <a:latin typeface="Arial"/>
              <a:ea typeface="Arial"/>
              <a:cs typeface="Arial"/>
              <a:sym typeface="Arial"/>
            </a:endParaRPr>
          </a:p>
          <a:p>
            <a:pPr marL="0" marR="0" lvl="0" indent="0" algn="ctr" rtl="1">
              <a:lnSpc>
                <a:spcPct val="100000"/>
              </a:lnSpc>
              <a:spcBef>
                <a:spcPts val="0"/>
              </a:spcBef>
              <a:spcAft>
                <a:spcPts val="0"/>
              </a:spcAft>
              <a:buClr>
                <a:srgbClr val="000000"/>
              </a:buClr>
              <a:buSzPts val="2400"/>
              <a:buFont typeface="Arial"/>
              <a:buNone/>
            </a:pPr>
            <a:r>
              <a:rPr lang="iw-IL" sz="2400" b="0" i="0" u="none" strike="noStrike" cap="none" dirty="0">
                <a:solidFill>
                  <a:schemeClr val="dk1"/>
                </a:solidFill>
                <a:latin typeface="Arial"/>
                <a:ea typeface="Arial"/>
                <a:cs typeface="Arial"/>
                <a:sym typeface="Arial"/>
              </a:rPr>
              <a:t> כַּאֲשֶׁר יָלֹק הַכֶּלֶב: </a:t>
            </a:r>
            <a:endParaRPr sz="1400" b="0" i="0" u="none" strike="noStrike" cap="none" dirty="0">
              <a:solidFill>
                <a:srgbClr val="000000"/>
              </a:solidFill>
              <a:latin typeface="Arial"/>
              <a:ea typeface="Arial"/>
              <a:cs typeface="Arial"/>
              <a:sym typeface="Arial"/>
            </a:endParaRPr>
          </a:p>
        </p:txBody>
      </p:sp>
      <p:cxnSp>
        <p:nvCxnSpPr>
          <p:cNvPr id="10" name="Google Shape;123;p16"/>
          <p:cNvCxnSpPr/>
          <p:nvPr/>
        </p:nvCxnSpPr>
        <p:spPr>
          <a:xfrm flipH="1">
            <a:off x="3906982" y="3702272"/>
            <a:ext cx="1693743" cy="679723"/>
          </a:xfrm>
          <a:prstGeom prst="straightConnector1">
            <a:avLst/>
          </a:prstGeom>
          <a:noFill/>
          <a:ln w="76200" cap="flat" cmpd="sng">
            <a:solidFill>
              <a:schemeClr val="dk1"/>
            </a:solidFill>
            <a:prstDash val="solid"/>
            <a:miter lim="800000"/>
            <a:headEnd type="none" w="sm" len="sm"/>
            <a:tailEnd type="none" w="sm" len="sm"/>
          </a:ln>
        </p:spPr>
      </p:cxnSp>
      <p:pic>
        <p:nvPicPr>
          <p:cNvPr id="12" name="Google Shape;122;p16" descr="×ª××¦××ª ×ª××× × ×¢×××¨ âª300 numberâ¬â"/>
          <p:cNvPicPr preferRelativeResize="0"/>
          <p:nvPr/>
        </p:nvPicPr>
        <p:blipFill rotWithShape="1">
          <a:blip r:embed="rId5">
            <a:alphaModFix/>
          </a:blip>
          <a:srcRect/>
          <a:stretch/>
        </p:blipFill>
        <p:spPr>
          <a:xfrm>
            <a:off x="6193607" y="2527734"/>
            <a:ext cx="974545" cy="584727"/>
          </a:xfrm>
          <a:prstGeom prst="rect">
            <a:avLst/>
          </a:prstGeom>
          <a:noFill/>
          <a:ln>
            <a:noFill/>
          </a:ln>
        </p:spPr>
      </p:pic>
      <p:sp>
        <p:nvSpPr>
          <p:cNvPr id="13" name="Google Shape;121;p16"/>
          <p:cNvSpPr/>
          <p:nvPr/>
        </p:nvSpPr>
        <p:spPr>
          <a:xfrm>
            <a:off x="5933511" y="5611805"/>
            <a:ext cx="4450257" cy="954107"/>
          </a:xfrm>
          <a:prstGeom prst="rect">
            <a:avLst/>
          </a:prstGeom>
          <a:solidFill>
            <a:schemeClr val="accent4">
              <a:lumMod val="60000"/>
              <a:lumOff val="40000"/>
            </a:scheme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iw-IL" sz="2800" b="0" i="0" u="none" strike="noStrike" cap="none" dirty="0">
                <a:solidFill>
                  <a:schemeClr val="dk1"/>
                </a:solidFill>
                <a:latin typeface="David" panose="020E0502060401010101" pitchFamily="34" charset="-79"/>
                <a:ea typeface="Arial"/>
                <a:cs typeface="David" panose="020E0502060401010101" pitchFamily="34" charset="-79"/>
                <a:sym typeface="Arial"/>
              </a:rPr>
              <a:t>וְכֹל אֲשֶׁר יִכְרַע עַל בִּרְכָּיו לִשְׁתּות</a:t>
            </a:r>
            <a:endParaRPr sz="1400" b="0" i="0" u="none" strike="noStrike" cap="none" dirty="0">
              <a:solidFill>
                <a:srgbClr val="000000"/>
              </a:solidFill>
              <a:latin typeface="David" panose="020E0502060401010101" pitchFamily="34" charset="-79"/>
              <a:ea typeface="Arial"/>
              <a:cs typeface="David" panose="020E0502060401010101" pitchFamily="34" charset="-79"/>
              <a:sym typeface="Arial"/>
            </a:endParaRPr>
          </a:p>
          <a:p>
            <a:pPr marL="0" marR="0" lvl="0" indent="0" algn="ctr" rtl="0">
              <a:lnSpc>
                <a:spcPct val="100000"/>
              </a:lnSpc>
              <a:spcBef>
                <a:spcPts val="0"/>
              </a:spcBef>
              <a:spcAft>
                <a:spcPts val="0"/>
              </a:spcAft>
              <a:buClr>
                <a:srgbClr val="000000"/>
              </a:buClr>
              <a:buSzPts val="2800"/>
              <a:buFont typeface="Arial"/>
              <a:buNone/>
            </a:pPr>
            <a:r>
              <a:rPr lang="iw-IL" sz="2800" b="0" i="0" u="none" strike="noStrike" cap="none" dirty="0">
                <a:solidFill>
                  <a:schemeClr val="dk1"/>
                </a:solidFill>
                <a:latin typeface="David" panose="020E0502060401010101" pitchFamily="34" charset="-79"/>
                <a:ea typeface="Arial"/>
                <a:cs typeface="David" panose="020E0502060401010101" pitchFamily="34" charset="-79"/>
                <a:sym typeface="Arial"/>
              </a:rPr>
              <a:t>בידם אל פיהם </a:t>
            </a:r>
            <a:endParaRPr sz="1400" b="0" i="0" u="none" strike="noStrike" cap="none" dirty="0">
              <a:solidFill>
                <a:srgbClr val="000000"/>
              </a:solidFill>
              <a:latin typeface="David" panose="020E0502060401010101" pitchFamily="34" charset="-79"/>
              <a:ea typeface="Arial"/>
              <a:cs typeface="David" panose="020E0502060401010101" pitchFamily="34" charset="-79"/>
              <a:sym typeface="Arial"/>
            </a:endParaRPr>
          </a:p>
        </p:txBody>
      </p:sp>
      <p:sp>
        <p:nvSpPr>
          <p:cNvPr id="14" name="Google Shape;125;p16"/>
          <p:cNvSpPr/>
          <p:nvPr/>
        </p:nvSpPr>
        <p:spPr>
          <a:xfrm>
            <a:off x="7526373" y="4929661"/>
            <a:ext cx="1391995" cy="646331"/>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1">
              <a:lnSpc>
                <a:spcPct val="100000"/>
              </a:lnSpc>
              <a:spcBef>
                <a:spcPts val="0"/>
              </a:spcBef>
              <a:spcAft>
                <a:spcPts val="0"/>
              </a:spcAft>
              <a:buClr>
                <a:srgbClr val="000000"/>
              </a:buClr>
              <a:buSzPts val="3600"/>
              <a:buFont typeface="Arial"/>
              <a:buNone/>
            </a:pPr>
            <a:r>
              <a:rPr lang="he-IL" sz="3600" dirty="0">
                <a:solidFill>
                  <a:schemeClr val="accent1"/>
                </a:solidFill>
                <a:latin typeface="Arial"/>
                <a:ea typeface="Calibri"/>
                <a:cs typeface="Arial"/>
                <a:sym typeface="Arial"/>
              </a:rPr>
              <a:t>9700</a:t>
            </a:r>
            <a:endParaRPr sz="2000" b="0" i="0" u="none" strike="noStrike" cap="none" dirty="0">
              <a:solidFill>
                <a:schemeClr val="accent1"/>
              </a:solidFill>
              <a:latin typeface="Calibri"/>
              <a:ea typeface="Calibri"/>
              <a:cs typeface="Calibri"/>
              <a:sym typeface="Calibri"/>
            </a:endParaRPr>
          </a:p>
        </p:txBody>
      </p:sp>
    </p:spTree>
    <p:extLst>
      <p:ext uri="{BB962C8B-B14F-4D97-AF65-F5344CB8AC3E}">
        <p14:creationId xmlns:p14="http://schemas.microsoft.com/office/powerpoint/2010/main" val="2046567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194460" y="163245"/>
            <a:ext cx="10515600" cy="964912"/>
          </a:xfrm>
          <a:prstGeom prst="rect">
            <a:avLst/>
          </a:prstGeom>
          <a:solidFill>
            <a:schemeClr val="accent2">
              <a:lumMod val="20000"/>
              <a:lumOff val="80000"/>
            </a:schemeClr>
          </a:solidFill>
          <a:ln>
            <a:noFill/>
          </a:ln>
        </p:spPr>
        <p:txBody>
          <a:bodyPr spcFirstLastPara="1" wrap="square" lIns="91425" tIns="45700" rIns="91425" bIns="45700" anchor="ctr" anchorCtr="0">
            <a:noAutofit/>
          </a:bodyPr>
          <a:lstStyle/>
          <a:p>
            <a:pPr marL="0" lvl="0" indent="0" algn="r" rtl="1">
              <a:lnSpc>
                <a:spcPct val="90000"/>
              </a:lnSpc>
              <a:spcBef>
                <a:spcPts val="0"/>
              </a:spcBef>
              <a:spcAft>
                <a:spcPts val="0"/>
              </a:spcAft>
              <a:buClr>
                <a:schemeClr val="dk1"/>
              </a:buClr>
              <a:buSzPts val="4400"/>
              <a:buFont typeface="Calibri"/>
              <a:buNone/>
            </a:pPr>
            <a:r>
              <a:rPr lang="he-IL" u="sng" dirty="0">
                <a:latin typeface="Guttman Mantova" panose="02010401010101010101" pitchFamily="2" charset="-79"/>
                <a:cs typeface="Guttman Mantova" panose="02010401010101010101" pitchFamily="2" charset="-79"/>
              </a:rPr>
              <a:t>מדוע בחר ה' דווקא במלקקים לתוך ידם?</a:t>
            </a:r>
            <a:endParaRPr dirty="0">
              <a:latin typeface="Guttman Mantova" panose="02010401010101010101" pitchFamily="2" charset="-79"/>
              <a:cs typeface="Guttman Mantova" panose="02010401010101010101" pitchFamily="2" charset="-79"/>
            </a:endParaRPr>
          </a:p>
        </p:txBody>
      </p:sp>
      <p:sp>
        <p:nvSpPr>
          <p:cNvPr id="131" name="Google Shape;131;p17"/>
          <p:cNvSpPr txBox="1">
            <a:spLocks noGrp="1"/>
          </p:cNvSpPr>
          <p:nvPr>
            <p:ph type="body" idx="1"/>
          </p:nvPr>
        </p:nvSpPr>
        <p:spPr>
          <a:xfrm>
            <a:off x="1503219" y="1377907"/>
            <a:ext cx="10515600" cy="5175900"/>
          </a:xfrm>
          <a:prstGeom prst="rect">
            <a:avLst/>
          </a:prstGeom>
          <a:noFill/>
          <a:ln>
            <a:noFill/>
          </a:ln>
        </p:spPr>
        <p:txBody>
          <a:bodyPr spcFirstLastPara="1" wrap="square" lIns="91425" tIns="45700" rIns="91425" bIns="45700" anchor="t" anchorCtr="0">
            <a:noAutofit/>
          </a:bodyPr>
          <a:lstStyle/>
          <a:p>
            <a:pPr marL="228600" lvl="0" indent="-228600" algn="r" rtl="1">
              <a:lnSpc>
                <a:spcPct val="70000"/>
              </a:lnSpc>
              <a:spcBef>
                <a:spcPts val="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רש"י פסוק ה': </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שכך הם למודים לכרוע לפני עבודת גלולים – </a:t>
            </a:r>
            <a:r>
              <a:rPr lang="iw-IL" sz="2380" b="1" dirty="0">
                <a:latin typeface="David" panose="020E0502060401010101" pitchFamily="34" charset="-79"/>
                <a:cs typeface="David" panose="020E0502060401010101" pitchFamily="34" charset="-79"/>
              </a:rPr>
              <a:t>סיבה רוחנית</a:t>
            </a:r>
            <a:r>
              <a:rPr lang="iw-IL" sz="2380" dirty="0">
                <a:latin typeface="David" panose="020E0502060401010101" pitchFamily="34" charset="-79"/>
                <a:cs typeface="David" panose="020E0502060401010101" pitchFamily="34" charset="-79"/>
              </a:rPr>
              <a:t>.</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endParaRPr sz="2380" dirty="0">
              <a:latin typeface="David" panose="020E0502060401010101" pitchFamily="34" charset="-79"/>
              <a:cs typeface="David" panose="020E0502060401010101" pitchFamily="34" charset="-79"/>
            </a:endParaRPr>
          </a:p>
          <a:p>
            <a:pPr marL="228600" lvl="0" indent="-228600" algn="r" rtl="1">
              <a:lnSpc>
                <a:spcPct val="70000"/>
              </a:lnSpc>
              <a:spcBef>
                <a:spcPts val="100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רלב"ג פסוק ה': </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המלקקים בידם אל פיהם... זה מורה על חריצות וגבורה – </a:t>
            </a:r>
            <a:r>
              <a:rPr lang="iw-IL" sz="2380" b="1" dirty="0">
                <a:latin typeface="David" panose="020E0502060401010101" pitchFamily="34" charset="-79"/>
                <a:cs typeface="David" panose="020E0502060401010101" pitchFamily="34" charset="-79"/>
              </a:rPr>
              <a:t>סיבה צבאית</a:t>
            </a:r>
            <a:r>
              <a:rPr lang="iw-IL" sz="2380" dirty="0">
                <a:latin typeface="David" panose="020E0502060401010101" pitchFamily="34" charset="-79"/>
                <a:cs typeface="David" panose="020E0502060401010101" pitchFamily="34" charset="-79"/>
              </a:rPr>
              <a:t>.</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endParaRPr sz="2380" dirty="0">
              <a:latin typeface="David" panose="020E0502060401010101" pitchFamily="34" charset="-79"/>
              <a:cs typeface="David" panose="020E0502060401010101" pitchFamily="34" charset="-79"/>
            </a:endParaRPr>
          </a:p>
          <a:p>
            <a:pPr marL="228600" lvl="0" indent="-228600" algn="r" rtl="1">
              <a:lnSpc>
                <a:spcPct val="70000"/>
              </a:lnSpc>
              <a:spcBef>
                <a:spcPts val="100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המלב"ים פסוק ה': </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גם הכריעה מורה על בולמוס התאווה לשתות בפעם אחת – </a:t>
            </a:r>
            <a:r>
              <a:rPr lang="iw-IL" sz="2380" b="1" dirty="0">
                <a:latin typeface="David" panose="020E0502060401010101" pitchFamily="34" charset="-79"/>
                <a:cs typeface="David" panose="020E0502060401010101" pitchFamily="34" charset="-79"/>
              </a:rPr>
              <a:t>סיבה רוחנית</a:t>
            </a:r>
            <a:r>
              <a:rPr lang="iw-IL" sz="2380" dirty="0">
                <a:latin typeface="David" panose="020E0502060401010101" pitchFamily="34" charset="-79"/>
                <a:cs typeface="David" panose="020E0502060401010101" pitchFamily="34" charset="-79"/>
              </a:rPr>
              <a:t>.</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endParaRPr sz="2380" dirty="0">
              <a:latin typeface="David" panose="020E0502060401010101" pitchFamily="34" charset="-79"/>
              <a:cs typeface="David" panose="020E0502060401010101" pitchFamily="34" charset="-79"/>
            </a:endParaRPr>
          </a:p>
          <a:p>
            <a:pPr marL="228600" lvl="0" indent="-228600" algn="r" rtl="1">
              <a:lnSpc>
                <a:spcPct val="70000"/>
              </a:lnSpc>
              <a:spcBef>
                <a:spcPts val="100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הרב יהודה מאלי: </a:t>
            </a:r>
            <a:endParaRPr dirty="0">
              <a:latin typeface="David" panose="020E0502060401010101" pitchFamily="34" charset="-79"/>
              <a:cs typeface="David" panose="020E0502060401010101" pitchFamily="34" charset="-79"/>
            </a:endParaRPr>
          </a:p>
          <a:p>
            <a:pPr marL="0" lvl="0" indent="0" algn="r" rtl="1">
              <a:lnSpc>
                <a:spcPct val="14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האדם המלקק אל פיו, יכול להמשיך ולהחזיק בידו השנייה בנשק, והוא ערוך ומוכן לקרב, בעוד שהכורע על ברכיו, ראשו במים, ואת נשקו הוא מניח בידו – </a:t>
            </a:r>
            <a:r>
              <a:rPr lang="iw-IL" sz="2380" b="1" dirty="0">
                <a:latin typeface="David" panose="020E0502060401010101" pitchFamily="34" charset="-79"/>
                <a:cs typeface="David" panose="020E0502060401010101" pitchFamily="34" charset="-79"/>
              </a:rPr>
              <a:t>סיבה צבאית.</a:t>
            </a:r>
            <a:endParaRPr b="1" dirty="0">
              <a:latin typeface="David" panose="020E0502060401010101" pitchFamily="34" charset="-79"/>
              <a:cs typeface="David" panose="020E0502060401010101" pitchFamily="34" charset="-79"/>
            </a:endParaRPr>
          </a:p>
        </p:txBody>
      </p:sp>
      <p:pic>
        <p:nvPicPr>
          <p:cNvPr id="2" name="תמונה 1"/>
          <p:cNvPicPr>
            <a:picLocks noChangeAspect="1"/>
          </p:cNvPicPr>
          <p:nvPr/>
        </p:nvPicPr>
        <p:blipFill>
          <a:blip r:embed="rId4"/>
          <a:stretch>
            <a:fillRect/>
          </a:stretch>
        </p:blipFill>
        <p:spPr>
          <a:xfrm>
            <a:off x="201292" y="1128157"/>
            <a:ext cx="3800693" cy="2499577"/>
          </a:xfrm>
          <a:prstGeom prst="rect">
            <a:avLst/>
          </a:prstGeom>
        </p:spPr>
      </p:pic>
    </p:spTree>
    <p:extLst>
      <p:ext uri="{BB962C8B-B14F-4D97-AF65-F5344CB8AC3E}">
        <p14:creationId xmlns:p14="http://schemas.microsoft.com/office/powerpoint/2010/main" val="325511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1">
                                            <p:txEl>
                                              <p:pRg st="2" end="2"/>
                                            </p:txEl>
                                          </p:spTgt>
                                        </p:tgtEl>
                                        <p:attrNameLst>
                                          <p:attrName>style.visibility</p:attrName>
                                        </p:attrNameLst>
                                      </p:cBhvr>
                                      <p:to>
                                        <p:strVal val="visible"/>
                                      </p:to>
                                    </p:set>
                                    <p:animEffect transition="in" filter="fade">
                                      <p:cBhvr>
                                        <p:cTn id="17" dur="500"/>
                                        <p:tgtEl>
                                          <p:spTgt spid="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1">
                                            <p:txEl>
                                              <p:pRg st="3" end="3"/>
                                            </p:txEl>
                                          </p:spTgt>
                                        </p:tgtEl>
                                        <p:attrNameLst>
                                          <p:attrName>style.visibility</p:attrName>
                                        </p:attrNameLst>
                                      </p:cBhvr>
                                      <p:to>
                                        <p:strVal val="visible"/>
                                      </p:to>
                                    </p:set>
                                    <p:animEffect transition="in" filter="fade">
                                      <p:cBhvr>
                                        <p:cTn id="22" dur="500"/>
                                        <p:tgtEl>
                                          <p:spTgt spid="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1">
                                            <p:txEl>
                                              <p:pRg st="4" end="4"/>
                                            </p:txEl>
                                          </p:spTgt>
                                        </p:tgtEl>
                                        <p:attrNameLst>
                                          <p:attrName>style.visibility</p:attrName>
                                        </p:attrNameLst>
                                      </p:cBhvr>
                                      <p:to>
                                        <p:strVal val="visible"/>
                                      </p:to>
                                    </p:set>
                                    <p:animEffect transition="in" filter="fade">
                                      <p:cBhvr>
                                        <p:cTn id="27" dur="500"/>
                                        <p:tgtEl>
                                          <p:spTgt spid="1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1">
                                            <p:txEl>
                                              <p:pRg st="5" end="5"/>
                                            </p:txEl>
                                          </p:spTgt>
                                        </p:tgtEl>
                                        <p:attrNameLst>
                                          <p:attrName>style.visibility</p:attrName>
                                        </p:attrNameLst>
                                      </p:cBhvr>
                                      <p:to>
                                        <p:strVal val="visible"/>
                                      </p:to>
                                    </p:set>
                                    <p:animEffect transition="in" filter="fade">
                                      <p:cBhvr>
                                        <p:cTn id="32" dur="500"/>
                                        <p:tgtEl>
                                          <p:spTgt spid="1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1">
                                            <p:txEl>
                                              <p:pRg st="6" end="6"/>
                                            </p:txEl>
                                          </p:spTgt>
                                        </p:tgtEl>
                                        <p:attrNameLst>
                                          <p:attrName>style.visibility</p:attrName>
                                        </p:attrNameLst>
                                      </p:cBhvr>
                                      <p:to>
                                        <p:strVal val="visible"/>
                                      </p:to>
                                    </p:set>
                                    <p:animEffect transition="in" filter="fade">
                                      <p:cBhvr>
                                        <p:cTn id="37" dur="500"/>
                                        <p:tgtEl>
                                          <p:spTgt spid="1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1">
                                            <p:txEl>
                                              <p:pRg st="7" end="7"/>
                                            </p:txEl>
                                          </p:spTgt>
                                        </p:tgtEl>
                                        <p:attrNameLst>
                                          <p:attrName>style.visibility</p:attrName>
                                        </p:attrNameLst>
                                      </p:cBhvr>
                                      <p:to>
                                        <p:strVal val="visible"/>
                                      </p:to>
                                    </p:set>
                                    <p:animEffect transition="in" filter="fade">
                                      <p:cBhvr>
                                        <p:cTn id="42" dur="500"/>
                                        <p:tgtEl>
                                          <p:spTgt spid="1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1">
                                            <p:txEl>
                                              <p:pRg st="8" end="8"/>
                                            </p:txEl>
                                          </p:spTgt>
                                        </p:tgtEl>
                                        <p:attrNameLst>
                                          <p:attrName>style.visibility</p:attrName>
                                        </p:attrNameLst>
                                      </p:cBhvr>
                                      <p:to>
                                        <p:strVal val="visible"/>
                                      </p:to>
                                    </p:set>
                                    <p:animEffect transition="in" filter="fade">
                                      <p:cBhvr>
                                        <p:cTn id="47" dur="500"/>
                                        <p:tgtEl>
                                          <p:spTgt spid="1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1">
                                            <p:txEl>
                                              <p:pRg st="9" end="9"/>
                                            </p:txEl>
                                          </p:spTgt>
                                        </p:tgtEl>
                                        <p:attrNameLst>
                                          <p:attrName>style.visibility</p:attrName>
                                        </p:attrNameLst>
                                      </p:cBhvr>
                                      <p:to>
                                        <p:strVal val="visible"/>
                                      </p:to>
                                    </p:set>
                                    <p:animEffect transition="in" filter="fade">
                                      <p:cBhvr>
                                        <p:cTn id="52" dur="500"/>
                                        <p:tgtEl>
                                          <p:spTgt spid="13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1">
                                            <p:txEl>
                                              <p:pRg st="10" end="10"/>
                                            </p:txEl>
                                          </p:spTgt>
                                        </p:tgtEl>
                                        <p:attrNameLst>
                                          <p:attrName>style.visibility</p:attrName>
                                        </p:attrNameLst>
                                      </p:cBhvr>
                                      <p:to>
                                        <p:strVal val="visible"/>
                                      </p:to>
                                    </p:set>
                                    <p:animEffect transition="in" filter="fade">
                                      <p:cBhvr>
                                        <p:cTn id="57" dur="500"/>
                                        <p:tgtEl>
                                          <p:spTgt spid="13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40779" y="168499"/>
            <a:ext cx="5126868" cy="3046988"/>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ז': </a:t>
            </a:r>
            <a:r>
              <a:rPr lang="he-IL" sz="3200" dirty="0">
                <a:latin typeface="David" panose="020E0502060401010101" pitchFamily="34" charset="-79"/>
                <a:cs typeface="David" panose="020E0502060401010101" pitchFamily="34" charset="-79"/>
              </a:rPr>
              <a:t>אמר ה' לגדעון בשלוש מאות האיש שמלקקים את המים ששתו בידם איתם אושיע אתכם משעבוד מדיין, ונתתי את מדיין בידך </a:t>
            </a:r>
            <a:r>
              <a:rPr lang="he-IL" sz="3200" b="1" dirty="0">
                <a:latin typeface="David" panose="020E0502060401010101" pitchFamily="34" charset="-79"/>
                <a:cs typeface="David" panose="020E0502060401010101" pitchFamily="34" charset="-79"/>
              </a:rPr>
              <a:t>וכל העם שכרעו על ברכיהם ילכו חזרה למקומם לביתם</a:t>
            </a:r>
            <a:r>
              <a:rPr lang="he-IL" sz="3200" dirty="0">
                <a:latin typeface="David" panose="020E0502060401010101" pitchFamily="34" charset="-79"/>
                <a:cs typeface="David" panose="020E0502060401010101" pitchFamily="34" charset="-79"/>
              </a:rPr>
              <a:t>. </a:t>
            </a:r>
          </a:p>
        </p:txBody>
      </p:sp>
      <p:sp>
        <p:nvSpPr>
          <p:cNvPr id="2" name="מלבן 1"/>
          <p:cNvSpPr/>
          <p:nvPr/>
        </p:nvSpPr>
        <p:spPr>
          <a:xfrm>
            <a:off x="5533901" y="227875"/>
            <a:ext cx="6460176" cy="1569660"/>
          </a:xfrm>
          <a:prstGeom prst="rect">
            <a:avLst/>
          </a:prstGeom>
          <a:solidFill>
            <a:schemeClr val="accent4">
              <a:lumMod val="60000"/>
              <a:lumOff val="40000"/>
            </a:schemeClr>
          </a:solidFill>
        </p:spPr>
        <p:txBody>
          <a:bodyPr wrap="square">
            <a:spAutoFit/>
          </a:bodyPr>
          <a:lstStyle/>
          <a:p>
            <a:r>
              <a:rPr lang="he-IL" sz="3200" b="1" i="0" dirty="0">
                <a:solidFill>
                  <a:srgbClr val="000000"/>
                </a:solidFill>
                <a:effectLst/>
                <a:latin typeface="David" panose="020E0502060401010101" pitchFamily="34" charset="-79"/>
                <a:cs typeface="David" panose="020E0502060401010101" pitchFamily="34" charset="-79"/>
              </a:rPr>
              <a:t>ז</a:t>
            </a:r>
            <a:r>
              <a:rPr lang="he-IL" sz="3200" b="0" i="0" dirty="0">
                <a:solidFill>
                  <a:srgbClr val="000000"/>
                </a:solidFill>
                <a:effectLst/>
                <a:latin typeface="David" panose="020E0502060401010101" pitchFamily="34" charset="-79"/>
                <a:cs typeface="David" panose="020E0502060401010101" pitchFamily="34" charset="-79"/>
              </a:rPr>
              <a:t> וַיֹּאמֶר יְהוָה אֶל-גִּדְעוֹן, בִּשְׁלֹשׁ מֵאוֹת הָאִישׁ הַמְלַקְקִים אוֹשִׁיעַ אֶתְכֶם, וְנָתַתִּי אֶת-מִדְיָן, בְּיָדֶךָ; </a:t>
            </a:r>
            <a:r>
              <a:rPr lang="he-IL" sz="3200" b="1" i="0" dirty="0">
                <a:solidFill>
                  <a:srgbClr val="000000"/>
                </a:solidFill>
                <a:effectLst/>
                <a:latin typeface="David" panose="020E0502060401010101" pitchFamily="34" charset="-79"/>
                <a:cs typeface="David" panose="020E0502060401010101" pitchFamily="34" charset="-79"/>
              </a:rPr>
              <a:t>וְכָל-הָעָם--יֵלְכוּ, אִישׁ לִמְקֹמוֹ. </a:t>
            </a:r>
            <a:endParaRPr lang="he-IL" sz="3200" b="1" dirty="0">
              <a:latin typeface="David" panose="020E0502060401010101" pitchFamily="34" charset="-79"/>
              <a:cs typeface="David" panose="020E0502060401010101" pitchFamily="34" charset="-79"/>
            </a:endParaRPr>
          </a:p>
        </p:txBody>
      </p:sp>
      <p:sp>
        <p:nvSpPr>
          <p:cNvPr id="4" name="TextBox 3"/>
          <p:cNvSpPr txBox="1"/>
          <p:nvPr/>
        </p:nvSpPr>
        <p:spPr>
          <a:xfrm>
            <a:off x="4168239" y="3517339"/>
            <a:ext cx="7825838" cy="3108543"/>
          </a:xfrm>
          <a:prstGeom prst="rect">
            <a:avLst/>
          </a:prstGeom>
          <a:solidFill>
            <a:schemeClr val="accent5">
              <a:lumMod val="40000"/>
              <a:lumOff val="60000"/>
            </a:schemeClr>
          </a:solidFill>
          <a:ln w="38100">
            <a:solidFill>
              <a:schemeClr val="tx1"/>
            </a:solidFill>
          </a:ln>
        </p:spPr>
        <p:txBody>
          <a:bodyPr wrap="square" rtlCol="1">
            <a:spAutoFit/>
          </a:bodyPr>
          <a:lstStyle/>
          <a:p>
            <a:r>
              <a:rPr lang="he-IL" sz="2800" dirty="0">
                <a:latin typeface="David" panose="020E0502060401010101" pitchFamily="34" charset="-79"/>
                <a:cs typeface="David" panose="020E0502060401010101" pitchFamily="34" charset="-79"/>
              </a:rPr>
              <a:t>בקבוצה הראשונה שגדעון ניפה אמר לו ה' : "מי ירא... ישוב ויצפור מהר הגלעד"- ישוב כעת להר הגלעד וילין שם בלילה ובבקר יחזור לביתו </a:t>
            </a:r>
            <a:r>
              <a:rPr lang="he-IL" sz="2800" b="1" dirty="0">
                <a:latin typeface="David" panose="020E0502060401010101" pitchFamily="34" charset="-79"/>
                <a:cs typeface="David" panose="020E0502060401010101" pitchFamily="34" charset="-79"/>
              </a:rPr>
              <a:t>ולא אמר להם לחזור מיד לבתיהם כיוון שידע שע"י שיהיו בלילה בהר הגלעד תבוא על ידם התשועה מסוימת שירדפו אחרי הבורחים </a:t>
            </a:r>
            <a:r>
              <a:rPr lang="he-IL" sz="2400" dirty="0">
                <a:latin typeface="David" panose="020E0502060401010101" pitchFamily="34" charset="-79"/>
                <a:cs typeface="David" panose="020E0502060401010101" pitchFamily="34" charset="-79"/>
              </a:rPr>
              <a:t>(שנראה בהמשך הפרק במלחמה עם מדיין)</a:t>
            </a:r>
            <a:r>
              <a:rPr lang="he-IL" sz="2800" dirty="0">
                <a:latin typeface="David" panose="020E0502060401010101" pitchFamily="34" charset="-79"/>
                <a:cs typeface="David" panose="020E0502060401010101" pitchFamily="34" charset="-79"/>
              </a:rPr>
              <a:t>. ואילו אלו שחזרו </a:t>
            </a:r>
            <a:r>
              <a:rPr lang="he-IL" sz="2800" b="1" u="sng" dirty="0">
                <a:latin typeface="David" panose="020E0502060401010101" pitchFamily="34" charset="-79"/>
                <a:cs typeface="David" panose="020E0502060401010101" pitchFamily="34" charset="-79"/>
              </a:rPr>
              <a:t>בניפוי השני </a:t>
            </a:r>
            <a:r>
              <a:rPr lang="he-IL" sz="2800" dirty="0">
                <a:latin typeface="David" panose="020E0502060401010101" pitchFamily="34" charset="-79"/>
                <a:cs typeface="David" panose="020E0502060401010101" pitchFamily="34" charset="-79"/>
              </a:rPr>
              <a:t>שכרעו על ברכיהם אמר להם לחזור לבית מיד שאין צורך בהם כלל.</a:t>
            </a:r>
          </a:p>
        </p:txBody>
      </p:sp>
      <p:sp>
        <p:nvSpPr>
          <p:cNvPr id="3" name="חץ למעלה-למטה 2"/>
          <p:cNvSpPr/>
          <p:nvPr/>
        </p:nvSpPr>
        <p:spPr>
          <a:xfrm>
            <a:off x="6733309" y="1751369"/>
            <a:ext cx="926275" cy="1834212"/>
          </a:xfrm>
          <a:prstGeom prst="upDownArrow">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a:p>
        </p:txBody>
      </p:sp>
      <p:sp>
        <p:nvSpPr>
          <p:cNvPr id="6" name="אליפסה 5"/>
          <p:cNvSpPr/>
          <p:nvPr/>
        </p:nvSpPr>
        <p:spPr>
          <a:xfrm>
            <a:off x="6339357" y="1117367"/>
            <a:ext cx="4849264" cy="836756"/>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5" name="תמונה 4"/>
          <p:cNvPicPr>
            <a:picLocks noChangeAspect="1"/>
          </p:cNvPicPr>
          <p:nvPr/>
        </p:nvPicPr>
        <p:blipFill>
          <a:blip r:embed="rId3"/>
          <a:stretch>
            <a:fillRect/>
          </a:stretch>
        </p:blipFill>
        <p:spPr>
          <a:xfrm>
            <a:off x="391886" y="3207454"/>
            <a:ext cx="3486211" cy="3486211"/>
          </a:xfrm>
          <a:prstGeom prst="rect">
            <a:avLst/>
          </a:prstGeom>
        </p:spPr>
      </p:pic>
    </p:spTree>
    <p:extLst>
      <p:ext uri="{BB962C8B-B14F-4D97-AF65-F5344CB8AC3E}">
        <p14:creationId xmlns:p14="http://schemas.microsoft.com/office/powerpoint/2010/main" val="424112413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3"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54379" y="263502"/>
            <a:ext cx="5973289" cy="3046988"/>
          </a:xfrm>
          <a:prstGeom prst="rect">
            <a:avLst/>
          </a:prstGeom>
          <a:solidFill>
            <a:schemeClr val="tx2">
              <a:lumMod val="40000"/>
              <a:lumOff val="6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ח': </a:t>
            </a:r>
            <a:r>
              <a:rPr lang="he-IL" sz="3200" dirty="0">
                <a:latin typeface="David" panose="020E0502060401010101" pitchFamily="34" charset="-79"/>
                <a:cs typeface="David" panose="020E0502060401010101" pitchFamily="34" charset="-79"/>
              </a:rPr>
              <a:t>שלוש מאות האיש לקחו את המזון של אותם חיילים שכרעו על בגדיהם, וכן את השופרות שהיו להם, ואת הכורעים על ברכיהם שלח איש לאוהלו. ומחנה מדיין היה בעמק למטה ומחנה גדעון היה למעלה על ההר.</a:t>
            </a:r>
          </a:p>
        </p:txBody>
      </p:sp>
      <p:sp>
        <p:nvSpPr>
          <p:cNvPr id="2" name="מלבן 1"/>
          <p:cNvSpPr/>
          <p:nvPr/>
        </p:nvSpPr>
        <p:spPr>
          <a:xfrm>
            <a:off x="6270171" y="150578"/>
            <a:ext cx="5818910" cy="2554545"/>
          </a:xfrm>
          <a:prstGeom prst="rect">
            <a:avLst/>
          </a:prstGeom>
          <a:solidFill>
            <a:schemeClr val="accent2">
              <a:lumMod val="60000"/>
              <a:lumOff val="40000"/>
            </a:schemeClr>
          </a:solidFill>
        </p:spPr>
        <p:txBody>
          <a:bodyPr wrap="square">
            <a:spAutoFit/>
          </a:bodyPr>
          <a:lstStyle/>
          <a:p>
            <a:r>
              <a:rPr lang="he-IL" sz="3200" b="1" i="0" dirty="0">
                <a:solidFill>
                  <a:srgbClr val="000000"/>
                </a:solidFill>
                <a:effectLst/>
                <a:latin typeface="David" panose="020E0502060401010101" pitchFamily="34" charset="-79"/>
                <a:cs typeface="David" panose="020E0502060401010101" pitchFamily="34" charset="-79"/>
              </a:rPr>
              <a:t>ח</a:t>
            </a:r>
            <a:r>
              <a:rPr lang="he-IL" sz="3200" b="0" i="0" dirty="0">
                <a:solidFill>
                  <a:srgbClr val="000000"/>
                </a:solidFill>
                <a:effectLst/>
                <a:latin typeface="David" panose="020E0502060401010101" pitchFamily="34" charset="-79"/>
                <a:cs typeface="David" panose="020E0502060401010101" pitchFamily="34" charset="-79"/>
              </a:rPr>
              <a:t> </a:t>
            </a:r>
            <a:r>
              <a:rPr lang="he-IL" sz="3200" b="1" i="0" dirty="0" err="1">
                <a:solidFill>
                  <a:srgbClr val="000000"/>
                </a:solidFill>
                <a:effectLst/>
                <a:latin typeface="David" panose="020E0502060401010101" pitchFamily="34" charset="-79"/>
                <a:cs typeface="David" panose="020E0502060401010101" pitchFamily="34" charset="-79"/>
              </a:rPr>
              <a:t>וַיִּקְחו</a:t>
            </a:r>
            <a:r>
              <a:rPr lang="he-IL" sz="3200" b="1" i="0" dirty="0">
                <a:solidFill>
                  <a:srgbClr val="000000"/>
                </a:solidFill>
                <a:effectLst/>
                <a:latin typeface="David" panose="020E0502060401010101" pitchFamily="34" charset="-79"/>
                <a:cs typeface="David" panose="020E0502060401010101" pitchFamily="34" charset="-79"/>
              </a:rPr>
              <a:t>ּ אֶת-צֵדָה הָעָם בְּיָדָם וְאֵת </a:t>
            </a:r>
            <a:r>
              <a:rPr lang="he-IL" sz="3200" b="1" i="0" dirty="0" err="1">
                <a:solidFill>
                  <a:srgbClr val="000000"/>
                </a:solidFill>
                <a:effectLst/>
                <a:latin typeface="David" panose="020E0502060401010101" pitchFamily="34" charset="-79"/>
                <a:cs typeface="David" panose="020E0502060401010101" pitchFamily="34" charset="-79"/>
              </a:rPr>
              <a:t>שׁוֹפְרֹתֵיהֶם</a:t>
            </a:r>
            <a:r>
              <a:rPr lang="he-IL" sz="3200" b="0" i="0" dirty="0">
                <a:solidFill>
                  <a:srgbClr val="000000"/>
                </a:solidFill>
                <a:effectLst/>
                <a:latin typeface="David" panose="020E0502060401010101" pitchFamily="34" charset="-79"/>
                <a:cs typeface="David" panose="020E0502060401010101" pitchFamily="34" charset="-79"/>
              </a:rPr>
              <a:t>, וְאֵת כָּל-אִישׁ יִשְׂרָאֵל שִׁלַּח אִישׁ </a:t>
            </a:r>
            <a:r>
              <a:rPr lang="he-IL" sz="3200" b="0" i="0" dirty="0" err="1">
                <a:solidFill>
                  <a:srgbClr val="000000"/>
                </a:solidFill>
                <a:effectLst/>
                <a:latin typeface="David" panose="020E0502060401010101" pitchFamily="34" charset="-79"/>
                <a:cs typeface="David" panose="020E0502060401010101" pitchFamily="34" charset="-79"/>
              </a:rPr>
              <a:t>לְאֹהָלָיו</a:t>
            </a:r>
            <a:r>
              <a:rPr lang="he-IL" sz="3200" b="0" i="0" dirty="0">
                <a:solidFill>
                  <a:srgbClr val="000000"/>
                </a:solidFill>
                <a:effectLst/>
                <a:latin typeface="David" panose="020E0502060401010101" pitchFamily="34" charset="-79"/>
                <a:cs typeface="David" panose="020E0502060401010101" pitchFamily="34" charset="-79"/>
              </a:rPr>
              <a:t>, וּבִשְׁלֹשׁ-מֵאוֹת הָאִישׁ, הֶחֱזִיק; וּמַחֲנֵה מִדְיָן, הָיָה לוֹ מִתַּחַת בָּעֵמֶק.</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283786" y="3188186"/>
            <a:ext cx="2975106" cy="2969009"/>
          </a:xfrm>
          <a:prstGeom prst="rect">
            <a:avLst/>
          </a:prstGeom>
        </p:spPr>
      </p:pic>
      <p:pic>
        <p:nvPicPr>
          <p:cNvPr id="4" name="תמונה 3"/>
          <p:cNvPicPr>
            <a:picLocks noChangeAspect="1"/>
          </p:cNvPicPr>
          <p:nvPr/>
        </p:nvPicPr>
        <p:blipFill>
          <a:blip r:embed="rId4"/>
          <a:stretch>
            <a:fillRect/>
          </a:stretch>
        </p:blipFill>
        <p:spPr>
          <a:xfrm>
            <a:off x="6721313" y="3084615"/>
            <a:ext cx="2414225" cy="2560542"/>
          </a:xfrm>
          <a:prstGeom prst="rect">
            <a:avLst/>
          </a:prstGeom>
        </p:spPr>
      </p:pic>
      <p:pic>
        <p:nvPicPr>
          <p:cNvPr id="5" name="תמונה 4"/>
          <p:cNvPicPr>
            <a:picLocks noChangeAspect="1"/>
          </p:cNvPicPr>
          <p:nvPr/>
        </p:nvPicPr>
        <p:blipFill>
          <a:blip r:embed="rId5">
            <a:extLst>
              <a:ext uri="{BEBA8EAE-BF5A-486C-A8C5-ECC9F3942E4B}">
                <a14:imgProps xmlns:a14="http://schemas.microsoft.com/office/drawing/2010/main">
                  <a14:imgLayer r:embed="rId6">
                    <a14:imgEffect>
                      <a14:backgroundRemoval t="2451" b="99020" l="0" r="100000"/>
                    </a14:imgEffect>
                  </a14:imgLayer>
                </a14:imgProps>
              </a:ext>
            </a:extLst>
          </a:blip>
          <a:stretch>
            <a:fillRect/>
          </a:stretch>
        </p:blipFill>
        <p:spPr>
          <a:xfrm>
            <a:off x="3404802" y="3689982"/>
            <a:ext cx="3316511" cy="2487384"/>
          </a:xfrm>
          <a:prstGeom prst="rect">
            <a:avLst/>
          </a:prstGeom>
        </p:spPr>
      </p:pic>
      <p:pic>
        <p:nvPicPr>
          <p:cNvPr id="7" name="תמונה 6"/>
          <p:cNvPicPr>
            <a:picLocks noChangeAspect="1"/>
          </p:cNvPicPr>
          <p:nvPr/>
        </p:nvPicPr>
        <p:blipFill>
          <a:blip r:embed="rId7"/>
          <a:stretch>
            <a:fillRect/>
          </a:stretch>
        </p:blipFill>
        <p:spPr>
          <a:xfrm>
            <a:off x="1770837" y="4217697"/>
            <a:ext cx="1956986" cy="2450804"/>
          </a:xfrm>
          <a:prstGeom prst="rect">
            <a:avLst/>
          </a:prstGeom>
        </p:spPr>
      </p:pic>
    </p:spTree>
    <p:extLst>
      <p:ext uri="{BB962C8B-B14F-4D97-AF65-F5344CB8AC3E}">
        <p14:creationId xmlns:p14="http://schemas.microsoft.com/office/powerpoint/2010/main" val="36384530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45776" y="132873"/>
            <a:ext cx="5791886" cy="4524315"/>
          </a:xfrm>
          <a:prstGeom prst="rect">
            <a:avLst/>
          </a:prstGeom>
          <a:solidFill>
            <a:schemeClr val="accent6">
              <a:lumMod val="60000"/>
              <a:lumOff val="4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3200" b="1" i="0" u="sng"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ט': </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לאחר שנותר גדעון עם 300 חיילים אמר ה' לגדעון קום ותרד למחנה מדיין ותילחם בהם כי נתתי אותו בידך , ה' יטיל בהם אימה ופחד ואתה תכה בהם בלא שיתנגדו.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3200" b="1" i="0" u="sng"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י': </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ואם אתה עדיין מפחד ולא התחזקת בליבך ובגודל הנס שיעשה לכם. אז תרד אתה </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עם הנער שלך פורה </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למחנה מדיין ברגל. </a:t>
            </a:r>
          </a:p>
        </p:txBody>
      </p:sp>
      <p:sp>
        <p:nvSpPr>
          <p:cNvPr id="2" name="מלבן 1"/>
          <p:cNvSpPr/>
          <p:nvPr/>
        </p:nvSpPr>
        <p:spPr>
          <a:xfrm>
            <a:off x="6127668" y="42856"/>
            <a:ext cx="5830783" cy="2062103"/>
          </a:xfrm>
          <a:prstGeom prst="rect">
            <a:avLst/>
          </a:prstGeom>
          <a:solidFill>
            <a:schemeClr val="accent2">
              <a:lumMod val="20000"/>
              <a:lumOff val="80000"/>
            </a:schemeClr>
          </a:solid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ט</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וַיְהִי, בַּלַּיְלָה הַהוּא, וַיֹּאמֶר אֵלָיו יְהוָה, קוּם רֵד בַּמַּחֲנֶה:  כִּי נְתַתִּיו, בְּיָדֶךָ.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י</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וְאִם-יָרֵא אַתָּה, לָרֶדֶת--</a:t>
            </a:r>
            <a:r>
              <a:rPr kumimoji="0" lang="he-IL" sz="32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רֵד אַתָּה וּפֻרָה נַעַרְךָ,</a:t>
            </a:r>
            <a:r>
              <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rPr>
              <a:t> אֶל-הַמַּחֲנֶה.</a:t>
            </a:r>
          </a:p>
        </p:txBody>
      </p:sp>
      <p:sp>
        <p:nvSpPr>
          <p:cNvPr id="3" name="מלבן 2"/>
          <p:cNvSpPr/>
          <p:nvPr/>
        </p:nvSpPr>
        <p:spPr>
          <a:xfrm>
            <a:off x="6125688" y="2691913"/>
            <a:ext cx="5832763" cy="3311997"/>
          </a:xfrm>
          <a:prstGeom prst="rect">
            <a:avLst/>
          </a:prstGeom>
          <a:solidFill>
            <a:schemeClr val="accent1">
              <a:lumMod val="40000"/>
              <a:lumOff val="60000"/>
            </a:schemeClr>
          </a:solidFill>
          <a:scene3d>
            <a:camera prst="perspectiveLeft"/>
            <a:lightRig rig="threePt" dir="t"/>
          </a:scene3d>
        </p:spPr>
        <p:txBody>
          <a:bodyPr wrap="square">
            <a:spAutoFit/>
          </a:bodyPr>
          <a:lstStyle/>
          <a:p>
            <a:pPr marL="0" marR="0" lvl="0" indent="0" algn="just" defTabSz="914400" rtl="1" eaLnBrk="1" fontAlgn="auto" latinLnBrk="0" hangingPunct="1">
              <a:lnSpc>
                <a:spcPct val="107000"/>
              </a:lnSpc>
              <a:spcBef>
                <a:spcPts val="0"/>
              </a:spcBef>
              <a:spcAft>
                <a:spcPts val="80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"ויהי בלילה ההוא"-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ארבעה מקומות נאמר בהם </a:t>
            </a:r>
            <a:r>
              <a:rPr kumimoji="0" lang="he-IL" sz="2800" b="0" i="0" u="none" strike="noStrike" kern="1200" cap="none" spc="0" normalizeH="0" baseline="0" noProof="0" dirty="0" err="1">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בהם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 "בלילה ההוא" וכולם מדובר בליל פסח ,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בשני אירועים קשורים לצאצאי רחל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ובשניים לצאצאי לאה- </a:t>
            </a:r>
            <a:r>
              <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פה גדעון הוא מבניו של מנשה שהיה מזרע רחל. והמקרה השני אצל מרדכי ואסתר </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"בלילה ההוא נדדה שנת המלך" שהיה מבניו של בנימין מזרע רחל</a:t>
            </a:r>
            <a:endParaRPr kumimoji="0" lang="en-US" sz="2000" b="0"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3985065623"/>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circle(in)">
                                      <p:cBhvr>
                                        <p:cTn id="14" dur="20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circle(in)">
                                      <p:cBhvr>
                                        <p:cTn id="19" dur="2000"/>
                                        <p:tgtEl>
                                          <p:spTgt spid="8">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17028" y="181355"/>
            <a:ext cx="5696884" cy="6001643"/>
          </a:xfrm>
          <a:prstGeom prst="rect">
            <a:avLst/>
          </a:prstGeom>
          <a:blipFill>
            <a:blip r:embed="rId3"/>
            <a:tile tx="0" ty="0" sx="100000" sy="100000" flip="none" algn="tl"/>
          </a:blip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יא': </a:t>
            </a:r>
            <a:r>
              <a:rPr lang="he-IL" sz="3200" dirty="0">
                <a:latin typeface="David" panose="020E0502060401010101" pitchFamily="34" charset="-79"/>
                <a:cs typeface="David" panose="020E0502060401010101" pitchFamily="34" charset="-79"/>
              </a:rPr>
              <a:t>כאשר תרד אל מחנה מדיין תישמע מה הם מדברים ואחרי שתשמע ידיך יתחזקו ולא תפחד ואחר כך תוכל לרדת ולהתקיף את מחנה מדיין. גדעון ונערו ירדו אל מחנה מדיין </a:t>
            </a:r>
            <a:r>
              <a:rPr lang="he-IL" sz="3200" b="1" dirty="0">
                <a:latin typeface="David" panose="020E0502060401010101" pitchFamily="34" charset="-79"/>
                <a:cs typeface="David" panose="020E0502060401010101" pitchFamily="34" charset="-79"/>
              </a:rPr>
              <a:t>והגיעו אל השומרים החמושים שהיו בקצה המחנה ושמרו עליו</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יב</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ומדיין ועמלק וכל בני קדם נמצאים פרוסים וחונים בעמק והם </a:t>
            </a:r>
            <a:r>
              <a:rPr lang="he-IL" sz="3200" b="1" dirty="0">
                <a:latin typeface="David" panose="020E0502060401010101" pitchFamily="34" charset="-79"/>
                <a:cs typeface="David" panose="020E0502060401010101" pitchFamily="34" charset="-79"/>
              </a:rPr>
              <a:t>בכמות אדירה כמו הארבה</a:t>
            </a:r>
            <a:r>
              <a:rPr lang="he-IL" sz="3200" dirty="0">
                <a:latin typeface="David" panose="020E0502060401010101" pitchFamily="34" charset="-79"/>
                <a:cs typeface="David" panose="020E0502060401010101" pitchFamily="34" charset="-79"/>
              </a:rPr>
              <a:t>, וכן מספר הגמלים שהיו להם היה אדיר כמו חול הים שלא ניתן לספור אותו. </a:t>
            </a:r>
          </a:p>
        </p:txBody>
      </p:sp>
      <p:sp>
        <p:nvSpPr>
          <p:cNvPr id="2" name="מלבן 1"/>
          <p:cNvSpPr/>
          <p:nvPr/>
        </p:nvSpPr>
        <p:spPr>
          <a:xfrm>
            <a:off x="6020790" y="181355"/>
            <a:ext cx="6044540" cy="3046988"/>
          </a:xfrm>
          <a:prstGeom prst="rect">
            <a:avLst/>
          </a:prstGeom>
          <a:solidFill>
            <a:schemeClr val="accent4">
              <a:lumMod val="60000"/>
              <a:lumOff val="40000"/>
            </a:schemeClr>
          </a:solidFill>
        </p:spPr>
        <p:txBody>
          <a:bodyPr wrap="square">
            <a:spAutoFit/>
          </a:bodyPr>
          <a:lstStyle/>
          <a:p>
            <a:r>
              <a:rPr lang="he-IL" sz="3200" b="1" i="0" dirty="0">
                <a:solidFill>
                  <a:srgbClr val="000000"/>
                </a:solidFill>
                <a:effectLst/>
                <a:latin typeface="David" panose="020E0502060401010101" pitchFamily="34" charset="-79"/>
                <a:cs typeface="David" panose="020E0502060401010101" pitchFamily="34" charset="-79"/>
              </a:rPr>
              <a:t>יא</a:t>
            </a:r>
            <a:r>
              <a:rPr lang="he-IL" sz="3200" b="0" i="0" dirty="0">
                <a:solidFill>
                  <a:srgbClr val="000000"/>
                </a:solidFill>
                <a:effectLst/>
                <a:latin typeface="David" panose="020E0502060401010101" pitchFamily="34" charset="-79"/>
                <a:cs typeface="David" panose="020E0502060401010101" pitchFamily="34" charset="-79"/>
              </a:rPr>
              <a:t> וְשָׁמַעְתָּ, מַה-יְדַבֵּרוּ, וְאַחַר תֶּחֱזַקְנָה יָדֶיךָ, וְיָרַדְתָּ בַּמַּחֲנֶה; וַיֵּרֶד הוּא וּפֻרָה נַעֲרוֹ, </a:t>
            </a:r>
            <a:r>
              <a:rPr lang="he-IL" sz="3200" b="1" i="0" dirty="0">
                <a:solidFill>
                  <a:srgbClr val="000000"/>
                </a:solidFill>
                <a:effectLst/>
                <a:latin typeface="David" panose="020E0502060401010101" pitchFamily="34" charset="-79"/>
                <a:cs typeface="David" panose="020E0502060401010101" pitchFamily="34" charset="-79"/>
              </a:rPr>
              <a:t>אֶל-קְצֵה </a:t>
            </a:r>
            <a:r>
              <a:rPr lang="he-IL" sz="3200" b="1" i="0" dirty="0" err="1">
                <a:solidFill>
                  <a:srgbClr val="000000"/>
                </a:solidFill>
                <a:effectLst/>
                <a:latin typeface="David" panose="020E0502060401010101" pitchFamily="34" charset="-79"/>
                <a:cs typeface="David" panose="020E0502060401010101" pitchFamily="34" charset="-79"/>
              </a:rPr>
              <a:t>הַחֲמֻשִׁים</a:t>
            </a:r>
            <a:r>
              <a:rPr lang="he-IL" sz="3200" b="1" i="0" dirty="0">
                <a:solidFill>
                  <a:srgbClr val="000000"/>
                </a:solidFill>
                <a:effectLst/>
                <a:latin typeface="David" panose="020E0502060401010101" pitchFamily="34" charset="-79"/>
                <a:cs typeface="David" panose="020E0502060401010101" pitchFamily="34" charset="-79"/>
              </a:rPr>
              <a:t> </a:t>
            </a:r>
            <a:r>
              <a:rPr lang="he-IL" sz="3200" b="0" i="0" dirty="0">
                <a:solidFill>
                  <a:srgbClr val="000000"/>
                </a:solidFill>
                <a:effectLst/>
                <a:latin typeface="David" panose="020E0502060401010101" pitchFamily="34" charset="-79"/>
                <a:cs typeface="David" panose="020E0502060401010101" pitchFamily="34" charset="-79"/>
              </a:rPr>
              <a:t>אֲשֶׁר בַּמַּחֲנֶה.  </a:t>
            </a:r>
          </a:p>
          <a:p>
            <a:r>
              <a:rPr lang="he-IL" sz="3200" b="1" i="0" dirty="0" err="1">
                <a:solidFill>
                  <a:srgbClr val="000000"/>
                </a:solidFill>
                <a:effectLst/>
                <a:latin typeface="David" panose="020E0502060401010101" pitchFamily="34" charset="-79"/>
                <a:cs typeface="David" panose="020E0502060401010101" pitchFamily="34" charset="-79"/>
              </a:rPr>
              <a:t>יב</a:t>
            </a:r>
            <a:r>
              <a:rPr lang="he-IL" sz="3200" b="0" i="0" dirty="0">
                <a:solidFill>
                  <a:srgbClr val="000000"/>
                </a:solidFill>
                <a:effectLst/>
                <a:latin typeface="David" panose="020E0502060401010101" pitchFamily="34" charset="-79"/>
                <a:cs typeface="David" panose="020E0502060401010101" pitchFamily="34" charset="-79"/>
              </a:rPr>
              <a:t> וּמִדְיָן וַעֲמָלֵק וְכָל-בְּנֵי-קֶדֶם נֹפְלִים בָּעֵמֶק, </a:t>
            </a:r>
            <a:r>
              <a:rPr lang="he-IL" sz="3200" b="1" i="0" dirty="0">
                <a:solidFill>
                  <a:srgbClr val="000000"/>
                </a:solidFill>
                <a:effectLst/>
                <a:latin typeface="David" panose="020E0502060401010101" pitchFamily="34" charset="-79"/>
                <a:cs typeface="David" panose="020E0502060401010101" pitchFamily="34" charset="-79"/>
              </a:rPr>
              <a:t>כָּאַרְבֶּה לָרֹב</a:t>
            </a:r>
            <a:r>
              <a:rPr lang="he-IL" sz="3200" b="0" i="0" dirty="0">
                <a:solidFill>
                  <a:srgbClr val="000000"/>
                </a:solidFill>
                <a:effectLst/>
                <a:latin typeface="David" panose="020E0502060401010101" pitchFamily="34" charset="-79"/>
                <a:cs typeface="David" panose="020E0502060401010101" pitchFamily="34" charset="-79"/>
              </a:rPr>
              <a:t>; </a:t>
            </a:r>
            <a:r>
              <a:rPr lang="he-IL" sz="3200" b="1" i="0" dirty="0">
                <a:solidFill>
                  <a:srgbClr val="000000"/>
                </a:solidFill>
                <a:effectLst/>
                <a:latin typeface="David" panose="020E0502060401010101" pitchFamily="34" charset="-79"/>
                <a:cs typeface="David" panose="020E0502060401010101" pitchFamily="34" charset="-79"/>
              </a:rPr>
              <a:t>וְלִגְמַלֵּיהֶם אֵין מִסְפָּר, כַּחוֹל שֶׁעַל-שְׂפַת הַיָּם לָרֹב</a:t>
            </a:r>
            <a:r>
              <a:rPr lang="he-IL" sz="3200" b="0" i="0" dirty="0">
                <a:solidFill>
                  <a:srgbClr val="000000"/>
                </a:solidFill>
                <a:effectLst/>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4"/>
          <a:stretch>
            <a:fillRect/>
          </a:stretch>
        </p:blipFill>
        <p:spPr>
          <a:xfrm>
            <a:off x="8538357" y="3567049"/>
            <a:ext cx="3859481" cy="216130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4" name="תמונה 3"/>
          <p:cNvPicPr>
            <a:picLocks noChangeAspect="1"/>
          </p:cNvPicPr>
          <p:nvPr/>
        </p:nvPicPr>
        <p:blipFill>
          <a:blip r:embed="rId5"/>
          <a:stretch>
            <a:fillRect/>
          </a:stretch>
        </p:blipFill>
        <p:spPr>
          <a:xfrm>
            <a:off x="6020790" y="3465849"/>
            <a:ext cx="2517567" cy="206805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perspectiveRight"/>
            <a:lightRig rig="threePt" dir="t">
              <a:rot lat="0" lon="0" rev="2700000"/>
            </a:lightRig>
          </a:scene3d>
          <a:sp3d contourW="6350">
            <a:bevelT h="38100"/>
            <a:contourClr>
              <a:srgbClr val="C0C0C0"/>
            </a:contourClr>
          </a:sp3d>
        </p:spPr>
      </p:pic>
      <p:pic>
        <p:nvPicPr>
          <p:cNvPr id="5" name="תמונה 4"/>
          <p:cNvPicPr>
            <a:picLocks noChangeAspect="1"/>
          </p:cNvPicPr>
          <p:nvPr/>
        </p:nvPicPr>
        <p:blipFill>
          <a:blip r:embed="rId6"/>
          <a:stretch>
            <a:fillRect/>
          </a:stretch>
        </p:blipFill>
        <p:spPr>
          <a:xfrm>
            <a:off x="6662305" y="5170219"/>
            <a:ext cx="2857500" cy="1600200"/>
          </a:xfrm>
          <a:prstGeom prst="rect">
            <a:avLst/>
          </a:prstGeom>
        </p:spPr>
      </p:pic>
      <p:cxnSp>
        <p:nvCxnSpPr>
          <p:cNvPr id="7" name="מחבר חץ ישר 6"/>
          <p:cNvCxnSpPr/>
          <p:nvPr/>
        </p:nvCxnSpPr>
        <p:spPr>
          <a:xfrm>
            <a:off x="10224655" y="2576945"/>
            <a:ext cx="243442" cy="12706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מחבר חץ ישר 8"/>
          <p:cNvCxnSpPr/>
          <p:nvPr/>
        </p:nvCxnSpPr>
        <p:spPr>
          <a:xfrm flipH="1">
            <a:off x="7478610" y="2546846"/>
            <a:ext cx="566923" cy="11864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מחבר חץ ישר 10"/>
          <p:cNvCxnSpPr/>
          <p:nvPr/>
        </p:nvCxnSpPr>
        <p:spPr>
          <a:xfrm flipH="1">
            <a:off x="8363197" y="3097974"/>
            <a:ext cx="558269" cy="23409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62571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p:cTn id="12" dur="1000" fill="hold"/>
                                        <p:tgtEl>
                                          <p:spTgt spid="8">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8">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8">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28904" y="225397"/>
            <a:ext cx="5506878" cy="6001643"/>
          </a:xfrm>
          <a:prstGeom prst="rect">
            <a:avLst/>
          </a:prstGeom>
          <a:solidFill>
            <a:schemeClr val="accent2">
              <a:lumMod val="40000"/>
              <a:lumOff val="6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יג</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התקרב גדעון ושמע חייל מדייני מספר לחברו חלום, ואמר לו שבחלום ראה </a:t>
            </a:r>
            <a:r>
              <a:rPr lang="he-IL" sz="3200" b="1" dirty="0">
                <a:latin typeface="David" panose="020E0502060401010101" pitchFamily="34" charset="-79"/>
                <a:cs typeface="David" panose="020E0502060401010101" pitchFamily="34" charset="-79"/>
              </a:rPr>
              <a:t>פיתה (לחם) אפוי על גחלים עשוי מקמח שעורים מתגלגלת במחנה שלנו</a:t>
            </a:r>
            <a:r>
              <a:rPr lang="he-IL" sz="3200" dirty="0">
                <a:latin typeface="David" panose="020E0502060401010101" pitchFamily="34" charset="-79"/>
                <a:cs typeface="David" panose="020E0502060401010101" pitchFamily="34" charset="-79"/>
              </a:rPr>
              <a:t> והגיע עד האוהל הזה, ופגעה בו והתמוטט ונהפך האוהל ואח"כ התפרק האוהל.</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יד:</a:t>
            </a:r>
            <a:r>
              <a:rPr lang="he-IL" sz="3200" dirty="0">
                <a:latin typeface="David" panose="020E0502060401010101" pitchFamily="34" charset="-79"/>
                <a:cs typeface="David" panose="020E0502060401010101" pitchFamily="34" charset="-79"/>
              </a:rPr>
              <a:t> ענה לו חברו-אין פתרון אחר לחלום אלא </a:t>
            </a:r>
            <a:r>
              <a:rPr lang="he-IL" sz="3200" b="1" dirty="0">
                <a:latin typeface="David" panose="020E0502060401010101" pitchFamily="34" charset="-79"/>
                <a:cs typeface="David" panose="020E0502060401010101" pitchFamily="34" charset="-79"/>
              </a:rPr>
              <a:t>שיגבר גדעון בנו של יואש וינחל ניצחון בעזרת ה' </a:t>
            </a:r>
            <a:r>
              <a:rPr lang="he-IL" sz="3200" dirty="0">
                <a:latin typeface="David" panose="020E0502060401010101" pitchFamily="34" charset="-79"/>
                <a:cs typeface="David" panose="020E0502060401010101" pitchFamily="34" charset="-79"/>
              </a:rPr>
              <a:t>ויביס את המדיינים ואת כל המחנה שפה.</a:t>
            </a:r>
          </a:p>
        </p:txBody>
      </p:sp>
      <p:sp>
        <p:nvSpPr>
          <p:cNvPr id="2" name="מלבן 1"/>
          <p:cNvSpPr/>
          <p:nvPr/>
        </p:nvSpPr>
        <p:spPr>
          <a:xfrm>
            <a:off x="6008914" y="196518"/>
            <a:ext cx="6056416" cy="3539430"/>
          </a:xfrm>
          <a:prstGeom prst="rect">
            <a:avLst/>
          </a:prstGeom>
          <a:solidFill>
            <a:schemeClr val="accent6">
              <a:lumMod val="60000"/>
              <a:lumOff val="40000"/>
            </a:schemeClr>
          </a:solidFill>
        </p:spPr>
        <p:txBody>
          <a:bodyPr wrap="square">
            <a:spAutoFit/>
          </a:bodyPr>
          <a:lstStyle/>
          <a:p>
            <a:r>
              <a:rPr lang="he-IL" sz="2800" b="0" i="0" dirty="0">
                <a:solidFill>
                  <a:srgbClr val="000000"/>
                </a:solidFill>
                <a:effectLst/>
                <a:latin typeface="David" panose="020E0502060401010101" pitchFamily="34" charset="-79"/>
                <a:cs typeface="David" panose="020E0502060401010101" pitchFamily="34" charset="-79"/>
              </a:rPr>
              <a:t> </a:t>
            </a:r>
            <a:r>
              <a:rPr lang="he-IL" sz="2800" b="1" i="0" dirty="0" err="1">
                <a:solidFill>
                  <a:srgbClr val="000000"/>
                </a:solidFill>
                <a:effectLst/>
                <a:latin typeface="David" panose="020E0502060401010101" pitchFamily="34" charset="-79"/>
                <a:cs typeface="David" panose="020E0502060401010101" pitchFamily="34" charset="-79"/>
              </a:rPr>
              <a:t>יג</a:t>
            </a:r>
            <a:r>
              <a:rPr lang="he-IL" sz="2800" b="0" i="0" dirty="0">
                <a:solidFill>
                  <a:srgbClr val="000000"/>
                </a:solidFill>
                <a:effectLst/>
                <a:latin typeface="David" panose="020E0502060401010101" pitchFamily="34" charset="-79"/>
                <a:cs typeface="David" panose="020E0502060401010101" pitchFamily="34" charset="-79"/>
              </a:rPr>
              <a:t> ו</a:t>
            </a:r>
            <a:r>
              <a:rPr lang="he-IL" sz="2800" b="1" i="0" dirty="0">
                <a:solidFill>
                  <a:srgbClr val="000000"/>
                </a:solidFill>
                <a:effectLst/>
                <a:latin typeface="David" panose="020E0502060401010101" pitchFamily="34" charset="-79"/>
                <a:cs typeface="David" panose="020E0502060401010101" pitchFamily="34" charset="-79"/>
              </a:rPr>
              <a:t>ַיָּבֹא גִדְעוֹן--וְהִנֵּה-אִישׁ, מְסַפֵּר לְרֵעֵהוּ חֲלוֹם</a:t>
            </a:r>
            <a:r>
              <a:rPr lang="he-IL" sz="2800" b="0" i="0" dirty="0">
                <a:solidFill>
                  <a:srgbClr val="000000"/>
                </a:solidFill>
                <a:effectLst/>
                <a:latin typeface="David" panose="020E0502060401010101" pitchFamily="34" charset="-79"/>
                <a:cs typeface="David" panose="020E0502060401010101" pitchFamily="34" charset="-79"/>
              </a:rPr>
              <a:t>; וַיֹּאמֶר הִנֵּה חֲלוֹם חָלַמְתִּי, </a:t>
            </a:r>
            <a:r>
              <a:rPr lang="he-IL" sz="2800" b="1" i="0" dirty="0">
                <a:solidFill>
                  <a:srgbClr val="000000"/>
                </a:solidFill>
                <a:effectLst/>
                <a:latin typeface="David" panose="020E0502060401010101" pitchFamily="34" charset="-79"/>
                <a:cs typeface="David" panose="020E0502060401010101" pitchFamily="34" charset="-79"/>
              </a:rPr>
              <a:t>וְהִנֵּה צְלִיל לֶחֶם שְׂעֹרִים מִתְהַפֵּךְ בְּמַחֲנֵה מִדְיָן</a:t>
            </a:r>
            <a:r>
              <a:rPr lang="he-IL" sz="2800" b="0" i="0" dirty="0">
                <a:solidFill>
                  <a:srgbClr val="000000"/>
                </a:solidFill>
                <a:effectLst/>
                <a:latin typeface="David" panose="020E0502060401010101" pitchFamily="34" charset="-79"/>
                <a:cs typeface="David" panose="020E0502060401010101" pitchFamily="34" charset="-79"/>
              </a:rPr>
              <a:t>, וַיָּבֹא עַד-הָאֹהֶל וַיַּכֵּהוּ </a:t>
            </a:r>
            <a:r>
              <a:rPr lang="he-IL" sz="2800" b="0" i="0" dirty="0" err="1">
                <a:solidFill>
                  <a:srgbClr val="000000"/>
                </a:solidFill>
                <a:effectLst/>
                <a:latin typeface="David" panose="020E0502060401010101" pitchFamily="34" charset="-79"/>
                <a:cs typeface="David" panose="020E0502060401010101" pitchFamily="34" charset="-79"/>
              </a:rPr>
              <a:t>וַיִּפֹּל</a:t>
            </a:r>
            <a:r>
              <a:rPr lang="he-IL" sz="2800" b="0" i="0" dirty="0">
                <a:solidFill>
                  <a:srgbClr val="000000"/>
                </a:solidFill>
                <a:effectLst/>
                <a:latin typeface="David" panose="020E0502060401010101" pitchFamily="34" charset="-79"/>
                <a:cs typeface="David" panose="020E0502060401010101" pitchFamily="34" charset="-79"/>
              </a:rPr>
              <a:t> וַיַּהַפְכֵהוּ לְמַעְלָה, וְנָפַל הָאֹהֶל.  </a:t>
            </a:r>
          </a:p>
          <a:p>
            <a:r>
              <a:rPr lang="he-IL" sz="2800" b="1" i="0" dirty="0">
                <a:solidFill>
                  <a:srgbClr val="000000"/>
                </a:solidFill>
                <a:effectLst/>
                <a:latin typeface="David" panose="020E0502060401010101" pitchFamily="34" charset="-79"/>
                <a:cs typeface="David" panose="020E0502060401010101" pitchFamily="34" charset="-79"/>
              </a:rPr>
              <a:t>יד</a:t>
            </a:r>
            <a:r>
              <a:rPr lang="he-IL" sz="2800" b="0" i="0" dirty="0">
                <a:solidFill>
                  <a:srgbClr val="000000"/>
                </a:solidFill>
                <a:effectLst/>
                <a:latin typeface="David" panose="020E0502060401010101" pitchFamily="34" charset="-79"/>
                <a:cs typeface="David" panose="020E0502060401010101" pitchFamily="34" charset="-79"/>
              </a:rPr>
              <a:t> וַיַּעַן רֵעֵהוּ וַיֹּאמֶר, אֵין זֹאת, </a:t>
            </a:r>
            <a:r>
              <a:rPr lang="he-IL" sz="2800" b="1" i="0" dirty="0">
                <a:solidFill>
                  <a:srgbClr val="000000"/>
                </a:solidFill>
                <a:effectLst/>
                <a:latin typeface="David" panose="020E0502060401010101" pitchFamily="34" charset="-79"/>
                <a:cs typeface="David" panose="020E0502060401010101" pitchFamily="34" charset="-79"/>
              </a:rPr>
              <a:t>בִּלְתִּי אִם-חֶרֶב גִּדְעוֹן בֶּן-יוֹאָשׁ</a:t>
            </a:r>
            <a:r>
              <a:rPr lang="he-IL" sz="2800" b="0" i="0" dirty="0">
                <a:solidFill>
                  <a:srgbClr val="000000"/>
                </a:solidFill>
                <a:effectLst/>
                <a:latin typeface="David" panose="020E0502060401010101" pitchFamily="34" charset="-79"/>
                <a:cs typeface="David" panose="020E0502060401010101" pitchFamily="34" charset="-79"/>
              </a:rPr>
              <a:t>, אִישׁ יִשְׂרָאֵל:  נָתַן </a:t>
            </a:r>
            <a:r>
              <a:rPr lang="he-IL" sz="2800" b="0" i="0" dirty="0" err="1">
                <a:solidFill>
                  <a:srgbClr val="000000"/>
                </a:solidFill>
                <a:effectLst/>
                <a:latin typeface="David" panose="020E0502060401010101" pitchFamily="34" charset="-79"/>
                <a:cs typeface="David" panose="020E0502060401010101" pitchFamily="34" charset="-79"/>
              </a:rPr>
              <a:t>הָאֱלֹהִים</a:t>
            </a:r>
            <a:r>
              <a:rPr lang="he-IL" sz="2800" b="0" i="0" dirty="0">
                <a:solidFill>
                  <a:srgbClr val="000000"/>
                </a:solidFill>
                <a:effectLst/>
                <a:latin typeface="David" panose="020E0502060401010101" pitchFamily="34" charset="-79"/>
                <a:cs typeface="David" panose="020E0502060401010101" pitchFamily="34" charset="-79"/>
              </a:rPr>
              <a:t> בְּיָדוֹ, אֶת-מִדְיָן וְאֶת-כָּל-הַמַּחֲנֶה.</a:t>
            </a:r>
            <a:endParaRPr lang="he-IL" sz="2800" dirty="0">
              <a:latin typeface="David" panose="020E0502060401010101" pitchFamily="34" charset="-79"/>
              <a:cs typeface="David" panose="020E0502060401010101" pitchFamily="34" charset="-79"/>
            </a:endParaRPr>
          </a:p>
        </p:txBody>
      </p:sp>
      <p:pic>
        <p:nvPicPr>
          <p:cNvPr id="4" name="Picture 2" descr="לחם מרוקאי חלוקי נחל (פרינה) - פיתות חמות">
            <a:extLst>
              <a:ext uri="{FF2B5EF4-FFF2-40B4-BE49-F238E27FC236}">
                <a16:creationId xmlns:a16="http://schemas.microsoft.com/office/drawing/2014/main" id="{CD09792E-E403-435D-BDD4-66C2EFAC53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59" r="-2" b="15621"/>
          <a:stretch/>
        </p:blipFill>
        <p:spPr bwMode="auto">
          <a:xfrm>
            <a:off x="10004893" y="3735949"/>
            <a:ext cx="2187106" cy="1524820"/>
          </a:xfrm>
          <a:prstGeom prst="rect">
            <a:avLst/>
          </a:prstGeom>
          <a:noFill/>
          <a:extLst>
            <a:ext uri="{909E8E84-426E-40DD-AFC4-6F175D3DCCD1}">
              <a14:hiddenFill xmlns:a14="http://schemas.microsoft.com/office/drawing/2010/main">
                <a:solidFill>
                  <a:srgbClr val="FFFFFF"/>
                </a:solidFill>
              </a14:hiddenFill>
            </a:ext>
          </a:extLst>
        </p:spPr>
      </p:pic>
      <p:pic>
        <p:nvPicPr>
          <p:cNvPr id="3" name="תמונה 2"/>
          <p:cNvPicPr>
            <a:picLocks noChangeAspect="1"/>
          </p:cNvPicPr>
          <p:nvPr/>
        </p:nvPicPr>
        <p:blipFill>
          <a:blip r:embed="rId4"/>
          <a:stretch>
            <a:fillRect/>
          </a:stretch>
        </p:blipFill>
        <p:spPr>
          <a:xfrm>
            <a:off x="6008914" y="3921456"/>
            <a:ext cx="2619375" cy="1743075"/>
          </a:xfrm>
          <a:prstGeom prst="rect">
            <a:avLst/>
          </a:prstGeom>
        </p:spPr>
      </p:pic>
      <p:pic>
        <p:nvPicPr>
          <p:cNvPr id="5" name="תמונה 4"/>
          <p:cNvPicPr>
            <a:picLocks noChangeAspect="1"/>
          </p:cNvPicPr>
          <p:nvPr/>
        </p:nvPicPr>
        <p:blipFill>
          <a:blip r:embed="rId5">
            <a:extLst>
              <a:ext uri="{BEBA8EAE-BF5A-486C-A8C5-ECC9F3942E4B}">
                <a14:imgProps xmlns:a14="http://schemas.microsoft.com/office/drawing/2010/main">
                  <a14:imgLayer r:embed="rId6">
                    <a14:imgEffect>
                      <a14:backgroundRemoval t="2784" b="99768" l="162" r="97087"/>
                    </a14:imgEffect>
                  </a14:imgLayer>
                </a14:imgProps>
              </a:ext>
            </a:extLst>
          </a:blip>
          <a:stretch>
            <a:fillRect/>
          </a:stretch>
        </p:blipFill>
        <p:spPr>
          <a:xfrm>
            <a:off x="8926676" y="5143405"/>
            <a:ext cx="2628015" cy="1832807"/>
          </a:xfrm>
          <a:prstGeom prst="rect">
            <a:avLst/>
          </a:prstGeom>
        </p:spPr>
      </p:pic>
      <p:sp>
        <p:nvSpPr>
          <p:cNvPr id="6" name="TextBox 5"/>
          <p:cNvSpPr txBox="1"/>
          <p:nvPr/>
        </p:nvSpPr>
        <p:spPr>
          <a:xfrm>
            <a:off x="6008915" y="3937969"/>
            <a:ext cx="1021278" cy="1754326"/>
          </a:xfrm>
          <a:prstGeom prst="rect">
            <a:avLst/>
          </a:prstGeom>
          <a:solidFill>
            <a:schemeClr val="accent4">
              <a:lumMod val="40000"/>
              <a:lumOff val="60000"/>
            </a:schemeClr>
          </a:solidFill>
        </p:spPr>
        <p:txBody>
          <a:bodyPr wrap="square" rtlCol="1">
            <a:spAutoFit/>
          </a:bodyPr>
          <a:lstStyle/>
          <a:p>
            <a:r>
              <a:rPr lang="he-IL" dirty="0">
                <a:latin typeface="David" panose="020E0502060401010101" pitchFamily="34" charset="-79"/>
                <a:cs typeface="David" panose="020E0502060401010101" pitchFamily="34" charset="-79"/>
              </a:rPr>
              <a:t>גדעון התקרב לבד אל המחנה ושמע את החלום</a:t>
            </a:r>
          </a:p>
        </p:txBody>
      </p:sp>
    </p:spTree>
    <p:extLst>
      <p:ext uri="{BB962C8B-B14F-4D97-AF65-F5344CB8AC3E}">
        <p14:creationId xmlns:p14="http://schemas.microsoft.com/office/powerpoint/2010/main" val="32125618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8">
                                            <p:txEl>
                                              <p:pRg st="1" end="1"/>
                                            </p:txEl>
                                          </p:spTgt>
                                        </p:tgtEl>
                                        <p:attrNameLst>
                                          <p:attrName>style.visibility</p:attrName>
                                        </p:attrNameLst>
                                      </p:cBhvr>
                                      <p:to>
                                        <p:strVal val="visible"/>
                                      </p:to>
                                    </p:set>
                                    <p:animEffect transition="in" filter="wipe(down)">
                                      <p:cBhvr>
                                        <p:cTn id="26"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כותרת 3"/>
          <p:cNvSpPr>
            <a:spLocks noGrp="1"/>
          </p:cNvSpPr>
          <p:nvPr>
            <p:ph type="title"/>
          </p:nvPr>
        </p:nvSpPr>
        <p:spPr>
          <a:xfrm>
            <a:off x="2201039" y="151561"/>
            <a:ext cx="8911687" cy="1280890"/>
          </a:xfrm>
        </p:spPr>
        <p:txBody>
          <a:bodyPr>
            <a:normAutofit/>
          </a:bodyPr>
          <a:lstStyle/>
          <a:p>
            <a:pPr algn="ctr"/>
            <a:r>
              <a:rPr lang="he-IL" sz="6600" dirty="0">
                <a:latin typeface="Guttman Mantova" panose="02010401010101010101" pitchFamily="2" charset="-79"/>
                <a:cs typeface="Guttman Mantova" panose="02010401010101010101" pitchFamily="2" charset="-79"/>
              </a:rPr>
              <a:t>החלום ופתרונו</a:t>
            </a:r>
          </a:p>
        </p:txBody>
      </p:sp>
      <p:sp>
        <p:nvSpPr>
          <p:cNvPr id="5" name="מציין מיקום טקסט 4"/>
          <p:cNvSpPr>
            <a:spLocks noGrp="1"/>
          </p:cNvSpPr>
          <p:nvPr>
            <p:ph type="body" idx="1"/>
          </p:nvPr>
        </p:nvSpPr>
        <p:spPr>
          <a:xfrm>
            <a:off x="3218212" y="1477015"/>
            <a:ext cx="3117273" cy="576262"/>
          </a:xfrm>
        </p:spPr>
        <p:txBody>
          <a:bodyPr>
            <a:noAutofit/>
          </a:bodyPr>
          <a:lstStyle/>
          <a:p>
            <a:r>
              <a:rPr lang="he-IL" sz="4000" b="1" dirty="0">
                <a:latin typeface="Narkisim" panose="020E0502050101010101" pitchFamily="34" charset="-79"/>
                <a:cs typeface="Narkisim" panose="020E0502050101010101" pitchFamily="34" charset="-79"/>
              </a:rPr>
              <a:t>פתרון החלום</a:t>
            </a:r>
          </a:p>
        </p:txBody>
      </p:sp>
      <p:sp>
        <p:nvSpPr>
          <p:cNvPr id="6" name="מציין מיקום תוכן 5"/>
          <p:cNvSpPr>
            <a:spLocks noGrp="1"/>
          </p:cNvSpPr>
          <p:nvPr>
            <p:ph sz="half" idx="2"/>
          </p:nvPr>
        </p:nvSpPr>
        <p:spPr>
          <a:xfrm>
            <a:off x="1177698" y="2113578"/>
            <a:ext cx="5157787" cy="2971801"/>
          </a:xfrm>
        </p:spPr>
        <p:txBody>
          <a:bodyPr>
            <a:normAutofit/>
          </a:bodyPr>
          <a:lstStyle/>
          <a:p>
            <a:pPr marL="0" indent="0">
              <a:buNone/>
            </a:pPr>
            <a:r>
              <a:rPr lang="he-IL" sz="3600" dirty="0">
                <a:latin typeface="Narkisim" panose="020E0502050101010101" pitchFamily="34" charset="-79"/>
                <a:cs typeface="Narkisim" panose="020E0502050101010101" pitchFamily="34" charset="-79"/>
              </a:rPr>
              <a:t>גִּדְעוֹן בֶּן-יוֹאָשׁ, אִישׁ יִשְׂרָאֵל:  </a:t>
            </a:r>
          </a:p>
          <a:p>
            <a:pPr marL="0" indent="0">
              <a:buNone/>
            </a:pPr>
            <a:endParaRPr lang="he-IL" sz="3600" dirty="0">
              <a:latin typeface="Narkisim" panose="020E0502050101010101" pitchFamily="34" charset="-79"/>
              <a:cs typeface="Narkisim" panose="020E0502050101010101" pitchFamily="34" charset="-79"/>
            </a:endParaRPr>
          </a:p>
          <a:p>
            <a:pPr marL="0" indent="0">
              <a:buNone/>
            </a:pPr>
            <a:endParaRPr lang="he-IL" sz="700" dirty="0">
              <a:latin typeface="Narkisim" panose="020E0502050101010101" pitchFamily="34" charset="-79"/>
              <a:cs typeface="Narkisim" panose="020E0502050101010101" pitchFamily="34" charset="-79"/>
            </a:endParaRPr>
          </a:p>
          <a:p>
            <a:pPr marL="0" indent="0">
              <a:buNone/>
            </a:pPr>
            <a:r>
              <a:rPr lang="he-IL" sz="3600" dirty="0">
                <a:latin typeface="Narkisim" panose="020E0502050101010101" pitchFamily="34" charset="-79"/>
                <a:cs typeface="Narkisim" panose="020E0502050101010101" pitchFamily="34" charset="-79"/>
              </a:rPr>
              <a:t>נָתַן </a:t>
            </a:r>
            <a:r>
              <a:rPr lang="he-IL" sz="3600" dirty="0" err="1">
                <a:latin typeface="Narkisim" panose="020E0502050101010101" pitchFamily="34" charset="-79"/>
                <a:cs typeface="Narkisim" panose="020E0502050101010101" pitchFamily="34" charset="-79"/>
              </a:rPr>
              <a:t>הָאֱלֹהִים</a:t>
            </a:r>
            <a:r>
              <a:rPr lang="he-IL" sz="3600" dirty="0">
                <a:latin typeface="Narkisim" panose="020E0502050101010101" pitchFamily="34" charset="-79"/>
                <a:cs typeface="Narkisim" panose="020E0502050101010101" pitchFamily="34" charset="-79"/>
              </a:rPr>
              <a:t> בְּיָדוֹ, אֶת-מִדְיָן וְאֶת-כָּל-הַמַּחֲנֶה. </a:t>
            </a:r>
          </a:p>
        </p:txBody>
      </p:sp>
      <p:sp>
        <p:nvSpPr>
          <p:cNvPr id="7" name="מציין מיקום טקסט 6"/>
          <p:cNvSpPr>
            <a:spLocks noGrp="1"/>
          </p:cNvSpPr>
          <p:nvPr>
            <p:ph type="body" sz="quarter" idx="3"/>
          </p:nvPr>
        </p:nvSpPr>
        <p:spPr>
          <a:xfrm>
            <a:off x="7725661" y="1412832"/>
            <a:ext cx="3999001" cy="576262"/>
          </a:xfrm>
        </p:spPr>
        <p:txBody>
          <a:bodyPr>
            <a:noAutofit/>
          </a:bodyPr>
          <a:lstStyle/>
          <a:p>
            <a:r>
              <a:rPr lang="he-IL" sz="4000" b="1" dirty="0">
                <a:latin typeface="Narkisim" panose="020E0502050101010101" pitchFamily="34" charset="-79"/>
                <a:cs typeface="Narkisim" panose="020E0502050101010101" pitchFamily="34" charset="-79"/>
              </a:rPr>
              <a:t>החלום</a:t>
            </a:r>
          </a:p>
        </p:txBody>
      </p:sp>
      <p:sp>
        <p:nvSpPr>
          <p:cNvPr id="8" name="מציין מיקום תוכן 7"/>
          <p:cNvSpPr>
            <a:spLocks noGrp="1"/>
          </p:cNvSpPr>
          <p:nvPr>
            <p:ph sz="quarter" idx="4"/>
          </p:nvPr>
        </p:nvSpPr>
        <p:spPr>
          <a:xfrm>
            <a:off x="7682593" y="2053277"/>
            <a:ext cx="4338674" cy="3354060"/>
          </a:xfrm>
        </p:spPr>
        <p:txBody>
          <a:bodyPr>
            <a:normAutofit fontScale="92500"/>
          </a:bodyPr>
          <a:lstStyle/>
          <a:p>
            <a:pPr marL="0" indent="0">
              <a:buNone/>
            </a:pPr>
            <a:r>
              <a:rPr lang="he-IL" sz="3600" dirty="0">
                <a:latin typeface="Narkisim" panose="020E0502050101010101" pitchFamily="34" charset="-79"/>
                <a:cs typeface="Narkisim" panose="020E0502050101010101" pitchFamily="34" charset="-79"/>
              </a:rPr>
              <a:t>וְהִנֵּה צְלִיל לֶחֶם שְׂעֹרִים </a:t>
            </a:r>
          </a:p>
          <a:p>
            <a:pPr marL="0" indent="0">
              <a:buNone/>
            </a:pPr>
            <a:r>
              <a:rPr lang="he-IL" sz="3600" dirty="0">
                <a:latin typeface="Narkisim" panose="020E0502050101010101" pitchFamily="34" charset="-79"/>
                <a:cs typeface="Narkisim" panose="020E0502050101010101" pitchFamily="34" charset="-79"/>
              </a:rPr>
              <a:t>מִתְהַפֵּךְ בְּמַחֲנֵה מִדְיָן, </a:t>
            </a:r>
          </a:p>
          <a:p>
            <a:pPr marL="0" indent="0">
              <a:buNone/>
            </a:pPr>
            <a:r>
              <a:rPr lang="he-IL" sz="3600" dirty="0">
                <a:latin typeface="Narkisim" panose="020E0502050101010101" pitchFamily="34" charset="-79"/>
                <a:cs typeface="Narkisim" panose="020E0502050101010101" pitchFamily="34" charset="-79"/>
              </a:rPr>
              <a:t>וַיָּבֹא עַד-הָאֹהֶל </a:t>
            </a:r>
          </a:p>
          <a:p>
            <a:pPr marL="0" indent="0">
              <a:buNone/>
            </a:pPr>
            <a:r>
              <a:rPr lang="he-IL" sz="3600" dirty="0">
                <a:latin typeface="Narkisim" panose="020E0502050101010101" pitchFamily="34" charset="-79"/>
                <a:cs typeface="Narkisim" panose="020E0502050101010101" pitchFamily="34" charset="-79"/>
              </a:rPr>
              <a:t>וַיַּכֵּהוּ </a:t>
            </a:r>
            <a:r>
              <a:rPr lang="he-IL" sz="3600" dirty="0" err="1">
                <a:latin typeface="Narkisim" panose="020E0502050101010101" pitchFamily="34" charset="-79"/>
                <a:cs typeface="Narkisim" panose="020E0502050101010101" pitchFamily="34" charset="-79"/>
              </a:rPr>
              <a:t>וַיִּפֹּל</a:t>
            </a:r>
            <a:r>
              <a:rPr lang="he-IL" sz="3600" dirty="0">
                <a:latin typeface="Narkisim" panose="020E0502050101010101" pitchFamily="34" charset="-79"/>
                <a:cs typeface="Narkisim" panose="020E0502050101010101" pitchFamily="34" charset="-79"/>
              </a:rPr>
              <a:t> וַיַּהַפְכֵהוּ לְמַעְלָה, </a:t>
            </a:r>
          </a:p>
          <a:p>
            <a:pPr marL="0" indent="0">
              <a:buNone/>
            </a:pPr>
            <a:r>
              <a:rPr lang="he-IL" sz="3600" dirty="0">
                <a:latin typeface="Narkisim" panose="020E0502050101010101" pitchFamily="34" charset="-79"/>
                <a:cs typeface="Narkisim" panose="020E0502050101010101" pitchFamily="34" charset="-79"/>
              </a:rPr>
              <a:t>וְנָפַל הָאֹהֶל.  </a:t>
            </a:r>
          </a:p>
          <a:p>
            <a:pPr marL="0" indent="0">
              <a:buNone/>
            </a:pPr>
            <a:endParaRPr lang="he-IL" sz="3600" dirty="0"/>
          </a:p>
        </p:txBody>
      </p:sp>
      <p:cxnSp>
        <p:nvCxnSpPr>
          <p:cNvPr id="12" name="מחבר חץ ישר 11"/>
          <p:cNvCxnSpPr/>
          <p:nvPr/>
        </p:nvCxnSpPr>
        <p:spPr>
          <a:xfrm flipH="1">
            <a:off x="7090682" y="2717223"/>
            <a:ext cx="118382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H="1">
            <a:off x="6541840" y="4408713"/>
            <a:ext cx="118382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 name="תמונה 1"/>
          <p:cNvPicPr>
            <a:picLocks noChangeAspect="1"/>
          </p:cNvPicPr>
          <p:nvPr/>
        </p:nvPicPr>
        <p:blipFill>
          <a:blip r:embed="rId3"/>
          <a:stretch>
            <a:fillRect/>
          </a:stretch>
        </p:blipFill>
        <p:spPr>
          <a:xfrm>
            <a:off x="0" y="0"/>
            <a:ext cx="3024325" cy="1962017"/>
          </a:xfrm>
          <a:prstGeom prst="rect">
            <a:avLst/>
          </a:prstGeom>
        </p:spPr>
      </p:pic>
      <p:sp>
        <p:nvSpPr>
          <p:cNvPr id="14" name="TextBox 13"/>
          <p:cNvSpPr txBox="1"/>
          <p:nvPr/>
        </p:nvSpPr>
        <p:spPr>
          <a:xfrm>
            <a:off x="415646" y="5768733"/>
            <a:ext cx="11605621" cy="954107"/>
          </a:xfrm>
          <a:prstGeom prst="rect">
            <a:avLst/>
          </a:prstGeom>
          <a:solidFill>
            <a:schemeClr val="accent2">
              <a:lumMod val="40000"/>
              <a:lumOff val="60000"/>
            </a:schemeClr>
          </a:solidFill>
          <a:ln w="38100">
            <a:solidFill>
              <a:schemeClr val="tx1"/>
            </a:solidFill>
          </a:ln>
        </p:spPr>
        <p:txBody>
          <a:bodyPr wrap="square" rtlCol="1">
            <a:spAutoFit/>
          </a:bodyPr>
          <a:lstStyle/>
          <a:p>
            <a:r>
              <a:rPr lang="he-IL" sz="2800" dirty="0">
                <a:latin typeface="David" panose="020E0502060401010101" pitchFamily="34" charset="-79"/>
                <a:cs typeface="David" panose="020E0502060401010101" pitchFamily="34" charset="-79"/>
              </a:rPr>
              <a:t>אותם ימים היו ימי פסח- והצליל לחם מרמז שאף בדור שהוא צלול מצדיקים- </a:t>
            </a:r>
            <a:r>
              <a:rPr lang="he-IL" sz="2800" dirty="0" err="1">
                <a:latin typeface="David" panose="020E0502060401010101" pitchFamily="34" charset="-79"/>
                <a:cs typeface="David" panose="020E0502060401010101" pitchFamily="34" charset="-79"/>
              </a:rPr>
              <a:t>יוושעו</a:t>
            </a:r>
            <a:r>
              <a:rPr lang="he-IL" sz="2800" dirty="0">
                <a:latin typeface="David" panose="020E0502060401010101" pitchFamily="34" charset="-79"/>
                <a:cs typeface="David" panose="020E0502060401010101" pitchFamily="34" charset="-79"/>
              </a:rPr>
              <a:t> ישראל בזכות מנחת העומר שקרבה מקמח שעורים בט"ז בניסן בחג הפסח</a:t>
            </a:r>
          </a:p>
        </p:txBody>
      </p:sp>
      <p:pic>
        <p:nvPicPr>
          <p:cNvPr id="9" name="תמונה 8"/>
          <p:cNvPicPr>
            <a:picLocks noChangeAspect="1"/>
          </p:cNvPicPr>
          <p:nvPr/>
        </p:nvPicPr>
        <p:blipFill>
          <a:blip r:embed="rId4"/>
          <a:stretch>
            <a:fillRect/>
          </a:stretch>
        </p:blipFill>
        <p:spPr>
          <a:xfrm>
            <a:off x="6249897" y="4679834"/>
            <a:ext cx="3475264" cy="1136913"/>
          </a:xfrm>
          <a:prstGeom prst="rect">
            <a:avLst/>
          </a:prstGeom>
        </p:spPr>
      </p:pic>
      <p:pic>
        <p:nvPicPr>
          <p:cNvPr id="10" name="תמונה 9"/>
          <p:cNvPicPr>
            <a:picLocks noChangeAspect="1"/>
          </p:cNvPicPr>
          <p:nvPr/>
        </p:nvPicPr>
        <p:blipFill>
          <a:blip r:embed="rId5"/>
          <a:stretch>
            <a:fillRect/>
          </a:stretch>
        </p:blipFill>
        <p:spPr>
          <a:xfrm>
            <a:off x="422501" y="4500748"/>
            <a:ext cx="3175722" cy="1265758"/>
          </a:xfrm>
          <a:prstGeom prst="rect">
            <a:avLst/>
          </a:prstGeom>
        </p:spPr>
      </p:pic>
    </p:spTree>
    <p:extLst>
      <p:ext uri="{BB962C8B-B14F-4D97-AF65-F5344CB8AC3E}">
        <p14:creationId xmlns:p14="http://schemas.microsoft.com/office/powerpoint/2010/main" val="1243263462"/>
      </p:ext>
    </p:extLst>
  </p:cSld>
  <p:clrMapOvr>
    <a:masterClrMapping/>
  </p:clrMapOvr>
  <mc:AlternateContent xmlns:mc="http://schemas.openxmlformats.org/markup-compatibility/2006" xmlns:p14="http://schemas.microsoft.com/office/powerpoint/2010/main">
    <mc:Choice Requires="p14">
      <p:transition spd="slow" p14:dur="4000">
        <p14:vortex/>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57652" y="216000"/>
            <a:ext cx="5708758" cy="6001643"/>
          </a:xfrm>
          <a:prstGeom prst="rect">
            <a:avLst/>
          </a:prstGeom>
          <a:no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טו: </a:t>
            </a:r>
            <a:r>
              <a:rPr lang="he-IL" sz="3200" dirty="0">
                <a:latin typeface="David" panose="020E0502060401010101" pitchFamily="34" charset="-79"/>
                <a:cs typeface="David" panose="020E0502060401010101" pitchFamily="34" charset="-79"/>
              </a:rPr>
              <a:t>מיד ששמע גדעון את מספר סיפור החלום, ואת הפתרון שלו הודה לה' והשתחווה, וחזר אל מחנה ישראל, ואמר לשלוש מאות האנשים שעמו, קומו והזדרזו לצאת למלחמה שאכן מוסר ה' לרשותכם את מחנה מדיין.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טז</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גדעון מחלק את שלוש מאות החיילים לשלוש קבוצות ומסר שופרות לכל החיילים וכן כדים ריקים ולפידים דלוקים מוסתרים בתוך הכדים הריקים.</a:t>
            </a:r>
          </a:p>
        </p:txBody>
      </p:sp>
      <p:sp>
        <p:nvSpPr>
          <p:cNvPr id="2" name="מלבן 1"/>
          <p:cNvSpPr/>
          <p:nvPr/>
        </p:nvSpPr>
        <p:spPr>
          <a:xfrm>
            <a:off x="5997039" y="58245"/>
            <a:ext cx="6103917" cy="3539430"/>
          </a:xfrm>
          <a:prstGeom prst="rect">
            <a:avLst/>
          </a:prstGeom>
          <a:blipFill>
            <a:blip r:embed="rId3"/>
            <a:tile tx="0" ty="0" sx="100000" sy="100000" flip="none" algn="tl"/>
          </a:blipFill>
        </p:spPr>
        <p:txBody>
          <a:bodyPr wrap="square">
            <a:spAutoFit/>
          </a:bodyPr>
          <a:lstStyle/>
          <a:p>
            <a:r>
              <a:rPr lang="he-IL" sz="3200" b="1" dirty="0">
                <a:latin typeface="David" panose="020E0502060401010101" pitchFamily="34" charset="-79"/>
                <a:cs typeface="David" panose="020E0502060401010101" pitchFamily="34" charset="-79"/>
              </a:rPr>
              <a:t>טו </a:t>
            </a:r>
            <a:r>
              <a:rPr lang="he-IL" sz="3200" dirty="0">
                <a:latin typeface="David" panose="020E0502060401010101" pitchFamily="34" charset="-79"/>
                <a:cs typeface="David" panose="020E0502060401010101" pitchFamily="34" charset="-79"/>
              </a:rPr>
              <a:t>וַיְהִי כִשְׁמֹעַ גִּדְעוֹן אֶת-מִסְפַּר הַחֲלוֹם, וְאֶת-שִׁבְרוֹ--</a:t>
            </a:r>
            <a:r>
              <a:rPr lang="he-IL" sz="3200" dirty="0" err="1">
                <a:latin typeface="David" panose="020E0502060401010101" pitchFamily="34" charset="-79"/>
                <a:cs typeface="David" panose="020E0502060401010101" pitchFamily="34" charset="-79"/>
              </a:rPr>
              <a:t>וַיִּשְׁתָּחו</a:t>
            </a:r>
            <a:r>
              <a:rPr lang="he-IL" sz="3200" dirty="0">
                <a:latin typeface="David" panose="020E0502060401010101" pitchFamily="34" charset="-79"/>
                <a:cs typeface="David" panose="020E0502060401010101" pitchFamily="34" charset="-79"/>
              </a:rPr>
              <a:t>ּ; וַיָּשָׁב, אֶל-מַחֲנֵה יִשְׂרָאֵל, וַיֹּאמֶר קוּמוּ, כִּי-נָתַן יְהוָה בְּיֶדְכֶם אֶת-מַחֲנֵה מִדְיָן.  </a:t>
            </a:r>
          </a:p>
          <a:p>
            <a:r>
              <a:rPr lang="he-IL" sz="3200" b="1" dirty="0" err="1">
                <a:latin typeface="David" panose="020E0502060401010101" pitchFamily="34" charset="-79"/>
                <a:cs typeface="David" panose="020E0502060401010101" pitchFamily="34" charset="-79"/>
              </a:rPr>
              <a:t>טז</a:t>
            </a:r>
            <a:r>
              <a:rPr lang="he-IL" sz="3200" dirty="0">
                <a:latin typeface="David" panose="020E0502060401010101" pitchFamily="34" charset="-79"/>
                <a:cs typeface="David" panose="020E0502060401010101" pitchFamily="34" charset="-79"/>
              </a:rPr>
              <a:t> </a:t>
            </a:r>
            <a:r>
              <a:rPr lang="he-IL" sz="3200" b="1" dirty="0" err="1">
                <a:latin typeface="David" panose="020E0502060401010101" pitchFamily="34" charset="-79"/>
                <a:cs typeface="David" panose="020E0502060401010101" pitchFamily="34" charset="-79"/>
              </a:rPr>
              <a:t>וַיַּחַץ</a:t>
            </a:r>
            <a:r>
              <a:rPr lang="he-IL" sz="3200" b="1" dirty="0">
                <a:latin typeface="David" panose="020E0502060401010101" pitchFamily="34" charset="-79"/>
                <a:cs typeface="David" panose="020E0502060401010101" pitchFamily="34" charset="-79"/>
              </a:rPr>
              <a:t> אֶת-שְׁלֹשׁ-מֵאוֹת הָאִישׁ, שְׁלֹשָׁה רָאשִׁים</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וַיִּתֵּן</a:t>
            </a:r>
            <a:r>
              <a:rPr lang="he-IL" sz="3200" dirty="0">
                <a:latin typeface="David" panose="020E0502060401010101" pitchFamily="34" charset="-79"/>
                <a:cs typeface="David" panose="020E0502060401010101" pitchFamily="34" charset="-79"/>
              </a:rPr>
              <a:t> שׁוֹפָרוֹת בְּיַד-כֻּלָּם וְכַדִּים רֵיקִים, וְלַפִּדִים בְּתוֹךְ הַכַּדִּים.  </a:t>
            </a:r>
          </a:p>
        </p:txBody>
      </p:sp>
      <p:pic>
        <p:nvPicPr>
          <p:cNvPr id="3" name="תמונה 2"/>
          <p:cNvPicPr>
            <a:picLocks noChangeAspect="1"/>
          </p:cNvPicPr>
          <p:nvPr/>
        </p:nvPicPr>
        <p:blipFill>
          <a:blip r:embed="rId4">
            <a:extLst>
              <a:ext uri="{BEBA8EAE-BF5A-486C-A8C5-ECC9F3942E4B}">
                <a14:imgProps xmlns:a14="http://schemas.microsoft.com/office/drawing/2010/main">
                  <a14:imgLayer r:embed="rId5">
                    <a14:imgEffect>
                      <a14:backgroundRemoval t="609" b="100000" l="0" r="100000"/>
                    </a14:imgEffect>
                  </a14:imgLayer>
                </a14:imgProps>
              </a:ext>
            </a:extLst>
          </a:blip>
          <a:stretch>
            <a:fillRect/>
          </a:stretch>
        </p:blipFill>
        <p:spPr>
          <a:xfrm>
            <a:off x="9811771" y="3756241"/>
            <a:ext cx="2488968" cy="2978303"/>
          </a:xfrm>
          <a:prstGeom prst="rect">
            <a:avLst/>
          </a:prstGeom>
        </p:spPr>
      </p:pic>
      <p:pic>
        <p:nvPicPr>
          <p:cNvPr id="4" name="תמונה 3"/>
          <p:cNvPicPr>
            <a:picLocks noChangeAspect="1"/>
          </p:cNvPicPr>
          <p:nvPr/>
        </p:nvPicPr>
        <p:blipFill>
          <a:blip r:embed="rId6"/>
          <a:stretch>
            <a:fillRect/>
          </a:stretch>
        </p:blipFill>
        <p:spPr>
          <a:xfrm>
            <a:off x="7280501" y="3428999"/>
            <a:ext cx="2804403" cy="3048264"/>
          </a:xfrm>
          <a:prstGeom prst="rect">
            <a:avLst/>
          </a:prstGeom>
        </p:spPr>
      </p:pic>
      <p:pic>
        <p:nvPicPr>
          <p:cNvPr id="5" name="תמונה 4"/>
          <p:cNvPicPr>
            <a:picLocks noChangeAspect="1"/>
          </p:cNvPicPr>
          <p:nvPr/>
        </p:nvPicPr>
        <p:blipFill>
          <a:blip r:embed="rId7"/>
          <a:stretch>
            <a:fillRect/>
          </a:stretch>
        </p:blipFill>
        <p:spPr>
          <a:xfrm>
            <a:off x="5692961" y="4953131"/>
            <a:ext cx="2853175" cy="1353429"/>
          </a:xfrm>
          <a:prstGeom prst="rect">
            <a:avLst/>
          </a:prstGeom>
        </p:spPr>
      </p:pic>
    </p:spTree>
    <p:extLst>
      <p:ext uri="{BB962C8B-B14F-4D97-AF65-F5344CB8AC3E}">
        <p14:creationId xmlns:p14="http://schemas.microsoft.com/office/powerpoint/2010/main" val="829195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wipe(down)">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80">
                                          <p:stCondLst>
                                            <p:cond delay="0"/>
                                          </p:stCondLst>
                                        </p:cTn>
                                        <p:tgtEl>
                                          <p:spTgt spid="3"/>
                                        </p:tgtEl>
                                      </p:cBhvr>
                                    </p:animEffect>
                                    <p:anim calcmode="lin" valueType="num">
                                      <p:cBhvr>
                                        <p:cTn id="2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5" dur="26">
                                          <p:stCondLst>
                                            <p:cond delay="650"/>
                                          </p:stCondLst>
                                        </p:cTn>
                                        <p:tgtEl>
                                          <p:spTgt spid="3"/>
                                        </p:tgtEl>
                                      </p:cBhvr>
                                      <p:to x="100000" y="60000"/>
                                    </p:animScale>
                                    <p:animScale>
                                      <p:cBhvr>
                                        <p:cTn id="26" dur="166" decel="50000">
                                          <p:stCondLst>
                                            <p:cond delay="676"/>
                                          </p:stCondLst>
                                        </p:cTn>
                                        <p:tgtEl>
                                          <p:spTgt spid="3"/>
                                        </p:tgtEl>
                                      </p:cBhvr>
                                      <p:to x="100000" y="100000"/>
                                    </p:animScale>
                                    <p:animScale>
                                      <p:cBhvr>
                                        <p:cTn id="27" dur="26">
                                          <p:stCondLst>
                                            <p:cond delay="1312"/>
                                          </p:stCondLst>
                                        </p:cTn>
                                        <p:tgtEl>
                                          <p:spTgt spid="3"/>
                                        </p:tgtEl>
                                      </p:cBhvr>
                                      <p:to x="100000" y="80000"/>
                                    </p:animScale>
                                    <p:animScale>
                                      <p:cBhvr>
                                        <p:cTn id="28" dur="166" decel="50000">
                                          <p:stCondLst>
                                            <p:cond delay="1338"/>
                                          </p:stCondLst>
                                        </p:cTn>
                                        <p:tgtEl>
                                          <p:spTgt spid="3"/>
                                        </p:tgtEl>
                                      </p:cBhvr>
                                      <p:to x="100000" y="100000"/>
                                    </p:animScale>
                                    <p:animScale>
                                      <p:cBhvr>
                                        <p:cTn id="29" dur="26">
                                          <p:stCondLst>
                                            <p:cond delay="1642"/>
                                          </p:stCondLst>
                                        </p:cTn>
                                        <p:tgtEl>
                                          <p:spTgt spid="3"/>
                                        </p:tgtEl>
                                      </p:cBhvr>
                                      <p:to x="100000" y="90000"/>
                                    </p:animScale>
                                    <p:animScale>
                                      <p:cBhvr>
                                        <p:cTn id="30" dur="166" decel="50000">
                                          <p:stCondLst>
                                            <p:cond delay="1668"/>
                                          </p:stCondLst>
                                        </p:cTn>
                                        <p:tgtEl>
                                          <p:spTgt spid="3"/>
                                        </p:tgtEl>
                                      </p:cBhvr>
                                      <p:to x="100000" y="100000"/>
                                    </p:animScale>
                                    <p:animScale>
                                      <p:cBhvr>
                                        <p:cTn id="31" dur="26">
                                          <p:stCondLst>
                                            <p:cond delay="1808"/>
                                          </p:stCondLst>
                                        </p:cTn>
                                        <p:tgtEl>
                                          <p:spTgt spid="3"/>
                                        </p:tgtEl>
                                      </p:cBhvr>
                                      <p:to x="100000" y="95000"/>
                                    </p:animScale>
                                    <p:animScale>
                                      <p:cBhvr>
                                        <p:cTn id="32" dur="166" decel="50000">
                                          <p:stCondLst>
                                            <p:cond delay="1834"/>
                                          </p:stCondLst>
                                        </p:cTn>
                                        <p:tgtEl>
                                          <p:spTgt spid="3"/>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45"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2000"/>
                                        <p:tgtEl>
                                          <p:spTgt spid="4"/>
                                        </p:tgtEl>
                                      </p:cBhvr>
                                    </p:animEffect>
                                    <p:anim calcmode="lin" valueType="num">
                                      <p:cBhvr>
                                        <p:cTn id="38" dur="2000" fill="hold"/>
                                        <p:tgtEl>
                                          <p:spTgt spid="4"/>
                                        </p:tgtEl>
                                        <p:attrNameLst>
                                          <p:attrName>ppt_w</p:attrName>
                                        </p:attrNameLst>
                                      </p:cBhvr>
                                      <p:tavLst>
                                        <p:tav tm="0" fmla="#ppt_w*sin(2.5*pi*$)">
                                          <p:val>
                                            <p:fltVal val="0"/>
                                          </p:val>
                                        </p:tav>
                                        <p:tav tm="100000">
                                          <p:val>
                                            <p:fltVal val="1"/>
                                          </p:val>
                                        </p:tav>
                                      </p:tavLst>
                                    </p:anim>
                                    <p:anim calcmode="lin" valueType="num">
                                      <p:cBhvr>
                                        <p:cTn id="3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p:cTn id="44" dur="500" fill="hold"/>
                                        <p:tgtEl>
                                          <p:spTgt spid="5"/>
                                        </p:tgtEl>
                                        <p:attrNameLst>
                                          <p:attrName>ppt_w</p:attrName>
                                        </p:attrNameLst>
                                      </p:cBhvr>
                                      <p:tavLst>
                                        <p:tav tm="0">
                                          <p:val>
                                            <p:fltVal val="0"/>
                                          </p:val>
                                        </p:tav>
                                        <p:tav tm="100000">
                                          <p:val>
                                            <p:strVal val="#ppt_w"/>
                                          </p:val>
                                        </p:tav>
                                      </p:tavLst>
                                    </p:anim>
                                    <p:anim calcmode="lin" valueType="num">
                                      <p:cBhvr>
                                        <p:cTn id="45" dur="500" fill="hold"/>
                                        <p:tgtEl>
                                          <p:spTgt spid="5"/>
                                        </p:tgtEl>
                                        <p:attrNameLst>
                                          <p:attrName>ppt_h</p:attrName>
                                        </p:attrNameLst>
                                      </p:cBhvr>
                                      <p:tavLst>
                                        <p:tav tm="0">
                                          <p:val>
                                            <p:fltVal val="0"/>
                                          </p:val>
                                        </p:tav>
                                        <p:tav tm="100000">
                                          <p:val>
                                            <p:strVal val="#ppt_h"/>
                                          </p:val>
                                        </p:tav>
                                      </p:tavLst>
                                    </p:anim>
                                    <p:animEffect transition="in" filter="fade">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17028" y="216000"/>
            <a:ext cx="5554379" cy="5509200"/>
          </a:xfrm>
          <a:prstGeom prst="rect">
            <a:avLst/>
          </a:prstGeom>
          <a:solidFill>
            <a:schemeClr val="accent5">
              <a:lumMod val="40000"/>
              <a:lumOff val="6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יז</a:t>
            </a:r>
            <a:r>
              <a:rPr lang="he-IL" sz="3200" b="1" u="sng" dirty="0">
                <a:latin typeface="David" panose="020E0502060401010101" pitchFamily="34" charset="-79"/>
                <a:cs typeface="David" panose="020E0502060401010101" pitchFamily="34" charset="-79"/>
              </a:rPr>
              <a:t>':</a:t>
            </a:r>
            <a:r>
              <a:rPr lang="he-IL" sz="3200" dirty="0">
                <a:latin typeface="David" panose="020E0502060401010101" pitchFamily="34" charset="-79"/>
                <a:cs typeface="David" panose="020E0502060401010101" pitchFamily="34" charset="-79"/>
              </a:rPr>
              <a:t>אמר גדעון לקבוצה אחת שאתו (100 איש)עקבו אחרי מעשי וכמוני תעשו. עוד מעט אני מגיע לשולי מחנה מדיין ואז כמו שתראו אותי עושה כך תעשו גם אתם שאר החיילים.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יח</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מיד כשאתקע בשופר אני וכל הקבוצה הנלווית איתי אז תתקעו אתם בשופר </a:t>
            </a:r>
            <a:r>
              <a:rPr lang="he-IL" sz="3200" b="1" dirty="0">
                <a:latin typeface="David" panose="020E0502060401010101" pitchFamily="34" charset="-79"/>
                <a:cs typeface="David" panose="020E0502060401010101" pitchFamily="34" charset="-79"/>
              </a:rPr>
              <a:t>ותכריזו גבורת ה' תביא לנו ניצחון ע"י גדעון. </a:t>
            </a:r>
          </a:p>
          <a:p>
            <a:r>
              <a:rPr lang="he-IL" sz="3200" dirty="0">
                <a:latin typeface="David" panose="020E0502060401010101" pitchFamily="34" charset="-79"/>
                <a:cs typeface="David" panose="020E0502060401010101" pitchFamily="34" charset="-79"/>
              </a:rPr>
              <a:t>ופרות  כל צדדי המחנה</a:t>
            </a:r>
            <a:endParaRPr lang="he-IL" sz="3200" b="1" dirty="0">
              <a:latin typeface="David" panose="020E0502060401010101" pitchFamily="34" charset="-79"/>
              <a:cs typeface="David" panose="020E0502060401010101" pitchFamily="34" charset="-79"/>
            </a:endParaRPr>
          </a:p>
        </p:txBody>
      </p:sp>
      <p:sp>
        <p:nvSpPr>
          <p:cNvPr id="3" name="מלבן 2"/>
          <p:cNvSpPr/>
          <p:nvPr/>
        </p:nvSpPr>
        <p:spPr>
          <a:xfrm>
            <a:off x="5997039" y="58245"/>
            <a:ext cx="6103917" cy="2677656"/>
          </a:xfrm>
          <a:prstGeom prst="rect">
            <a:avLst/>
          </a:prstGeom>
          <a:solidFill>
            <a:schemeClr val="accent6">
              <a:lumMod val="60000"/>
              <a:lumOff val="40000"/>
            </a:schemeClr>
          </a:solidFill>
        </p:spPr>
        <p:txBody>
          <a:bodyPr wrap="square">
            <a:spAutoFit/>
          </a:bodyPr>
          <a:lstStyle/>
          <a:p>
            <a:r>
              <a:rPr lang="he-IL" sz="2800" b="1" dirty="0" err="1">
                <a:latin typeface="David" panose="020E0502060401010101" pitchFamily="34" charset="-79"/>
                <a:cs typeface="David" panose="020E0502060401010101" pitchFamily="34" charset="-79"/>
              </a:rPr>
              <a:t>יז</a:t>
            </a:r>
            <a:r>
              <a:rPr lang="he-IL" sz="2800" dirty="0">
                <a:latin typeface="David" panose="020E0502060401010101" pitchFamily="34" charset="-79"/>
                <a:cs typeface="David" panose="020E0502060401010101" pitchFamily="34" charset="-79"/>
              </a:rPr>
              <a:t> וַיֹּאמֶר אֲלֵיהֶם, מִמֶּנִּי תִרְאוּ וְכֵן תַּעֲשׂוּ; וְהִנֵּה אָנֹכִי בָא בִּקְצֵה הַמַּחֲנֶה, וְהָיָה כַאֲשֶׁר-אֶעֱשֶׂה כֵּן תַּעֲשׂוּן.  </a:t>
            </a:r>
          </a:p>
          <a:p>
            <a:r>
              <a:rPr lang="he-IL" sz="2800" b="1" dirty="0" err="1">
                <a:latin typeface="David" panose="020E0502060401010101" pitchFamily="34" charset="-79"/>
                <a:cs typeface="David" panose="020E0502060401010101" pitchFamily="34" charset="-79"/>
              </a:rPr>
              <a:t>יח</a:t>
            </a:r>
            <a:r>
              <a:rPr lang="he-IL" sz="2800" dirty="0">
                <a:latin typeface="David" panose="020E0502060401010101" pitchFamily="34" charset="-79"/>
                <a:cs typeface="David" panose="020E0502060401010101" pitchFamily="34" charset="-79"/>
              </a:rPr>
              <a:t> וְתָקַעְתִּי, בַּשּׁוֹפָר--אָנֹכִי, וְכָל-אֲשֶׁר אִתִּי; וּתְקַעְתֶּם בַּשּׁוֹפָרוֹת גַּם-אַתֶּם, סְבִיבוֹת כָּל-הַמַּחֲנֶה, </a:t>
            </a:r>
            <a:r>
              <a:rPr lang="he-IL" sz="2800" b="1" dirty="0">
                <a:latin typeface="David" panose="020E0502060401010101" pitchFamily="34" charset="-79"/>
                <a:cs typeface="David" panose="020E0502060401010101" pitchFamily="34" charset="-79"/>
              </a:rPr>
              <a:t>וַאֲמַרְתֶּם, לַיהוָה וּלְגִדְעוֹן</a:t>
            </a:r>
            <a:r>
              <a:rPr lang="he-IL" sz="2800" dirty="0">
                <a:latin typeface="David" panose="020E0502060401010101" pitchFamily="34" charset="-79"/>
                <a:cs typeface="David" panose="020E0502060401010101" pitchFamily="34" charset="-79"/>
              </a:rPr>
              <a:t>.</a:t>
            </a:r>
          </a:p>
        </p:txBody>
      </p:sp>
      <p:sp>
        <p:nvSpPr>
          <p:cNvPr id="2" name="מלבן 1"/>
          <p:cNvSpPr/>
          <p:nvPr/>
        </p:nvSpPr>
        <p:spPr>
          <a:xfrm>
            <a:off x="5997039" y="3160605"/>
            <a:ext cx="5890161" cy="2677656"/>
          </a:xfrm>
          <a:prstGeom prst="rect">
            <a:avLst/>
          </a:prstGeom>
          <a:solidFill>
            <a:schemeClr val="accent2">
              <a:lumMod val="60000"/>
              <a:lumOff val="40000"/>
            </a:schemeClr>
          </a:solidFill>
          <a:scene3d>
            <a:camera prst="isometricOffAxis2Left"/>
            <a:lightRig rig="threePt" dir="t"/>
          </a:scene3d>
        </p:spPr>
        <p:txBody>
          <a:bodyPr wrap="square">
            <a:spAutoFit/>
          </a:bodyPr>
          <a:lstStyle/>
          <a:p>
            <a:r>
              <a:rPr lang="he-IL" sz="2400" dirty="0">
                <a:ea typeface="Calibri" panose="020F0502020204030204" pitchFamily="34" charset="0"/>
                <a:cs typeface="David" panose="020E0502060401010101" pitchFamily="34" charset="-79"/>
              </a:rPr>
              <a:t>{ </a:t>
            </a:r>
            <a:r>
              <a:rPr lang="he-IL" sz="2400" b="1" u="sng" dirty="0">
                <a:ea typeface="Calibri" panose="020F0502020204030204" pitchFamily="34" charset="0"/>
                <a:cs typeface="David" panose="020E0502060401010101" pitchFamily="34" charset="-79"/>
              </a:rPr>
              <a:t>חילק אותם לשלוש קבוצות</a:t>
            </a:r>
            <a:r>
              <a:rPr lang="he-IL" sz="2400" dirty="0">
                <a:ea typeface="Calibri" panose="020F0502020204030204" pitchFamily="34" charset="0"/>
                <a:cs typeface="David" panose="020E0502060401010101" pitchFamily="34" charset="-79"/>
              </a:rPr>
              <a:t> להזכיר זכות שלושת האבות ובידם שופרות להזכיר עקידת יצחק שהקריב איל.  ויש אומרים חילק לשלוש להזכיר ולרמוז שגדעון מסר עצמו על קידוש ה' </a:t>
            </a:r>
            <a:r>
              <a:rPr lang="he-IL" sz="2400" b="1" dirty="0">
                <a:ea typeface="Calibri" panose="020F0502020204030204" pitchFamily="34" charset="0"/>
                <a:cs typeface="David" panose="020E0502060401010101" pitchFamily="34" charset="-79"/>
              </a:rPr>
              <a:t>בשלושה דברים- </a:t>
            </a:r>
            <a:r>
              <a:rPr lang="he-IL" sz="2400" dirty="0">
                <a:ea typeface="Calibri" panose="020F0502020204030204" pitchFamily="34" charset="0"/>
                <a:cs typeface="David" panose="020E0502060401010101" pitchFamily="34" charset="-79"/>
              </a:rPr>
              <a:t>כרת את האשרה, הרס את מזבח הבעל, ושחיטת פר המוקצה לעבודה זרה.  </a:t>
            </a:r>
            <a:r>
              <a:rPr lang="he-IL" sz="2400" b="1" u="sng" dirty="0">
                <a:ea typeface="Calibri" panose="020F0502020204030204" pitchFamily="34" charset="0"/>
                <a:cs typeface="David" panose="020E0502060401010101" pitchFamily="34" charset="-79"/>
              </a:rPr>
              <a:t>שופרות </a:t>
            </a:r>
            <a:r>
              <a:rPr lang="he-IL" sz="2400" dirty="0">
                <a:ea typeface="Calibri" panose="020F0502020204030204" pitchFamily="34" charset="0"/>
                <a:cs typeface="David" panose="020E0502060401010101" pitchFamily="34" charset="-79"/>
              </a:rPr>
              <a:t>להזכיר מעמד הר סיני שהיו שם קולות ולפיד ושופר. </a:t>
            </a:r>
            <a:endParaRPr lang="he-IL" sz="2400" dirty="0"/>
          </a:p>
        </p:txBody>
      </p:sp>
    </p:spTree>
    <p:extLst>
      <p:ext uri="{BB962C8B-B14F-4D97-AF65-F5344CB8AC3E}">
        <p14:creationId xmlns:p14="http://schemas.microsoft.com/office/powerpoint/2010/main" val="311368550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wipe(down)">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1000" fill="hold"/>
                                        <p:tgtEl>
                                          <p:spTgt spid="2"/>
                                        </p:tgtEl>
                                        <p:attrNameLst>
                                          <p:attrName>ppt_w</p:attrName>
                                        </p:attrNameLst>
                                      </p:cBhvr>
                                      <p:tavLst>
                                        <p:tav tm="0">
                                          <p:val>
                                            <p:fltVal val="0"/>
                                          </p:val>
                                        </p:tav>
                                        <p:tav tm="100000">
                                          <p:val>
                                            <p:strVal val="#ppt_w"/>
                                          </p:val>
                                        </p:tav>
                                      </p:tavLst>
                                    </p:anim>
                                    <p:anim calcmode="lin" valueType="num">
                                      <p:cBhvr>
                                        <p:cTn id="21" dur="1000" fill="hold"/>
                                        <p:tgtEl>
                                          <p:spTgt spid="2"/>
                                        </p:tgtEl>
                                        <p:attrNameLst>
                                          <p:attrName>ppt_h</p:attrName>
                                        </p:attrNameLst>
                                      </p:cBhvr>
                                      <p:tavLst>
                                        <p:tav tm="0">
                                          <p:val>
                                            <p:fltVal val="0"/>
                                          </p:val>
                                        </p:tav>
                                        <p:tav tm="100000">
                                          <p:val>
                                            <p:strVal val="#ppt_h"/>
                                          </p:val>
                                        </p:tav>
                                      </p:tavLst>
                                    </p:anim>
                                    <p:anim calcmode="lin" valueType="num">
                                      <p:cBhvr>
                                        <p:cTn id="22" dur="1000" fill="hold"/>
                                        <p:tgtEl>
                                          <p:spTgt spid="2"/>
                                        </p:tgtEl>
                                        <p:attrNameLst>
                                          <p:attrName>style.rotation</p:attrName>
                                        </p:attrNameLst>
                                      </p:cBhvr>
                                      <p:tavLst>
                                        <p:tav tm="0">
                                          <p:val>
                                            <p:fltVal val="90"/>
                                          </p:val>
                                        </p:tav>
                                        <p:tav tm="100000">
                                          <p:val>
                                            <p:fltVal val="0"/>
                                          </p:val>
                                        </p:tav>
                                      </p:tavLst>
                                    </p:anim>
                                    <p:animEffect transition="in" filter="fade">
                                      <p:cBhvr>
                                        <p:cTn id="2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33902" y="160892"/>
            <a:ext cx="5696882" cy="6124754"/>
          </a:xfrm>
          <a:prstGeom prst="rect">
            <a:avLst/>
          </a:prstGeom>
          <a:noFill/>
          <a:ln w="38100">
            <a:solidFill>
              <a:schemeClr val="tx1"/>
            </a:solidFill>
          </a:ln>
        </p:spPr>
        <p:txBody>
          <a:bodyPr wrap="square" rtlCol="1">
            <a:spAutoFit/>
          </a:bodyPr>
          <a:lstStyle/>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a:t>
            </a:r>
            <a:r>
              <a:rPr lang="he-IL" sz="2800" b="1" u="sng" dirty="0" err="1">
                <a:latin typeface="David" panose="020E0502060401010101" pitchFamily="34" charset="-79"/>
                <a:cs typeface="David" panose="020E0502060401010101" pitchFamily="34" charset="-79"/>
              </a:rPr>
              <a:t>יט</a:t>
            </a:r>
            <a:r>
              <a:rPr lang="he-IL" sz="2800" b="1" u="sng" dirty="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הגיע גדעון ומאה חייליו שנלוו עמו לשולי המחנה של מדיין,</a:t>
            </a:r>
            <a:r>
              <a:rPr lang="he-IL" sz="2800" b="1" dirty="0">
                <a:latin typeface="David" panose="020E0502060401010101" pitchFamily="34" charset="-79"/>
                <a:cs typeface="David" panose="020E0502060401010101" pitchFamily="34" charset="-79"/>
              </a:rPr>
              <a:t> בתחילת השליש הלילה האמצעי</a:t>
            </a:r>
            <a:r>
              <a:rPr lang="he-IL" sz="2800" dirty="0">
                <a:latin typeface="David" panose="020E0502060401010101" pitchFamily="34" charset="-79"/>
                <a:cs typeface="David" panose="020E0502060401010101" pitchFamily="34" charset="-79"/>
              </a:rPr>
              <a:t>, מיד כשהעירה המשמרת הראשונה את המשמרת השנייה, תקעו חיילי גדעון בשופרות וניפצו את הכדים שהחזיקו בידם. (ולהפחיד את מדיין שיראו את הלפידים </a:t>
            </a:r>
            <a:r>
              <a:rPr lang="he-IL" sz="2800" dirty="0" err="1">
                <a:latin typeface="David" panose="020E0502060401010101" pitchFamily="34" charset="-79"/>
                <a:cs typeface="David" panose="020E0502060401010101" pitchFamily="34" charset="-79"/>
              </a:rPr>
              <a:t>ויבהלו</a:t>
            </a:r>
            <a:r>
              <a:rPr lang="he-IL" sz="2800" dirty="0">
                <a:latin typeface="David" panose="020E0502060401010101" pitchFamily="34" charset="-79"/>
                <a:cs typeface="David" panose="020E0502060401010101" pitchFamily="34" charset="-79"/>
              </a:rPr>
              <a:t>)</a:t>
            </a:r>
          </a:p>
          <a:p>
            <a:r>
              <a:rPr lang="he-IL" sz="2800" b="1" u="sng" dirty="0" err="1">
                <a:latin typeface="David" panose="020E0502060401010101" pitchFamily="34" charset="-79"/>
                <a:cs typeface="David" panose="020E0502060401010101" pitchFamily="34" charset="-79"/>
              </a:rPr>
              <a:t>פ"ס</a:t>
            </a:r>
            <a:r>
              <a:rPr lang="he-IL" sz="2800" b="1" u="sng" dirty="0">
                <a:latin typeface="David" panose="020E0502060401010101" pitchFamily="34" charset="-79"/>
                <a:cs typeface="David" panose="020E0502060401010101" pitchFamily="34" charset="-79"/>
              </a:rPr>
              <a:t> כ': </a:t>
            </a:r>
            <a:r>
              <a:rPr lang="he-IL" sz="2800" dirty="0">
                <a:latin typeface="David" panose="020E0502060401010101" pitchFamily="34" charset="-79"/>
                <a:cs typeface="David" panose="020E0502060401010101" pitchFamily="34" charset="-79"/>
              </a:rPr>
              <a:t>כאשר ראו מחנות הצבא של גדעון את מה שעשה הצטרפו כל שלוש הקבוצות ותקעו בשופרות </a:t>
            </a:r>
            <a:r>
              <a:rPr lang="he-IL" sz="2800" b="1" dirty="0">
                <a:latin typeface="David" panose="020E0502060401010101" pitchFamily="34" charset="-79"/>
                <a:cs typeface="David" panose="020E0502060401010101" pitchFamily="34" charset="-79"/>
              </a:rPr>
              <a:t>וניפצו גם הם את הכדים</a:t>
            </a:r>
            <a:r>
              <a:rPr lang="he-IL" sz="2800" dirty="0">
                <a:latin typeface="David" panose="020E0502060401010101" pitchFamily="34" charset="-79"/>
                <a:cs typeface="David" panose="020E0502060401010101" pitchFamily="34" charset="-79"/>
              </a:rPr>
              <a:t>, ולאחר הניפוץ החזיקו ביד שמאל את הלפיד אש (להאיר את החשיכה) וביד ימין את השופרות לתקוע . </a:t>
            </a:r>
            <a:r>
              <a:rPr lang="he-IL" sz="2800" b="1" dirty="0">
                <a:latin typeface="David" panose="020E0502060401010101" pitchFamily="34" charset="-79"/>
                <a:cs typeface="David" panose="020E0502060401010101" pitchFamily="34" charset="-79"/>
              </a:rPr>
              <a:t>והכריזו "זו גבורת ה' תביא לנו ניצחון ע"י גדעון</a:t>
            </a:r>
            <a:r>
              <a:rPr lang="he-IL" sz="2800" dirty="0">
                <a:latin typeface="David" panose="020E0502060401010101" pitchFamily="34" charset="-79"/>
                <a:cs typeface="David" panose="020E0502060401010101" pitchFamily="34" charset="-79"/>
              </a:rPr>
              <a:t>.</a:t>
            </a:r>
          </a:p>
        </p:txBody>
      </p:sp>
      <p:sp>
        <p:nvSpPr>
          <p:cNvPr id="3" name="מלבן 2"/>
          <p:cNvSpPr/>
          <p:nvPr/>
        </p:nvSpPr>
        <p:spPr>
          <a:xfrm>
            <a:off x="6020790" y="160892"/>
            <a:ext cx="5949538" cy="4524315"/>
          </a:xfrm>
          <a:prstGeom prst="rect">
            <a:avLst/>
          </a:prstGeom>
          <a:solidFill>
            <a:schemeClr val="accent4">
              <a:lumMod val="40000"/>
              <a:lumOff val="60000"/>
            </a:schemeClr>
          </a:solidFill>
        </p:spPr>
        <p:txBody>
          <a:bodyPr wrap="square">
            <a:spAutoFit/>
          </a:bodyPr>
          <a:lstStyle/>
          <a:p>
            <a:r>
              <a:rPr lang="he-IL" sz="3200" b="1" u="sng" dirty="0" err="1">
                <a:latin typeface="David" panose="020E0502060401010101" pitchFamily="34" charset="-79"/>
                <a:cs typeface="David" panose="020E0502060401010101" pitchFamily="34" charset="-79"/>
              </a:rPr>
              <a:t>יט</a:t>
            </a:r>
            <a:r>
              <a:rPr lang="he-IL" sz="3200" dirty="0">
                <a:latin typeface="David" panose="020E0502060401010101" pitchFamily="34" charset="-79"/>
                <a:cs typeface="David" panose="020E0502060401010101" pitchFamily="34" charset="-79"/>
              </a:rPr>
              <a:t> וַיָּבֹא גִדְעוֹן וּמֵאָה-אִישׁ אֲשֶׁר-אִתּוֹ בִּקְצֵה הַמַּחֲנֶה, </a:t>
            </a:r>
            <a:r>
              <a:rPr lang="he-IL" sz="3200" b="1" dirty="0">
                <a:latin typeface="David" panose="020E0502060401010101" pitchFamily="34" charset="-79"/>
                <a:cs typeface="David" panose="020E0502060401010101" pitchFamily="34" charset="-79"/>
              </a:rPr>
              <a:t>רֹאשׁ </a:t>
            </a:r>
            <a:r>
              <a:rPr lang="he-IL" sz="3200" b="1" dirty="0" err="1">
                <a:latin typeface="David" panose="020E0502060401010101" pitchFamily="34" charset="-79"/>
                <a:cs typeface="David" panose="020E0502060401010101" pitchFamily="34" charset="-79"/>
              </a:rPr>
              <a:t>הָאַשְׁמֹרֶת</a:t>
            </a:r>
            <a:r>
              <a:rPr lang="he-IL" sz="3200" b="1" dirty="0">
                <a:latin typeface="David" panose="020E0502060401010101" pitchFamily="34" charset="-79"/>
                <a:cs typeface="David" panose="020E0502060401010101" pitchFamily="34" charset="-79"/>
              </a:rPr>
              <a:t> הַתִּיכוֹנָה-</a:t>
            </a:r>
            <a:r>
              <a:rPr lang="he-IL" sz="3200" dirty="0">
                <a:latin typeface="David" panose="020E0502060401010101" pitchFamily="34" charset="-79"/>
                <a:cs typeface="David" panose="020E0502060401010101" pitchFamily="34" charset="-79"/>
              </a:rPr>
              <a:t>-אַךְ הָקֵם הֵקִימוּ, אֶת-הַשֹּׁמְרִים; וַיִּתְקְעוּ, בַּשּׁוֹפָרוֹת, וְנָפוֹץ הַכַּדִּים, אֲשֶׁר בְּיָדָם.  </a:t>
            </a:r>
          </a:p>
          <a:p>
            <a:r>
              <a:rPr lang="he-IL" sz="3200" b="1" u="sng" dirty="0">
                <a:latin typeface="David" panose="020E0502060401010101" pitchFamily="34" charset="-79"/>
                <a:cs typeface="David" panose="020E0502060401010101" pitchFamily="34" charset="-79"/>
              </a:rPr>
              <a:t>כ</a:t>
            </a:r>
            <a:r>
              <a:rPr lang="he-IL" sz="3200" dirty="0">
                <a:latin typeface="David" panose="020E0502060401010101" pitchFamily="34" charset="-79"/>
                <a:cs typeface="David" panose="020E0502060401010101" pitchFamily="34" charset="-79"/>
              </a:rPr>
              <a:t> וַיִּתְקְעוּ שְׁלֹשֶׁת הָרָאשִׁים בַּשּׁוֹפָרוֹת, </a:t>
            </a:r>
            <a:r>
              <a:rPr lang="he-IL" sz="3200" b="1" dirty="0">
                <a:latin typeface="David" panose="020E0502060401010101" pitchFamily="34" charset="-79"/>
                <a:cs typeface="David" panose="020E0502060401010101" pitchFamily="34" charset="-79"/>
              </a:rPr>
              <a:t>וַיִּשְׁבְּרוּ הַכַּדִּים</a:t>
            </a:r>
            <a:r>
              <a:rPr lang="he-IL" sz="3200" dirty="0">
                <a:latin typeface="David" panose="020E0502060401010101" pitchFamily="34" charset="-79"/>
                <a:cs typeface="David" panose="020E0502060401010101" pitchFamily="34" charset="-79"/>
              </a:rPr>
              <a:t>, וַיַּחֲזִיקוּ בְיַד-שְׂמֹאולָם </a:t>
            </a:r>
            <a:r>
              <a:rPr lang="he-IL" sz="3200" dirty="0" err="1">
                <a:latin typeface="David" panose="020E0502060401010101" pitchFamily="34" charset="-79"/>
                <a:cs typeface="David" panose="020E0502060401010101" pitchFamily="34" charset="-79"/>
              </a:rPr>
              <a:t>בַּלַּפִּדִים</a:t>
            </a:r>
            <a:r>
              <a:rPr lang="he-IL" sz="3200" dirty="0">
                <a:latin typeface="David" panose="020E0502060401010101" pitchFamily="34" charset="-79"/>
                <a:cs typeface="David" panose="020E0502060401010101" pitchFamily="34" charset="-79"/>
              </a:rPr>
              <a:t>, וּבְיַד-יְמִינָם הַשּׁוֹפָרוֹת לִתְקוֹעַ; </a:t>
            </a:r>
            <a:r>
              <a:rPr lang="he-IL" sz="3200" b="1" dirty="0">
                <a:latin typeface="David" panose="020E0502060401010101" pitchFamily="34" charset="-79"/>
                <a:cs typeface="David" panose="020E0502060401010101" pitchFamily="34" charset="-79"/>
              </a:rPr>
              <a:t>וַיִּקְרְאוּ, חֶרֶב לַיהוָה וּלְגִדְעוֹן. </a:t>
            </a:r>
          </a:p>
        </p:txBody>
      </p:sp>
      <p:pic>
        <p:nvPicPr>
          <p:cNvPr id="2" name="תמונה 1"/>
          <p:cNvPicPr>
            <a:picLocks noChangeAspect="1"/>
          </p:cNvPicPr>
          <p:nvPr/>
        </p:nvPicPr>
        <p:blipFill>
          <a:blip r:embed="rId3"/>
          <a:stretch>
            <a:fillRect/>
          </a:stretch>
        </p:blipFill>
        <p:spPr>
          <a:xfrm>
            <a:off x="6020790" y="625721"/>
            <a:ext cx="4384719" cy="5195095"/>
          </a:xfrm>
          <a:prstGeom prst="rect">
            <a:avLst/>
          </a:prstGeom>
          <a:ln w="88900" cap="sq" cmpd="thickThin">
            <a:solidFill>
              <a:srgbClr val="000000"/>
            </a:solidFill>
            <a:prstDash val="solid"/>
            <a:miter lim="800000"/>
          </a:ln>
          <a:effectLst>
            <a:innerShdw blurRad="76200">
              <a:srgbClr val="000000"/>
            </a:innerShdw>
          </a:effectLst>
          <a:scene3d>
            <a:camera prst="perspectiveHeroicExtremeLeftFacing"/>
            <a:lightRig rig="threePt" dir="t"/>
          </a:scene3d>
        </p:spPr>
      </p:pic>
    </p:spTree>
    <p:extLst>
      <p:ext uri="{BB962C8B-B14F-4D97-AF65-F5344CB8AC3E}">
        <p14:creationId xmlns:p14="http://schemas.microsoft.com/office/powerpoint/2010/main" val="897585881"/>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anim calcmode="lin" valueType="num">
                                      <p:cBhvr>
                                        <p:cTn id="8" dur="2000" fill="hold"/>
                                        <p:tgtEl>
                                          <p:spTgt spid="8">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barn(inVertical)">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418909" y="311003"/>
            <a:ext cx="5245622" cy="6001643"/>
          </a:xfrm>
          <a:prstGeom prst="rect">
            <a:avLst/>
          </a:prstGeom>
          <a:solidFill>
            <a:schemeClr val="accent5">
              <a:lumMod val="40000"/>
              <a:lumOff val="6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כא</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נעמדו כל חיילי גדעון כל אחד במקומו מסביב למחנה מדיין, והחלה התרוצצות במחנה והשמיעו זעקות שבר וברחו</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כב</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והמשיכו לתקוע חיילי גדעון בשופרות. ומרוב בהלה שנהייתה מקול השופרות </a:t>
            </a:r>
            <a:r>
              <a:rPr lang="he-IL" sz="3200" b="1" dirty="0">
                <a:latin typeface="David" panose="020E0502060401010101" pitchFamily="34" charset="-79"/>
                <a:cs typeface="David" panose="020E0502060401010101" pitchFamily="34" charset="-79"/>
              </a:rPr>
              <a:t>החלו מדיין להרוג אחד בשני, </a:t>
            </a:r>
            <a:r>
              <a:rPr lang="he-IL" sz="3200" dirty="0">
                <a:latin typeface="David" panose="020E0502060401010101" pitchFamily="34" charset="-79"/>
                <a:cs typeface="David" panose="020E0502060401010101" pitchFamily="34" charset="-79"/>
              </a:rPr>
              <a:t>ומרוב פחד הם ברחו כולם עד הישוב "בית השטה" ומשם לצררה עד שפת הנחל של העיר אבל מחולה שליד העיר טבת .</a:t>
            </a:r>
          </a:p>
        </p:txBody>
      </p:sp>
      <p:sp>
        <p:nvSpPr>
          <p:cNvPr id="2" name="מלבן 1"/>
          <p:cNvSpPr/>
          <p:nvPr/>
        </p:nvSpPr>
        <p:spPr>
          <a:xfrm>
            <a:off x="5850577" y="181355"/>
            <a:ext cx="6096000" cy="3046988"/>
          </a:xfrm>
          <a:prstGeom prst="rect">
            <a:avLst/>
          </a:prstGeom>
          <a:solidFill>
            <a:schemeClr val="accent4">
              <a:lumMod val="60000"/>
              <a:lumOff val="40000"/>
            </a:schemeClr>
          </a:solidFill>
        </p:spPr>
        <p:txBody>
          <a:bodyPr>
            <a:spAutoFit/>
          </a:bodyPr>
          <a:lstStyle/>
          <a:p>
            <a:r>
              <a:rPr lang="he-IL" sz="3200" b="1" u="sng" dirty="0" err="1">
                <a:latin typeface="David" panose="020E0502060401010101" pitchFamily="34" charset="-79"/>
                <a:cs typeface="David" panose="020E0502060401010101" pitchFamily="34" charset="-79"/>
              </a:rPr>
              <a:t>כא</a:t>
            </a:r>
            <a:r>
              <a:rPr lang="he-IL" sz="3200" dirty="0">
                <a:latin typeface="David" panose="020E0502060401010101" pitchFamily="34" charset="-79"/>
                <a:cs typeface="David" panose="020E0502060401010101" pitchFamily="34" charset="-79"/>
              </a:rPr>
              <a:t> וַיַּעַמְדוּ אִישׁ תַּחְתָּיו, סָבִיב לַמַּחֲנֶה; </a:t>
            </a:r>
            <a:r>
              <a:rPr lang="he-IL" sz="3200" dirty="0" err="1">
                <a:latin typeface="David" panose="020E0502060401010101" pitchFamily="34" charset="-79"/>
                <a:cs typeface="David" panose="020E0502060401010101" pitchFamily="34" charset="-79"/>
              </a:rPr>
              <a:t>וַיָּרָץ</a:t>
            </a:r>
            <a:r>
              <a:rPr lang="he-IL" sz="3200" dirty="0">
                <a:latin typeface="David" panose="020E0502060401010101" pitchFamily="34" charset="-79"/>
                <a:cs typeface="David" panose="020E0502060401010101" pitchFamily="34" charset="-79"/>
              </a:rPr>
              <a:t> כָּל-הַמַּחֲנֶה וַיָּרִיעוּ, ויניסו וַיָּנוּסוּ.  </a:t>
            </a:r>
          </a:p>
          <a:p>
            <a:r>
              <a:rPr lang="he-IL" sz="3200" b="1" u="sng" dirty="0" err="1">
                <a:latin typeface="David" panose="020E0502060401010101" pitchFamily="34" charset="-79"/>
                <a:cs typeface="David" panose="020E0502060401010101" pitchFamily="34" charset="-79"/>
              </a:rPr>
              <a:t>כב</a:t>
            </a:r>
            <a:r>
              <a:rPr lang="he-IL" sz="3200" dirty="0">
                <a:latin typeface="David" panose="020E0502060401010101" pitchFamily="34" charset="-79"/>
                <a:cs typeface="David" panose="020E0502060401010101" pitchFamily="34" charset="-79"/>
              </a:rPr>
              <a:t> וַיִּתְקְעוּ, שְׁלֹשׁ-מֵאוֹת הַשּׁוֹפָרוֹת, ו</a:t>
            </a:r>
            <a:r>
              <a:rPr lang="he-IL" sz="3200" b="1" dirty="0">
                <a:latin typeface="David" panose="020E0502060401010101" pitchFamily="34" charset="-79"/>
                <a:cs typeface="David" panose="020E0502060401010101" pitchFamily="34" charset="-79"/>
              </a:rPr>
              <a:t>ַיָּשֶׂם יְהוָה אֵת חֶרֶב אִישׁ בְּרֵעֵהוּ, </a:t>
            </a:r>
            <a:r>
              <a:rPr lang="he-IL" sz="3200" dirty="0">
                <a:latin typeface="David" panose="020E0502060401010101" pitchFamily="34" charset="-79"/>
                <a:cs typeface="David" panose="020E0502060401010101" pitchFamily="34" charset="-79"/>
              </a:rPr>
              <a:t>וּבְכָל-הַמַּחֲנֶה; </a:t>
            </a:r>
            <a:r>
              <a:rPr lang="he-IL" sz="3200" dirty="0" err="1">
                <a:latin typeface="David" panose="020E0502060401010101" pitchFamily="34" charset="-79"/>
                <a:cs typeface="David" panose="020E0502060401010101" pitchFamily="34" charset="-79"/>
              </a:rPr>
              <a:t>וַיָּנָס</a:t>
            </a:r>
            <a:r>
              <a:rPr lang="he-IL" sz="3200" dirty="0">
                <a:latin typeface="David" panose="020E0502060401010101" pitchFamily="34" charset="-79"/>
                <a:cs typeface="David" panose="020E0502060401010101" pitchFamily="34" charset="-79"/>
              </a:rPr>
              <a:t> הַמַּחֲנֶה עַד-בֵּית הַשִּׁטָּה, </a:t>
            </a:r>
            <a:r>
              <a:rPr lang="he-IL" sz="3200" dirty="0" err="1">
                <a:latin typeface="David" panose="020E0502060401010101" pitchFamily="34" charset="-79"/>
                <a:cs typeface="David" panose="020E0502060401010101" pitchFamily="34" charset="-79"/>
              </a:rPr>
              <a:t>צְרֵרָתָה</a:t>
            </a:r>
            <a:r>
              <a:rPr lang="he-IL" sz="3200" dirty="0">
                <a:latin typeface="David" panose="020E0502060401010101" pitchFamily="34" charset="-79"/>
                <a:cs typeface="David" panose="020E0502060401010101" pitchFamily="34" charset="-79"/>
              </a:rPr>
              <a:t>--עַד שְׂפַת-אָבֵל מְחוֹלָה, עַל-טַבָּת. </a:t>
            </a:r>
          </a:p>
        </p:txBody>
      </p:sp>
      <p:pic>
        <p:nvPicPr>
          <p:cNvPr id="3" name="תמונה 2"/>
          <p:cNvPicPr>
            <a:picLocks noChangeAspect="1"/>
          </p:cNvPicPr>
          <p:nvPr/>
        </p:nvPicPr>
        <p:blipFill>
          <a:blip r:embed="rId3"/>
          <a:stretch>
            <a:fillRect/>
          </a:stretch>
        </p:blipFill>
        <p:spPr>
          <a:xfrm>
            <a:off x="5510734" y="3476430"/>
            <a:ext cx="2804403" cy="3048264"/>
          </a:xfrm>
          <a:prstGeom prst="rect">
            <a:avLst/>
          </a:prstGeom>
        </p:spPr>
      </p:pic>
      <p:pic>
        <p:nvPicPr>
          <p:cNvPr id="4" name="תמונה 3"/>
          <p:cNvPicPr>
            <a:picLocks noChangeAspect="1"/>
          </p:cNvPicPr>
          <p:nvPr/>
        </p:nvPicPr>
        <p:blipFill>
          <a:blip r:embed="rId4"/>
          <a:stretch>
            <a:fillRect/>
          </a:stretch>
        </p:blipFill>
        <p:spPr>
          <a:xfrm>
            <a:off x="7080103" y="3311824"/>
            <a:ext cx="2853175" cy="1359526"/>
          </a:xfrm>
          <a:prstGeom prst="rect">
            <a:avLst/>
          </a:prstGeom>
        </p:spPr>
      </p:pic>
      <p:pic>
        <p:nvPicPr>
          <p:cNvPr id="5" name="תמונה 4"/>
          <p:cNvPicPr>
            <a:picLocks noChangeAspect="1"/>
          </p:cNvPicPr>
          <p:nvPr/>
        </p:nvPicPr>
        <p:blipFill>
          <a:blip r:embed="rId5"/>
          <a:stretch>
            <a:fillRect/>
          </a:stretch>
        </p:blipFill>
        <p:spPr>
          <a:xfrm>
            <a:off x="7744051" y="4754830"/>
            <a:ext cx="4378453" cy="1934469"/>
          </a:xfrm>
          <a:prstGeom prst="rect">
            <a:avLst/>
          </a:prstGeom>
        </p:spPr>
      </p:pic>
    </p:spTree>
    <p:extLst>
      <p:ext uri="{BB962C8B-B14F-4D97-AF65-F5344CB8AC3E}">
        <p14:creationId xmlns:p14="http://schemas.microsoft.com/office/powerpoint/2010/main" val="1477244517"/>
      </p:ext>
    </p:extLst>
  </p:cSld>
  <p:clrMapOvr>
    <a:masterClrMapping/>
  </p:clrMapOvr>
  <mc:AlternateContent xmlns:mc="http://schemas.openxmlformats.org/markup-compatibility/2006" xmlns:p14="http://schemas.microsoft.com/office/powerpoint/2010/main">
    <mc:Choice Requires="p14">
      <p:transition spd="slow" p14:dur="1600">
        <p14:prism dir="r"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barn(inVertical)">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76404" y="198359"/>
            <a:ext cx="5732509" cy="6001643"/>
          </a:xfrm>
          <a:prstGeom prst="rect">
            <a:avLst/>
          </a:prstGeom>
          <a:solidFill>
            <a:schemeClr val="accent4">
              <a:lumMod val="60000"/>
              <a:lumOff val="40000"/>
            </a:schemeClr>
          </a:solid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a:t>
            </a:r>
            <a:r>
              <a:rPr lang="he-IL" sz="3200" b="1" u="sng" dirty="0" err="1">
                <a:latin typeface="David" panose="020E0502060401010101" pitchFamily="34" charset="-79"/>
                <a:cs typeface="David" panose="020E0502060401010101" pitchFamily="34" charset="-79"/>
              </a:rPr>
              <a:t>כג</a:t>
            </a:r>
            <a:r>
              <a:rPr lang="he-IL" sz="3200" b="1" u="sng" dirty="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לקול צעקת וקריאת החיילים נאספו חיילי ישראל. </a:t>
            </a:r>
            <a:r>
              <a:rPr lang="he-IL" sz="3200" b="1" dirty="0">
                <a:latin typeface="David" panose="020E0502060401010101" pitchFamily="34" charset="-79"/>
                <a:cs typeface="David" panose="020E0502060401010101" pitchFamily="34" charset="-79"/>
              </a:rPr>
              <a:t>באו חלק משבט נפתלי ומשבט אשר ומכל שבט מנשה </a:t>
            </a:r>
            <a:r>
              <a:rPr lang="he-IL" sz="3200" dirty="0">
                <a:latin typeface="David" panose="020E0502060401010101" pitchFamily="34" charset="-79"/>
                <a:cs typeface="David" panose="020E0502060401010101" pitchFamily="34" charset="-79"/>
              </a:rPr>
              <a:t>ורדפו אחרי מדיין להכותם </a:t>
            </a:r>
          </a:p>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כד': </a:t>
            </a:r>
            <a:r>
              <a:rPr lang="he-IL" sz="3200" b="1" dirty="0">
                <a:latin typeface="David" panose="020E0502060401010101" pitchFamily="34" charset="-79"/>
                <a:cs typeface="David" panose="020E0502060401010101" pitchFamily="34" charset="-79"/>
              </a:rPr>
              <a:t>ושליחים שלח גדעון בכל נחלת אפרים </a:t>
            </a:r>
            <a:r>
              <a:rPr lang="he-IL" sz="3200" dirty="0" err="1">
                <a:latin typeface="David" panose="020E0502060401010101" pitchFamily="34" charset="-79"/>
                <a:cs typeface="David" panose="020E0502060401010101" pitchFamily="34" charset="-79"/>
              </a:rPr>
              <a:t>לאמר</a:t>
            </a:r>
            <a:r>
              <a:rPr lang="he-IL" sz="3200" dirty="0">
                <a:latin typeface="David" panose="020E0502060401010101" pitchFamily="34" charset="-79"/>
                <a:cs typeface="David" panose="020E0502060401010101" pitchFamily="34" charset="-79"/>
              </a:rPr>
              <a:t> להם בואו גם אתם ותרדו מההר לקראת מדיין להילחם בהם ותכבשו מהם את מקורות המים עד הישוב בית ברה ואת מעברי הירדן. ונאספו כל חיילי שבט אפרים וחסמו את מקורות המים </a:t>
            </a:r>
          </a:p>
        </p:txBody>
      </p:sp>
      <p:sp>
        <p:nvSpPr>
          <p:cNvPr id="2" name="מלבן 1"/>
          <p:cNvSpPr/>
          <p:nvPr/>
        </p:nvSpPr>
        <p:spPr>
          <a:xfrm>
            <a:off x="6127667" y="181355"/>
            <a:ext cx="5949537" cy="3539430"/>
          </a:xfrm>
          <a:prstGeom prst="rect">
            <a:avLst/>
          </a:prstGeom>
          <a:solidFill>
            <a:schemeClr val="accent1">
              <a:lumMod val="40000"/>
              <a:lumOff val="60000"/>
            </a:schemeClr>
          </a:solidFill>
        </p:spPr>
        <p:txBody>
          <a:bodyPr wrap="square">
            <a:spAutoFit/>
          </a:bodyPr>
          <a:lstStyle/>
          <a:p>
            <a:r>
              <a:rPr lang="he-IL" sz="3200" b="1" i="0" dirty="0" err="1">
                <a:solidFill>
                  <a:srgbClr val="000000"/>
                </a:solidFill>
                <a:effectLst/>
                <a:latin typeface="David" panose="020E0502060401010101" pitchFamily="34" charset="-79"/>
                <a:cs typeface="David" panose="020E0502060401010101" pitchFamily="34" charset="-79"/>
              </a:rPr>
              <a:t>כג</a:t>
            </a:r>
            <a:r>
              <a:rPr lang="he-IL" sz="3200" b="0" i="0" dirty="0">
                <a:solidFill>
                  <a:srgbClr val="000000"/>
                </a:solidFill>
                <a:effectLst/>
                <a:latin typeface="David" panose="020E0502060401010101" pitchFamily="34" charset="-79"/>
                <a:cs typeface="David" panose="020E0502060401010101" pitchFamily="34" charset="-79"/>
              </a:rPr>
              <a:t> </a:t>
            </a:r>
            <a:r>
              <a:rPr lang="he-IL" sz="3200" b="1" i="0" dirty="0">
                <a:solidFill>
                  <a:srgbClr val="000000"/>
                </a:solidFill>
                <a:effectLst/>
                <a:latin typeface="David" panose="020E0502060401010101" pitchFamily="34" charset="-79"/>
                <a:cs typeface="David" panose="020E0502060401010101" pitchFamily="34" charset="-79"/>
              </a:rPr>
              <a:t>וַיִּצָּעֵק אִישׁ-יִשְׂרָאֵל </a:t>
            </a:r>
            <a:r>
              <a:rPr lang="he-IL" sz="3200" b="0" i="0" dirty="0">
                <a:solidFill>
                  <a:srgbClr val="000000"/>
                </a:solidFill>
                <a:effectLst/>
                <a:latin typeface="David" panose="020E0502060401010101" pitchFamily="34" charset="-79"/>
                <a:cs typeface="David" panose="020E0502060401010101" pitchFamily="34" charset="-79"/>
              </a:rPr>
              <a:t>מִנַּפְתָּלִי וּמִן-אָשֵׁר, וּמִן-כָּל-מְנַשֶּׁה; וַיִּרְדְּפוּ, אַחֲרֵי מִדְיָן.  </a:t>
            </a:r>
            <a:r>
              <a:rPr lang="he-IL" sz="3200" b="1" i="0" dirty="0">
                <a:solidFill>
                  <a:srgbClr val="000000"/>
                </a:solidFill>
                <a:effectLst/>
                <a:latin typeface="David" panose="020E0502060401010101" pitchFamily="34" charset="-79"/>
                <a:cs typeface="David" panose="020E0502060401010101" pitchFamily="34" charset="-79"/>
              </a:rPr>
              <a:t>כד</a:t>
            </a:r>
            <a:r>
              <a:rPr lang="he-IL" sz="3200" b="0" i="0" dirty="0">
                <a:solidFill>
                  <a:srgbClr val="000000"/>
                </a:solidFill>
                <a:effectLst/>
                <a:latin typeface="David" panose="020E0502060401010101" pitchFamily="34" charset="-79"/>
                <a:cs typeface="David" panose="020E0502060401010101" pitchFamily="34" charset="-79"/>
              </a:rPr>
              <a:t> </a:t>
            </a:r>
            <a:r>
              <a:rPr lang="he-IL" sz="3200" b="1" i="0" dirty="0">
                <a:solidFill>
                  <a:srgbClr val="000000"/>
                </a:solidFill>
                <a:effectLst/>
                <a:latin typeface="David" panose="020E0502060401010101" pitchFamily="34" charset="-79"/>
                <a:cs typeface="David" panose="020E0502060401010101" pitchFamily="34" charset="-79"/>
              </a:rPr>
              <a:t>וּמַלְאָכִים שָׁלַח גִּדְעוֹן </a:t>
            </a:r>
            <a:r>
              <a:rPr lang="he-IL" sz="3200" b="0" i="0" dirty="0">
                <a:solidFill>
                  <a:srgbClr val="000000"/>
                </a:solidFill>
                <a:effectLst/>
                <a:latin typeface="David" panose="020E0502060401010101" pitchFamily="34" charset="-79"/>
                <a:cs typeface="David" panose="020E0502060401010101" pitchFamily="34" charset="-79"/>
              </a:rPr>
              <a:t>בְּכָל-הַר אֶפְרַיִם </a:t>
            </a:r>
            <a:r>
              <a:rPr lang="he-IL" sz="3200" b="0" i="0" dirty="0" err="1">
                <a:solidFill>
                  <a:srgbClr val="000000"/>
                </a:solidFill>
                <a:effectLst/>
                <a:latin typeface="David" panose="020E0502060401010101" pitchFamily="34" charset="-79"/>
                <a:cs typeface="David" panose="020E0502060401010101" pitchFamily="34" charset="-79"/>
              </a:rPr>
              <a:t>לֵאמֹר</a:t>
            </a:r>
            <a:r>
              <a:rPr lang="he-IL" sz="3200" b="0" i="0" dirty="0">
                <a:solidFill>
                  <a:srgbClr val="000000"/>
                </a:solidFill>
                <a:effectLst/>
                <a:latin typeface="David" panose="020E0502060401010101" pitchFamily="34" charset="-79"/>
                <a:cs typeface="David" panose="020E0502060401010101" pitchFamily="34" charset="-79"/>
              </a:rPr>
              <a:t>, רְדוּ לִקְרַאת מִדְיָן וְלִכְדוּ לָהֶם אֶת-הַמַּיִם, עַד בֵּית בָּרָה, וְאֶת-הַיַּרְדֵּן; וַיִּצָּעֵק כָּל-אִישׁ אֶפְרַיִם, וַיִּלְכְּדוּ אֶת-הַמַּיִם, עַד בֵּית בָּרָה, וְאֶת-הַיַּרְדֵּן.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8796522" y="181355"/>
            <a:ext cx="3280682" cy="4871659"/>
          </a:xfrm>
          <a:prstGeom prst="rect">
            <a:avLst/>
          </a:prstGeom>
        </p:spPr>
      </p:pic>
    </p:spTree>
    <p:extLst>
      <p:ext uri="{BB962C8B-B14F-4D97-AF65-F5344CB8AC3E}">
        <p14:creationId xmlns:p14="http://schemas.microsoft.com/office/powerpoint/2010/main" val="278253742"/>
      </p:ext>
    </p:extLst>
  </p:cSld>
  <p:clrMapOvr>
    <a:masterClrMapping/>
  </p:clrMapOvr>
  <mc:AlternateContent xmlns:mc="http://schemas.openxmlformats.org/markup-compatibility/2006" xmlns:p14="http://schemas.microsoft.com/office/powerpoint/2010/main">
    <mc:Choice Requires="p14">
      <p:transition spd="slow" p14:dur="1600">
        <p14:prism dir="r"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 calcmode="lin" valueType="num">
                                      <p:cBhvr additive="base">
                                        <p:cTn id="14"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1000" fill="hold"/>
                                        <p:tgtEl>
                                          <p:spTgt spid="3"/>
                                        </p:tgtEl>
                                        <p:attrNameLst>
                                          <p:attrName>ppt_w</p:attrName>
                                        </p:attrNameLst>
                                      </p:cBhvr>
                                      <p:tavLst>
                                        <p:tav tm="0">
                                          <p:val>
                                            <p:fltVal val="0"/>
                                          </p:val>
                                        </p:tav>
                                        <p:tav tm="100000">
                                          <p:val>
                                            <p:strVal val="#ppt_w"/>
                                          </p:val>
                                        </p:tav>
                                      </p:tavLst>
                                    </p:anim>
                                    <p:anim calcmode="lin" valueType="num">
                                      <p:cBhvr>
                                        <p:cTn id="21" dur="1000" fill="hold"/>
                                        <p:tgtEl>
                                          <p:spTgt spid="3"/>
                                        </p:tgtEl>
                                        <p:attrNameLst>
                                          <p:attrName>ppt_h</p:attrName>
                                        </p:attrNameLst>
                                      </p:cBhvr>
                                      <p:tavLst>
                                        <p:tav tm="0">
                                          <p:val>
                                            <p:fltVal val="0"/>
                                          </p:val>
                                        </p:tav>
                                        <p:tav tm="100000">
                                          <p:val>
                                            <p:strVal val="#ppt_h"/>
                                          </p:val>
                                        </p:tav>
                                      </p:tavLst>
                                    </p:anim>
                                    <p:anim calcmode="lin" valueType="num">
                                      <p:cBhvr>
                                        <p:cTn id="22" dur="1000" fill="hold"/>
                                        <p:tgtEl>
                                          <p:spTgt spid="3"/>
                                        </p:tgtEl>
                                        <p:attrNameLst>
                                          <p:attrName>style.rotation</p:attrName>
                                        </p:attrNameLst>
                                      </p:cBhvr>
                                      <p:tavLst>
                                        <p:tav tm="0">
                                          <p:val>
                                            <p:fltVal val="90"/>
                                          </p:val>
                                        </p:tav>
                                        <p:tav tm="100000">
                                          <p:val>
                                            <p:fltVal val="0"/>
                                          </p:val>
                                        </p:tav>
                                      </p:tavLst>
                                    </p:anim>
                                    <p:animEffect transition="in" filter="fade">
                                      <p:cBhvr>
                                        <p:cTn id="2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5854535" y="112818"/>
            <a:ext cx="6075713" cy="5867460"/>
          </a:xfrm>
          <a:prstGeom prst="rect">
            <a:avLst/>
          </a:prstGeom>
        </p:spPr>
      </p:pic>
      <p:sp>
        <p:nvSpPr>
          <p:cNvPr id="3" name="כותרת 3"/>
          <p:cNvSpPr txBox="1">
            <a:spLocks/>
          </p:cNvSpPr>
          <p:nvPr/>
        </p:nvSpPr>
        <p:spPr>
          <a:xfrm>
            <a:off x="7035954" y="426460"/>
            <a:ext cx="3332863" cy="765303"/>
          </a:xfrm>
          <a:prstGeom prst="rect">
            <a:avLst/>
          </a:prstGeom>
        </p:spPr>
        <p:txBody>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dirty="0">
                <a:latin typeface="Narkisim" panose="020E0502050101010101" pitchFamily="34" charset="-79"/>
                <a:cs typeface="Narkisim" panose="020E0502050101010101" pitchFamily="34" charset="-79"/>
              </a:rPr>
              <a:t>נהר הירדן</a:t>
            </a:r>
          </a:p>
        </p:txBody>
      </p:sp>
      <p:pic>
        <p:nvPicPr>
          <p:cNvPr id="4" name="תמונה 3"/>
          <p:cNvPicPr>
            <a:picLocks noChangeAspect="1"/>
          </p:cNvPicPr>
          <p:nvPr/>
        </p:nvPicPr>
        <p:blipFill>
          <a:blip r:embed="rId3"/>
          <a:stretch>
            <a:fillRect/>
          </a:stretch>
        </p:blipFill>
        <p:spPr>
          <a:xfrm>
            <a:off x="90780" y="2268187"/>
            <a:ext cx="5324368" cy="3993276"/>
          </a:xfrm>
          <a:prstGeom prst="rect">
            <a:avLst/>
          </a:prstGeom>
        </p:spPr>
      </p:pic>
      <p:sp>
        <p:nvSpPr>
          <p:cNvPr id="5" name="כותרת 1"/>
          <p:cNvSpPr txBox="1">
            <a:spLocks/>
          </p:cNvSpPr>
          <p:nvPr/>
        </p:nvSpPr>
        <p:spPr>
          <a:xfrm>
            <a:off x="890648" y="1652906"/>
            <a:ext cx="3503965" cy="662782"/>
          </a:xfrm>
          <a:prstGeom prst="rect">
            <a:avLst/>
          </a:prstGeom>
        </p:spPr>
        <p:txBody>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a:latin typeface="Narkisim" panose="020E0502050101010101" pitchFamily="34" charset="-79"/>
                <a:cs typeface="Narkisim" panose="020E0502050101010101" pitchFamily="34" charset="-79"/>
              </a:rPr>
              <a:t>מעברות הירדן</a:t>
            </a:r>
            <a:endParaRPr lang="he-IL" dirty="0">
              <a:latin typeface="Narkisim" panose="020E0502050101010101" pitchFamily="34" charset="-79"/>
              <a:cs typeface="Narkisim" panose="020E0502050101010101" pitchFamily="34" charset="-79"/>
            </a:endParaRPr>
          </a:p>
        </p:txBody>
      </p:sp>
    </p:spTree>
    <p:extLst>
      <p:ext uri="{BB962C8B-B14F-4D97-AF65-F5344CB8AC3E}">
        <p14:creationId xmlns:p14="http://schemas.microsoft.com/office/powerpoint/2010/main" val="409625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359533" y="251627"/>
            <a:ext cx="5245622" cy="3539430"/>
          </a:xfrm>
          <a:prstGeom prst="rect">
            <a:avLst/>
          </a:prstGeom>
          <a:noFill/>
          <a:ln w="38100">
            <a:solidFill>
              <a:schemeClr val="tx1"/>
            </a:solidFill>
          </a:ln>
        </p:spPr>
        <p:txBody>
          <a:bodyPr wrap="square" rtlCol="1">
            <a:spAutoFit/>
          </a:bodyPr>
          <a:lstStyle/>
          <a:p>
            <a:r>
              <a:rPr lang="he-IL" sz="3200" b="1" u="sng" dirty="0" err="1">
                <a:latin typeface="David" panose="020E0502060401010101" pitchFamily="34" charset="-79"/>
                <a:cs typeface="David" panose="020E0502060401010101" pitchFamily="34" charset="-79"/>
              </a:rPr>
              <a:t>פ"ס</a:t>
            </a:r>
            <a:r>
              <a:rPr lang="he-IL" sz="3200" b="1" u="sng" dirty="0">
                <a:latin typeface="David" panose="020E0502060401010101" pitchFamily="34" charset="-79"/>
                <a:cs typeface="David" panose="020E0502060401010101" pitchFamily="34" charset="-79"/>
              </a:rPr>
              <a:t> כה: </a:t>
            </a:r>
            <a:r>
              <a:rPr lang="he-IL" sz="3200" dirty="0">
                <a:latin typeface="David" panose="020E0502060401010101" pitchFamily="34" charset="-79"/>
                <a:cs typeface="David" panose="020E0502060401010101" pitchFamily="34" charset="-79"/>
              </a:rPr>
              <a:t>תפסו בני אפרים את שני שרי מדיין ששמם היה עורב וזאב. והרגו את </a:t>
            </a:r>
            <a:r>
              <a:rPr lang="he-IL" sz="3200" dirty="0" err="1">
                <a:latin typeface="David" panose="020E0502060401010101" pitchFamily="34" charset="-79"/>
                <a:cs typeface="David" panose="020E0502060401010101" pitchFamily="34" charset="-79"/>
              </a:rPr>
              <a:t>עוררב</a:t>
            </a:r>
            <a:r>
              <a:rPr lang="he-IL" sz="3200" dirty="0">
                <a:latin typeface="David" panose="020E0502060401010101" pitchFamily="34" charset="-79"/>
                <a:cs typeface="David" panose="020E0502060401010101" pitchFamily="34" charset="-79"/>
              </a:rPr>
              <a:t> במקום שנקרא "צור עורב" ואת זאב הרגו במקום שנקרא "יקב זאת". והמשיכו לרדוף את המדיינים . ואת ראשם של עורב וזאב הביאו לגדעון, </a:t>
            </a:r>
          </a:p>
        </p:txBody>
      </p:sp>
      <p:sp>
        <p:nvSpPr>
          <p:cNvPr id="2" name="מלבן 1"/>
          <p:cNvSpPr/>
          <p:nvPr/>
        </p:nvSpPr>
        <p:spPr>
          <a:xfrm>
            <a:off x="6068291" y="150578"/>
            <a:ext cx="5937662" cy="2554545"/>
          </a:xfrm>
          <a:prstGeom prst="rect">
            <a:avLst/>
          </a:prstGeom>
          <a:solidFill>
            <a:schemeClr val="accent2">
              <a:lumMod val="60000"/>
              <a:lumOff val="40000"/>
            </a:schemeClr>
          </a:solidFill>
        </p:spPr>
        <p:txBody>
          <a:bodyPr wrap="square">
            <a:spAutoFit/>
          </a:bodyPr>
          <a:lstStyle/>
          <a:p>
            <a:r>
              <a:rPr lang="he-IL" sz="3200" b="1" u="sng" dirty="0">
                <a:latin typeface="David" panose="020E0502060401010101" pitchFamily="34" charset="-79"/>
                <a:cs typeface="David" panose="020E0502060401010101" pitchFamily="34" charset="-79"/>
              </a:rPr>
              <a:t>כה</a:t>
            </a:r>
            <a:r>
              <a:rPr lang="he-IL" sz="3200" dirty="0">
                <a:latin typeface="David" panose="020E0502060401010101" pitchFamily="34" charset="-79"/>
                <a:cs typeface="David" panose="020E0502060401010101" pitchFamily="34" charset="-79"/>
              </a:rPr>
              <a:t> וַיִּלְכְּדוּ שְׁנֵי-שָׂרֵי מִדְיָן </a:t>
            </a:r>
            <a:r>
              <a:rPr lang="he-IL" sz="3200" b="1" dirty="0">
                <a:latin typeface="David" panose="020E0502060401010101" pitchFamily="34" charset="-79"/>
                <a:cs typeface="David" panose="020E0502060401010101" pitchFamily="34" charset="-79"/>
              </a:rPr>
              <a:t>אֶת-עֹרֵב וְאֶת-זְאֵב,</a:t>
            </a:r>
            <a:r>
              <a:rPr lang="he-IL" sz="3200" dirty="0">
                <a:latin typeface="David" panose="020E0502060401010101" pitchFamily="34" charset="-79"/>
                <a:cs typeface="David" panose="020E0502060401010101" pitchFamily="34" charset="-79"/>
              </a:rPr>
              <a:t> וַיַּהַרְגוּ אֶת-עוֹרֵב בְּצוּר-עוֹרֵב וְאֶת-זְאֵב הָרְגוּ בְיֶקֶב-זְאֵב, וַיִּרְדְּפוּ, אֶל-מִדְיָן; וְרֹאשׁ-עֹרֵב וּזְאֵב--הֵבִיאוּ אֶל-גִּדְעוֹן, מֵעֵבֶר לַיַּרְדֵּן.</a:t>
            </a:r>
          </a:p>
        </p:txBody>
      </p:sp>
      <p:pic>
        <p:nvPicPr>
          <p:cNvPr id="3" name="תמונה 2"/>
          <p:cNvPicPr>
            <a:picLocks noChangeAspect="1"/>
          </p:cNvPicPr>
          <p:nvPr/>
        </p:nvPicPr>
        <p:blipFill>
          <a:blip r:embed="rId3"/>
          <a:stretch>
            <a:fillRect/>
          </a:stretch>
        </p:blipFill>
        <p:spPr>
          <a:xfrm>
            <a:off x="7507405" y="2966680"/>
            <a:ext cx="4684595" cy="30500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perspectiveHeroicExtremeRightFacing"/>
            <a:lightRig rig="threePt" dir="t"/>
          </a:scene3d>
        </p:spPr>
      </p:pic>
    </p:spTree>
    <p:extLst>
      <p:ext uri="{BB962C8B-B14F-4D97-AF65-F5344CB8AC3E}">
        <p14:creationId xmlns:p14="http://schemas.microsoft.com/office/powerpoint/2010/main" val="233324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7088882" y="288301"/>
            <a:ext cx="5245622" cy="4031873"/>
          </a:xfrm>
          <a:prstGeom prst="rect">
            <a:avLst/>
          </a:prstGeom>
          <a:solidFill>
            <a:schemeClr val="accent2">
              <a:lumMod val="60000"/>
              <a:lumOff val="40000"/>
            </a:schemeClr>
          </a:solidFill>
          <a:ln w="38100">
            <a:solidFill>
              <a:schemeClr val="tx1"/>
            </a:solidFill>
          </a:ln>
          <a:scene3d>
            <a:camera prst="isometricOffAxis2Left"/>
            <a:lightRig rig="threePt" dir="t"/>
          </a:scene3d>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dirty="0">
                <a:solidFill>
                  <a:prstClr val="black"/>
                </a:solidFill>
                <a:latin typeface="David" panose="020E0502060401010101" pitchFamily="34" charset="-79"/>
                <a:cs typeface="David" panose="020E0502060401010101" pitchFamily="34" charset="-79"/>
              </a:rPr>
              <a:t>בחירת הלוחמים</a:t>
            </a:r>
            <a:r>
              <a:rPr lang="he-IL" sz="2800" dirty="0">
                <a:solidFill>
                  <a:prstClr val="black"/>
                </a:solidFill>
                <a:latin typeface="David" panose="020E0502060401010101" pitchFamily="34" charset="-79"/>
                <a:cs typeface="David" panose="020E0502060401010101" pitchFamily="34"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solidFill>
                  <a:prstClr val="black"/>
                </a:solidFill>
                <a:latin typeface="David" panose="020E0502060401010101" pitchFamily="34" charset="-79"/>
                <a:cs typeface="David" panose="020E0502060401010101" pitchFamily="34" charset="-79"/>
              </a:rPr>
              <a:t>גדעון יוצא למלחמה במדיין עם 32,000 לוחמים. ה' מצווה אותו להחזיר חלק מהעם לביתו על מנת שלא יאמר העם שבזכות כוחו נצח את מדיין. לבסוף נשארים עם 10,000 חיילים וגם מהם ה' מצווה להוריד. ורק 300 איש שליקקו בידם מהמים ושתו הם יצאו למלחמה. והשאר חזרו. </a:t>
            </a: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endParaRPr>
          </a:p>
        </p:txBody>
      </p:sp>
      <p:sp>
        <p:nvSpPr>
          <p:cNvPr id="3" name="TextBox 2"/>
          <p:cNvSpPr txBox="1"/>
          <p:nvPr/>
        </p:nvSpPr>
        <p:spPr>
          <a:xfrm>
            <a:off x="130628" y="494892"/>
            <a:ext cx="6792686" cy="2739211"/>
          </a:xfrm>
          <a:prstGeom prst="rect">
            <a:avLst/>
          </a:prstGeom>
          <a:solidFill>
            <a:schemeClr val="accent5">
              <a:lumMod val="60000"/>
              <a:lumOff val="40000"/>
            </a:schemeClr>
          </a:solidFill>
          <a:ln w="38100">
            <a:solidFill>
              <a:schemeClr val="tx1"/>
            </a:solidFill>
          </a:ln>
          <a:scene3d>
            <a:camera prst="isometricOffAxis2Left"/>
            <a:lightRig rig="threePt" dir="t"/>
          </a:scene3d>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החלום</a:t>
            </a:r>
            <a:r>
              <a:rPr kumimoji="0" lang="he-IL" sz="28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גדעון יורד באמצע הלילה עם נערו פורה לשמוע מה ידברו במחנה מדיין והוא שומע איש מדיני מספר לחברו חלום שחלם על צליל לחם שעורים שמתהפך במחנה מדיין.</a:t>
            </a:r>
            <a:r>
              <a:rPr kumimoji="0" lang="he-IL" sz="2800" b="0" i="0" u="none" strike="noStrike" kern="1200" cap="none" spc="0" normalizeH="0" noProof="0" dirty="0">
                <a:ln>
                  <a:noFill/>
                </a:ln>
                <a:solidFill>
                  <a:prstClr val="black"/>
                </a:solidFill>
                <a:effectLst/>
                <a:uLnTx/>
                <a:uFillTx/>
                <a:latin typeface="David" panose="020E0502060401010101" pitchFamily="34" charset="-79"/>
                <a:cs typeface="David" panose="020E0502060401010101" pitchFamily="34" charset="-79"/>
              </a:rPr>
              <a:t> חברו פותר לו את החלום ואומר שזהו סימן שחרב גדעון תנצח אותם.</a:t>
            </a: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endParaRPr>
          </a:p>
        </p:txBody>
      </p:sp>
      <p:sp>
        <p:nvSpPr>
          <p:cNvPr id="4" name="TextBox 3"/>
          <p:cNvSpPr txBox="1"/>
          <p:nvPr/>
        </p:nvSpPr>
        <p:spPr>
          <a:xfrm>
            <a:off x="748146" y="3440694"/>
            <a:ext cx="9274629" cy="2862322"/>
          </a:xfrm>
          <a:prstGeom prst="rect">
            <a:avLst/>
          </a:prstGeom>
          <a:solidFill>
            <a:schemeClr val="accent4">
              <a:lumMod val="60000"/>
              <a:lumOff val="40000"/>
            </a:schemeClr>
          </a:solidFill>
          <a:ln w="38100">
            <a:solidFill>
              <a:schemeClr val="tx1"/>
            </a:solidFill>
          </a:ln>
          <a:scene3d>
            <a:camera prst="isometricOffAxis2Left"/>
            <a:lightRig rig="threePt" dir="t"/>
          </a:scene3d>
        </p:spPr>
        <p:txBody>
          <a:bodyPr wrap="square" rtlCol="1">
            <a:spAutoFit/>
          </a:bodyPr>
          <a:lstStyle/>
          <a:p>
            <a:pPr lvl="0"/>
            <a:r>
              <a:rPr lang="he-IL" sz="3200" b="1" u="sng" dirty="0">
                <a:solidFill>
                  <a:prstClr val="black"/>
                </a:solidFill>
                <a:latin typeface="David" panose="020E0502060401010101" pitchFamily="34" charset="-79"/>
                <a:cs typeface="David" panose="020E0502060401010101" pitchFamily="34" charset="-79"/>
              </a:rPr>
              <a:t>הפתעת מחנה מדין:</a:t>
            </a:r>
          </a:p>
          <a:p>
            <a:pPr lvl="0"/>
            <a:r>
              <a:rPr lang="he-IL" sz="2800" dirty="0">
                <a:solidFill>
                  <a:prstClr val="black"/>
                </a:solidFill>
                <a:latin typeface="David" panose="020E0502060401010101" pitchFamily="34" charset="-79"/>
                <a:cs typeface="David" panose="020E0502060401010101" pitchFamily="34" charset="-79"/>
              </a:rPr>
              <a:t>גדעון מתעודד ושב אל המחנה, הוא חוצה את 300 האיש לשלושה ראשים ולכולם נותן שופרות, כדים ריקים ולפידים בתוך הכדים, וע"י ניפוץ הכדים והתקיעה בשופרות הם מבריחים את מדיין. גדעון מזעיק לעזרה את שבט אפרים והם לוכדים את עורב ו</a:t>
            </a:r>
            <a:r>
              <a:rPr lang="he-IL" sz="3600" b="1" dirty="0">
                <a:solidFill>
                  <a:prstClr val="black"/>
                </a:solidFill>
                <a:latin typeface="David" panose="020E0502060401010101" pitchFamily="34" charset="-79"/>
                <a:cs typeface="David" panose="020E0502060401010101" pitchFamily="34" charset="-79"/>
              </a:rPr>
              <a:t>ז</a:t>
            </a:r>
            <a:r>
              <a:rPr lang="he-IL" sz="2800" dirty="0">
                <a:solidFill>
                  <a:prstClr val="black"/>
                </a:solidFill>
                <a:latin typeface="David" panose="020E0502060401010101" pitchFamily="34" charset="-79"/>
                <a:cs typeface="David" panose="020E0502060401010101" pitchFamily="34" charset="-79"/>
              </a:rPr>
              <a:t>אב, שני שרי מדיין, והורגים אותם.</a:t>
            </a:r>
          </a:p>
        </p:txBody>
      </p:sp>
      <p:sp>
        <p:nvSpPr>
          <p:cNvPr id="5" name="TextBox 4"/>
          <p:cNvSpPr txBox="1"/>
          <p:nvPr/>
        </p:nvSpPr>
        <p:spPr>
          <a:xfrm>
            <a:off x="4702629" y="37654"/>
            <a:ext cx="2576945" cy="707886"/>
          </a:xfrm>
          <a:prstGeom prst="rect">
            <a:avLst/>
          </a:prstGeom>
          <a:solidFill>
            <a:srgbClr val="FFFF00"/>
          </a:solidFill>
          <a:ln w="38100">
            <a:solidFill>
              <a:schemeClr val="tx1"/>
            </a:solidFill>
          </a:ln>
        </p:spPr>
        <p:txBody>
          <a:bodyPr wrap="square" rtlCol="1">
            <a:spAutoFit/>
          </a:bodyPr>
          <a:lstStyle/>
          <a:p>
            <a:r>
              <a:rPr lang="he-IL" sz="4000" b="1" dirty="0">
                <a:latin typeface="David" panose="020E0502060401010101" pitchFamily="34" charset="-79"/>
                <a:cs typeface="David" panose="020E0502060401010101" pitchFamily="34" charset="-79"/>
              </a:rPr>
              <a:t>סכום הפרק:</a:t>
            </a:r>
          </a:p>
        </p:txBody>
      </p:sp>
    </p:spTree>
    <p:extLst>
      <p:ext uri="{BB962C8B-B14F-4D97-AF65-F5344CB8AC3E}">
        <p14:creationId xmlns:p14="http://schemas.microsoft.com/office/powerpoint/2010/main" val="13575033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90005" y="168499"/>
            <a:ext cx="11863449" cy="6370975"/>
          </a:xfrm>
          <a:prstGeom prst="rect">
            <a:avLst/>
          </a:prstGeom>
          <a:solidFill>
            <a:schemeClr val="accent4">
              <a:lumMod val="40000"/>
              <a:lumOff val="60000"/>
            </a:schemeClr>
          </a:solidFill>
          <a:ln w="38100">
            <a:solidFill>
              <a:schemeClr val="tx1"/>
            </a:solidFill>
          </a:ln>
        </p:spPr>
        <p:txBody>
          <a:bodyPr wrap="square" rtlCol="1">
            <a:spAutoFit/>
          </a:bodyPr>
          <a:lstStyle/>
          <a:p>
            <a:r>
              <a:rPr lang="he-IL" sz="2400" b="1" u="sng" dirty="0">
                <a:latin typeface="David" panose="020E0502060401010101" pitchFamily="34" charset="-79"/>
                <a:cs typeface="David" panose="020E0502060401010101" pitchFamily="34" charset="-79"/>
              </a:rPr>
              <a:t>בחירת הלוחמים</a:t>
            </a:r>
            <a:r>
              <a:rPr lang="he-IL" sz="2400" b="1" dirty="0">
                <a:latin typeface="David" panose="020E0502060401010101" pitchFamily="34" charset="-79"/>
                <a:cs typeface="David" panose="020E0502060401010101" pitchFamily="34" charset="-79"/>
              </a:rPr>
              <a:t>- </a:t>
            </a:r>
            <a:r>
              <a:rPr lang="he-IL" sz="2400" b="1" u="sng" dirty="0">
                <a:latin typeface="David" panose="020E0502060401010101" pitchFamily="34" charset="-79"/>
                <a:cs typeface="David" panose="020E0502060401010101" pitchFamily="34" charset="-79"/>
              </a:rPr>
              <a:t> שלב א' { ב-ג}  שלב  ב' {ד-ו}</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1</a:t>
            </a:r>
            <a:r>
              <a:rPr lang="he-IL" sz="2400" dirty="0">
                <a:latin typeface="David" panose="020E0502060401010101" pitchFamily="34" charset="-79"/>
                <a:cs typeface="David" panose="020E0502060401010101" pitchFamily="34" charset="-79"/>
              </a:rPr>
              <a:t>.מה הסיבה שה' מצווה את גדעון להפחית [=להוריד] את מספר הלוחמים? {ב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2</a:t>
            </a:r>
            <a:r>
              <a:rPr lang="he-IL" sz="2400" dirty="0">
                <a:latin typeface="David" panose="020E0502060401010101" pitchFamily="34" charset="-79"/>
                <a:cs typeface="David" panose="020E0502060401010101" pitchFamily="34" charset="-79"/>
              </a:rPr>
              <a:t>." מִי יָרֵא וְחָרֵד יָשֹׁב </a:t>
            </a:r>
            <a:r>
              <a:rPr lang="he-IL" sz="2400" dirty="0" err="1">
                <a:latin typeface="David" panose="020E0502060401010101" pitchFamily="34" charset="-79"/>
                <a:cs typeface="David" panose="020E0502060401010101" pitchFamily="34" charset="-79"/>
              </a:rPr>
              <a:t>וְיִצְפֹּר</a:t>
            </a:r>
            <a:r>
              <a:rPr lang="he-IL" sz="2400" dirty="0">
                <a:latin typeface="David" panose="020E0502060401010101" pitchFamily="34" charset="-79"/>
                <a:cs typeface="David" panose="020E0502060401010101" pitchFamily="34" charset="-79"/>
              </a:rPr>
              <a:t> מֵהַר הַגִּלְעָד" </a:t>
            </a:r>
            <a:r>
              <a:rPr lang="he-IL" sz="2400" dirty="0" err="1">
                <a:latin typeface="David" panose="020E0502060401010101" pitchFamily="34" charset="-79"/>
                <a:cs typeface="David" panose="020E0502060401010101" pitchFamily="34" charset="-79"/>
              </a:rPr>
              <a:t>א.מה</a:t>
            </a:r>
            <a:r>
              <a:rPr lang="he-IL" sz="2400" dirty="0">
                <a:latin typeface="David" panose="020E0502060401010101" pitchFamily="34" charset="-79"/>
                <a:cs typeface="David" panose="020E0502060401010101" pitchFamily="34" charset="-79"/>
              </a:rPr>
              <a:t> פירוש משפט זה?{ ג }  </a:t>
            </a:r>
            <a:r>
              <a:rPr lang="he-IL" sz="2400" dirty="0" err="1">
                <a:latin typeface="David" panose="020E0502060401010101" pitchFamily="34" charset="-79"/>
                <a:cs typeface="David" panose="020E0502060401010101" pitchFamily="34" charset="-79"/>
              </a:rPr>
              <a:t>ב.מדוע</a:t>
            </a:r>
            <a:r>
              <a:rPr lang="he-IL" sz="2400" dirty="0">
                <a:latin typeface="David" panose="020E0502060401010101" pitchFamily="34" charset="-79"/>
                <a:cs typeface="David" panose="020E0502060401010101" pitchFamily="34" charset="-79"/>
              </a:rPr>
              <a:t> לוחמי גדעון </a:t>
            </a:r>
            <a:r>
              <a:rPr lang="he-IL" sz="2400" dirty="0" err="1">
                <a:latin typeface="David" panose="020E0502060401010101" pitchFamily="34" charset="-79"/>
                <a:cs typeface="David" panose="020E0502060401010101" pitchFamily="34" charset="-79"/>
              </a:rPr>
              <a:t>התיראו</a:t>
            </a:r>
            <a:r>
              <a:rPr lang="he-IL" sz="2400" dirty="0">
                <a:latin typeface="David" panose="020E0502060401010101" pitchFamily="34" charset="-79"/>
                <a:cs typeface="David" panose="020E0502060401010101" pitchFamily="34" charset="-79"/>
              </a:rPr>
              <a:t>[=פחדו]?</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3</a:t>
            </a:r>
            <a:r>
              <a:rPr lang="he-IL" sz="2400" dirty="0">
                <a:latin typeface="David" panose="020E0502060401010101" pitchFamily="34" charset="-79"/>
                <a:cs typeface="David" panose="020E0502060401010101" pitchFamily="34" charset="-79"/>
              </a:rPr>
              <a:t>.כיצד גדעון מבצע [=עושה] את ציווי ה'?   כמה חיילים נשארו עם גדעון?{ ג }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4</a:t>
            </a:r>
            <a:r>
              <a:rPr lang="he-IL" sz="2400" dirty="0">
                <a:latin typeface="David" panose="020E0502060401010101" pitchFamily="34" charset="-79"/>
                <a:cs typeface="David" panose="020E0502060401010101" pitchFamily="34" charset="-79"/>
              </a:rPr>
              <a:t>. "הוֹרֵד אוֹתָם אֶל הַמַּיִם </a:t>
            </a:r>
            <a:r>
              <a:rPr lang="he-IL" sz="2400" dirty="0" err="1">
                <a:latin typeface="David" panose="020E0502060401010101" pitchFamily="34" charset="-79"/>
                <a:cs typeface="David" panose="020E0502060401010101" pitchFamily="34" charset="-79"/>
              </a:rPr>
              <a:t>וְאֶצְרְפֶנּו</a:t>
            </a:r>
            <a:r>
              <a:rPr lang="he-IL" sz="2400" dirty="0">
                <a:latin typeface="David" panose="020E0502060401010101" pitchFamily="34" charset="-79"/>
                <a:cs typeface="David" panose="020E0502060401010101" pitchFamily="34" charset="-79"/>
              </a:rPr>
              <a:t>ּ לְךָ שָׁם"  </a:t>
            </a:r>
            <a:r>
              <a:rPr lang="he-IL" sz="2400" dirty="0" err="1">
                <a:latin typeface="David" panose="020E0502060401010101" pitchFamily="34" charset="-79"/>
                <a:cs typeface="David" panose="020E0502060401010101" pitchFamily="34" charset="-79"/>
              </a:rPr>
              <a:t>א.מה</a:t>
            </a:r>
            <a:r>
              <a:rPr lang="he-IL" sz="2400" dirty="0">
                <a:latin typeface="David" panose="020E0502060401010101" pitchFamily="34" charset="-79"/>
                <a:cs typeface="David" panose="020E0502060401010101" pitchFamily="34" charset="-79"/>
              </a:rPr>
              <a:t> פירוש משפט זה?  </a:t>
            </a:r>
            <a:r>
              <a:rPr lang="he-IL" sz="2400" dirty="0" err="1">
                <a:latin typeface="David" panose="020E0502060401010101" pitchFamily="34" charset="-79"/>
                <a:cs typeface="David" panose="020E0502060401010101" pitchFamily="34" charset="-79"/>
              </a:rPr>
              <a:t>ב.מה</a:t>
            </a:r>
            <a:r>
              <a:rPr lang="he-IL" sz="2400" dirty="0">
                <a:latin typeface="David" panose="020E0502060401010101" pitchFamily="34" charset="-79"/>
                <a:cs typeface="David" panose="020E0502060401010101" pitchFamily="34" charset="-79"/>
              </a:rPr>
              <a:t> הם שתי האפשרויות לשתות ממי מעיין? { ד-ו }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5</a:t>
            </a:r>
            <a:r>
              <a:rPr lang="he-IL" sz="2400" dirty="0">
                <a:latin typeface="David" panose="020E0502060401010101" pitchFamily="34" charset="-79"/>
                <a:cs typeface="David" panose="020E0502060401010101" pitchFamily="34" charset="-79"/>
              </a:rPr>
              <a:t>.כמה לוחמים עברו בחינה זו בהצלחה?{ ו }  מה </a:t>
            </a:r>
            <a:r>
              <a:rPr lang="he-IL" sz="2400" dirty="0" err="1">
                <a:latin typeface="David" panose="020E0502060401010101" pitchFamily="34" charset="-79"/>
                <a:cs typeface="David" panose="020E0502060401010101" pitchFamily="34" charset="-79"/>
              </a:rPr>
              <a:t>ההגיון</a:t>
            </a:r>
            <a:r>
              <a:rPr lang="he-IL" sz="2400" dirty="0">
                <a:latin typeface="David" panose="020E0502060401010101" pitchFamily="34" charset="-79"/>
                <a:cs typeface="David" panose="020E0502060401010101" pitchFamily="34" charset="-79"/>
              </a:rPr>
              <a:t> בבחירת לוחמי  גדעון בדרך זו? {2 הסברים-הסבר צבאי ,הסבר רוחני}</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6</a:t>
            </a:r>
            <a:r>
              <a:rPr lang="he-IL" sz="2400" dirty="0">
                <a:latin typeface="David" panose="020E0502060401010101" pitchFamily="34" charset="-79"/>
                <a:cs typeface="David" panose="020E0502060401010101" pitchFamily="34" charset="-79"/>
              </a:rPr>
              <a:t>.מה לקחו לוחמי גדעון הנשארים מחבריהם שחוזרים לעריהם?{ ח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7</a:t>
            </a:r>
            <a:r>
              <a:rPr lang="he-IL" sz="2400" dirty="0">
                <a:latin typeface="David" panose="020E0502060401010101" pitchFamily="34" charset="-79"/>
                <a:cs typeface="David" panose="020E0502060401010101" pitchFamily="34" charset="-79"/>
              </a:rPr>
              <a:t>.מה הרגישו 300  הלוחמים שנבחרו ללכת עם גדעון? [פחד/שמחה /יראה/חשש/אמונה] חוה דעתך! * האם יש רמז בפסוק? אם </a:t>
            </a:r>
            <a:r>
              <a:rPr lang="he-IL" sz="2400" dirty="0" err="1">
                <a:latin typeface="David" panose="020E0502060401010101" pitchFamily="34" charset="-79"/>
                <a:cs typeface="David" panose="020E0502060401010101" pitchFamily="34" charset="-79"/>
              </a:rPr>
              <a:t>כן,מהו</a:t>
            </a:r>
            <a:r>
              <a:rPr lang="he-IL" sz="2400" dirty="0">
                <a:latin typeface="David" panose="020E0502060401010101" pitchFamily="34" charset="-79"/>
                <a:cs typeface="David" panose="020E0502060401010101" pitchFamily="34" charset="-79"/>
              </a:rPr>
              <a:t>?{ח} </a:t>
            </a:r>
            <a:endParaRPr lang="en-US" sz="24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56873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537661" y="227875"/>
            <a:ext cx="11183283" cy="6370975"/>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a:latin typeface="David" panose="020E0502060401010101" pitchFamily="34" charset="-79"/>
                <a:cs typeface="David" panose="020E0502060401010101" pitchFamily="34" charset="-79"/>
              </a:rPr>
              <a:t>החלום:</a:t>
            </a:r>
          </a:p>
          <a:p>
            <a:r>
              <a:rPr lang="he-IL" sz="2800" b="1" u="sng" dirty="0">
                <a:latin typeface="David" panose="020E0502060401010101" pitchFamily="34" charset="-79"/>
                <a:cs typeface="David" panose="020E0502060401010101" pitchFamily="34" charset="-79"/>
              </a:rPr>
              <a:t>8</a:t>
            </a:r>
            <a:r>
              <a:rPr lang="he-IL" sz="2800" dirty="0">
                <a:latin typeface="David" panose="020E0502060401010101" pitchFamily="34" charset="-79"/>
                <a:cs typeface="David" panose="020E0502060401010101" pitchFamily="34" charset="-79"/>
              </a:rPr>
              <a:t>.מהם שני האפשרויות שמציע ה' לגדעון?{ט-י}</a:t>
            </a:r>
          </a:p>
          <a:p>
            <a:r>
              <a:rPr lang="he-IL" sz="2800" dirty="0">
                <a:latin typeface="David" panose="020E0502060401010101" pitchFamily="34" charset="-79"/>
                <a:cs typeface="David" panose="020E0502060401010101" pitchFamily="34" charset="-79"/>
              </a:rPr>
              <a:t>מדוע גדעון בוחר באפשרות השנייה? *מה הדבר מלמד אותנו על מידת בטחונו של גדעון בה'?</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9</a:t>
            </a:r>
            <a:r>
              <a:rPr lang="he-IL" sz="2800" dirty="0">
                <a:latin typeface="David" panose="020E0502060401010101" pitchFamily="34" charset="-79"/>
                <a:cs typeface="David" panose="020E0502060401010101" pitchFamily="34" charset="-79"/>
              </a:rPr>
              <a:t>.מהם שני המשלים המוזכרים בפסוק </a:t>
            </a:r>
            <a:r>
              <a:rPr lang="he-IL" sz="2800" dirty="0" err="1">
                <a:latin typeface="David" panose="020E0502060401010101" pitchFamily="34" charset="-79"/>
                <a:cs typeface="David" panose="020E0502060401010101" pitchFamily="34" charset="-79"/>
              </a:rPr>
              <a:t>יב</a:t>
            </a:r>
            <a:r>
              <a:rPr lang="he-IL" sz="2800" dirty="0">
                <a:latin typeface="David" panose="020E0502060401010101" pitchFamily="34" charset="-79"/>
                <a:cs typeface="David" panose="020E0502060401010101" pitchFamily="34" charset="-79"/>
              </a:rPr>
              <a:t>',ומה פירושם?</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10</a:t>
            </a:r>
            <a:r>
              <a:rPr lang="he-IL" sz="2800" dirty="0">
                <a:latin typeface="David" panose="020E0502060401010101" pitchFamily="34" charset="-79"/>
                <a:cs typeface="David" panose="020E0502060401010101" pitchFamily="34" charset="-79"/>
              </a:rPr>
              <a:t>.מהו החלום שמספר שומר מחנה מדין </a:t>
            </a:r>
            <a:r>
              <a:rPr lang="he-IL" sz="2800" dirty="0" err="1">
                <a:latin typeface="David" panose="020E0502060401010101" pitchFamily="34" charset="-79"/>
                <a:cs typeface="David" panose="020E0502060401010101" pitchFamily="34" charset="-79"/>
              </a:rPr>
              <a:t>לחבירו</a:t>
            </a:r>
            <a:r>
              <a:rPr lang="he-IL" sz="2800" dirty="0">
                <a:latin typeface="David" panose="020E0502060401010101" pitchFamily="34" charset="-79"/>
                <a:cs typeface="David" panose="020E0502060401010101" pitchFamily="34" charset="-79"/>
              </a:rPr>
              <a:t>?{ </a:t>
            </a:r>
            <a:r>
              <a:rPr lang="he-IL" sz="2800" dirty="0" err="1">
                <a:latin typeface="David" panose="020E0502060401010101" pitchFamily="34" charset="-79"/>
                <a:cs typeface="David" panose="020E0502060401010101" pitchFamily="34" charset="-79"/>
              </a:rPr>
              <a:t>יג</a:t>
            </a:r>
            <a:r>
              <a:rPr lang="he-IL" sz="2800" dirty="0">
                <a:latin typeface="David" panose="020E0502060401010101" pitchFamily="34" charset="-79"/>
                <a:cs typeface="David" panose="020E0502060401010101" pitchFamily="34" charset="-79"/>
              </a:rPr>
              <a:t> }  </a:t>
            </a:r>
          </a:p>
          <a:p>
            <a:r>
              <a:rPr lang="he-IL" sz="2800" dirty="0">
                <a:latin typeface="David" panose="020E0502060401010101" pitchFamily="34" charset="-79"/>
                <a:cs typeface="David" panose="020E0502060401010101" pitchFamily="34" charset="-79"/>
              </a:rPr>
              <a:t>מהו הפתרון שמציע </a:t>
            </a:r>
            <a:r>
              <a:rPr lang="he-IL" sz="2800" dirty="0" err="1">
                <a:latin typeface="David" panose="020E0502060401010101" pitchFamily="34" charset="-79"/>
                <a:cs typeface="David" panose="020E0502060401010101" pitchFamily="34" charset="-79"/>
              </a:rPr>
              <a:t>חבירו</a:t>
            </a:r>
            <a:r>
              <a:rPr lang="he-IL" sz="2800" dirty="0">
                <a:latin typeface="David" panose="020E0502060401010101" pitchFamily="34" charset="-79"/>
                <a:cs typeface="David" panose="020E0502060401010101" pitchFamily="34" charset="-79"/>
              </a:rPr>
              <a:t> לחלום?{יד }</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11</a:t>
            </a:r>
            <a:r>
              <a:rPr lang="he-IL" sz="2800" dirty="0">
                <a:latin typeface="David" panose="020E0502060401010101" pitchFamily="34" charset="-79"/>
                <a:cs typeface="David" panose="020E0502060401010101" pitchFamily="34" charset="-79"/>
              </a:rPr>
              <a:t>.מה עושה גדעון לאחר ששמע את החלום ושברו[=פתרונו</a:t>
            </a:r>
            <a:r>
              <a:rPr lang="he-IL" sz="2400" dirty="0">
                <a:latin typeface="David" panose="020E0502060401010101" pitchFamily="34" charset="-79"/>
                <a:cs typeface="David" panose="020E0502060401010101" pitchFamily="34" charset="-79"/>
              </a:rPr>
              <a:t>]?{שני דברים, טו}</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12</a:t>
            </a:r>
            <a:r>
              <a:rPr lang="he-IL" sz="2800" dirty="0">
                <a:latin typeface="David" panose="020E0502060401010101" pitchFamily="34" charset="-79"/>
                <a:cs typeface="David" panose="020E0502060401010101" pitchFamily="34" charset="-79"/>
              </a:rPr>
              <a:t>.כיצד מחלק גדעון את חייליו?{ </a:t>
            </a:r>
            <a:r>
              <a:rPr lang="he-IL" sz="2800" dirty="0" err="1">
                <a:latin typeface="David" panose="020E0502060401010101" pitchFamily="34" charset="-79"/>
                <a:cs typeface="David" panose="020E0502060401010101" pitchFamily="34" charset="-79"/>
              </a:rPr>
              <a:t>טז</a:t>
            </a:r>
            <a:r>
              <a:rPr lang="he-IL" sz="2800" dirty="0">
                <a:latin typeface="David" panose="020E0502060401010101" pitchFamily="34" charset="-79"/>
                <a:cs typeface="David" panose="020E0502060401010101" pitchFamily="34" charset="-79"/>
              </a:rPr>
              <a:t> } מה הוא נותן בידי כל אחד?{3 דברים}   מה מבקש גדעון שחייליו יעשו? {</a:t>
            </a:r>
            <a:r>
              <a:rPr lang="he-IL" sz="2800" dirty="0" err="1">
                <a:latin typeface="David" panose="020E0502060401010101" pitchFamily="34" charset="-79"/>
                <a:cs typeface="David" panose="020E0502060401010101" pitchFamily="34" charset="-79"/>
              </a:rPr>
              <a:t>יז</a:t>
            </a:r>
            <a:r>
              <a:rPr lang="he-IL" sz="2800" dirty="0">
                <a:latin typeface="David" panose="020E0502060401010101" pitchFamily="34" charset="-79"/>
                <a:cs typeface="David" panose="020E0502060401010101" pitchFamily="34" charset="-79"/>
              </a:rPr>
              <a:t> }</a:t>
            </a:r>
          </a:p>
        </p:txBody>
      </p:sp>
    </p:spTree>
    <p:extLst>
      <p:ext uri="{BB962C8B-B14F-4D97-AF65-F5344CB8AC3E}">
        <p14:creationId xmlns:p14="http://schemas.microsoft.com/office/powerpoint/2010/main" val="1865182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395158" y="192250"/>
            <a:ext cx="11456415" cy="5755422"/>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200" b="1" u="sng" dirty="0">
                <a:latin typeface="David" panose="020E0502060401010101" pitchFamily="34" charset="-79"/>
                <a:cs typeface="David" panose="020E0502060401010101" pitchFamily="34" charset="-79"/>
              </a:rPr>
              <a:t>הפתעת מחנה מדין</a:t>
            </a:r>
          </a:p>
          <a:p>
            <a:r>
              <a:rPr lang="he-IL" sz="2800" b="1" dirty="0">
                <a:latin typeface="David" panose="020E0502060401010101" pitchFamily="34" charset="-79"/>
                <a:cs typeface="David" panose="020E0502060401010101" pitchFamily="34" charset="-79"/>
              </a:rPr>
              <a:t>13</a:t>
            </a:r>
            <a:r>
              <a:rPr lang="he-IL" sz="2800" dirty="0">
                <a:latin typeface="David" panose="020E0502060401010101" pitchFamily="34" charset="-79"/>
                <a:cs typeface="David" panose="020E0502060401010101" pitchFamily="34" charset="-79"/>
              </a:rPr>
              <a:t>." רֹאשׁ </a:t>
            </a:r>
            <a:r>
              <a:rPr lang="he-IL" sz="2800" dirty="0" err="1">
                <a:latin typeface="David" panose="020E0502060401010101" pitchFamily="34" charset="-79"/>
                <a:cs typeface="David" panose="020E0502060401010101" pitchFamily="34" charset="-79"/>
              </a:rPr>
              <a:t>הָאַשְׁמֹרֶת</a:t>
            </a:r>
            <a:r>
              <a:rPr lang="he-IL" sz="2800" dirty="0">
                <a:latin typeface="David" panose="020E0502060401010101" pitchFamily="34" charset="-79"/>
                <a:cs typeface="David" panose="020E0502060401010101" pitchFamily="34" charset="-79"/>
              </a:rPr>
              <a:t> הַתִּיכוֹנָה אַךְ הָקֵם הֵקִימוּ אֶת הַשֹּׁמְרִים"  -  </a:t>
            </a:r>
          </a:p>
          <a:p>
            <a:r>
              <a:rPr lang="he-IL" sz="2800" dirty="0">
                <a:latin typeface="David" panose="020E0502060401010101" pitchFamily="34" charset="-79"/>
                <a:cs typeface="David" panose="020E0502060401010101" pitchFamily="34" charset="-79"/>
              </a:rPr>
              <a:t>מה הזמן המתואר כאן? {</a:t>
            </a:r>
            <a:r>
              <a:rPr lang="he-IL" sz="2800" dirty="0" err="1">
                <a:latin typeface="David" panose="020E0502060401010101" pitchFamily="34" charset="-79"/>
                <a:cs typeface="David" panose="020E0502060401010101" pitchFamily="34" charset="-79"/>
              </a:rPr>
              <a:t>יט</a:t>
            </a:r>
            <a:r>
              <a:rPr lang="he-IL" sz="2800" dirty="0">
                <a:latin typeface="David" panose="020E0502060401010101" pitchFamily="34" charset="-79"/>
                <a:cs typeface="David" panose="020E0502060401010101" pitchFamily="34" charset="-79"/>
              </a:rPr>
              <a:t> }    ומדוע גדעון תוקף </a:t>
            </a:r>
            <a:r>
              <a:rPr lang="he-IL" sz="2800" dirty="0" err="1">
                <a:latin typeface="David" panose="020E0502060401010101" pitchFamily="34" charset="-79"/>
                <a:cs typeface="David" panose="020E0502060401010101" pitchFamily="34" charset="-79"/>
              </a:rPr>
              <a:t>דוקא</a:t>
            </a:r>
            <a:r>
              <a:rPr lang="he-IL" sz="2800" dirty="0">
                <a:latin typeface="David" panose="020E0502060401010101" pitchFamily="34" charset="-79"/>
                <a:cs typeface="David" panose="020E0502060401010101" pitchFamily="34" charset="-79"/>
              </a:rPr>
              <a:t> אז?</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14</a:t>
            </a:r>
            <a:r>
              <a:rPr lang="he-IL" sz="2800" dirty="0">
                <a:latin typeface="David" panose="020E0502060401010101" pitchFamily="34" charset="-79"/>
                <a:cs typeface="David" panose="020E0502060401010101" pitchFamily="34" charset="-79"/>
              </a:rPr>
              <a:t>.כיצד סייעו[=עזרו] השופרות והלפידים ל"זרוע בהלה"[=להפחיד]את מחנה מדין? {</a:t>
            </a:r>
            <a:r>
              <a:rPr lang="he-IL" sz="2800" dirty="0" err="1">
                <a:latin typeface="David" panose="020E0502060401010101" pitchFamily="34" charset="-79"/>
                <a:cs typeface="David" panose="020E0502060401010101" pitchFamily="34" charset="-79"/>
              </a:rPr>
              <a:t>כא-כב</a:t>
            </a:r>
            <a:r>
              <a:rPr lang="he-IL" sz="2800" dirty="0">
                <a:latin typeface="David" panose="020E0502060401010101" pitchFamily="34" charset="-79"/>
                <a:cs typeface="David" panose="020E0502060401010101" pitchFamily="34" charset="-79"/>
              </a:rPr>
              <a:t> }</a:t>
            </a:r>
          </a:p>
          <a:p>
            <a:r>
              <a:rPr lang="he-IL" sz="2800" dirty="0">
                <a:latin typeface="David" panose="020E0502060401010101" pitchFamily="34" charset="-79"/>
                <a:cs typeface="David" panose="020E0502060401010101" pitchFamily="34" charset="-79"/>
              </a:rPr>
              <a:t> </a:t>
            </a:r>
          </a:p>
          <a:p>
            <a:r>
              <a:rPr lang="he-IL" sz="2800" b="1" dirty="0">
                <a:latin typeface="David" panose="020E0502060401010101" pitchFamily="34" charset="-79"/>
                <a:cs typeface="David" panose="020E0502060401010101" pitchFamily="34" charset="-79"/>
              </a:rPr>
              <a:t>15</a:t>
            </a:r>
            <a:r>
              <a:rPr lang="he-IL" sz="2800" dirty="0">
                <a:latin typeface="David" panose="020E0502060401010101" pitchFamily="34" charset="-79"/>
                <a:cs typeface="David" panose="020E0502060401010101" pitchFamily="34" charset="-79"/>
              </a:rPr>
              <a:t>"וַיִּצָּעֵק אִישׁ יִשְׂרָאֵל מִנַּפְתָּלִי וּמִן אָשֵׁר וּמִן כָּל מְנַשֶּׁה וַיִּרְדְּפוּ אַחֲרֵי מִדְיָן"-הסבר את הפסוק?  {כד }   * מדוע מצטרפים כעת "איש ישראל" למלחמה? </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16</a:t>
            </a:r>
            <a:r>
              <a:rPr lang="he-IL" sz="2800" dirty="0">
                <a:latin typeface="David" panose="020E0502060401010101" pitchFamily="34" charset="-79"/>
                <a:cs typeface="David" panose="020E0502060401010101" pitchFamily="34" charset="-79"/>
              </a:rPr>
              <a:t>.להיכן שלח גדעון שליחים ?  ולאיזו מטרה?[=בשביל מה?]   האם השליחות הצליחה?</a:t>
            </a:r>
          </a:p>
          <a:p>
            <a:endParaRPr lang="he-IL" sz="2800" dirty="0">
              <a:latin typeface="David" panose="020E0502060401010101" pitchFamily="34" charset="-79"/>
              <a:cs typeface="David" panose="020E0502060401010101" pitchFamily="34" charset="-79"/>
            </a:endParaRPr>
          </a:p>
          <a:p>
            <a:r>
              <a:rPr lang="he-IL" sz="2800" b="1" dirty="0">
                <a:latin typeface="David" panose="020E0502060401010101" pitchFamily="34" charset="-79"/>
                <a:cs typeface="David" panose="020E0502060401010101" pitchFamily="34" charset="-79"/>
              </a:rPr>
              <a:t>17</a:t>
            </a:r>
            <a:r>
              <a:rPr lang="he-IL" sz="2800" dirty="0">
                <a:latin typeface="David" panose="020E0502060401010101" pitchFamily="34" charset="-79"/>
                <a:cs typeface="David" panose="020E0502060401010101" pitchFamily="34" charset="-79"/>
              </a:rPr>
              <a:t>.מי האנשים החשובים שנלכדים על ידי שבט אפרים?  מה שמם?  מה נעשה להם?</a:t>
            </a:r>
          </a:p>
        </p:txBody>
      </p:sp>
    </p:spTree>
    <p:extLst>
      <p:ext uri="{BB962C8B-B14F-4D97-AF65-F5344CB8AC3E}">
        <p14:creationId xmlns:p14="http://schemas.microsoft.com/office/powerpoint/2010/main" val="3691655240"/>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עשן מתפתל">
  <a:themeElements>
    <a:clrScheme name="עשן מתפתל">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עשן מתפתל">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עשן מתפתל">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19708</TotalTime>
  <Words>2136</Words>
  <Application>Microsoft Office PowerPoint</Application>
  <PresentationFormat>מסך רחב</PresentationFormat>
  <Paragraphs>137</Paragraphs>
  <Slides>23</Slides>
  <Notes>1</Notes>
  <HiddenSlides>0</HiddenSlides>
  <MMClips>0</MMClips>
  <ScaleCrop>false</ScaleCrop>
  <HeadingPairs>
    <vt:vector size="4" baseType="variant">
      <vt:variant>
        <vt:lpstr>ערכת נושא</vt:lpstr>
      </vt:variant>
      <vt:variant>
        <vt:i4>3</vt:i4>
      </vt:variant>
      <vt:variant>
        <vt:lpstr>כותרות שקופיות</vt:lpstr>
      </vt:variant>
      <vt:variant>
        <vt:i4>23</vt:i4>
      </vt:variant>
    </vt:vector>
  </HeadingPairs>
  <TitlesOfParts>
    <vt:vector size="26" baseType="lpstr">
      <vt:lpstr>ערכת נושא Office</vt:lpstr>
      <vt:lpstr>1_ערכת נושא Office</vt:lpstr>
      <vt:lpstr>עשן מתפתל</vt:lpstr>
      <vt:lpstr>מצגת של PowerPoint‏</vt:lpstr>
      <vt:lpstr>מצגת של PowerPoint‏</vt:lpstr>
      <vt:lpstr>מצגת של PowerPoint‏</vt:lpstr>
      <vt:lpstr>מצגת של PowerPoint‏</vt:lpstr>
      <vt:lpstr>מצגת של PowerPoint‏</vt:lpstr>
      <vt:lpstr>מדוע בחר ה' דווקא במלקקים לתוך ידם?</vt:lpstr>
      <vt:lpstr>מצגת של PowerPoint‏</vt:lpstr>
      <vt:lpstr>מצגת של PowerPoint‏</vt:lpstr>
      <vt:lpstr>מצגת של PowerPoint‏</vt:lpstr>
      <vt:lpstr>מצגת של PowerPoint‏</vt:lpstr>
      <vt:lpstr>מצגת של PowerPoint‏</vt:lpstr>
      <vt:lpstr>החלום ופתרונו</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User</dc:creator>
  <cp:lastModifiedBy>חנה אלבז</cp:lastModifiedBy>
  <cp:revision>58</cp:revision>
  <dcterms:created xsi:type="dcterms:W3CDTF">2024-01-08T17:34:33Z</dcterms:created>
  <dcterms:modified xsi:type="dcterms:W3CDTF">2024-02-13T20:34:33Z</dcterms:modified>
</cp:coreProperties>
</file>