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סגנון ביניים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8A107856-5554-42FB-B03E-39F5DBC370BA}" styleName="סגנון ביניים 4 - הדגשה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29" autoAdjust="0"/>
    <p:restoredTop sz="94660"/>
  </p:normalViewPr>
  <p:slideViewPr>
    <p:cSldViewPr snapToGrid="0">
      <p:cViewPr varScale="1">
        <p:scale>
          <a:sx n="85" d="100"/>
          <a:sy n="85" d="100"/>
        </p:scale>
        <p:origin x="13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12/16/2020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12/16/2020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12/16/2020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12/16/2020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12/16/2020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12/16/2020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12/16/2020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 עם ציטו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נכון או לא נכו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12/16/2020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12/16/2020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51" r:id="rId3"/>
    <p:sldLayoutId id="2147483666" r:id="rId4"/>
    <p:sldLayoutId id="2147483653" r:id="rId5"/>
    <p:sldLayoutId id="2147483654" r:id="rId6"/>
    <p:sldLayoutId id="2147483655" r:id="rId7"/>
    <p:sldLayoutId id="2147483667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8" r:id="rId15"/>
    <p:sldLayoutId id="2147483659" r:id="rId16"/>
  </p:sldLayoutIdLst>
  <p:txStyles>
    <p:titleStyle>
      <a:lvl1pPr algn="l" defTabSz="457200" rtl="1" eaLnBrk="1" latinLnBrk="0" hangingPunct="1">
        <a:spcBef>
          <a:spcPct val="0"/>
        </a:spcBef>
        <a:buNone/>
        <a:defRPr sz="36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  <a:lvl2pPr rtl="1" eaLnBrk="1" hangingPunct="1">
        <a:defRPr>
          <a:solidFill>
            <a:schemeClr val="tx2"/>
          </a:solidFill>
        </a:defRPr>
      </a:lvl2pPr>
      <a:lvl3pPr rtl="1" eaLnBrk="1" hangingPunct="1">
        <a:defRPr>
          <a:solidFill>
            <a:schemeClr val="tx2"/>
          </a:solidFill>
        </a:defRPr>
      </a:lvl3pPr>
      <a:lvl4pPr rtl="1" eaLnBrk="1" hangingPunct="1">
        <a:defRPr>
          <a:solidFill>
            <a:schemeClr val="tx2"/>
          </a:solidFill>
        </a:defRPr>
      </a:lvl4pPr>
      <a:lvl5pPr rtl="1" eaLnBrk="1" hangingPunct="1">
        <a:defRPr>
          <a:solidFill>
            <a:schemeClr val="tx2"/>
          </a:solidFill>
        </a:defRPr>
      </a:lvl5pPr>
      <a:lvl6pPr rtl="1" eaLnBrk="1" hangingPunct="1">
        <a:defRPr>
          <a:solidFill>
            <a:schemeClr val="tx2"/>
          </a:solidFill>
        </a:defRPr>
      </a:lvl6pPr>
      <a:lvl7pPr rtl="1" eaLnBrk="1" hangingPunct="1">
        <a:defRPr>
          <a:solidFill>
            <a:schemeClr val="tx2"/>
          </a:solidFill>
        </a:defRPr>
      </a:lvl7pPr>
      <a:lvl8pPr rtl="1" eaLnBrk="1" hangingPunct="1">
        <a:defRPr>
          <a:solidFill>
            <a:schemeClr val="tx2"/>
          </a:solidFill>
        </a:defRPr>
      </a:lvl8pPr>
      <a:lvl9pPr rtl="1" eaLnBrk="1" hangingPunct="1">
        <a:defRPr>
          <a:solidFill>
            <a:schemeClr val="tx2"/>
          </a:solidFill>
        </a:defRPr>
      </a:lvl9pPr>
    </p:titleStyle>
    <p:bodyStyle>
      <a:lvl1pPr marL="342900" indent="-342900" algn="r" defTabSz="457200" rtl="1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r" defTabSz="457200" rtl="1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2BDECBA-18D6-453B-BD32-5A7D81965C2D}"/>
              </a:ext>
            </a:extLst>
          </p:cNvPr>
          <p:cNvSpPr txBox="1"/>
          <p:nvPr/>
        </p:nvSpPr>
        <p:spPr>
          <a:xfrm>
            <a:off x="908755" y="548101"/>
            <a:ext cx="10792177" cy="76944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pPr algn="r"/>
            <a:r>
              <a:rPr lang="he-IL" sz="4400" b="1" dirty="0">
                <a:latin typeface="David" panose="020E0502060401010101" pitchFamily="34" charset="-79"/>
                <a:cs typeface="David" panose="020E0502060401010101" pitchFamily="34" charset="-79"/>
              </a:rPr>
              <a:t>ספר שופטים פרק י': הרקע לתקופת יפתח הגלעדי: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E2278C-5299-4596-B6F3-EDE667B28E69}"/>
              </a:ext>
            </a:extLst>
          </p:cNvPr>
          <p:cNvSpPr txBox="1"/>
          <p:nvPr/>
        </p:nvSpPr>
        <p:spPr>
          <a:xfrm>
            <a:off x="8455377" y="1631245"/>
            <a:ext cx="3324577" cy="255454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pPr algn="r"/>
            <a:r>
              <a:rPr lang="he-IL" sz="3200" b="1" u="sng" dirty="0">
                <a:highlight>
                  <a:srgbClr val="00FF00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פסוקים א'-ה':</a:t>
            </a:r>
          </a:p>
          <a:p>
            <a:pPr algn="r"/>
            <a:r>
              <a:rPr lang="he-IL" sz="3200" dirty="0">
                <a:latin typeface="David" panose="020E0502060401010101" pitchFamily="34" charset="-79"/>
                <a:cs typeface="David" panose="020E0502060401010101" pitchFamily="34" charset="-79"/>
              </a:rPr>
              <a:t>נכיר עוד שני שופטים שאין עליהם סיפורים רבים אך שפטו הרבה שנים בישראל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20C833-9EEE-4EAC-98C9-14FFCB39DEA0}"/>
              </a:ext>
            </a:extLst>
          </p:cNvPr>
          <p:cNvSpPr txBox="1"/>
          <p:nvPr/>
        </p:nvSpPr>
        <p:spPr>
          <a:xfrm>
            <a:off x="993421" y="1721557"/>
            <a:ext cx="4312355" cy="206210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pPr algn="r"/>
            <a:r>
              <a:rPr lang="he-IL" sz="3200" b="1" u="sng" dirty="0">
                <a:highlight>
                  <a:srgbClr val="00FF00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פסוקים ו'-</a:t>
            </a:r>
            <a:r>
              <a:rPr lang="he-IL" sz="3200" b="1" u="sng" dirty="0" err="1">
                <a:highlight>
                  <a:srgbClr val="00FF00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יח</a:t>
            </a:r>
            <a:r>
              <a:rPr lang="he-IL" sz="3200" b="1" u="sng" dirty="0">
                <a:highlight>
                  <a:srgbClr val="00FF00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':</a:t>
            </a:r>
          </a:p>
          <a:p>
            <a:pPr algn="r"/>
            <a:r>
              <a:rPr lang="he-IL" sz="3200" dirty="0">
                <a:latin typeface="David" panose="020E0502060401010101" pitchFamily="34" charset="-79"/>
                <a:cs typeface="David" panose="020E0502060401010101" pitchFamily="34" charset="-79"/>
              </a:rPr>
              <a:t>הרקע לתקופת יפתח</a:t>
            </a:r>
          </a:p>
          <a:p>
            <a:pPr algn="r"/>
            <a:r>
              <a:rPr lang="he-IL" sz="3200" dirty="0">
                <a:latin typeface="David" panose="020E0502060401010101" pitchFamily="34" charset="-79"/>
                <a:cs typeface="David" panose="020E0502060401010101" pitchFamily="34" charset="-79"/>
              </a:rPr>
              <a:t>מעגל השופטים</a:t>
            </a:r>
          </a:p>
          <a:p>
            <a:pPr algn="r"/>
            <a:r>
              <a:rPr lang="he-IL" sz="3200" dirty="0">
                <a:latin typeface="David" panose="020E0502060401010101" pitchFamily="34" charset="-79"/>
                <a:cs typeface="David" panose="020E0502060401010101" pitchFamily="34" charset="-79"/>
              </a:rPr>
              <a:t>המצוקה של יושבי גלעד</a:t>
            </a:r>
          </a:p>
        </p:txBody>
      </p:sp>
      <p:pic>
        <p:nvPicPr>
          <p:cNvPr id="3074" name="Picture 2" descr="שופטי ישראל">
            <a:extLst>
              <a:ext uri="{FF2B5EF4-FFF2-40B4-BE49-F238E27FC236}">
                <a16:creationId xmlns:a16="http://schemas.microsoft.com/office/drawing/2014/main" id="{FBBC9D44-47AA-4CFA-A445-D639F454C8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4444" y="1721557"/>
            <a:ext cx="2235200" cy="4713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833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לבן 3">
            <a:extLst>
              <a:ext uri="{FF2B5EF4-FFF2-40B4-BE49-F238E27FC236}">
                <a16:creationId xmlns:a16="http://schemas.microsoft.com/office/drawing/2014/main" id="{EED48898-F1DE-4E3C-9663-1D4E4553D4C8}"/>
              </a:ext>
            </a:extLst>
          </p:cNvPr>
          <p:cNvSpPr/>
          <p:nvPr/>
        </p:nvSpPr>
        <p:spPr>
          <a:xfrm>
            <a:off x="959555" y="311639"/>
            <a:ext cx="10871201" cy="353943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r"/>
            <a:r>
              <a:rPr lang="he-IL" sz="3200" b="1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</a:t>
            </a:r>
            <a:r>
              <a:rPr lang="he-IL" sz="32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וַיָּקָם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אַחֲרֵי אֲבִימֶלֶךְ לְהוֹשִׁיעַ אֶת-יִשְׂרָאֵל, </a:t>
            </a:r>
            <a:r>
              <a:rPr lang="he-IL" sz="3200" b="1" dirty="0">
                <a:solidFill>
                  <a:srgbClr val="000000"/>
                </a:solidFill>
                <a:highlight>
                  <a:srgbClr val="FFFF00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תּוֹלָע </a:t>
            </a:r>
            <a:r>
              <a:rPr lang="he-IL" sz="3200" b="1" dirty="0" err="1">
                <a:solidFill>
                  <a:srgbClr val="000000"/>
                </a:solidFill>
                <a:highlight>
                  <a:srgbClr val="FFFF00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בֶּן-פּוּאָה</a:t>
            </a:r>
            <a:r>
              <a:rPr lang="he-IL" sz="3200" b="1" dirty="0">
                <a:solidFill>
                  <a:srgbClr val="000000"/>
                </a:solidFill>
                <a:highlight>
                  <a:srgbClr val="FFFF00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בֶּן-דּוֹדוֹ--אִישׁ י</a:t>
            </a:r>
            <a:r>
              <a:rPr lang="he-IL" sz="3200" b="1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ִשָּׂשכָר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; וְהוּא-יֹשֵׁב בְּשָׁמִיר, בְּהַר אֶפְרָיִם.  </a:t>
            </a:r>
            <a:r>
              <a:rPr lang="he-IL" sz="3200" b="1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ב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</a:t>
            </a:r>
            <a:r>
              <a:rPr lang="he-IL" sz="32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וַיִּשְׁפֹּט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, אֶת-יִשְׂרָאֵל, </a:t>
            </a:r>
            <a:r>
              <a:rPr lang="he-IL" sz="3200" b="1" dirty="0">
                <a:solidFill>
                  <a:srgbClr val="000000"/>
                </a:solidFill>
                <a:highlight>
                  <a:srgbClr val="FFFF00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עֶשְׂרִים וְשָׁלֹשׁ, שָׁנָה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; וַיָּמָת, וַיִּקָּבֵר בְּשָׁמִיר.  {פ}</a:t>
            </a:r>
            <a:br>
              <a:rPr lang="he-IL" sz="3200" dirty="0"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3200" b="1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ג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</a:t>
            </a:r>
            <a:r>
              <a:rPr lang="he-IL" sz="32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וַיָּקָם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אַחֲרָיו, </a:t>
            </a:r>
            <a:r>
              <a:rPr lang="he-IL" sz="3200" b="1" dirty="0">
                <a:solidFill>
                  <a:srgbClr val="000000"/>
                </a:solidFill>
                <a:highlight>
                  <a:srgbClr val="00FFFF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יָאִיר הַגִּלְעָדִי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; </a:t>
            </a:r>
            <a:r>
              <a:rPr lang="he-IL" sz="32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וַיִּשְׁפֹּט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, אֶת-יִשְׂרָאֵל, </a:t>
            </a:r>
            <a:r>
              <a:rPr lang="he-IL" sz="3200" b="1" dirty="0">
                <a:solidFill>
                  <a:srgbClr val="000000"/>
                </a:solidFill>
                <a:highlight>
                  <a:srgbClr val="00FFFF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עֶשְׂרִים וּשְׁתַּיִם, שָׁנָה.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 </a:t>
            </a:r>
          </a:p>
          <a:p>
            <a:pPr algn="r"/>
            <a:r>
              <a:rPr lang="he-IL" sz="3200" b="1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ד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וַיְהִי-לוֹ </a:t>
            </a:r>
            <a:r>
              <a:rPr lang="he-IL" sz="3200" b="1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שְׁלֹשִׁים בָּנִים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, רֹכְבִים עַל-</a:t>
            </a:r>
            <a:r>
              <a:rPr lang="he-IL" sz="3200" b="1" dirty="0">
                <a:solidFill>
                  <a:srgbClr val="000000"/>
                </a:solidFill>
                <a:highlight>
                  <a:srgbClr val="00FF00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שְׁלֹשִׁים </a:t>
            </a:r>
            <a:r>
              <a:rPr lang="he-IL" sz="3200" b="1" dirty="0" err="1">
                <a:solidFill>
                  <a:srgbClr val="000000"/>
                </a:solidFill>
                <a:highlight>
                  <a:srgbClr val="00FF00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עֲיָרִים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, </a:t>
            </a:r>
            <a:r>
              <a:rPr lang="he-IL" sz="3200" b="1" dirty="0">
                <a:solidFill>
                  <a:srgbClr val="000000"/>
                </a:solidFill>
                <a:highlight>
                  <a:srgbClr val="00FF00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וּשְׁלֹשִׁים </a:t>
            </a:r>
            <a:r>
              <a:rPr lang="he-IL" sz="3200" b="1" dirty="0" err="1">
                <a:solidFill>
                  <a:srgbClr val="000000"/>
                </a:solidFill>
                <a:highlight>
                  <a:srgbClr val="00FF00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עֲיָרִים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, לָהֶם; לָהֶם יִקְרְאוּ </a:t>
            </a:r>
            <a:r>
              <a:rPr lang="he-IL" sz="32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חַוֺּת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יָאִיר, עַד הַיּוֹם הַזֶּה, אֲשֶׁר, בְּאֶרֶץ הַגִּלְעָד.  </a:t>
            </a:r>
            <a:r>
              <a:rPr lang="he-IL" sz="3200" b="1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ה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וַיָּמָת יָאִיר, וַיִּקָּבֵר </a:t>
            </a:r>
            <a:r>
              <a:rPr lang="he-IL" sz="32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בְּקָמוֹן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.  {פ}</a:t>
            </a:r>
            <a:endParaRPr lang="he-IL" sz="3200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graphicFrame>
        <p:nvGraphicFramePr>
          <p:cNvPr id="6" name="טבלה 5">
            <a:extLst>
              <a:ext uri="{FF2B5EF4-FFF2-40B4-BE49-F238E27FC236}">
                <a16:creationId xmlns:a16="http://schemas.microsoft.com/office/drawing/2014/main" id="{CCB7D786-ED3D-4D9A-A3C5-8C23F83A00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1159685"/>
              </p:ext>
            </p:extLst>
          </p:nvPr>
        </p:nvGraphicFramePr>
        <p:xfrm>
          <a:off x="2980264" y="4181255"/>
          <a:ext cx="8715025" cy="1920240"/>
        </p:xfrm>
        <a:graphic>
          <a:graphicData uri="http://schemas.openxmlformats.org/drawingml/2006/table">
            <a:tbl>
              <a:tblPr rtl="1" firstRow="1" bandRow="1">
                <a:tableStyleId>{D7AC3CCA-C797-4891-BE02-D94E43425B78}</a:tableStyleId>
              </a:tblPr>
              <a:tblGrid>
                <a:gridCol w="1414875">
                  <a:extLst>
                    <a:ext uri="{9D8B030D-6E8A-4147-A177-3AD203B41FA5}">
                      <a16:colId xmlns:a16="http://schemas.microsoft.com/office/drawing/2014/main" val="1591708728"/>
                    </a:ext>
                  </a:extLst>
                </a:gridCol>
                <a:gridCol w="1460030">
                  <a:extLst>
                    <a:ext uri="{9D8B030D-6E8A-4147-A177-3AD203B41FA5}">
                      <a16:colId xmlns:a16="http://schemas.microsoft.com/office/drawing/2014/main" val="2242290499"/>
                    </a:ext>
                  </a:extLst>
                </a:gridCol>
                <a:gridCol w="1460030">
                  <a:extLst>
                    <a:ext uri="{9D8B030D-6E8A-4147-A177-3AD203B41FA5}">
                      <a16:colId xmlns:a16="http://schemas.microsoft.com/office/drawing/2014/main" val="2677161876"/>
                    </a:ext>
                  </a:extLst>
                </a:gridCol>
                <a:gridCol w="1460030">
                  <a:extLst>
                    <a:ext uri="{9D8B030D-6E8A-4147-A177-3AD203B41FA5}">
                      <a16:colId xmlns:a16="http://schemas.microsoft.com/office/drawing/2014/main" val="1952336356"/>
                    </a:ext>
                  </a:extLst>
                </a:gridCol>
                <a:gridCol w="1460030">
                  <a:extLst>
                    <a:ext uri="{9D8B030D-6E8A-4147-A177-3AD203B41FA5}">
                      <a16:colId xmlns:a16="http://schemas.microsoft.com/office/drawing/2014/main" val="1042241648"/>
                    </a:ext>
                  </a:extLst>
                </a:gridCol>
                <a:gridCol w="1460030">
                  <a:extLst>
                    <a:ext uri="{9D8B030D-6E8A-4147-A177-3AD203B41FA5}">
                      <a16:colId xmlns:a16="http://schemas.microsoft.com/office/drawing/2014/main" val="27047348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he-IL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השופט: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שבט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המשעבד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אורך השעבוד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משך השפעתו: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כיצד הדף את האויב?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3607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endParaRPr lang="he-IL" dirty="0"/>
                    </a:p>
                    <a:p>
                      <a:pPr algn="ctr" rtl="1"/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endParaRPr lang="he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endParaRPr lang="he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endParaRPr lang="he-I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92681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endParaRPr lang="he-IL" dirty="0"/>
                    </a:p>
                    <a:p>
                      <a:pPr algn="ctr" rtl="1"/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endParaRPr lang="he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734791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04BFE91-5405-4289-97FB-B90ECF77947C}"/>
              </a:ext>
            </a:extLst>
          </p:cNvPr>
          <p:cNvSpPr txBox="1"/>
          <p:nvPr/>
        </p:nvSpPr>
        <p:spPr>
          <a:xfrm>
            <a:off x="10295467" y="4954620"/>
            <a:ext cx="1535289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b="1" dirty="0"/>
              <a:t>תולע בן </a:t>
            </a:r>
            <a:r>
              <a:rPr lang="he-IL" sz="1600" b="1" dirty="0" err="1"/>
              <a:t>פואה</a:t>
            </a:r>
            <a:endParaRPr lang="he-IL" sz="16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4E4903-D479-452D-A4A9-EB28676D233F}"/>
              </a:ext>
            </a:extLst>
          </p:cNvPr>
          <p:cNvSpPr txBox="1"/>
          <p:nvPr/>
        </p:nvSpPr>
        <p:spPr>
          <a:xfrm>
            <a:off x="10323601" y="5580779"/>
            <a:ext cx="1535289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b="1" dirty="0"/>
              <a:t>יאיר הגלעדי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88BE42-DA7E-4A22-BD6B-5AA99E0DAEBD}"/>
              </a:ext>
            </a:extLst>
          </p:cNvPr>
          <p:cNvSpPr txBox="1"/>
          <p:nvPr/>
        </p:nvSpPr>
        <p:spPr>
          <a:xfrm>
            <a:off x="9064979" y="5516720"/>
            <a:ext cx="1636889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b="1" dirty="0"/>
              <a:t>מן הגלעד, מנשה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74133E-3602-4C18-B027-4F81F8392018}"/>
              </a:ext>
            </a:extLst>
          </p:cNvPr>
          <p:cNvSpPr txBox="1"/>
          <p:nvPr/>
        </p:nvSpPr>
        <p:spPr>
          <a:xfrm>
            <a:off x="9149734" y="4966944"/>
            <a:ext cx="982132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b="1" dirty="0"/>
              <a:t>יששכר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4743E8-84AB-4D4A-BBCC-DFBAEAD2044E}"/>
              </a:ext>
            </a:extLst>
          </p:cNvPr>
          <p:cNvSpPr txBox="1"/>
          <p:nvPr/>
        </p:nvSpPr>
        <p:spPr>
          <a:xfrm>
            <a:off x="3584224" y="5624441"/>
            <a:ext cx="982132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b="1" dirty="0"/>
              <a:t>22 שנה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EE49B9-3414-4CAD-B0DB-0AEFCFEC6193}"/>
              </a:ext>
            </a:extLst>
          </p:cNvPr>
          <p:cNvSpPr txBox="1"/>
          <p:nvPr/>
        </p:nvSpPr>
        <p:spPr>
          <a:xfrm>
            <a:off x="3601157" y="4955221"/>
            <a:ext cx="982132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b="1" dirty="0"/>
              <a:t>23 שנה</a:t>
            </a:r>
          </a:p>
        </p:txBody>
      </p:sp>
      <p:pic>
        <p:nvPicPr>
          <p:cNvPr id="1026" name="Picture 2" descr="ספר שופטים פרק י - ש״י לילדים">
            <a:extLst>
              <a:ext uri="{FF2B5EF4-FFF2-40B4-BE49-F238E27FC236}">
                <a16:creationId xmlns:a16="http://schemas.microsoft.com/office/drawing/2014/main" id="{4E7E76C1-0740-4A14-8A7C-EE6774FEDF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27" y="4040977"/>
            <a:ext cx="2714936" cy="2190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מחבר חץ ישר 13">
            <a:extLst>
              <a:ext uri="{FF2B5EF4-FFF2-40B4-BE49-F238E27FC236}">
                <a16:creationId xmlns:a16="http://schemas.microsoft.com/office/drawing/2014/main" id="{7666FAB4-80B5-4E1C-890F-4D4E4E614686}"/>
              </a:ext>
            </a:extLst>
          </p:cNvPr>
          <p:cNvCxnSpPr>
            <a:cxnSpLocks/>
          </p:cNvCxnSpPr>
          <p:nvPr/>
        </p:nvCxnSpPr>
        <p:spPr>
          <a:xfrm flipH="1">
            <a:off x="1783644" y="2695959"/>
            <a:ext cx="2929468" cy="187227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14858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6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/>
      <p:bldP spid="8" grpId="0"/>
      <p:bldP spid="9" grpId="0"/>
      <p:bldP spid="10" grpId="0"/>
      <p:bldP spid="11" grpId="0"/>
      <p:bldP spid="1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______ :דימלתה םש מהדורה פנימית ישיבת צביה קטיף ערן גלעדי">
            <a:extLst>
              <a:ext uri="{FF2B5EF4-FFF2-40B4-BE49-F238E27FC236}">
                <a16:creationId xmlns:a16="http://schemas.microsoft.com/office/drawing/2014/main" id="{A73AD288-CABB-4FB8-A64C-1BCF4A9311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8683" y="250120"/>
            <a:ext cx="5176628" cy="63577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מחבר חץ ישר 2">
            <a:extLst>
              <a:ext uri="{FF2B5EF4-FFF2-40B4-BE49-F238E27FC236}">
                <a16:creationId xmlns:a16="http://schemas.microsoft.com/office/drawing/2014/main" id="{87CC2222-5495-4992-8B73-5B00CB9FA1CB}"/>
              </a:ext>
            </a:extLst>
          </p:cNvPr>
          <p:cNvCxnSpPr>
            <a:cxnSpLocks/>
          </p:cNvCxnSpPr>
          <p:nvPr/>
        </p:nvCxnSpPr>
        <p:spPr>
          <a:xfrm flipH="1" flipV="1">
            <a:off x="6053409" y="1172330"/>
            <a:ext cx="2596446" cy="17973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55C0748-B96D-4A88-BAD7-637A1221BDE8}"/>
              </a:ext>
            </a:extLst>
          </p:cNvPr>
          <p:cNvSpPr txBox="1"/>
          <p:nvPr/>
        </p:nvSpPr>
        <p:spPr>
          <a:xfrm>
            <a:off x="4173173" y="649110"/>
            <a:ext cx="2077156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2800" b="1" dirty="0">
                <a:latin typeface="David" panose="020E0502060401010101" pitchFamily="34" charset="-79"/>
                <a:cs typeface="David" panose="020E0502060401010101" pitchFamily="34" charset="-79"/>
              </a:rPr>
              <a:t>תולע בן </a:t>
            </a:r>
            <a:r>
              <a:rPr lang="he-IL" sz="2800" b="1" dirty="0" err="1">
                <a:latin typeface="David" panose="020E0502060401010101" pitchFamily="34" charset="-79"/>
                <a:cs typeface="David" panose="020E0502060401010101" pitchFamily="34" charset="-79"/>
              </a:rPr>
              <a:t>פואה</a:t>
            </a:r>
            <a:r>
              <a:rPr lang="he-IL" sz="2800" b="1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</a:p>
        </p:txBody>
      </p:sp>
      <p:cxnSp>
        <p:nvCxnSpPr>
          <p:cNvPr id="6" name="מחבר חץ ישר 5">
            <a:extLst>
              <a:ext uri="{FF2B5EF4-FFF2-40B4-BE49-F238E27FC236}">
                <a16:creationId xmlns:a16="http://schemas.microsoft.com/office/drawing/2014/main" id="{F1DB81C0-CB43-43B4-94FA-C56A88CF35B4}"/>
              </a:ext>
            </a:extLst>
          </p:cNvPr>
          <p:cNvCxnSpPr>
            <a:cxnSpLocks/>
          </p:cNvCxnSpPr>
          <p:nvPr/>
        </p:nvCxnSpPr>
        <p:spPr>
          <a:xfrm flipH="1">
            <a:off x="5610578" y="2208943"/>
            <a:ext cx="5226756" cy="903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157BAFE-2916-4399-B323-9524B1258EBB}"/>
              </a:ext>
            </a:extLst>
          </p:cNvPr>
          <p:cNvSpPr txBox="1"/>
          <p:nvPr/>
        </p:nvSpPr>
        <p:spPr>
          <a:xfrm>
            <a:off x="3793067" y="2037644"/>
            <a:ext cx="2077156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2800" b="1" dirty="0">
                <a:latin typeface="David" panose="020E0502060401010101" pitchFamily="34" charset="-79"/>
                <a:cs typeface="David" panose="020E0502060401010101" pitchFamily="34" charset="-79"/>
              </a:rPr>
              <a:t>יאיר הגלעדי </a:t>
            </a:r>
          </a:p>
        </p:txBody>
      </p:sp>
      <p:pic>
        <p:nvPicPr>
          <p:cNvPr id="2052" name="Picture 4" descr="https://www.yeshiva.org.il/wiki/images/thumb/5/50/Staemme_israels_heb_svg.png/250px-Staemme_israels_heb_svg.png">
            <a:extLst>
              <a:ext uri="{FF2B5EF4-FFF2-40B4-BE49-F238E27FC236}">
                <a16:creationId xmlns:a16="http://schemas.microsoft.com/office/drawing/2014/main" id="{84CEA489-0F6C-4F4D-9560-5352FD7B19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956" y="1321476"/>
            <a:ext cx="3259925" cy="496812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465670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wind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>
            <a:extLst>
              <a:ext uri="{FF2B5EF4-FFF2-40B4-BE49-F238E27FC236}">
                <a16:creationId xmlns:a16="http://schemas.microsoft.com/office/drawing/2014/main" id="{117A7ED3-107B-44AD-90A1-B1265AEE306B}"/>
              </a:ext>
            </a:extLst>
          </p:cNvPr>
          <p:cNvSpPr/>
          <p:nvPr/>
        </p:nvSpPr>
        <p:spPr>
          <a:xfrm>
            <a:off x="2020711" y="333992"/>
            <a:ext cx="9460089" cy="347787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r"/>
            <a:r>
              <a:rPr lang="he-IL" sz="3600" b="1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</a:t>
            </a:r>
            <a:r>
              <a:rPr lang="he-IL" sz="36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</a:t>
            </a:r>
            <a:r>
              <a:rPr lang="he-IL" sz="36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וַיֹּסִיפו</a:t>
            </a:r>
            <a:r>
              <a:rPr lang="he-IL" sz="36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ּ בְּנֵי יִשְׂרָאֵל, </a:t>
            </a:r>
            <a:r>
              <a:rPr lang="he-IL" sz="3600" b="1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לַעֲשׂוֹת הָרַע בְּעֵינֵי יְהוָה, </a:t>
            </a:r>
            <a:r>
              <a:rPr lang="he-IL" sz="36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וַיַּעַבְדוּ אֶת-</a:t>
            </a:r>
            <a:r>
              <a:rPr lang="he-IL" sz="3600" dirty="0">
                <a:solidFill>
                  <a:srgbClr val="000000"/>
                </a:solidFill>
                <a:highlight>
                  <a:srgbClr val="FFFF00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הַבְּעָלִים</a:t>
            </a:r>
            <a:r>
              <a:rPr lang="he-IL" sz="36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36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וְאֶת-</a:t>
            </a:r>
            <a:r>
              <a:rPr lang="he-IL" sz="3600" dirty="0" err="1">
                <a:solidFill>
                  <a:srgbClr val="000000"/>
                </a:solidFill>
                <a:highlight>
                  <a:srgbClr val="FFFF00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הָעַשְׁתָּרוֹת</a:t>
            </a:r>
            <a:r>
              <a:rPr lang="he-IL" sz="36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36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וְאֶת-</a:t>
            </a:r>
            <a:r>
              <a:rPr lang="he-IL" sz="3600" dirty="0" err="1">
                <a:solidFill>
                  <a:srgbClr val="000000"/>
                </a:solidFill>
                <a:highlight>
                  <a:srgbClr val="FFFF00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אֱלֹהֵי</a:t>
            </a:r>
            <a:r>
              <a:rPr lang="he-IL" sz="3600" dirty="0">
                <a:solidFill>
                  <a:srgbClr val="000000"/>
                </a:solidFill>
                <a:highlight>
                  <a:srgbClr val="FFFF00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 אֲרָם </a:t>
            </a:r>
            <a:r>
              <a:rPr lang="he-IL" sz="36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וְאֶת-</a:t>
            </a:r>
            <a:r>
              <a:rPr lang="he-IL" sz="3600" dirty="0" err="1">
                <a:solidFill>
                  <a:srgbClr val="000000"/>
                </a:solidFill>
                <a:highlight>
                  <a:srgbClr val="FFFF00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אֱלֹהֵי</a:t>
            </a:r>
            <a:r>
              <a:rPr lang="he-IL" sz="3600" dirty="0">
                <a:solidFill>
                  <a:srgbClr val="000000"/>
                </a:solidFill>
                <a:highlight>
                  <a:srgbClr val="FFFF00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 צִידוֹן </a:t>
            </a:r>
            <a:r>
              <a:rPr lang="he-IL" sz="36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וְאֵת </a:t>
            </a:r>
            <a:r>
              <a:rPr lang="he-IL" sz="3600" dirty="0" err="1">
                <a:solidFill>
                  <a:srgbClr val="000000"/>
                </a:solidFill>
                <a:highlight>
                  <a:srgbClr val="FFFF00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אֱלֹהֵי</a:t>
            </a:r>
            <a:r>
              <a:rPr lang="he-IL" sz="3600" dirty="0">
                <a:solidFill>
                  <a:srgbClr val="000000"/>
                </a:solidFill>
                <a:highlight>
                  <a:srgbClr val="FFFF00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 מוֹאָב </a:t>
            </a:r>
            <a:r>
              <a:rPr lang="he-IL" sz="36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וְאֵת </a:t>
            </a:r>
            <a:r>
              <a:rPr lang="he-IL" sz="3600" dirty="0" err="1">
                <a:solidFill>
                  <a:srgbClr val="000000"/>
                </a:solidFill>
                <a:highlight>
                  <a:srgbClr val="FFFF00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אֱלֹהֵי</a:t>
            </a:r>
            <a:r>
              <a:rPr lang="he-IL" sz="3600" dirty="0">
                <a:solidFill>
                  <a:srgbClr val="000000"/>
                </a:solidFill>
                <a:highlight>
                  <a:srgbClr val="FFFF00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 בְנֵי-עַמּוֹן</a:t>
            </a:r>
            <a:r>
              <a:rPr lang="he-IL" sz="36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, וְאֵת </a:t>
            </a:r>
            <a:r>
              <a:rPr lang="he-IL" sz="3600" dirty="0" err="1">
                <a:solidFill>
                  <a:srgbClr val="000000"/>
                </a:solidFill>
                <a:highlight>
                  <a:srgbClr val="FFFF00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אֱלֹהֵי</a:t>
            </a:r>
            <a:r>
              <a:rPr lang="he-IL" sz="3600" dirty="0">
                <a:solidFill>
                  <a:srgbClr val="000000"/>
                </a:solidFill>
                <a:highlight>
                  <a:srgbClr val="FFFF00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3600" dirty="0" err="1">
                <a:solidFill>
                  <a:srgbClr val="000000"/>
                </a:solidFill>
                <a:highlight>
                  <a:srgbClr val="FFFF00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פְלִשְׁתִּים</a:t>
            </a:r>
            <a:r>
              <a:rPr lang="he-IL" sz="36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; </a:t>
            </a:r>
            <a:r>
              <a:rPr lang="he-IL" sz="4000" b="1" dirty="0">
                <a:solidFill>
                  <a:srgbClr val="000000"/>
                </a:solidFill>
                <a:highlight>
                  <a:srgbClr val="FF0000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וַיַּעַזְבוּ אֶת-יְהוָה, וְלֹא עֲבָדוּהוּ</a:t>
            </a:r>
            <a:r>
              <a:rPr lang="he-IL" sz="36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.  </a:t>
            </a:r>
          </a:p>
          <a:p>
            <a:pPr algn="r"/>
            <a:r>
              <a:rPr lang="he-IL" sz="3600" b="1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ז</a:t>
            </a:r>
            <a:r>
              <a:rPr lang="he-IL" sz="36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</a:t>
            </a:r>
            <a:r>
              <a:rPr lang="he-IL" sz="36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וַיִּחַר-אַף</a:t>
            </a:r>
            <a:r>
              <a:rPr lang="he-IL" sz="36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יְהוָה, בְּיִשְׂרָאֵל; </a:t>
            </a:r>
            <a:r>
              <a:rPr lang="he-IL" sz="3600" b="1" dirty="0">
                <a:solidFill>
                  <a:srgbClr val="000000"/>
                </a:solidFill>
                <a:highlight>
                  <a:srgbClr val="00FFFF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וַיִּמְכְּרֵם, </a:t>
            </a:r>
            <a:r>
              <a:rPr lang="he-IL" sz="3600" b="1" dirty="0" err="1">
                <a:solidFill>
                  <a:srgbClr val="000000"/>
                </a:solidFill>
                <a:highlight>
                  <a:srgbClr val="00FFFF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בְּיַד-פְּלִשְׁתִּים</a:t>
            </a:r>
            <a:r>
              <a:rPr lang="he-IL" sz="3600" b="1" dirty="0">
                <a:solidFill>
                  <a:srgbClr val="000000"/>
                </a:solidFill>
                <a:highlight>
                  <a:srgbClr val="00FFFF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, וּבְיַד, בְּנֵי עַמּוֹן. </a:t>
            </a:r>
            <a:endParaRPr lang="he-IL" sz="3600" b="1" dirty="0">
              <a:highlight>
                <a:srgbClr val="00FFFF"/>
              </a:highlight>
            </a:endParaRPr>
          </a:p>
        </p:txBody>
      </p:sp>
      <p:sp>
        <p:nvSpPr>
          <p:cNvPr id="3" name="כוכב: 8 פינות 2">
            <a:extLst>
              <a:ext uri="{FF2B5EF4-FFF2-40B4-BE49-F238E27FC236}">
                <a16:creationId xmlns:a16="http://schemas.microsoft.com/office/drawing/2014/main" id="{C37276AB-7749-4666-B2F6-D3E981EE8D7C}"/>
              </a:ext>
            </a:extLst>
          </p:cNvPr>
          <p:cNvSpPr/>
          <p:nvPr/>
        </p:nvSpPr>
        <p:spPr>
          <a:xfrm>
            <a:off x="8094134" y="3721063"/>
            <a:ext cx="3951112" cy="3217334"/>
          </a:xfrm>
          <a:prstGeom prst="star8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A7D429-A3A0-449E-AA34-F112D047F309}"/>
              </a:ext>
            </a:extLst>
          </p:cNvPr>
          <p:cNvSpPr txBox="1"/>
          <p:nvPr/>
        </p:nvSpPr>
        <p:spPr>
          <a:xfrm>
            <a:off x="8094134" y="4334680"/>
            <a:ext cx="3815643" cy="181588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7200" b="1" dirty="0">
                <a:latin typeface="David" panose="020E0502060401010101" pitchFamily="34" charset="-79"/>
                <a:cs typeface="David" panose="020E0502060401010101" pitchFamily="34" charset="-79"/>
              </a:rPr>
              <a:t>7 </a:t>
            </a:r>
          </a:p>
          <a:p>
            <a:pPr algn="ctr"/>
            <a:r>
              <a:rPr lang="he-IL" sz="4000" b="1" dirty="0">
                <a:latin typeface="David" panose="020E0502060401010101" pitchFamily="34" charset="-79"/>
                <a:cs typeface="David" panose="020E0502060401010101" pitchFamily="34" charset="-79"/>
              </a:rPr>
              <a:t>עבודות זרות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51523F-093D-49E7-B1EC-2AF6731526EA}"/>
              </a:ext>
            </a:extLst>
          </p:cNvPr>
          <p:cNvSpPr txBox="1"/>
          <p:nvPr/>
        </p:nvSpPr>
        <p:spPr>
          <a:xfrm>
            <a:off x="3589867" y="4097859"/>
            <a:ext cx="4255911" cy="255454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1">
            <a:spAutoFit/>
          </a:bodyPr>
          <a:lstStyle/>
          <a:p>
            <a:pPr algn="r"/>
            <a:r>
              <a:rPr lang="he-IL" sz="3200" dirty="0">
                <a:latin typeface="David" panose="020E0502060401010101" pitchFamily="34" charset="-79"/>
                <a:cs typeface="David" panose="020E0502060401010101" pitchFamily="34" charset="-79"/>
              </a:rPr>
              <a:t>בנוסף לשבע עבודות זרות הוסיפו חטא נוסף </a:t>
            </a:r>
          </a:p>
          <a:p>
            <a:pPr algn="r"/>
            <a:r>
              <a:rPr lang="he-IL" sz="3200" b="1" dirty="0">
                <a:latin typeface="David" panose="020E0502060401010101" pitchFamily="34" charset="-79"/>
                <a:cs typeface="David" panose="020E0502060401010101" pitchFamily="34" charset="-79"/>
              </a:rPr>
              <a:t>שעזבו לגמרי את הקב"ה </a:t>
            </a:r>
            <a:r>
              <a:rPr lang="he-IL" sz="3200" dirty="0">
                <a:latin typeface="David" panose="020E0502060401010101" pitchFamily="34" charset="-79"/>
                <a:cs typeface="David" panose="020E0502060401010101" pitchFamily="34" charset="-79"/>
              </a:rPr>
              <a:t>ולא עבדו אותו  בשותפות עם האלילים</a:t>
            </a:r>
            <a:r>
              <a:rPr lang="he-IL" sz="2000" dirty="0">
                <a:latin typeface="David" panose="020E0502060401010101" pitchFamily="34" charset="-79"/>
                <a:cs typeface="David" panose="020E0502060401010101" pitchFamily="34" charset="-79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712908-126C-4AA9-AF0C-7F6CDA7C705E}"/>
              </a:ext>
            </a:extLst>
          </p:cNvPr>
          <p:cNvSpPr txBox="1"/>
          <p:nvPr/>
        </p:nvSpPr>
        <p:spPr>
          <a:xfrm>
            <a:off x="152401" y="4123385"/>
            <a:ext cx="3313288" cy="193899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1">
            <a:spAutoFit/>
          </a:bodyPr>
          <a:lstStyle/>
          <a:p>
            <a:pPr algn="r"/>
            <a:r>
              <a:rPr lang="he-IL" sz="2800" dirty="0">
                <a:latin typeface="David" panose="020E0502060401010101" pitchFamily="34" charset="-79"/>
                <a:cs typeface="David" panose="020E0502060401010101" pitchFamily="34" charset="-79"/>
              </a:rPr>
              <a:t>הקב"ה כעס והעניש את עם ישראל ומכר אותם </a:t>
            </a:r>
          </a:p>
          <a:p>
            <a:pPr algn="r"/>
            <a:r>
              <a:rPr lang="he-IL" sz="3200" b="1" dirty="0" err="1">
                <a:highlight>
                  <a:srgbClr val="00FF00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לפלשתים</a:t>
            </a:r>
            <a:endParaRPr lang="he-IL" sz="3200" b="1" dirty="0">
              <a:highlight>
                <a:srgbClr val="00FF00"/>
              </a:highlight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algn="r"/>
            <a:r>
              <a:rPr lang="he-IL" sz="3200" b="1" dirty="0">
                <a:highlight>
                  <a:srgbClr val="00FF00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ולבני עמון</a:t>
            </a:r>
          </a:p>
        </p:txBody>
      </p:sp>
    </p:spTree>
    <p:extLst>
      <p:ext uri="{BB962C8B-B14F-4D97-AF65-F5344CB8AC3E}">
        <p14:creationId xmlns:p14="http://schemas.microsoft.com/office/powerpoint/2010/main" val="311150516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>
            <a:extLst>
              <a:ext uri="{FF2B5EF4-FFF2-40B4-BE49-F238E27FC236}">
                <a16:creationId xmlns:a16="http://schemas.microsoft.com/office/drawing/2014/main" id="{7C6923EE-C08A-4E35-BEBA-532EB8F47F7D}"/>
              </a:ext>
            </a:extLst>
          </p:cNvPr>
          <p:cNvSpPr/>
          <p:nvPr/>
        </p:nvSpPr>
        <p:spPr>
          <a:xfrm>
            <a:off x="1151468" y="342247"/>
            <a:ext cx="9821332" cy="304698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r"/>
            <a:r>
              <a:rPr lang="he-IL" sz="3200" b="1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ח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</a:t>
            </a:r>
            <a:r>
              <a:rPr lang="he-IL" sz="3200" b="1" dirty="0" err="1">
                <a:solidFill>
                  <a:srgbClr val="000000"/>
                </a:solidFill>
                <a:highlight>
                  <a:srgbClr val="FFFF00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וַיִּרְעֲצו</a:t>
            </a:r>
            <a:r>
              <a:rPr lang="he-IL" sz="3200" b="1" dirty="0">
                <a:solidFill>
                  <a:srgbClr val="000000"/>
                </a:solidFill>
                <a:highlight>
                  <a:srgbClr val="FFFF00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ּ וַיְרֹצְצוּ 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אֶת-בְּנֵי יִשְׂרָאֵל, בַּשָּׁנָה הַהִיא:  </a:t>
            </a:r>
            <a:r>
              <a:rPr lang="he-IL" sz="3200" b="1" dirty="0">
                <a:solidFill>
                  <a:srgbClr val="000000"/>
                </a:solidFill>
                <a:highlight>
                  <a:srgbClr val="00FFFF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שְׁמֹנֶה עֶשְׂרֵה שָׁנָה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, אֶת-כָּל-בְּנֵי יִשְׂרָאֵל אֲשֶׁר בְּעֵבֶר הַיַּרְדֵּן--בְּאֶרֶץ </a:t>
            </a:r>
            <a:r>
              <a:rPr lang="he-IL" sz="32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הָאֱמֹרִי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, אֲשֶׁר בַּגִּלְעָד.  </a:t>
            </a:r>
          </a:p>
          <a:p>
            <a:pPr algn="r"/>
            <a:r>
              <a:rPr lang="he-IL" sz="3200" b="1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ט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וַיַּעַבְרוּ בְנֵי-עַמּוֹן אֶת-הַיַּרְדֵּן, </a:t>
            </a:r>
            <a:r>
              <a:rPr lang="he-IL" sz="32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לְהִלָּחֵם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גַּם-בִּיהוּדָה וּבְבִנְיָמִין וּבְבֵית אֶפְרָיִם; </a:t>
            </a:r>
            <a:r>
              <a:rPr lang="he-IL" sz="3200" b="1" dirty="0">
                <a:solidFill>
                  <a:srgbClr val="000000"/>
                </a:solidFill>
                <a:highlight>
                  <a:srgbClr val="FFFF00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וַתֵּצֶר לְיִשְׂרָאֵל,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מְאֹד.  </a:t>
            </a:r>
          </a:p>
          <a:p>
            <a:pPr algn="r"/>
            <a:r>
              <a:rPr lang="he-IL" sz="3200" b="1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י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</a:t>
            </a:r>
            <a:r>
              <a:rPr lang="he-IL" sz="3200" b="1" dirty="0">
                <a:solidFill>
                  <a:srgbClr val="000000"/>
                </a:solidFill>
                <a:highlight>
                  <a:srgbClr val="00FFFF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וַיִּזְעֲקוּ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בְּנֵי יִשְׂרָאֵל, אֶל-יְהוָה </a:t>
            </a:r>
            <a:r>
              <a:rPr lang="he-IL" sz="32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לֵאמֹר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:  חָטָאנוּ לָךְ--וְכִי עָזַבְנוּ </a:t>
            </a:r>
            <a:r>
              <a:rPr lang="he-IL" sz="32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אֶת-אֱלֹהֵינו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ּ, וַנַּעֲבֹד אֶת-הַבְּעָלִים.  {פ}</a:t>
            </a:r>
            <a:endParaRPr lang="he-IL" sz="3200" dirty="0"/>
          </a:p>
        </p:txBody>
      </p:sp>
      <p:graphicFrame>
        <p:nvGraphicFramePr>
          <p:cNvPr id="3" name="טבלה 2">
            <a:extLst>
              <a:ext uri="{FF2B5EF4-FFF2-40B4-BE49-F238E27FC236}">
                <a16:creationId xmlns:a16="http://schemas.microsoft.com/office/drawing/2014/main" id="{9EC4BED3-5751-4922-93EC-37E11A5707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238215"/>
              </p:ext>
            </p:extLst>
          </p:nvPr>
        </p:nvGraphicFramePr>
        <p:xfrm>
          <a:off x="2573866" y="3790616"/>
          <a:ext cx="8128000" cy="2682240"/>
        </p:xfrm>
        <a:graphic>
          <a:graphicData uri="http://schemas.openxmlformats.org/drawingml/2006/table">
            <a:tbl>
              <a:tblPr rtl="1" firstRow="1" bandRow="1">
                <a:tableStyleId>{8A107856-5554-42FB-B03E-39F5DBC370BA}</a:tableStyleId>
              </a:tblPr>
              <a:tblGrid>
                <a:gridCol w="2935110">
                  <a:extLst>
                    <a:ext uri="{9D8B030D-6E8A-4147-A177-3AD203B41FA5}">
                      <a16:colId xmlns:a16="http://schemas.microsoft.com/office/drawing/2014/main" val="3852427142"/>
                    </a:ext>
                  </a:extLst>
                </a:gridCol>
                <a:gridCol w="5192890">
                  <a:extLst>
                    <a:ext uri="{9D8B030D-6E8A-4147-A177-3AD203B41FA5}">
                      <a16:colId xmlns:a16="http://schemas.microsoft.com/office/drawing/2014/main" val="7804541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he-IL" sz="3200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המילים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3200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הביאור: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44676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he-IL" sz="2400" dirty="0" err="1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וירעצו</a:t>
                      </a:r>
                      <a:r>
                        <a:rPr lang="he-IL" sz="2400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 ויתרוצצו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2400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שברו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26621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he-IL" sz="2400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"אשר בעבר הירדן בארץ האמורי"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2400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את שניים וחצי השבטים שהיו בעבר הירדן המזרחי.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19411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he-IL" sz="2400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"ויעברו בני עמון להילחם ביהודה ובבנימין..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2400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עברו בני עמון גם להילחם עם </a:t>
                      </a:r>
                      <a:r>
                        <a:rPr lang="he-IL" sz="2400" dirty="0" err="1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עם</a:t>
                      </a:r>
                      <a:r>
                        <a:rPr lang="he-IL" sz="2400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 ישראל שבצדו המערבי של הירדן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50110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895217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>
            <a:extLst>
              <a:ext uri="{FF2B5EF4-FFF2-40B4-BE49-F238E27FC236}">
                <a16:creationId xmlns:a16="http://schemas.microsoft.com/office/drawing/2014/main" id="{B157A978-2774-4EA3-A4FE-10080932C799}"/>
              </a:ext>
            </a:extLst>
          </p:cNvPr>
          <p:cNvSpPr/>
          <p:nvPr/>
        </p:nvSpPr>
        <p:spPr>
          <a:xfrm>
            <a:off x="1659468" y="288836"/>
            <a:ext cx="9787466" cy="3046988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txBody>
          <a:bodyPr wrap="square">
            <a:spAutoFit/>
          </a:bodyPr>
          <a:lstStyle/>
          <a:p>
            <a:pPr algn="r"/>
            <a:r>
              <a:rPr lang="he-IL" sz="3200" b="1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יא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וַיֹּאמֶר יְהוָה, אֶל-בְּנֵי יִשְׂרָאֵל:  הֲלֹא </a:t>
            </a:r>
            <a:r>
              <a:rPr lang="he-IL" sz="3200" b="1" dirty="0">
                <a:solidFill>
                  <a:srgbClr val="000000"/>
                </a:solidFill>
                <a:highlight>
                  <a:srgbClr val="00FFFF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מִמִּצְרַיִם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32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וּמִן-</a:t>
            </a:r>
            <a:r>
              <a:rPr lang="he-IL" sz="3200" b="1" dirty="0" err="1">
                <a:solidFill>
                  <a:srgbClr val="000000"/>
                </a:solidFill>
                <a:highlight>
                  <a:srgbClr val="00FFFF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הָאֱמֹרִי</a:t>
            </a:r>
            <a:r>
              <a:rPr lang="he-IL" sz="3200" b="1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, </a:t>
            </a:r>
            <a:r>
              <a:rPr lang="he-IL" sz="3200" b="1" dirty="0">
                <a:solidFill>
                  <a:srgbClr val="000000"/>
                </a:solidFill>
                <a:highlight>
                  <a:srgbClr val="00FFFF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וּמִן-בְּנֵי עַמּוֹן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32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וּמִן-</a:t>
            </a:r>
            <a:r>
              <a:rPr lang="he-IL" sz="3200" b="1" dirty="0" err="1">
                <a:solidFill>
                  <a:srgbClr val="000000"/>
                </a:solidFill>
                <a:highlight>
                  <a:srgbClr val="00FFFF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פְּלִשְׁתִּים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.  </a:t>
            </a:r>
          </a:p>
          <a:p>
            <a:pPr algn="r"/>
            <a:r>
              <a:rPr lang="he-IL" sz="3200" b="1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יב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</a:t>
            </a:r>
            <a:r>
              <a:rPr lang="he-IL" sz="3200" b="1" dirty="0">
                <a:solidFill>
                  <a:srgbClr val="000000"/>
                </a:solidFill>
                <a:highlight>
                  <a:srgbClr val="00FFFF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וְצִידוֹנִים וַעֲמָלֵק וּמָעוֹן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, לָחֲצוּ אֶתְכֶם; וַתִּצְעֲקוּ אֵלַי, וָאוֹשִׁיעָה אֶתְכֶם מִיָּדָם.  </a:t>
            </a:r>
          </a:p>
          <a:p>
            <a:pPr algn="r"/>
            <a:r>
              <a:rPr lang="he-IL" sz="3200" b="1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יג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וְאַתֶּם עֲזַבְתֶּם אוֹתִי, וַתַּעַבְדוּ </a:t>
            </a:r>
            <a:r>
              <a:rPr lang="he-IL" sz="32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אֱלֹהִים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אֲחֵרִים; לָכֵן לֹא-אוֹסִיף, לְהוֹשִׁיעַ אֶתְכֶם.</a:t>
            </a:r>
            <a:endParaRPr lang="he-IL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48E932-0626-4200-8B06-BE896E50AF0A}"/>
              </a:ext>
            </a:extLst>
          </p:cNvPr>
          <p:cNvSpPr txBox="1"/>
          <p:nvPr/>
        </p:nvSpPr>
        <p:spPr>
          <a:xfrm>
            <a:off x="6491110" y="3736622"/>
            <a:ext cx="4955823" cy="2269067"/>
          </a:xfrm>
          <a:prstGeom prst="flowChartAlternateProcess">
            <a:avLst/>
          </a:prstGeom>
          <a:solidFill>
            <a:srgbClr val="FFC000"/>
          </a:solidFill>
          <a:ln w="28575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pPr algn="r"/>
            <a:r>
              <a:rPr lang="he-IL" sz="3200" dirty="0">
                <a:latin typeface="David" panose="020E0502060401010101" pitchFamily="34" charset="-79"/>
                <a:cs typeface="David" panose="020E0502060401010101" pitchFamily="34" charset="-79"/>
              </a:rPr>
              <a:t>כנגד אותם שבע עבודות זרות, שעבדו הזכיר להם הקב"ה את שבעה עמים שהושיע אותם מידם...</a:t>
            </a:r>
          </a:p>
        </p:txBody>
      </p:sp>
      <p:pic>
        <p:nvPicPr>
          <p:cNvPr id="5122" name="Picture 2" descr="עבודה זרה – ויקיפדיה">
            <a:extLst>
              <a:ext uri="{FF2B5EF4-FFF2-40B4-BE49-F238E27FC236}">
                <a16:creationId xmlns:a16="http://schemas.microsoft.com/office/drawing/2014/main" id="{8600DE3D-C178-4BDD-A611-E43A5A797B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107" y="2946400"/>
            <a:ext cx="3095449" cy="34827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730268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" dur="20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>
            <a:extLst>
              <a:ext uri="{FF2B5EF4-FFF2-40B4-BE49-F238E27FC236}">
                <a16:creationId xmlns:a16="http://schemas.microsoft.com/office/drawing/2014/main" id="{F4064F58-2202-4467-9D4F-61017083AB48}"/>
              </a:ext>
            </a:extLst>
          </p:cNvPr>
          <p:cNvSpPr/>
          <p:nvPr/>
        </p:nvSpPr>
        <p:spPr>
          <a:xfrm>
            <a:off x="3612444" y="232392"/>
            <a:ext cx="7778044" cy="3046988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txBody>
          <a:bodyPr wrap="square">
            <a:spAutoFit/>
          </a:bodyPr>
          <a:lstStyle/>
          <a:p>
            <a:pPr algn="r"/>
            <a:r>
              <a:rPr lang="he-IL" sz="3200" b="1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יד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לְכוּ, וְזַעֲקוּ </a:t>
            </a:r>
            <a:r>
              <a:rPr lang="he-IL" sz="32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אֶל-הָאֱלֹהִים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, אֲשֶׁר בְּחַרְתֶּם, בָּם: </a:t>
            </a:r>
            <a:r>
              <a:rPr lang="he-IL" sz="3200" b="1" dirty="0">
                <a:solidFill>
                  <a:srgbClr val="000000"/>
                </a:solidFill>
                <a:highlight>
                  <a:srgbClr val="00FFFF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 הֵמָּה יוֹשִׁיעוּ לָכֶם, בְּעֵת צָרַתְכֶם.  </a:t>
            </a:r>
          </a:p>
          <a:p>
            <a:pPr algn="r"/>
            <a:r>
              <a:rPr lang="he-IL" sz="3200" b="1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טו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וַיֹּאמְרוּ בְנֵי-יִשְׂרָאֵל אֶל-יְהוָה, </a:t>
            </a:r>
            <a:r>
              <a:rPr lang="he-IL" sz="3200" b="1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חָטָאנוּ--עֲשֵׂה-אַתָּה לָנוּ, כְּכָל-הַטּוֹב בְּעֵינֶיךָ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:  אַךְ הַצִּילֵנוּ נָא, הַיּוֹם הַזֶּה.  </a:t>
            </a:r>
          </a:p>
          <a:p>
            <a:pPr algn="r"/>
            <a:r>
              <a:rPr lang="he-IL" sz="3200" b="1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טז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</a:t>
            </a:r>
            <a:r>
              <a:rPr lang="he-IL" sz="3200" b="1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וַיָּסִירוּ </a:t>
            </a:r>
            <a:r>
              <a:rPr lang="he-IL" sz="3200" b="1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אֶת-אֱלֹהֵי</a:t>
            </a:r>
            <a:r>
              <a:rPr lang="he-IL" sz="3200" b="1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3200" b="1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הַנֵּכָר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, מִקִּרְבָּם, וַיַּעַבְדוּ, אֶת-יְהוָה; </a:t>
            </a:r>
            <a:r>
              <a:rPr lang="he-IL" sz="3200" b="1" dirty="0">
                <a:solidFill>
                  <a:srgbClr val="000000"/>
                </a:solidFill>
                <a:highlight>
                  <a:srgbClr val="00FFFF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וַתִּקְצַר נַפְשׁוֹ, 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בַּעֲמַל יִשְׂרָאֵל.  {פ}</a:t>
            </a:r>
            <a:endParaRPr lang="he-IL" sz="3200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06B3FB-A72E-4D1B-8D41-924F5500EF18}"/>
              </a:ext>
            </a:extLst>
          </p:cNvPr>
          <p:cNvSpPr txBox="1"/>
          <p:nvPr/>
        </p:nvSpPr>
        <p:spPr>
          <a:xfrm>
            <a:off x="-101600" y="484384"/>
            <a:ext cx="4763912" cy="5319058"/>
          </a:xfrm>
          <a:prstGeom prst="flowChartDecision">
            <a:avLst/>
          </a:prstGeom>
          <a:solidFill>
            <a:srgbClr val="92D050"/>
          </a:solidFill>
          <a:ln w="28575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pPr algn="ctr"/>
            <a:r>
              <a:rPr lang="he-IL" sz="2800" dirty="0">
                <a:latin typeface="David" panose="020E0502060401010101" pitchFamily="34" charset="-79"/>
                <a:cs typeface="David" panose="020E0502060401010101" pitchFamily="34" charset="-79"/>
              </a:rPr>
              <a:t>ה' אומר לעם ישראל: לכו ותצעקו לאלוהים שאתם בחרתם לע"ז הם יושיעו אתכם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944C81-B52D-4A71-BE85-CF56623F365D}"/>
              </a:ext>
            </a:extLst>
          </p:cNvPr>
          <p:cNvSpPr txBox="1"/>
          <p:nvPr/>
        </p:nvSpPr>
        <p:spPr>
          <a:xfrm>
            <a:off x="7924800" y="3578621"/>
            <a:ext cx="4205112" cy="2875717"/>
          </a:xfrm>
          <a:prstGeom prst="trapezoid">
            <a:avLst/>
          </a:prstGeom>
          <a:solidFill>
            <a:srgbClr val="00B0F0"/>
          </a:solidFill>
          <a:ln w="19050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pPr algn="ctr"/>
            <a:r>
              <a:rPr lang="he-IL" sz="3200" dirty="0">
                <a:latin typeface="David" panose="020E0502060401010101" pitchFamily="34" charset="-79"/>
                <a:cs typeface="David" panose="020E0502060401010101" pitchFamily="34" charset="-79"/>
              </a:rPr>
              <a:t>אמרו בני ישראל לקב"ה אנחנו חטאנו תעניש אותנו אתה אך תציל אותנו מעמון </a:t>
            </a:r>
            <a:r>
              <a:rPr lang="he-IL" sz="3200" dirty="0" err="1">
                <a:latin typeface="David" panose="020E0502060401010101" pitchFamily="34" charset="-79"/>
                <a:cs typeface="David" panose="020E0502060401010101" pitchFamily="34" charset="-79"/>
              </a:rPr>
              <a:t>ופלשתים</a:t>
            </a:r>
            <a:r>
              <a:rPr lang="he-IL" sz="3200" dirty="0">
                <a:latin typeface="David" panose="020E0502060401010101" pitchFamily="34" charset="-79"/>
                <a:cs typeface="David" panose="020E0502060401010101" pitchFamily="34" charset="-79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6C40F0-EA9D-4343-8DFE-27FB370D065E}"/>
              </a:ext>
            </a:extLst>
          </p:cNvPr>
          <p:cNvSpPr txBox="1"/>
          <p:nvPr/>
        </p:nvSpPr>
        <p:spPr>
          <a:xfrm>
            <a:off x="5029200" y="3232173"/>
            <a:ext cx="3183466" cy="3159383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pPr algn="ctr"/>
            <a:r>
              <a:rPr lang="he-IL" sz="2800" dirty="0">
                <a:latin typeface="David" panose="020E0502060401010101" pitchFamily="34" charset="-79"/>
                <a:cs typeface="David" panose="020E0502060401010101" pitchFamily="34" charset="-79"/>
              </a:rPr>
              <a:t>עם ישראל הסירו מעליהם את העבודות זרות וחזרו לעבוד את ה'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5A0E85-95AC-48CE-8AB9-E297EF0F9C37}"/>
              </a:ext>
            </a:extLst>
          </p:cNvPr>
          <p:cNvSpPr txBox="1"/>
          <p:nvPr/>
        </p:nvSpPr>
        <p:spPr>
          <a:xfrm>
            <a:off x="268112" y="4563505"/>
            <a:ext cx="4577644" cy="2062103"/>
          </a:xfrm>
          <a:prstGeom prst="rect">
            <a:avLst/>
          </a:prstGeom>
          <a:solidFill>
            <a:srgbClr val="FFC000"/>
          </a:solidFill>
          <a:ln w="28575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pPr algn="r"/>
            <a:r>
              <a:rPr lang="he-IL" sz="3200" b="1" u="sng" dirty="0">
                <a:latin typeface="David" panose="020E0502060401010101" pitchFamily="34" charset="-79"/>
                <a:cs typeface="David" panose="020E0502060401010101" pitchFamily="34" charset="-79"/>
              </a:rPr>
              <a:t>"ותקצר נפשו" </a:t>
            </a:r>
            <a:r>
              <a:rPr lang="he-IL" sz="3200" dirty="0">
                <a:latin typeface="David" panose="020E0502060401010101" pitchFamily="34" charset="-79"/>
                <a:cs typeface="David" panose="020E0502060401010101" pitchFamily="34" charset="-79"/>
              </a:rPr>
              <a:t>של הקב"ה שלא </a:t>
            </a:r>
            <a:r>
              <a:rPr lang="he-IL" sz="3200" dirty="0" err="1">
                <a:latin typeface="David" panose="020E0502060401010101" pitchFamily="34" charset="-79"/>
                <a:cs typeface="David" panose="020E0502060401010101" pitchFamily="34" charset="-79"/>
              </a:rPr>
              <a:t>יכל</a:t>
            </a:r>
            <a:r>
              <a:rPr lang="he-IL" sz="3200" dirty="0">
                <a:latin typeface="David" panose="020E0502060401010101" pitchFamily="34" charset="-79"/>
                <a:cs typeface="David" panose="020E0502060401010101" pitchFamily="34" charset="-79"/>
              </a:rPr>
              <a:t> עוד לראות בצערם של עם ישראל והחליט להושיע אותם.</a:t>
            </a:r>
          </a:p>
        </p:txBody>
      </p:sp>
    </p:spTree>
    <p:extLst>
      <p:ext uri="{BB962C8B-B14F-4D97-AF65-F5344CB8AC3E}">
        <p14:creationId xmlns:p14="http://schemas.microsoft.com/office/powerpoint/2010/main" val="33351355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>
            <a:extLst>
              <a:ext uri="{FF2B5EF4-FFF2-40B4-BE49-F238E27FC236}">
                <a16:creationId xmlns:a16="http://schemas.microsoft.com/office/drawing/2014/main" id="{27DE1450-858E-4936-B1A9-49B41322C756}"/>
              </a:ext>
            </a:extLst>
          </p:cNvPr>
          <p:cNvSpPr/>
          <p:nvPr/>
        </p:nvSpPr>
        <p:spPr>
          <a:xfrm>
            <a:off x="7141580" y="374606"/>
            <a:ext cx="4745620" cy="353943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r"/>
            <a:r>
              <a:rPr lang="he-IL" sz="3200" b="1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יז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וַיִּצָּעֲקוּ </a:t>
            </a:r>
            <a:r>
              <a:rPr lang="he-IL" sz="3200" b="1" dirty="0">
                <a:solidFill>
                  <a:srgbClr val="000000"/>
                </a:solidFill>
                <a:highlight>
                  <a:srgbClr val="00FFFF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בְּנֵי עַמּוֹן, וַיַּחֲנוּ בַּגִּלְעָד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; וַיֵּאָסְפוּ </a:t>
            </a:r>
            <a:r>
              <a:rPr lang="he-IL" sz="3200" b="1" dirty="0">
                <a:solidFill>
                  <a:srgbClr val="000000"/>
                </a:solidFill>
                <a:highlight>
                  <a:srgbClr val="00FFFF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בְּנֵי יִשְׂרָאֵל, וַיַּחֲנוּ בַּמִּצְפָּה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.  </a:t>
            </a:r>
          </a:p>
          <a:p>
            <a:pPr algn="r"/>
            <a:r>
              <a:rPr lang="he-IL" sz="3200" b="1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יח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וַיֹּאמְרוּ הָעָם שָׂרֵי גִלְעָד, אִישׁ אֶל-רֵעֵהוּ, </a:t>
            </a:r>
            <a:r>
              <a:rPr lang="he-IL" sz="3200" b="1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מִי הָאִישׁ, אֲשֶׁר יָחֵל </a:t>
            </a:r>
            <a:r>
              <a:rPr lang="he-IL" sz="3200" b="1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לְהִלָּחֵם</a:t>
            </a:r>
            <a:r>
              <a:rPr lang="he-IL" sz="3200" b="1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בִּבְנֵי עַמּוֹן--יִהְיֶה לְרֹאשׁ, לְכֹל יֹשְׁבֵי גִלְעָד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.  {פ}</a:t>
            </a:r>
            <a:endParaRPr lang="he-IL" sz="3200" dirty="0"/>
          </a:p>
        </p:txBody>
      </p:sp>
      <p:pic>
        <p:nvPicPr>
          <p:cNvPr id="6152" name="Picture 8" descr="קובץ:Levant 830-HE.svg – ויקיפדיה">
            <a:extLst>
              <a:ext uri="{FF2B5EF4-FFF2-40B4-BE49-F238E27FC236}">
                <a16:creationId xmlns:a16="http://schemas.microsoft.com/office/drawing/2014/main" id="{F33385D2-C58C-4419-9602-20FADF1C29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123" y="541116"/>
            <a:ext cx="5327877" cy="5775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7128637"/>
      </p:ext>
    </p:extLst>
  </p:cSld>
  <p:clrMapOvr>
    <a:masterClrMapping/>
  </p:clrMapOvr>
</p:sld>
</file>

<file path=ppt/theme/theme1.xml><?xml version="1.0" encoding="utf-8"?>
<a:theme xmlns:a="http://schemas.openxmlformats.org/drawingml/2006/main" name="פיאה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F496CB"/>
      </a:accent1>
      <a:accent2>
        <a:srgbClr val="BC356F"/>
      </a:accent2>
      <a:accent3>
        <a:srgbClr val="E65331"/>
      </a:accent3>
      <a:accent4>
        <a:srgbClr val="F27E19"/>
      </a:accent4>
      <a:accent5>
        <a:srgbClr val="F2AC19"/>
      </a:accent5>
      <a:accent6>
        <a:srgbClr val="BC80E0"/>
      </a:accent6>
      <a:hlink>
        <a:srgbClr val="EF5285"/>
      </a:hlink>
      <a:folHlink>
        <a:srgbClr val="F77F9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23659B44-6E34-4CE8-8F0D-387DA79968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5616</TotalTime>
  <Words>637</Words>
  <Application>Microsoft Office PowerPoint</Application>
  <PresentationFormat>מסך רחב</PresentationFormat>
  <Paragraphs>56</Paragraphs>
  <Slides>8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5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8</vt:i4>
      </vt:variant>
    </vt:vector>
  </HeadingPairs>
  <TitlesOfParts>
    <vt:vector size="14" baseType="lpstr">
      <vt:lpstr>Arial</vt:lpstr>
      <vt:lpstr>David</vt:lpstr>
      <vt:lpstr>Gisha</vt:lpstr>
      <vt:lpstr>Trebuchet MS</vt:lpstr>
      <vt:lpstr>Wingdings 3</vt:lpstr>
      <vt:lpstr>פיאה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Teacher</dc:creator>
  <cp:lastModifiedBy>Teacher</cp:lastModifiedBy>
  <cp:revision>19</cp:revision>
  <dcterms:created xsi:type="dcterms:W3CDTF">2020-12-15T22:25:52Z</dcterms:created>
  <dcterms:modified xsi:type="dcterms:W3CDTF">2020-12-19T20:02:37Z</dcterms:modified>
</cp:coreProperties>
</file>