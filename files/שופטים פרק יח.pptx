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acher" initials="T" lastIdx="1" clrIdx="0">
    <p:extLst>
      <p:ext uri="{19B8F6BF-5375-455C-9EA6-DF929625EA0E}">
        <p15:presenceInfo xmlns:p15="http://schemas.microsoft.com/office/powerpoint/2012/main" userId="Teach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04T13:16:39.876" idx="1">
    <p:pos x="767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D2EE42-784E-4160-A2EA-0601BC7A9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21C7DC1-03B9-49B2-9D01-951FC72D6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14A4C9-E0CA-4D22-A95C-9FB490120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9E8D272-3964-43C3-993F-27EF0AC8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1F989C5-7808-45F3-A379-9185E1C0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092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A64738-08B2-4821-8A95-54415765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C83DC26-719D-4F79-9C4E-2DE11162D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1C1434-EC46-48A9-8980-1FB4F053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0FEE4C-104C-460B-B56C-D8938D0A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65186E6-E145-4E5D-9211-354F120F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98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F46122-A99D-4F1C-99D9-7627676A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5A408C0-49C3-4D79-A553-B8225E394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70B30A-74EB-4E3E-96CB-42080D74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233F931-CC50-4726-9362-C8150A57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EC17FA7-AE97-4B1C-BDE3-63024631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346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ED1590-25A5-4E6D-A3F3-2AC493AB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FA8C4B-652D-4E73-B680-F72C12ED4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FE399BA-2CA1-4BB4-9A1F-EC2F7C2CF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4424A29-5315-4EFB-8F08-0737FF81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9A428FA-38B2-4ADE-BA90-E86A33A3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ACF4A7-C7A3-442B-B352-88A8238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817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EECA5B-B8FD-4188-8A0E-2F480F63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BF1E175-822F-43B1-B97A-3E68694B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E447E7E-2BB0-49A6-BB83-906EE7B05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CD1B29E-888D-4051-8A5A-B0254D2AC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A8F9FC1-788B-4B1D-B159-3061AF6A2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DC8CEE1-E816-4AFA-B04B-F5D22D9D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4B098B4-8548-46E6-B446-F2FE5EC3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B074273-79DD-4C66-A11E-76055E296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575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E53C9B-7067-450D-B04C-54C0687F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E9CF94F-3256-45E4-8CE3-968EA5D9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AF08E60-B355-44C3-80C6-A8EB979D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2B2B667-3531-4BF0-8AD9-D32BC0FF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703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2846F95-7595-4CB6-BED7-6BAC2DF0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5C37110-10FA-4D1F-B92A-ACC44BF1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D3309F7-6B37-404A-B258-49E12DAB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911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AA5F16-57E7-433C-96EE-E32EB640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1EC0AA4-3E02-4860-8BAE-7D9FBCF9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03C434-8D9B-46EC-B9F3-BFC1E25E4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4F3DA24-8DE6-4A23-B1DC-99269A65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088190E-9FB3-45B4-B682-5AB83FD1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8C43F0-26A9-49E1-89C7-5B97EA93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22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8D9A45-3191-4876-B532-EAD37133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CA7470B-F88B-4855-B971-16FEE1200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803AA92-561E-48DD-95D0-0E849F613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D9577F6-8989-4C82-8C91-D5EE6966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FFDC94-0893-4F37-AED5-9E397FFD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D2F323F-364C-42A3-BE41-26221218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5430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04EE22-6FD0-425D-8D0A-0486038D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47C71C7-5CD2-4CFA-AEFA-92ED375C6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AF830C-8B80-4944-A5EB-DD80903A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AF05A5C-8850-4A56-8341-427EE265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C4D0EA-5A6F-4DF6-8CD2-EAE9137B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432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E526D07-321B-4F29-9A8F-D19B63E05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17DACA6-4A7F-47A6-8F5B-6FA18D21C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A9F2AF-37F0-4EC0-A0CC-4DED25B3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BC0889-D810-4877-A4F4-277B7A60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3DE361F-0CE4-4776-8584-15AF20D9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650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BED1FAA-75AE-49CC-B977-6C91D9FE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E1B3C68-4432-4194-B3EB-560871700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7EAB98-F6ED-4E9F-B883-1C31005DA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417F1-F108-464F-915B-848CE899793D}" type="datetimeFigureOut">
              <a:rPr lang="he-IL" smtClean="0"/>
              <a:t>א'/ניסן/תשפ"א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8EEF6A7-5426-4B0C-BAA6-B8BD5A0F5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921F6A9-1A59-44A7-86EF-F4F14214C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763D2-BACE-4850-8410-5A5F8C704C8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926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4C4EC-BA3B-480F-8A09-260AD1BB5ECC}"/>
              </a:ext>
            </a:extLst>
          </p:cNvPr>
          <p:cNvSpPr txBox="1"/>
          <p:nvPr/>
        </p:nvSpPr>
        <p:spPr>
          <a:xfrm>
            <a:off x="3644536" y="222068"/>
            <a:ext cx="5784669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David" panose="020E0502060401010101" pitchFamily="34" charset="-79"/>
                <a:cs typeface="David" panose="020E0502060401010101" pitchFamily="34" charset="-79"/>
              </a:rPr>
              <a:t>פרק יח' פסוקים א'-</a:t>
            </a:r>
            <a:r>
              <a:rPr lang="he-IL" sz="4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4800" b="1" dirty="0">
                <a:latin typeface="David" panose="020E0502060401010101" pitchFamily="34" charset="-79"/>
                <a:cs typeface="David" panose="020E0502060401010101" pitchFamily="34" charset="-79"/>
              </a:rPr>
              <a:t>':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434F1-3600-4FD2-8D1B-45A65A812B92}"/>
              </a:ext>
            </a:extLst>
          </p:cNvPr>
          <p:cNvSpPr txBox="1"/>
          <p:nvPr/>
        </p:nvSpPr>
        <p:spPr>
          <a:xfrm>
            <a:off x="116481" y="3028398"/>
            <a:ext cx="6122127" cy="3607534"/>
          </a:xfrm>
          <a:prstGeom prst="cloud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000" b="1" u="sng" dirty="0">
                <a:latin typeface="David" panose="020E0502060401010101" pitchFamily="34" charset="-79"/>
                <a:cs typeface="David" panose="020E0502060401010101" pitchFamily="34" charset="-79"/>
              </a:rPr>
              <a:t>פסוקים ז'- </a:t>
            </a:r>
            <a:r>
              <a:rPr lang="he-IL" sz="40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4000" b="1" u="sng" dirty="0">
                <a:latin typeface="David" panose="020E0502060401010101" pitchFamily="34" charset="-79"/>
                <a:cs typeface="David" panose="020E0502060401010101" pitchFamily="34" charset="-79"/>
              </a:rPr>
              <a:t>':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המרגלים מגיעים לליש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לוחמי שבט דן בבית מיכה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0EDC35-9B4F-42DD-9FBC-78F91DE5BA3F}"/>
              </a:ext>
            </a:extLst>
          </p:cNvPr>
          <p:cNvSpPr txBox="1"/>
          <p:nvPr/>
        </p:nvSpPr>
        <p:spPr>
          <a:xfrm>
            <a:off x="6238608" y="1189563"/>
            <a:ext cx="5538649" cy="27642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000" b="1" u="sng" dirty="0">
                <a:latin typeface="David" panose="020E0502060401010101" pitchFamily="34" charset="-79"/>
                <a:cs typeface="David" panose="020E0502060401010101" pitchFamily="34" charset="-79"/>
              </a:rPr>
              <a:t>פסוקים א'-ו':</a:t>
            </a:r>
          </a:p>
          <a:p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מרגלי שבט דן יוצאים לחפש נחלה</a:t>
            </a:r>
          </a:p>
        </p:txBody>
      </p:sp>
    </p:spTree>
    <p:extLst>
      <p:ext uri="{BB962C8B-B14F-4D97-AF65-F5344CB8AC3E}">
        <p14:creationId xmlns:p14="http://schemas.microsoft.com/office/powerpoint/2010/main" val="181940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7C605069-6C19-4569-94E7-E03D4EA298D1}"/>
              </a:ext>
            </a:extLst>
          </p:cNvPr>
          <p:cNvSpPr/>
          <p:nvPr/>
        </p:nvSpPr>
        <p:spPr>
          <a:xfrm>
            <a:off x="5939246" y="143510"/>
            <a:ext cx="6096000" cy="39703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r>
              <a:rPr lang="he-IL" sz="280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 בַּיָּמִים הָהֵם, אֵין מֶלֶךְ בְּיִשְׂרָאֵל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; וּבַיָּמִים הָהֵם, </a:t>
            </a:r>
            <a:r>
              <a:rPr lang="he-IL" sz="28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שֵׁבֶט הַדָּנִי מְבַקֶּשׁ-לוֹ נַחֲלָה לָשֶׁבֶת-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-כִּי לֹא-נָפְלָה לּוֹ עַד-הַיּוֹם הַהוּא בְּתוֹךְ-שִׁבְטֵי יִשְׂרָאֵל, בְּנַחֲלָה.  {פ}</a:t>
            </a:r>
            <a:br>
              <a:rPr lang="he-IL" sz="2800" dirty="0"/>
            </a:br>
            <a:r>
              <a:rPr lang="he-IL" sz="28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וַיִּשְׁלְחוּ בְנֵי-דָן מִמִּשְׁפַּחְתָּם </a:t>
            </a:r>
            <a:r>
              <a:rPr lang="he-IL" sz="28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חֲמִשָּׁה אֲנָשִׁים </a:t>
            </a:r>
            <a:r>
              <a:rPr lang="he-IL" sz="2800" b="1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מִקְצוֹתָם</a:t>
            </a:r>
            <a:r>
              <a:rPr lang="he-IL" sz="28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אֲנָשִׁים בְּנֵי-חַיִל 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מִצָּרְעָה </a:t>
            </a:r>
            <a:r>
              <a:rPr lang="he-IL" sz="28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וּמֵאֶשְׁתָּאֹל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לְרַגֵּל אֶת-הָאָרֶץ וּלְחָקְרָהּ, וַיֹּאמְרוּ </a:t>
            </a:r>
            <a:r>
              <a:rPr lang="he-IL" sz="28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אֲלֵהֶם</a:t>
            </a:r>
            <a:r>
              <a:rPr lang="he-IL" sz="28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לְכוּ חִקְרוּ אֶת-הָאָרֶץ; וַיָּבֹאוּ הַר-אֶפְרַיִם עַד-בֵּית מִיכָה, וַיָּלִינוּ שָׁם</a:t>
            </a:r>
            <a:endParaRPr lang="he-IL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7D8EC-7D83-434D-B4EA-1897ECCF6F16}"/>
              </a:ext>
            </a:extLst>
          </p:cNvPr>
          <p:cNvSpPr txBox="1"/>
          <p:nvPr/>
        </p:nvSpPr>
        <p:spPr>
          <a:xfrm>
            <a:off x="156754" y="374919"/>
            <a:ext cx="5447211" cy="26776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א.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באותם ימים (לאחר תקופת יהושע) אין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עדיין מלך ומנהיג בישראל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, שבט דן קיבל נחלה במרכז הארץ על פי גורל (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בניברק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יפו) , אבל נחלה זו לא הספיקה להם כי הם היו שבט מרובה, וגם לא ראויה בעיניהם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והם החליטו לחפש נחלה נוספת</a:t>
            </a:r>
            <a:endParaRPr lang="he-IL" sz="2400" b="1" dirty="0">
              <a:highlight>
                <a:srgbClr val="00FFFF"/>
              </a:highlight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EADD9-1151-4913-8AF0-6C70A75BF0E3}"/>
              </a:ext>
            </a:extLst>
          </p:cNvPr>
          <p:cNvSpPr txBox="1"/>
          <p:nvPr/>
        </p:nvSpPr>
        <p:spPr>
          <a:xfrm>
            <a:off x="5142410" y="4236312"/>
            <a:ext cx="6892836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ב.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הם שמעו שיש עיר אחת 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באזור הצפון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לקחו חמישה אנשים (אחד מכל משפחה) והם היו קצינים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שלחו אותם מאזור צרעה ואשתאול לרגל את </a:t>
            </a:r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את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הארץ האם היא טובה בעבורם, הם הלכו ועברו דרך הר אפרים סמוך לבית של מיכה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D377226-051F-4724-BF79-02BFE1FE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6491"/>
            <a:ext cx="3333206" cy="333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9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C9C01D42-DF64-454E-9D14-FA36E739515D}"/>
              </a:ext>
            </a:extLst>
          </p:cNvPr>
          <p:cNvSpPr/>
          <p:nvPr/>
        </p:nvSpPr>
        <p:spPr>
          <a:xfrm>
            <a:off x="5856514" y="184947"/>
            <a:ext cx="6096000" cy="30469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ג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הֵמָּה, עִם-בֵּית מִיכָה, וְהֵמָּה הִכִּירוּ, אֶת-קוֹל הַנַּעַר הַלֵּוִי;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וַיָּסוּרוּ שָׁם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וַיֹּאמְרוּ לוֹ מִי-הֱבִיאֲךָ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הֲלֹם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וּמָה-אַתָּה עֹשֶׂה ב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ָּזֶה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וּמַה-לְּךָ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פֹה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. </a:t>
            </a:r>
          </a:p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ד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וַיֹּאמֶר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אֲלֵהֶם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--כָּזֹה וְכָזֶה, עָשָׂה לִי מִיכָה;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וַיִּשְׂכְּרֵנִי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וָאֱהִי-לו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ֹ לְכֹהֵן. </a:t>
            </a:r>
            <a:endParaRPr lang="he-IL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939EB-7650-4A22-B93B-C1BE67B067D5}"/>
              </a:ext>
            </a:extLst>
          </p:cNvPr>
          <p:cNvSpPr txBox="1"/>
          <p:nvPr/>
        </p:nvSpPr>
        <p:spPr>
          <a:xfrm>
            <a:off x="156754" y="374919"/>
            <a:ext cx="5512526" cy="26776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ג.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כאשר המרגלים היו סמוכים לבית של מיכה, שמעו את קולו של יהונתן וזיהו אותו ,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והלכו ונכנסו לבית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ושאלו אותו: איך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הגעת לכאן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ומה אתה עושה בבית עבודה זרה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הרי אתה נכדו של משה רבינו?!</a:t>
            </a:r>
            <a:endParaRPr lang="he-IL" sz="28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D187E-F759-4B9C-BCDA-5DBF49F22982}"/>
              </a:ext>
            </a:extLst>
          </p:cNvPr>
          <p:cNvSpPr txBox="1"/>
          <p:nvPr/>
        </p:nvSpPr>
        <p:spPr>
          <a:xfrm>
            <a:off x="156754" y="3436093"/>
            <a:ext cx="5939246" cy="3416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הגמרא מספרת: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שיהונתן ענה להם- "כך קיבלתי ממשה רבינו סבי: </a:t>
            </a:r>
            <a:r>
              <a:rPr lang="he-IL" sz="2400" b="1" u="sng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"עדיף שיהיה אדם משרת לעבודה זרה"- והעיקר שלא יתפרנס מהצדקה "</a:t>
            </a:r>
          </a:p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חכמים מסבירים שיהונתן טעה בהבנת דבריו של משה רבינו, יהונתן חשב שמדובר בעבודה זרה ממש, בעוד משה רבינו התכוון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שעדיף לאדם לעבוד עבודה שהיא זרה לו, כגון: שאינה לפי כבודו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(למשל עורך דין שיעבוד בתור מנקה) ובלבד שלא יבקש כסף מצדקה.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8BB54-B381-4C31-8B8A-0352C3930040}"/>
              </a:ext>
            </a:extLst>
          </p:cNvPr>
          <p:cNvSpPr txBox="1"/>
          <p:nvPr/>
        </p:nvSpPr>
        <p:spPr>
          <a:xfrm>
            <a:off x="9605555" y="3429000"/>
            <a:ext cx="2429691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ד.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סיפר להם יהונתן כך וכך עשה לי מיכה ואיך נהיה כהן אצל מיכה בשכר.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CBC5E-ED96-4AC0-9E75-E5701BEB001B}"/>
              </a:ext>
            </a:extLst>
          </p:cNvPr>
          <p:cNvSpPr txBox="1"/>
          <p:nvPr/>
        </p:nvSpPr>
        <p:spPr>
          <a:xfrm>
            <a:off x="6215743" y="3626066"/>
            <a:ext cx="3270069" cy="3046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שלוש מילים אמרו שבט דן ליהונתן שבהם הזכירו משפטים שנאמרו למשה רבינו הסבא:</a:t>
            </a:r>
          </a:p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"הלום"=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"אל תקרב הלום"</a:t>
            </a:r>
          </a:p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"בזה"=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"מה זה בידך"</a:t>
            </a:r>
          </a:p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"פה"=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"מי שם פה לאדם"</a:t>
            </a:r>
          </a:p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(רש"י ג')</a:t>
            </a:r>
          </a:p>
        </p:txBody>
      </p:sp>
    </p:spTree>
    <p:extLst>
      <p:ext uri="{BB962C8B-B14F-4D97-AF65-F5344CB8AC3E}">
        <p14:creationId xmlns:p14="http://schemas.microsoft.com/office/powerpoint/2010/main" val="360212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3F4311B-6C5F-493F-907F-9991976706B0}"/>
              </a:ext>
            </a:extLst>
          </p:cNvPr>
          <p:cNvSpPr/>
          <p:nvPr/>
        </p:nvSpPr>
        <p:spPr>
          <a:xfrm>
            <a:off x="5778137" y="276387"/>
            <a:ext cx="6096000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6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he-IL" sz="36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וַיֹּאמְרוּ לוֹ, </a:t>
            </a:r>
            <a:r>
              <a:rPr lang="he-IL" sz="36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שְׁאַל-נָא </a:t>
            </a:r>
            <a:r>
              <a:rPr lang="he-IL" sz="3600" b="1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בֵאלֹהִים</a:t>
            </a:r>
            <a:r>
              <a:rPr lang="he-IL" sz="36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; וְנֵדְעָה--</a:t>
            </a:r>
            <a:r>
              <a:rPr lang="he-IL" sz="3600" b="1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הֲתַצְלִח</a:t>
            </a:r>
            <a:r>
              <a:rPr lang="he-IL" sz="36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ַ דַּרְכֵּנוּ, אֲשֶׁר אֲנַחְנוּ הֹלְכִים עָלֶיהָ.  </a:t>
            </a:r>
          </a:p>
          <a:p>
            <a:r>
              <a:rPr lang="he-IL" sz="36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</a:t>
            </a:r>
            <a:r>
              <a:rPr lang="he-IL" sz="36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וַיֹּאמֶר לָהֶם הַכֹּהֵן, לְכוּ לְשָׁלוֹם; נֹכַח יְהוָה, דַּרְכְּכֶם אֲשֶׁר תֵּלְכוּ-בָהּ. </a:t>
            </a:r>
            <a:endParaRPr lang="he-IL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DB0BB-4566-4361-A6AB-E59602520834}"/>
              </a:ext>
            </a:extLst>
          </p:cNvPr>
          <p:cNvSpPr txBox="1"/>
          <p:nvPr/>
        </p:nvSpPr>
        <p:spPr>
          <a:xfrm>
            <a:off x="901338" y="276387"/>
            <a:ext cx="4506686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ה. אמרו לו המרגלים ליהונתן- תשאל בתרפים (שהם צורות של בני אדם שמדברים ואומרים עתידות ע"י כישוף) האם יצליחו בדרכם או לא?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1EEC1-ED13-48CB-967B-746A14AC599D}"/>
              </a:ext>
            </a:extLst>
          </p:cNvPr>
          <p:cNvSpPr txBox="1"/>
          <p:nvPr/>
        </p:nvSpPr>
        <p:spPr>
          <a:xfrm>
            <a:off x="6985323" y="3845765"/>
            <a:ext cx="4699628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ו. אמר להם יהונתן לכו לדרככם ואתם תצליחו והשגחת ה' תלוה אתכם, כי רק ה' יודע את העתיד, והתרפים הללו- אינם יודעים מאומה) 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AC56097-18C5-43D0-A757-C62CA9158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3" y="2739804"/>
            <a:ext cx="4117458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7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1F329CB-B1E6-41F7-9EE9-51AA23EDBFF2}"/>
              </a:ext>
            </a:extLst>
          </p:cNvPr>
          <p:cNvSpPr/>
          <p:nvPr/>
        </p:nvSpPr>
        <p:spPr>
          <a:xfrm>
            <a:off x="5538651" y="216264"/>
            <a:ext cx="6400801" cy="35394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ז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וַיֵּלְכוּ חֲמֵשֶׁת הָאֲנָשִׁים, וַיָּבֹאוּ לָיְשָׁה; וַיִּרְאוּ אֶת-הָעָם אֲשֶׁר-בְּקִרְבָּהּ </a:t>
            </a:r>
            <a:r>
              <a:rPr lang="he-IL" sz="3200" b="1" i="0" u="sng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יוֹשֶׁבֶת-לָבֶטַח כְּמִשְׁפַּט </a:t>
            </a:r>
            <a:r>
              <a:rPr lang="he-IL" sz="3200" b="1" i="0" u="sng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צִדֹנִים</a:t>
            </a:r>
            <a:r>
              <a:rPr lang="he-IL" sz="3200" b="1" i="0" u="sng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שֹׁקֵט וּבֹטֵחַ, וְאֵין-מַכְלִים דָּבָר בָּאָרֶץ יוֹרֵשׁ עֶצֶר, וּרְחוֹקִים הֵמָּה </a:t>
            </a:r>
            <a:r>
              <a:rPr lang="he-IL" sz="3200" b="1" i="0" u="sng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מִצִּידֹנִים</a:t>
            </a:r>
            <a:r>
              <a:rPr lang="he-IL" sz="3200" b="1" i="0" u="sng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, וְדָבָר אֵין-לָהֶם עִם-אָדָם.  </a:t>
            </a:r>
          </a:p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ח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וַיָּבֹאוּ, אֶל-אֲחֵיהֶם, צָרְעָה,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וְאֶשְׁתָּאֹל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; וַיֹּאמְרוּ לָהֶם אֲחֵיהֶם,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מָה אַתֶּם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6FF87-7A3B-454B-8097-6902B1E48C48}"/>
              </a:ext>
            </a:extLst>
          </p:cNvPr>
          <p:cNvSpPr txBox="1"/>
          <p:nvPr/>
        </p:nvSpPr>
        <p:spPr>
          <a:xfrm>
            <a:off x="562902" y="307860"/>
            <a:ext cx="4699628" cy="44012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ז. חמשת הקצינים הגיעו לעיר ליש, וראו שהעם שיושב בה </a:t>
            </a:r>
            <a:r>
              <a:rPr lang="he-IL" sz="28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לא נשמר ממלחמה, אלא חיים כמו הצידונים  שגרים בשלווה ושקט, אינם רגילים </a:t>
            </a:r>
            <a:r>
              <a:rPr lang="he-IL" sz="2800" b="1" dirty="0" err="1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בויכוחים</a:t>
            </a:r>
            <a:r>
              <a:rPr lang="he-IL" sz="28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וקטטות.  וגם אין להם מלך או יורש שיירש את המלוכה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והם רחוקים משאר העם הצידוני ולא כרתו ברית עם אף אחד, כך אין לחשוש שמשהו יבוא לעזרתם.</a:t>
            </a:r>
            <a: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  <a:t> 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466A7-42AE-4A3A-9173-B7AFCD1931D9}"/>
              </a:ext>
            </a:extLst>
          </p:cNvPr>
          <p:cNvSpPr txBox="1"/>
          <p:nvPr/>
        </p:nvSpPr>
        <p:spPr>
          <a:xfrm>
            <a:off x="7239824" y="4124290"/>
            <a:ext cx="4699628" cy="25545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ח. הקצינים חזרו אל שבט דן שנמצא בין צרעה לאשתאול, אמרו להם בני דן: </a:t>
            </a:r>
            <a:r>
              <a:rPr lang="he-IL" sz="32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מה ראיתם למקום שהלכתם? מה אתם ממליצים לעשות? </a:t>
            </a:r>
          </a:p>
        </p:txBody>
      </p:sp>
    </p:spTree>
    <p:extLst>
      <p:ext uri="{BB962C8B-B14F-4D97-AF65-F5344CB8AC3E}">
        <p14:creationId xmlns:p14="http://schemas.microsoft.com/office/powerpoint/2010/main" val="8987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BED6291D-DF6C-4109-8B67-59549C39E988}"/>
              </a:ext>
            </a:extLst>
          </p:cNvPr>
          <p:cNvSpPr/>
          <p:nvPr/>
        </p:nvSpPr>
        <p:spPr>
          <a:xfrm>
            <a:off x="5895703" y="190139"/>
            <a:ext cx="6096000" cy="40318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ט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וַיֹּאמְרוּ, קוּמָה וְנַעֲלֶה עֲלֵיהֶם, כִּי רָאִינוּ אֶת-הָאָרֶץ, וְהִנֵּה טוֹבָה מְאֹד;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וְאַתֶּם מַחְשִׁים--</a:t>
            </a:r>
            <a:r>
              <a:rPr lang="he-IL" sz="3200" b="1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אַל-תֵּעָצְלו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ּ, לָלֶכֶת לָבֹא לָרֶשֶׁת אֶת-הָאָרֶץ.  </a:t>
            </a:r>
          </a:p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כְּבֹאֲכֶם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תָּבֹאו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אֶל-עַם בֹּטֵחַ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וְהָאָרֶץ רַחֲבַת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יָדַיִם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--כִּי-נְתָנָהּ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אֱלֹהִים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בְּיֶדְכֶם:  מָקוֹם אֲשֶׁר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אֵין-שָׁם מַחְסוֹר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כָּל-דָּבָר אֲשֶׁר בָּאָרֶץ.  </a:t>
            </a:r>
            <a:endParaRPr lang="he-IL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CD810-6477-4D32-BB86-6A986D546334}"/>
              </a:ext>
            </a:extLst>
          </p:cNvPr>
          <p:cNvSpPr txBox="1"/>
          <p:nvPr/>
        </p:nvSpPr>
        <p:spPr>
          <a:xfrm>
            <a:off x="616956" y="322998"/>
            <a:ext cx="4699628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ט. אמרו המרגלים- קומו ונעלה להילחם בהם, ראינו את העיר ליש והיא מקום טוב מאד , </a:t>
            </a:r>
            <a:r>
              <a:rPr lang="he-IL" sz="24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אל תתעצלו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ללכת לרשת את המקום.  </a:t>
            </a:r>
            <a:endParaRPr lang="he-IL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0C831-945B-4EA8-A376-540D26CCC5B9}"/>
              </a:ext>
            </a:extLst>
          </p:cNvPr>
          <p:cNvSpPr txBox="1"/>
          <p:nvPr/>
        </p:nvSpPr>
        <p:spPr>
          <a:xfrm>
            <a:off x="5895703" y="4413302"/>
            <a:ext cx="5120640" cy="20005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איך שתבואו לשם תפגשו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עם שיושב בשלווה שלא יצליח להילחם בכם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ותזכו בנחלה רחבה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שלא חסר בה דבר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מכל הטוב שיש בכל העולם.</a:t>
            </a: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he-IL" sz="32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09600-27A6-4806-88CD-8A45AF84441E}"/>
              </a:ext>
            </a:extLst>
          </p:cNvPr>
          <p:cNvSpPr txBox="1"/>
          <p:nvPr/>
        </p:nvSpPr>
        <p:spPr>
          <a:xfrm>
            <a:off x="906516" y="2012461"/>
            <a:ext cx="4699628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"אתם מחשים"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– היו בשקט ולא תספרו שמא שבט אחר יקדימו אותנו ויכבשו אותה 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מצו"ד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</a:t>
            </a:r>
            <a:endParaRPr lang="he-IL" sz="20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26" name="Picture 2" descr="איש, שותק, החזק. | CanStock">
            <a:extLst>
              <a:ext uri="{FF2B5EF4-FFF2-40B4-BE49-F238E27FC236}">
                <a16:creationId xmlns:a16="http://schemas.microsoft.com/office/drawing/2014/main" id="{2D646EFF-F33A-4F47-BFEB-580CAEA8D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9609" y1="26804" x2="50838" y2="18557"/>
                        <a14:foregroundMark x1="50838" y1="18557" x2="72067" y2="25773"/>
                        <a14:foregroundMark x1="72067" y1="25773" x2="79888" y2="45876"/>
                        <a14:foregroundMark x1="79888" y1="45876" x2="72067" y2="65464"/>
                        <a14:foregroundMark x1="72067" y1="65464" x2="53073" y2="76804"/>
                        <a14:foregroundMark x1="53073" y1="76804" x2="31285" y2="79381"/>
                        <a14:foregroundMark x1="31285" y1="79381" x2="21229" y2="39175"/>
                        <a14:foregroundMark x1="21229" y1="39175" x2="30168" y2="262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5952" y="2012278"/>
            <a:ext cx="2215378" cy="240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23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801C496-4D01-4F04-8F4C-EAAA1F90ED40}"/>
              </a:ext>
            </a:extLst>
          </p:cNvPr>
          <p:cNvSpPr/>
          <p:nvPr/>
        </p:nvSpPr>
        <p:spPr>
          <a:xfrm>
            <a:off x="5869577" y="229327"/>
            <a:ext cx="6096000" cy="403187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200" b="1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יא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וַיִּסְעו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ּ מִשָּׁם מִמִּשְׁפַּחַת הַדָּנִי, מִצָּרְעָה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וּמֵאֶשְׁתָּאֹל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שֵׁשׁ-מֵאוֹת אִישׁ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חָגוּר כְּלֵי מִלְחָמָה.  </a:t>
            </a:r>
          </a:p>
          <a:p>
            <a:r>
              <a:rPr lang="he-IL" sz="3200" b="1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וַיַּעֲלוּ, וַיַּחֲנוּ בְּקִרְיַת יְעָרִים--בִּיהוּדָה; עַל-כֵּן </a:t>
            </a:r>
            <a:r>
              <a:rPr lang="he-IL" sz="3200" b="1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קָרְאוּ לַמָּקוֹם הַהוּא מַחֲנֵה-דָן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, עַד הַיּוֹם הַזֶּה--הִנֵּה, אַחֲרֵי </a:t>
            </a:r>
            <a:r>
              <a:rPr lang="he-IL" sz="3200" b="0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קִרְיַת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יְעָרִים.  </a:t>
            </a:r>
          </a:p>
          <a:p>
            <a:r>
              <a:rPr lang="he-IL" sz="3200" b="1" i="0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3200" b="0" i="0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וַיַּעַבְרוּ מִשָּׁם, הַר-אֶפְרָיִם; וַיָּבֹאוּ, עַד-בֵּית מִיכָה</a:t>
            </a:r>
            <a:endParaRPr lang="he-IL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8B3DB-3DCD-4706-A596-B883946F9AE9}"/>
              </a:ext>
            </a:extLst>
          </p:cNvPr>
          <p:cNvSpPr txBox="1"/>
          <p:nvPr/>
        </p:nvSpPr>
        <p:spPr>
          <a:xfrm>
            <a:off x="616955" y="322998"/>
            <a:ext cx="5013135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יא.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נסעו משם משבט דן מאזור צרעה ואשתאול 600 חיילים חמושים בכלי נשק כדי להילחם ולכבוש את ליש.</a:t>
            </a:r>
            <a:endParaRPr lang="he-IL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FE0F7-22E7-4964-AE9D-996AE603CF20}"/>
              </a:ext>
            </a:extLst>
          </p:cNvPr>
          <p:cNvSpPr txBox="1"/>
          <p:nvPr/>
        </p:nvSpPr>
        <p:spPr>
          <a:xfrm>
            <a:off x="6257109" y="4381904"/>
            <a:ext cx="5708468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בדרכם לליש הקימו את מחנה הצבא שלהם לקראת המלחמה, סמוך לקריית יערים שנמצאת בנחלת יהודה.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ובעקבות כך, מאותו יום קראו למקום חנייתם "מחנה דן"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, עד היום הזה .  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A98AE019-8B7C-40CD-B4BA-3144E2AD5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90222" l="9778" r="89778">
                        <a14:foregroundMark x1="47556" y1="16444" x2="38222" y2="24889"/>
                        <a14:foregroundMark x1="38222" y1="24889" x2="37333" y2="50667"/>
                        <a14:foregroundMark x1="37333" y1="50667" x2="31111" y2="60444"/>
                        <a14:foregroundMark x1="31111" y1="60444" x2="29778" y2="72444"/>
                        <a14:foregroundMark x1="29778" y1="72444" x2="36000" y2="83111"/>
                        <a14:foregroundMark x1="36000" y1="83111" x2="46667" y2="88444"/>
                        <a14:foregroundMark x1="46667" y1="88444" x2="60000" y2="90222"/>
                        <a14:foregroundMark x1="60000" y1="90222" x2="68000" y2="80000"/>
                        <a14:foregroundMark x1="68000" y1="80000" x2="65778" y2="67111"/>
                        <a14:foregroundMark x1="65778" y1="67111" x2="68000" y2="40889"/>
                        <a14:foregroundMark x1="68000" y1="40889" x2="59556" y2="30222"/>
                        <a14:foregroundMark x1="59556" y1="30222" x2="55556" y2="17333"/>
                        <a14:foregroundMark x1="55556" y1="17333" x2="47556" y2="1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240971" y="819033"/>
            <a:ext cx="4508187" cy="4028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B9B5C0-6428-44D5-ACEB-BD7E0B31AE7D}"/>
              </a:ext>
            </a:extLst>
          </p:cNvPr>
          <p:cNvSpPr txBox="1"/>
          <p:nvPr/>
        </p:nvSpPr>
        <p:spPr>
          <a:xfrm>
            <a:off x="1898248" y="2002097"/>
            <a:ext cx="385158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משם המשיכו בדרכם, והגיעו להר אפרים סמוך לבית מיכה. 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DF30E14-109A-4D75-8CFF-A01BD1706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869" y="2919517"/>
            <a:ext cx="3579221" cy="3770563"/>
          </a:xfrm>
          <a:prstGeom prst="rect">
            <a:avLst/>
          </a:prstGeom>
        </p:spPr>
      </p:pic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FA140ECF-8558-4012-BD7F-A1EB7C494B80}"/>
              </a:ext>
            </a:extLst>
          </p:cNvPr>
          <p:cNvCxnSpPr/>
          <p:nvPr/>
        </p:nvCxnSpPr>
        <p:spPr>
          <a:xfrm flipH="1">
            <a:off x="5034987" y="2095018"/>
            <a:ext cx="3541854" cy="3943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61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BD3552-6760-4FA4-A431-B8AF0737FDD0}"/>
              </a:ext>
            </a:extLst>
          </p:cNvPr>
          <p:cNvSpPr txBox="1"/>
          <p:nvPr/>
        </p:nvSpPr>
        <p:spPr>
          <a:xfrm>
            <a:off x="1815738" y="341700"/>
            <a:ext cx="933994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David" panose="020E0502060401010101" pitchFamily="34" charset="-79"/>
                <a:cs typeface="David" panose="020E0502060401010101" pitchFamily="34" charset="-79"/>
              </a:rPr>
              <a:t>המשך הפרק: פרק יח' פסוקים יד'-</a:t>
            </a:r>
            <a:r>
              <a:rPr lang="he-IL" sz="4800" b="1" dirty="0" err="1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4800" b="1" dirty="0">
                <a:latin typeface="David" panose="020E0502060401010101" pitchFamily="34" charset="-79"/>
                <a:cs typeface="David" panose="020E0502060401010101" pitchFamily="34" charset="-79"/>
              </a:rPr>
              <a:t>':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FC5FB-84AA-48C1-8431-FDFA71C24DEC}"/>
              </a:ext>
            </a:extLst>
          </p:cNvPr>
          <p:cNvSpPr txBox="1"/>
          <p:nvPr/>
        </p:nvSpPr>
        <p:spPr>
          <a:xfrm>
            <a:off x="4807132" y="1572829"/>
            <a:ext cx="6903946" cy="3232725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>
                <a:latin typeface="David" panose="020E0502060401010101" pitchFamily="34" charset="-79"/>
                <a:cs typeface="David" panose="020E0502060401010101" pitchFamily="34" charset="-79"/>
              </a:rPr>
              <a:t>לקיחת הפסל על ידי שבט דן</a:t>
            </a:r>
          </a:p>
        </p:txBody>
      </p:sp>
    </p:spTree>
    <p:extLst>
      <p:ext uri="{BB962C8B-B14F-4D97-AF65-F5344CB8AC3E}">
        <p14:creationId xmlns:p14="http://schemas.microsoft.com/office/powerpoint/2010/main" val="309328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44B66478-D279-481B-931E-516669F26CB2}"/>
              </a:ext>
            </a:extLst>
          </p:cNvPr>
          <p:cNvSpPr/>
          <p:nvPr/>
        </p:nvSpPr>
        <p:spPr>
          <a:xfrm>
            <a:off x="5856515" y="208393"/>
            <a:ext cx="6096000" cy="50167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 יד וַיַּעֲנוּ חֲמֵשֶׁת הָאֲנָשִׁים, הַהֹלְכִים לְרַגֵּל אֶת-הָאָרֶץ לַיִשׁ, וַיֹּאמְרוּ אֶל-אֲחֵיהֶם, </a:t>
            </a:r>
            <a:r>
              <a:rPr lang="he-IL" sz="3200" b="1" dirty="0">
                <a:latin typeface="David" panose="020E0502060401010101" pitchFamily="34" charset="-79"/>
                <a:cs typeface="David" panose="020E0502060401010101" pitchFamily="34" charset="-79"/>
              </a:rPr>
              <a:t>הַיְדַעְתֶּם כִּי יֵשׁ בַּבָּתִּים הָאֵלֶּה אֵפוֹד וּתְרָפִים וּפֶסֶל וּמַסֵּכָה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; וְעַתָּה, דְּעוּ מַה-תַּעֲשׂוּ.  </a:t>
            </a:r>
          </a:p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טו </a:t>
            </a:r>
            <a:r>
              <a:rPr lang="he-IL" sz="32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וַיָּסוּרוּ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 שָׁמָּה, וַיָּבֹאוּ אֶל-בֵּית-הַנַּעַר הַלֵּוִי בֵּית מִיכָה; וַיִּשְׁאֲלוּ-לוֹ, לְשָׁלוֹם.  </a:t>
            </a:r>
          </a:p>
          <a:p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 וְשֵׁשׁ-מֵאוֹת אִישׁ, חֲגוּרִים כְּלֵי מִלְחַמְתָּם, </a:t>
            </a:r>
            <a:r>
              <a:rPr lang="he-IL" sz="32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נִצָּבִים, פֶּתַח הַשָּׁעַר--אֲשֶׁר, מִבְּנֵי-דָן.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AD92F-6CC6-41C9-A4AA-FB604E297D67}"/>
              </a:ext>
            </a:extLst>
          </p:cNvPr>
          <p:cNvSpPr txBox="1"/>
          <p:nvPr/>
        </p:nvSpPr>
        <p:spPr>
          <a:xfrm>
            <a:off x="448491" y="388313"/>
            <a:ext cx="5194665" cy="28007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יד.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אמרו חמשת המרגלים לקבוצת החיילים משבט דן: </a:t>
            </a:r>
            <a:r>
              <a:rPr lang="he-IL" sz="24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האם ידעתם שיש בבית הזה פסל ותרפים שמגלים עתידות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? (הנה בפעם האחרונה שהיינו כאן הכהן שבבית ברך אותנו והצלחנו למצוא עיר מצוינת כנראה שלתרפים יש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לכן כדאי לכם לחשוב מה לעשות כדי לקחת לעצמינו את התרפים. 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BBEDC-D1E7-4D68-AF1D-BAE7B6C883D3}"/>
              </a:ext>
            </a:extLst>
          </p:cNvPr>
          <p:cNvSpPr txBox="1"/>
          <p:nvPr/>
        </p:nvSpPr>
        <p:spPr>
          <a:xfrm>
            <a:off x="239485" y="3429000"/>
            <a:ext cx="5403671" cy="16927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טו.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חמשת הקצינים </a:t>
            </a:r>
            <a:r>
              <a:rPr lang="he-IL" sz="24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נכנסו לתוך הבית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והחלו לשוחח עם יהונתן.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שלום עליך מה שלומך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? והמשיכו לדבר אתו עד שגרמו לו לאט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לאט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לצאת מהבית ששם היה הפסל, וללכת לשער.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7C27B-9BB5-4F81-9A3A-243528AB8275}"/>
              </a:ext>
            </a:extLst>
          </p:cNvPr>
          <p:cNvSpPr txBox="1"/>
          <p:nvPr/>
        </p:nvSpPr>
        <p:spPr>
          <a:xfrm>
            <a:off x="5525588" y="5465071"/>
            <a:ext cx="6426927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לבנתיים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קבוצת החיילים (600 איש מבני דן) שהיו חגורים עם נשקים </a:t>
            </a:r>
            <a:r>
              <a:rPr lang="he-IL" sz="2400" b="1" dirty="0"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נשארו עומדים בפתח השער של הבית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 ועכשיו הגיע אליהם יהונתן. ונשאר לשוחח איתם.</a:t>
            </a:r>
          </a:p>
        </p:txBody>
      </p:sp>
    </p:spTree>
    <p:extLst>
      <p:ext uri="{BB962C8B-B14F-4D97-AF65-F5344CB8AC3E}">
        <p14:creationId xmlns:p14="http://schemas.microsoft.com/office/powerpoint/2010/main" val="1556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491EC4-5A9E-4FAB-A6A8-74EAF0BB4C24}"/>
              </a:ext>
            </a:extLst>
          </p:cNvPr>
          <p:cNvSpPr txBox="1"/>
          <p:nvPr/>
        </p:nvSpPr>
        <p:spPr>
          <a:xfrm>
            <a:off x="813545" y="195235"/>
            <a:ext cx="4699628" cy="2431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'.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וכאשר הסיחו החיילים את דעתו של הלוי הלכו ונכנסו אותם חמשת קצינים לתוך בית מיכה </a:t>
            </a:r>
            <a:r>
              <a:rPr lang="he-IL" sz="24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ולקחו את הפסל והאפוד והתרפים והמסכה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 ובאותו זמן הכהן לא היה בבית אלא היה עומד בחוץ עם 600 איש חגורי נשק. 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5557D17-4478-4599-B568-2EC153BDD396}"/>
              </a:ext>
            </a:extLst>
          </p:cNvPr>
          <p:cNvSpPr/>
          <p:nvPr/>
        </p:nvSpPr>
        <p:spPr>
          <a:xfrm>
            <a:off x="5934892" y="195235"/>
            <a:ext cx="6096000" cy="40318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וַיַּעֲלוּ חֲמֵשֶׁת הָאֲנָשִׁים, הַהֹלְכִים לְרַגֵּל אֶת-הָאָרֶץ--בָּאוּ שָׁמָּה,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לָקְחוּ אֶת-הַפֶּסֶל וְאֶת-הָאֵפוֹד וְאֶת-הַתְּרָפִים וְאֶת-הַמַּסֵּכָה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; וְהַכֹּהֵן,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נִצָּב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פֶּתַח הַשַּׁעַר, וְשֵׁשׁ-מֵאוֹת הָאִישׁ, הֶחָגוּר כְּלֵי הַמִּלְחָמָה.  </a:t>
            </a:r>
          </a:p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וְאֵלֶּה, בָּאוּ בֵּית מִיכָה,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וַיִּקְחו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אֶת-פֶּסֶל הָאֵפוֹד, וְאֶת-הַתְּרָפִים וְאֶת-הַמַּסֵּכָה; וַיֹּאמֶר אֲלֵיהֶם הַכֹּהֵן, </a:t>
            </a:r>
            <a:r>
              <a:rPr lang="he-IL" sz="3200" b="1" dirty="0">
                <a:solidFill>
                  <a:srgbClr val="000000"/>
                </a:solidFill>
                <a:highlight>
                  <a:srgbClr val="FFFF00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מָה אַתֶּם עֹשִׂים</a:t>
            </a:r>
            <a:endParaRPr lang="he-IL" sz="3200" b="1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175AA-098C-438C-97EE-5FA3DCDAE576}"/>
              </a:ext>
            </a:extLst>
          </p:cNvPr>
          <p:cNvSpPr txBox="1"/>
          <p:nvPr/>
        </p:nvSpPr>
        <p:spPr>
          <a:xfrm>
            <a:off x="5979241" y="4514431"/>
            <a:ext cx="6007302" cy="20005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לאחר שלקחו את הפסל והאפוד והתרפים והמסכה מבית מיכה , הם הגיעו לשער, ראה אותם יהונתן הכהן ושאל: "מה עשיתם"? למה לקחתם אותם?</a:t>
            </a: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he-IL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29E209B3-9DBB-4483-BBA6-601EADB8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31" y="2374559"/>
            <a:ext cx="2562225" cy="1781175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8F1F509A-7CF9-48C4-963F-9560246BB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236" y="4243210"/>
            <a:ext cx="2265185" cy="25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3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C369CF-A7C3-4CFD-B926-F5A70F642799}"/>
              </a:ext>
            </a:extLst>
          </p:cNvPr>
          <p:cNvSpPr txBox="1"/>
          <p:nvPr/>
        </p:nvSpPr>
        <p:spPr>
          <a:xfrm>
            <a:off x="81696" y="319627"/>
            <a:ext cx="5747968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יט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אמרו לו חמשת האנשים לכהן: שתוק, ושים יד על פיך שלא ישמע קולך. ובוא אתנו ותהיה לנו למורה ולכהן לפסל. 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9C104B6-0B60-4352-A8F1-1480AE9500FE}"/>
              </a:ext>
            </a:extLst>
          </p:cNvPr>
          <p:cNvSpPr/>
          <p:nvPr/>
        </p:nvSpPr>
        <p:spPr>
          <a:xfrm>
            <a:off x="5869577" y="195235"/>
            <a:ext cx="6096000" cy="452431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וַיֹּאמְרוּ לוֹ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הַחֲרֵשׁ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שִׂים-יָדְךָ עַל-פִּיךָ, וְלֵךְ עִמָּנוּ, וֶהְיֵה-לָנוּ, לְאָב וּלְכֹהֵן:  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הֲטוֹב הֱיוֹתְךָ כֹהֵן, לְבֵית אִישׁ אֶחָד, אוֹ הֱיוֹתְךָ כֹהֵן, לְשֵׁבֶט וּלְמִשְׁפָּחָה בְּיִשְׂרָאֵל.  </a:t>
            </a:r>
          </a:p>
          <a:p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וַיִּיטַב, לֵב הַכֹּהֵן,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וַיִּקַּח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אֶת-הָאֵפוֹד, וְאֶת-הַתְּרָפִים וְאֶת-הַפָּסֶל; וַיָּבֹא, בְּקֶרֶב הָעָם.  </a:t>
            </a:r>
          </a:p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וַיִּפְנוּ, וַיֵּלֵכוּ; וַיָּשִׂימוּ אֶת-הַטַּף וְאֶת-הַמִּקְנֶה, וְאֶת-הַכְּבוּדָּה--לִפְנֵיהֶם. </a:t>
            </a:r>
            <a:endParaRPr lang="he-IL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F3AB8-1729-4A65-BEA5-1C89E4E6C87B}"/>
              </a:ext>
            </a:extLst>
          </p:cNvPr>
          <p:cNvSpPr txBox="1"/>
          <p:nvPr/>
        </p:nvSpPr>
        <p:spPr>
          <a:xfrm>
            <a:off x="7265949" y="4960635"/>
            <a:ext cx="4699628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כ. יהונתן הסכים לדבריהם, הרים בעצמו את הפסל והתרפים ונכנס לאמצע המחנה של שבט דן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520764-ACA4-4795-9485-AF961C64268A}"/>
              </a:ext>
            </a:extLst>
          </p:cNvPr>
          <p:cNvSpPr txBox="1"/>
          <p:nvPr/>
        </p:nvSpPr>
        <p:spPr>
          <a:xfrm>
            <a:off x="1090122" y="1857227"/>
            <a:ext cx="4699628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שאלה:</a:t>
            </a:r>
          </a:p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מה עדיף לך? להיות כהן של איש אחד? או להיות כהן של שבט שלם בישראל?</a:t>
            </a: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155E9D99-009E-4DF5-B20D-AFA43CE74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96" b="89899" l="2756" r="89764">
                        <a14:foregroundMark x1="7874" y1="6566" x2="3937" y2="37374"/>
                        <a14:foregroundMark x1="3937" y1="37374" x2="21260" y2="93434"/>
                        <a14:foregroundMark x1="21260" y1="93434" x2="48425" y2="98990"/>
                        <a14:foregroundMark x1="48425" y1="98990" x2="70866" y2="84848"/>
                        <a14:foregroundMark x1="70866" y1="84848" x2="92126" y2="27273"/>
                        <a14:foregroundMark x1="92126" y1="27273" x2="71260" y2="7576"/>
                        <a14:foregroundMark x1="71260" y1="7576" x2="48425" y2="13131"/>
                        <a14:foregroundMark x1="48425" y1="13131" x2="27165" y2="2525"/>
                        <a14:foregroundMark x1="27165" y1="2525" x2="5512" y2="12121"/>
                        <a14:foregroundMark x1="5512" y1="12121" x2="2756" y2="2020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82" y="2548120"/>
            <a:ext cx="2096679" cy="1634419"/>
          </a:xfrm>
          <a:prstGeom prst="rect">
            <a:avLst/>
          </a:prstGeom>
        </p:spPr>
      </p:pic>
      <p:cxnSp>
        <p:nvCxnSpPr>
          <p:cNvPr id="8" name="מחבר חץ ישר 7">
            <a:extLst>
              <a:ext uri="{FF2B5EF4-FFF2-40B4-BE49-F238E27FC236}">
                <a16:creationId xmlns:a16="http://schemas.microsoft.com/office/drawing/2014/main" id="{D2270BE9-8E39-4E20-A79F-B4B3619E5E24}"/>
              </a:ext>
            </a:extLst>
          </p:cNvPr>
          <p:cNvCxnSpPr>
            <a:cxnSpLocks/>
          </p:cNvCxnSpPr>
          <p:nvPr/>
        </p:nvCxnSpPr>
        <p:spPr>
          <a:xfrm flipH="1">
            <a:off x="5789751" y="1704622"/>
            <a:ext cx="1694782" cy="6321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E43952-B975-4C03-9B88-9F6A3AE78414}"/>
              </a:ext>
            </a:extLst>
          </p:cNvPr>
          <p:cNvSpPr txBox="1"/>
          <p:nvPr/>
        </p:nvSpPr>
        <p:spPr>
          <a:xfrm>
            <a:off x="3115732" y="4292885"/>
            <a:ext cx="3956111" cy="23698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כא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אנשי דן שמו את הילדים הקטנים שהיו איתם ואת המשאות הכבדים לפני המחנה שלהם, והם צעדו מאחורה, כדי שאם יבואו הגברים של בית מיכה להילחם בהם- לא יפגעו בצאן ובילדים 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0B91D-8DAD-4B1F-A5A3-A51E3F083E40}"/>
              </a:ext>
            </a:extLst>
          </p:cNvPr>
          <p:cNvSpPr txBox="1"/>
          <p:nvPr/>
        </p:nvSpPr>
        <p:spPr>
          <a:xfrm>
            <a:off x="260477" y="4292885"/>
            <a:ext cx="2695203" cy="23083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שאלה:</a:t>
            </a:r>
          </a:p>
          <a:p>
            <a:r>
              <a:rPr lang="he-IL" sz="2400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מדוע הביאו איתם את הילדים והמשאות?</a:t>
            </a:r>
          </a:p>
          <a:p>
            <a:r>
              <a:rPr lang="he-IL" sz="2400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כי היו בטוחים שיכבשו את העיר ומיד יתיישבו בה.</a:t>
            </a:r>
          </a:p>
        </p:txBody>
      </p:sp>
      <p:sp>
        <p:nvSpPr>
          <p:cNvPr id="12" name="חץ: שמאלה 11">
            <a:extLst>
              <a:ext uri="{FF2B5EF4-FFF2-40B4-BE49-F238E27FC236}">
                <a16:creationId xmlns:a16="http://schemas.microsoft.com/office/drawing/2014/main" id="{1A58C1E7-2431-44F0-9CB2-58211E2C2E29}"/>
              </a:ext>
            </a:extLst>
          </p:cNvPr>
          <p:cNvSpPr/>
          <p:nvPr/>
        </p:nvSpPr>
        <p:spPr>
          <a:xfrm>
            <a:off x="2911434" y="5094080"/>
            <a:ext cx="408596" cy="45155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442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BD3552-6760-4FA4-A431-B8AF0737FDD0}"/>
              </a:ext>
            </a:extLst>
          </p:cNvPr>
          <p:cNvSpPr txBox="1"/>
          <p:nvPr/>
        </p:nvSpPr>
        <p:spPr>
          <a:xfrm>
            <a:off x="1815738" y="341700"/>
            <a:ext cx="933994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4800" b="1" dirty="0">
                <a:latin typeface="David" panose="020E0502060401010101" pitchFamily="34" charset="-79"/>
                <a:cs typeface="David" panose="020E0502060401010101" pitchFamily="34" charset="-79"/>
              </a:rPr>
              <a:t>המשך הפרק: פרק יח' פסוקים כב'-לא':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FC5FB-84AA-48C1-8431-FDFA71C24DEC}"/>
              </a:ext>
            </a:extLst>
          </p:cNvPr>
          <p:cNvSpPr txBox="1"/>
          <p:nvPr/>
        </p:nvSpPr>
        <p:spPr>
          <a:xfrm>
            <a:off x="5145799" y="1172697"/>
            <a:ext cx="6903946" cy="4778812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6600" dirty="0">
                <a:latin typeface="David" panose="020E0502060401010101" pitchFamily="34" charset="-79"/>
                <a:cs typeface="David" panose="020E0502060401010101" pitchFamily="34" charset="-79"/>
              </a:rPr>
              <a:t>מיכה מנסה להחזיר את הפסל</a:t>
            </a:r>
          </a:p>
        </p:txBody>
      </p:sp>
    </p:spTree>
    <p:extLst>
      <p:ext uri="{BB962C8B-B14F-4D97-AF65-F5344CB8AC3E}">
        <p14:creationId xmlns:p14="http://schemas.microsoft.com/office/powerpoint/2010/main" val="333347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F11B9764-9E5B-4A0A-B5B8-6E8333FC1DEC}"/>
              </a:ext>
            </a:extLst>
          </p:cNvPr>
          <p:cNvSpPr/>
          <p:nvPr/>
        </p:nvSpPr>
        <p:spPr>
          <a:xfrm>
            <a:off x="6220177" y="427335"/>
            <a:ext cx="5700889" cy="3416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he-IL" sz="36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הֵמָּה הִרְחִיקוּ, מִבֵּית מִיכָה; וְהָאֲנָשִׁים, אֲשֶׁר בַּבָּתִּים אֲשֶׁר עִם-בֵּית מִיכָה, 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נִזְעֲקוּ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וַיַּדְבִּיקוּ אֶת-בְּנֵי-דָן.  </a:t>
            </a:r>
            <a:r>
              <a:rPr lang="he-IL" sz="36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כג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וַיִּקְרְאוּ, אֶל-בְּנֵי-דָן, 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וַיַּסֵּבּוּ</a:t>
            </a:r>
            <a:r>
              <a:rPr lang="he-IL" sz="36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פְּנֵיהֶם; וַיֹּאמְרוּ לְמִיכָה, </a:t>
            </a:r>
            <a:r>
              <a:rPr lang="he-IL" sz="36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מַה-לְּךָ כִּי נִזְעָקְתָּ</a:t>
            </a:r>
            <a:endParaRPr lang="he-IL" sz="3600" b="1" dirty="0">
              <a:highlight>
                <a:srgbClr val="00FFFF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36007-5EF8-4F89-8C3F-8BC24C9829DF}"/>
              </a:ext>
            </a:extLst>
          </p:cNvPr>
          <p:cNvSpPr txBox="1"/>
          <p:nvPr/>
        </p:nvSpPr>
        <p:spPr>
          <a:xfrm>
            <a:off x="932883" y="319613"/>
            <a:ext cx="4699628" cy="18158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כב.שבט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דן החלו להתרחק מבית מיכה,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נאספו השכנים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של מיכה ורדפו אחריהם יחד עם מיכה, והם השיגו את בני דן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E0321-F22F-44CB-BD96-32081D4A9F30}"/>
              </a:ext>
            </a:extLst>
          </p:cNvPr>
          <p:cNvSpPr txBox="1"/>
          <p:nvPr/>
        </p:nvSpPr>
        <p:spPr>
          <a:xfrm>
            <a:off x="7157156" y="4368562"/>
            <a:ext cx="4763910" cy="20621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3200" dirty="0" err="1">
                <a:latin typeface="David" panose="020E0502060401010101" pitchFamily="34" charset="-79"/>
                <a:cs typeface="David" panose="020E0502060401010101" pitchFamily="34" charset="-79"/>
              </a:rPr>
              <a:t>כג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'. אנשי מיכה קראו לבני דן שיעצרו. בני דן </a:t>
            </a:r>
            <a:r>
              <a:rPr lang="he-IL" sz="32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הסתובבו אליהם 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ואמרו למיכה: </a:t>
            </a:r>
            <a:r>
              <a:rPr lang="he-IL" sz="32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מה קרה לך שנאספת לרדוף אחרינו</a:t>
            </a: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? 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B002B7E5-7277-48E7-838D-D40A097E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7" y="2247741"/>
            <a:ext cx="3453755" cy="445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8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83D80DB6-AFCA-44A4-B5E8-FB23F1D85D25}"/>
              </a:ext>
            </a:extLst>
          </p:cNvPr>
          <p:cNvSpPr/>
          <p:nvPr/>
        </p:nvSpPr>
        <p:spPr>
          <a:xfrm>
            <a:off x="6310488" y="263226"/>
            <a:ext cx="5633155" cy="45243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כד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וַיֹּאמֶר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אֶת-אֱלֹהַי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אֲשֶׁר-עָשִׂיתִי לְקַחְתֶּם וְאֶת-הַכֹּהֵן, וַתֵּלְכוּ--וּמַה-לִּי עוֹד; ו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ּמַה-זֶּה תֹּאמְרוּ אֵלַי, מַה-לָּךְ.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כה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וַיֹּאמְרוּ אֵלָיו בְּנֵי-דָן, אַל-תַּשְׁמַע קוֹלְךָ עִמָּנוּ--פֶּן-יִפְגְּעוּ בָכֶם,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אֲנָשִׁים מָרֵי נֶפֶשׁ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וְאָסַפְתָּה נַפְשְׁךָ, וְנֶפֶשׁ בֵּיתֶךָ. 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כו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וַיֵּלְכוּ בְנֵי-דָן, לְדַרְכָּם; וַיַּרְא מִיכָה, כִּי-חֲזָקִים הֵמָּה מִמֶּנּוּ, ו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ַיִּפֶן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וַיָּשָׁב אֶל-בֵּיתוֹ. </a:t>
            </a:r>
            <a:endParaRPr lang="he-IL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D79F7-E819-4334-8A7B-18DCF831E779}"/>
              </a:ext>
            </a:extLst>
          </p:cNvPr>
          <p:cNvSpPr txBox="1"/>
          <p:nvPr/>
        </p:nvSpPr>
        <p:spPr>
          <a:xfrm>
            <a:off x="1117603" y="263226"/>
            <a:ext cx="476391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כד'. </a:t>
            </a:r>
            <a:r>
              <a:rPr lang="he-IL" sz="2800" b="1" u="sng" dirty="0">
                <a:latin typeface="David" panose="020E0502060401010101" pitchFamily="34" charset="-79"/>
                <a:cs typeface="David" panose="020E0502060401010101" pitchFamily="34" charset="-79"/>
              </a:rPr>
              <a:t>ענה להם מיכה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: את הפסל שעשיתי גנבתם לי וכן את הכהן שמיניתי לעבודה והלכתם. ומה נשאר לי עוד שלא לקחתם? 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ואתם עוד שואלים אותי מה קרה לי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?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8296B-4EB9-4F6D-BE73-196D76A3E191}"/>
              </a:ext>
            </a:extLst>
          </p:cNvPr>
          <p:cNvSpPr txBox="1"/>
          <p:nvPr/>
        </p:nvSpPr>
        <p:spPr>
          <a:xfrm>
            <a:off x="5988754" y="5010204"/>
            <a:ext cx="5954889" cy="16927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כה'. ענו לו למיכה: היזהר ואל תשמיע את קולך בהיותך עמנו, כדי שלא יתקיפו אותך </a:t>
            </a:r>
            <a:r>
              <a:rPr lang="he-IL" sz="26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אנשים כעסנים שנמצאים בתוך המחנה שלנו, כי בסוף גם אתה והאנשים שסביבך ימותו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33B02-61D6-40E5-8A40-54B110894E2D}"/>
              </a:ext>
            </a:extLst>
          </p:cNvPr>
          <p:cNvSpPr txBox="1"/>
          <p:nvPr/>
        </p:nvSpPr>
        <p:spPr>
          <a:xfrm>
            <a:off x="795870" y="2980885"/>
            <a:ext cx="4763910" cy="18158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כו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'. בני דן המשיכו בדרכם . לאחר שראה מיכה שבני שבט דן חזקים יותר ממנו , הניחם עם הפסל,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ופנה לאחוריו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וחזר לביתו. </a:t>
            </a:r>
          </a:p>
        </p:txBody>
      </p:sp>
    </p:spTree>
    <p:extLst>
      <p:ext uri="{BB962C8B-B14F-4D97-AF65-F5344CB8AC3E}">
        <p14:creationId xmlns:p14="http://schemas.microsoft.com/office/powerpoint/2010/main" val="157160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DA80B4AD-4DCB-403B-B2FF-FB4A8F052450}"/>
              </a:ext>
            </a:extLst>
          </p:cNvPr>
          <p:cNvSpPr/>
          <p:nvPr/>
        </p:nvSpPr>
        <p:spPr>
          <a:xfrm>
            <a:off x="5983110" y="333992"/>
            <a:ext cx="5983111" cy="35394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כז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וְהֵמָּה לָקְחוּ אֵת אֲשֶׁר-עָשָׂה מִיכָה, וְאֶת-הַכֹּהֵן אֲשֶׁר הָיָה-לוֹ, וַיָּבֹאוּ עַל-לַיִשׁ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עַל-עַם שֹׁקֵט וּבֹטֵחַ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וַיַּכּוּ אוֹתָם לְפִי-חָרֶב; וְאֶת-הָעִיר, שָׂרְפוּ בָאֵשׁ.  </a:t>
            </a:r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כח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וְאֵין מַצִּיל כִּי רְחוֹקָה-הִיא מִצִּידוֹן, </a:t>
            </a:r>
            <a:r>
              <a:rPr lang="he-IL" sz="3200" b="1" dirty="0">
                <a:solidFill>
                  <a:srgbClr val="000000"/>
                </a:solidFill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וְדָבָר אֵין-לָהֶם עִם-אָדָם,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וְהִיא, בָּעֵמֶק אֲשֶׁר לְבֵית-רְחוֹב; וַיִּבְנוּ אֶת-הָעִיר, וַיֵּשְׁבוּ בָהּ.</a:t>
            </a:r>
            <a:endParaRPr lang="he-IL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22B87-4E36-48FD-A06A-FAA8F68D5FFC}"/>
              </a:ext>
            </a:extLst>
          </p:cNvPr>
          <p:cNvSpPr txBox="1"/>
          <p:nvPr/>
        </p:nvSpPr>
        <p:spPr>
          <a:xfrm>
            <a:off x="932883" y="319613"/>
            <a:ext cx="4699628" cy="26776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כז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ושבט דן לקחו את הפסל שעשה מיכה ואת הכהן שהיה משרת אותו, באו לעיר ליש והפתיעו את אנשי העיר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שישבו בה ברוגע ולא נשמרו ממלחמה.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 והרגו את אנשי העיר ושרפו את העיר באש.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FFCCDC-16D3-4962-AF01-F6522D42C7DE}"/>
              </a:ext>
            </a:extLst>
          </p:cNvPr>
          <p:cNvSpPr txBox="1"/>
          <p:nvPr/>
        </p:nvSpPr>
        <p:spPr>
          <a:xfrm>
            <a:off x="5861754" y="4028013"/>
            <a:ext cx="6225822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800" dirty="0" err="1">
                <a:latin typeface="David" panose="020E0502060401010101" pitchFamily="34" charset="-79"/>
                <a:cs typeface="David" panose="020E0502060401010101" pitchFamily="34" charset="-79"/>
              </a:rPr>
              <a:t>כח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 ולעיר ליש אין מי שיציל אותה כי היא רחוקה מהעיר צידון ולכן עד ששמעו על כך בצידון כבר כבשו את ליש. 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ואין לליש שום עיר שכרתו </a:t>
            </a:r>
            <a:r>
              <a:rPr lang="he-IL" sz="2800" b="1" dirty="0" err="1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איתה</a:t>
            </a:r>
            <a:r>
              <a:rPr lang="he-IL" sz="2800" b="1" dirty="0">
                <a:highlight>
                  <a:srgbClr val="00FFFF"/>
                </a:highlight>
                <a:latin typeface="David" panose="020E0502060401010101" pitchFamily="34" charset="-79"/>
                <a:cs typeface="David" panose="020E0502060401010101" pitchFamily="34" charset="-79"/>
              </a:rPr>
              <a:t> ברית לעזור להם, 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והיא שוכנת בעמק סמוך לבית רחוב. ובני דן בנו את העיר מחדש וישבו בה 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ABE3CA7-8533-4272-8965-DE4565FF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79" y="3166532"/>
            <a:ext cx="3969808" cy="244295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78E972B-B2A8-4956-BF5F-189C92971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36" b="89617" l="9783" r="93841">
                        <a14:foregroundMark x1="80435" y1="15301" x2="61594" y2="14208"/>
                        <a14:foregroundMark x1="61594" y1="14208" x2="24638" y2="34426"/>
                        <a14:foregroundMark x1="24638" y1="34426" x2="12681" y2="55738"/>
                        <a14:foregroundMark x1="12681" y1="55738" x2="7609" y2="83607"/>
                        <a14:foregroundMark x1="7609" y1="83607" x2="27536" y2="89617"/>
                        <a14:foregroundMark x1="27536" y1="89617" x2="48188" y2="80328"/>
                        <a14:foregroundMark x1="48188" y1="80328" x2="82246" y2="55738"/>
                        <a14:foregroundMark x1="82246" y1="55738" x2="93841" y2="32787"/>
                        <a14:foregroundMark x1="93841" y1="32787" x2="81522" y2="191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1682" y="3860732"/>
            <a:ext cx="2628900" cy="1743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5304B6-89F0-4525-8B04-C99F1B56B062}"/>
              </a:ext>
            </a:extLst>
          </p:cNvPr>
          <p:cNvSpPr txBox="1"/>
          <p:nvPr/>
        </p:nvSpPr>
        <p:spPr>
          <a:xfrm>
            <a:off x="741868" y="5690006"/>
            <a:ext cx="4699628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מדוע שרפו את העיר ליש הרי התכוונו לשבת בה?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בלי זה לא יוכלו להכניע אותה. </a:t>
            </a: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או כדי להבהיל את אנשי העיר שלא ילחמו בהם</a:t>
            </a:r>
          </a:p>
        </p:txBody>
      </p:sp>
    </p:spTree>
    <p:extLst>
      <p:ext uri="{BB962C8B-B14F-4D97-AF65-F5344CB8AC3E}">
        <p14:creationId xmlns:p14="http://schemas.microsoft.com/office/powerpoint/2010/main" val="273449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E444238C-EF7B-48F2-B454-1EC3EE6D360A}"/>
              </a:ext>
            </a:extLst>
          </p:cNvPr>
          <p:cNvSpPr/>
          <p:nvPr/>
        </p:nvSpPr>
        <p:spPr>
          <a:xfrm>
            <a:off x="6423377" y="342247"/>
            <a:ext cx="5452533" cy="45243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b="1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כט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וַיִּקְרְאוּ שֵׁם-הָעִיר, דָּן, בְּשֵׁם דָּן אֲבִיהֶם, אֲשֶׁר יוּלַּד לְיִשְׂרָאֵל; וְאוּלָם לַיִשׁ שֵׁם-הָעִיר, לָרִאשֹׁנָה.  </a:t>
            </a:r>
          </a:p>
          <a:p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וַיָּקִימוּ לָהֶם בְּנֵי-דָן, אֶת-הַפָּסֶל; וִיהוֹנָתָן בֶּן-גֵּרְשֹׁם בֶּן-מְ</a:t>
            </a:r>
            <a:r>
              <a:rPr lang="he-IL" sz="3200" baseline="30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נַ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שֶּׁה הוּא וּבָנָיו, הָיוּ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כֹהֲנִים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לְשֵׁבֶט הַדָּנִי, עַד-יוֹם, גְּלוֹת הָאָרֶץ.  </a:t>
            </a:r>
            <a:r>
              <a:rPr lang="he-IL" sz="32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לא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וַיָּשִׂימוּ לָהֶם, אֶת-פֶּסֶל מִיכָה אֲשֶׁר עָשָׂה, כָּל-יְמֵי הֱיוֹת </a:t>
            </a:r>
            <a:r>
              <a:rPr lang="he-IL" sz="3200" dirty="0" err="1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בֵּית-הָאֱלֹהִים</a:t>
            </a:r>
            <a:r>
              <a:rPr lang="he-IL" sz="32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, בְּשִׁלֹה. </a:t>
            </a:r>
            <a:endParaRPr lang="he-IL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8A454-618F-4D42-A014-5CA0BC5FCEAC}"/>
              </a:ext>
            </a:extLst>
          </p:cNvPr>
          <p:cNvSpPr txBox="1"/>
          <p:nvPr/>
        </p:nvSpPr>
        <p:spPr>
          <a:xfrm>
            <a:off x="1396372" y="342247"/>
            <a:ext cx="4699628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 err="1">
                <a:latin typeface="David" panose="020E0502060401010101" pitchFamily="34" charset="-79"/>
                <a:cs typeface="David" panose="020E0502060401010101" pitchFamily="34" charset="-79"/>
              </a:rPr>
              <a:t>כט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 שבט דן קראו לעיר שכבשו "דן" על שם דן אבא שלהם שנולד ליעקב אבינו אבל ליש הייתה שם העיר קודם לפני שכבשו אותה.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E9CFB-6EA1-4D8C-89DE-2871AAA243FF}"/>
              </a:ext>
            </a:extLst>
          </p:cNvPr>
          <p:cNvSpPr txBox="1"/>
          <p:nvPr/>
        </p:nvSpPr>
        <p:spPr>
          <a:xfrm>
            <a:off x="316090" y="2157074"/>
            <a:ext cx="5779909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" יש לציין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שכאן העיר נקראת "ליש" ובספר יהושע נזכרה בשם "לשם" וזאת מפני שבני דן מצאו בה אבן "הלשם" , וזה היה סימן עבורם שזו נחלה המיועדת להם, כי "לשם" היא האבן שעליה נכתב "דן" באבני החושן.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D0E4C-F2D3-444F-9C3A-E6C1B9E9C1A3}"/>
              </a:ext>
            </a:extLst>
          </p:cNvPr>
          <p:cNvSpPr txBox="1"/>
          <p:nvPr/>
        </p:nvSpPr>
        <p:spPr>
          <a:xfrm>
            <a:off x="7176282" y="5055358"/>
            <a:ext cx="4699628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ל'.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בני דן הקימו את פסל מיכה בעירם, ויהונתן הבן של גרשום נכדו של משה הוא ובניו היו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כהנים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לשבט דן עד הזמן שגלו בימי סנחריב בגלות הראשונה.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C03A5-EAD1-4AC3-8FA4-2ED7152DCCB9}"/>
              </a:ext>
            </a:extLst>
          </p:cNvPr>
          <p:cNvSpPr txBox="1"/>
          <p:nvPr/>
        </p:nvSpPr>
        <p:spPr>
          <a:xfrm>
            <a:off x="4487335" y="4341233"/>
            <a:ext cx="2562578" cy="23083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לא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 שמו להם בני דן את פסל מיכה כל הימים שהיה המשכן בשילה, (ושחרבה שילה שמואל הנביא השמידו)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FE5B1-4BF8-4749-B4D4-4C41EB40EC06}"/>
              </a:ext>
            </a:extLst>
          </p:cNvPr>
          <p:cNvSpPr txBox="1"/>
          <p:nvPr/>
        </p:nvSpPr>
        <p:spPr>
          <a:xfrm>
            <a:off x="316090" y="4358822"/>
            <a:ext cx="3508651" cy="23083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2400" b="1" u="sng" dirty="0">
                <a:latin typeface="David" panose="020E0502060401010101" pitchFamily="34" charset="-79"/>
                <a:cs typeface="David" panose="020E0502060401010101" pitchFamily="34" charset="-79"/>
              </a:rPr>
              <a:t>חז"ל מגלים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שכל מי שהיה בא להקריב לפסל, יהונתן היה מסביר לו שאין לפסל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, אלא רק לה', ויהונתן היה אוכל בעצמו את הקורבן ומתפלל לה' שיושיע את אותו אדם.</a:t>
            </a:r>
          </a:p>
        </p:txBody>
      </p:sp>
    </p:spTree>
    <p:extLst>
      <p:ext uri="{BB962C8B-B14F-4D97-AF65-F5344CB8AC3E}">
        <p14:creationId xmlns:p14="http://schemas.microsoft.com/office/powerpoint/2010/main" val="372947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36622</TotalTime>
  <Words>2063</Words>
  <Application>Microsoft Office PowerPoint</Application>
  <PresentationFormat>מסך רחב</PresentationFormat>
  <Paragraphs>83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David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Teacher</dc:creator>
  <cp:lastModifiedBy>Teacher</cp:lastModifiedBy>
  <cp:revision>68</cp:revision>
  <dcterms:created xsi:type="dcterms:W3CDTF">2021-03-01T21:19:16Z</dcterms:created>
  <dcterms:modified xsi:type="dcterms:W3CDTF">2021-04-04T17:00:48Z</dcterms:modified>
</cp:coreProperties>
</file>