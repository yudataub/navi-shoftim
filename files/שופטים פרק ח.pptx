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6"/>
  </p:notesMasterIdLst>
  <p:sldIdLst>
    <p:sldId id="256" r:id="rId2"/>
    <p:sldId id="257" r:id="rId3"/>
    <p:sldId id="258" r:id="rId4"/>
    <p:sldId id="262" r:id="rId5"/>
    <p:sldId id="259" r:id="rId6"/>
    <p:sldId id="260" r:id="rId7"/>
    <p:sldId id="265" r:id="rId8"/>
    <p:sldId id="264" r:id="rId9"/>
    <p:sldId id="263" r:id="rId10"/>
    <p:sldId id="266" r:id="rId11"/>
    <p:sldId id="268" r:id="rId12"/>
    <p:sldId id="267" r:id="rId13"/>
    <p:sldId id="261"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971" autoAdjust="0"/>
    <p:restoredTop sz="94660"/>
  </p:normalViewPr>
  <p:slideViewPr>
    <p:cSldViewPr snapToGrid="0">
      <p:cViewPr>
        <p:scale>
          <a:sx n="70" d="100"/>
          <a:sy n="70" d="100"/>
        </p:scale>
        <p:origin x="61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F7A4F1FC-57F9-4E7D-A0CB-BCE893C1309B}" type="datetimeFigureOut">
              <a:rPr lang="he-IL" smtClean="0"/>
              <a:t>י"ט/שבט/תשפ"ד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2914CCD7-BDD7-4700-B91C-BAB9AD840022}" type="slidenum">
              <a:rPr lang="he-IL" smtClean="0"/>
              <a:t>‹#›</a:t>
            </a:fld>
            <a:endParaRPr lang="he-IL"/>
          </a:p>
        </p:txBody>
      </p:sp>
    </p:spTree>
    <p:extLst>
      <p:ext uri="{BB962C8B-B14F-4D97-AF65-F5344CB8AC3E}">
        <p14:creationId xmlns:p14="http://schemas.microsoft.com/office/powerpoint/2010/main" val="271341429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9145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68390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130716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1617055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2903535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3964363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1047909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47619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2192933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3028925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3973553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E4F014CE-6087-46E5-88FB-875271600D02}" type="datetimeFigureOut">
              <a:rPr lang="he-IL" smtClean="0"/>
              <a:t>י"ט/שבט/תשפ"ד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A0BE755-D60E-4C2A-B5C9-2FC5E02C7C6E}" type="slidenum">
              <a:rPr lang="he-IL" smtClean="0"/>
              <a:t>‹#›</a:t>
            </a:fld>
            <a:endParaRPr lang="he-IL"/>
          </a:p>
        </p:txBody>
      </p:sp>
    </p:spTree>
    <p:extLst>
      <p:ext uri="{BB962C8B-B14F-4D97-AF65-F5344CB8AC3E}">
        <p14:creationId xmlns:p14="http://schemas.microsoft.com/office/powerpoint/2010/main" val="2253542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E4F014CE-6087-46E5-88FB-875271600D02}" type="datetimeFigureOut">
              <a:rPr lang="he-IL" smtClean="0"/>
              <a:t>י"ט/שבט/תשפ"ד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A0BE755-D60E-4C2A-B5C9-2FC5E02C7C6E}" type="slidenum">
              <a:rPr lang="he-IL" smtClean="0"/>
              <a:t>‹#›</a:t>
            </a:fld>
            <a:endParaRPr lang="he-IL"/>
          </a:p>
        </p:txBody>
      </p:sp>
    </p:spTree>
    <p:extLst>
      <p:ext uri="{BB962C8B-B14F-4D97-AF65-F5344CB8AC3E}">
        <p14:creationId xmlns:p14="http://schemas.microsoft.com/office/powerpoint/2010/main" val="2923774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9.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11335" y="225632"/>
            <a:ext cx="6721435" cy="584775"/>
          </a:xfrm>
          <a:prstGeom prst="rect">
            <a:avLst/>
          </a:prstGeom>
          <a:solidFill>
            <a:schemeClr val="accent3">
              <a:lumMod val="60000"/>
              <a:lumOff val="40000"/>
            </a:schemeClr>
          </a:solidFill>
          <a:ln w="38100">
            <a:solidFill>
              <a:schemeClr val="tx1"/>
            </a:solidFill>
          </a:ln>
        </p:spPr>
        <p:txBody>
          <a:bodyPr wrap="square" rtlCol="1">
            <a:spAutoFit/>
          </a:bodyPr>
          <a:lstStyle/>
          <a:p>
            <a:r>
              <a:rPr lang="he-IL" sz="3200" dirty="0" smtClean="0">
                <a:latin typeface="David" panose="020E0502060401010101" pitchFamily="34" charset="-79"/>
                <a:cs typeface="David" panose="020E0502060401010101" pitchFamily="34" charset="-79"/>
              </a:rPr>
              <a:t>שופטים פרק ח': </a:t>
            </a:r>
            <a:r>
              <a:rPr lang="he-IL" sz="3200" b="1" u="sng" dirty="0" smtClean="0">
                <a:effectLst/>
                <a:ea typeface="Calibri" panose="020F0502020204030204" pitchFamily="34" charset="0"/>
                <a:cs typeface="David" panose="020E0502060401010101" pitchFamily="34" charset="-79"/>
              </a:rPr>
              <a:t>מלחמת גדעון בעבר הירדן:</a:t>
            </a:r>
            <a:endParaRPr lang="he-IL" sz="3200" dirty="0">
              <a:latin typeface="David" panose="020E0502060401010101" pitchFamily="34" charset="-79"/>
              <a:cs typeface="David" panose="020E0502060401010101" pitchFamily="34" charset="-79"/>
            </a:endParaRPr>
          </a:p>
        </p:txBody>
      </p:sp>
      <p:sp>
        <p:nvSpPr>
          <p:cNvPr id="5" name="TextBox 4"/>
          <p:cNvSpPr txBox="1"/>
          <p:nvPr/>
        </p:nvSpPr>
        <p:spPr>
          <a:xfrm>
            <a:off x="3111334" y="962972"/>
            <a:ext cx="8918369" cy="4524315"/>
          </a:xfrm>
          <a:prstGeom prst="rect">
            <a:avLst/>
          </a:prstGeom>
          <a:solidFill>
            <a:schemeClr val="accent4">
              <a:lumMod val="40000"/>
              <a:lumOff val="6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הקדמה: </a:t>
            </a:r>
            <a:r>
              <a:rPr lang="he-IL" sz="3200" dirty="0" smtClean="0">
                <a:latin typeface="David" panose="020E0502060401010101" pitchFamily="34" charset="-79"/>
                <a:cs typeface="David" panose="020E0502060401010101" pitchFamily="34" charset="-79"/>
              </a:rPr>
              <a:t>גדעון ואנשיו הצליחו להביס את מחנה מדין גם </a:t>
            </a:r>
            <a:r>
              <a:rPr lang="he-IL" sz="3200" b="1" dirty="0" smtClean="0">
                <a:latin typeface="David" panose="020E0502060401010101" pitchFamily="34" charset="-79"/>
                <a:cs typeface="David" panose="020E0502060401010101" pitchFamily="34" charset="-79"/>
              </a:rPr>
              <a:t>שבט אפרים שהצטרפו לבסוף הצליחו לתפוס ולהרוג את שני שרי מדיין זאב ועורב </a:t>
            </a:r>
            <a:r>
              <a:rPr lang="he-IL" sz="3200" dirty="0" smtClean="0">
                <a:latin typeface="David" panose="020E0502060401010101" pitchFamily="34" charset="-79"/>
                <a:cs typeface="David" panose="020E0502060401010101" pitchFamily="34" charset="-79"/>
              </a:rPr>
              <a:t>והביאו את הראשים שלהם לגדעון אבל בכל זאת המלחמה לא הסתיימה כי </a:t>
            </a:r>
            <a:r>
              <a:rPr lang="he-IL" sz="3200" b="1" dirty="0" smtClean="0">
                <a:latin typeface="David" panose="020E0502060401010101" pitchFamily="34" charset="-79"/>
                <a:cs typeface="David" panose="020E0502060401010101" pitchFamily="34" charset="-79"/>
              </a:rPr>
              <a:t>עדיין היו שני שרים שקראו להם זבח </a:t>
            </a:r>
            <a:r>
              <a:rPr lang="he-IL" sz="3200" b="1" dirty="0" err="1" smtClean="0">
                <a:latin typeface="David" panose="020E0502060401010101" pitchFamily="34" charset="-79"/>
                <a:cs typeface="David" panose="020E0502060401010101" pitchFamily="34" charset="-79"/>
              </a:rPr>
              <a:t>וצלמונע</a:t>
            </a:r>
            <a:r>
              <a:rPr lang="he-IL" sz="3200" b="1" dirty="0" smtClean="0">
                <a:latin typeface="David" panose="020E0502060401010101" pitchFamily="34" charset="-79"/>
                <a:cs typeface="David" panose="020E0502060401010101" pitchFamily="34" charset="-79"/>
              </a:rPr>
              <a:t> שהספיקו לברוח דרך נהר ירדן לפני שחסמו אותו </a:t>
            </a:r>
            <a:r>
              <a:rPr lang="he-IL" sz="3200" dirty="0" smtClean="0">
                <a:latin typeface="David" panose="020E0502060401010101" pitchFamily="34" charset="-79"/>
                <a:cs typeface="David" panose="020E0502060401010101" pitchFamily="34" charset="-79"/>
              </a:rPr>
              <a:t>ועברו לנחלה של שבטי ראובן גד ומנשה כדי להילחם בהם ולהורגם, לכן גדעון ואנשיו לא  ישבו לנוח וחצו גם הם את הירדן והמשיכו לרדוף אחריהם ואז קרה משהו לא נעים:</a:t>
            </a:r>
            <a:endParaRPr lang="he-IL" sz="3200" dirty="0">
              <a:latin typeface="David" panose="020E0502060401010101" pitchFamily="34" charset="-79"/>
              <a:cs typeface="David" panose="020E0502060401010101" pitchFamily="34" charset="-79"/>
            </a:endParaRPr>
          </a:p>
        </p:txBody>
      </p:sp>
      <p:pic>
        <p:nvPicPr>
          <p:cNvPr id="6" name="תמונה 5"/>
          <p:cNvPicPr>
            <a:picLocks noChangeAspect="1"/>
          </p:cNvPicPr>
          <p:nvPr/>
        </p:nvPicPr>
        <p:blipFill>
          <a:blip r:embed="rId2"/>
          <a:stretch>
            <a:fillRect/>
          </a:stretch>
        </p:blipFill>
        <p:spPr>
          <a:xfrm>
            <a:off x="0" y="-1"/>
            <a:ext cx="2790701" cy="3516283"/>
          </a:xfrm>
          <a:prstGeom prst="rect">
            <a:avLst/>
          </a:prstGeom>
        </p:spPr>
      </p:pic>
      <p:pic>
        <p:nvPicPr>
          <p:cNvPr id="7" name="תמונה 6"/>
          <p:cNvPicPr>
            <a:picLocks noChangeAspect="1"/>
          </p:cNvPicPr>
          <p:nvPr/>
        </p:nvPicPr>
        <p:blipFill>
          <a:blip r:embed="rId3"/>
          <a:stretch>
            <a:fillRect/>
          </a:stretch>
        </p:blipFill>
        <p:spPr>
          <a:xfrm>
            <a:off x="106878" y="4640187"/>
            <a:ext cx="2873828" cy="1999330"/>
          </a:xfrm>
          <a:prstGeom prst="rect">
            <a:avLst/>
          </a:prstGeom>
          <a:ln w="88900" cap="sq" cmpd="thickThin">
            <a:solidFill>
              <a:srgbClr val="000000"/>
            </a:solidFill>
            <a:prstDash val="solid"/>
            <a:miter lim="800000"/>
          </a:ln>
          <a:effectLst>
            <a:innerShdw blurRad="76200">
              <a:srgbClr val="000000"/>
            </a:innerShdw>
          </a:effectLst>
          <a:scene3d>
            <a:camera prst="perspectiveLeft"/>
            <a:lightRig rig="threePt" dir="t"/>
          </a:scene3d>
        </p:spPr>
      </p:pic>
    </p:spTree>
    <p:extLst>
      <p:ext uri="{BB962C8B-B14F-4D97-AF65-F5344CB8AC3E}">
        <p14:creationId xmlns:p14="http://schemas.microsoft.com/office/powerpoint/2010/main" val="39992351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02680" y="190005"/>
            <a:ext cx="5391398" cy="4708981"/>
          </a:xfrm>
          <a:prstGeom prst="rect">
            <a:avLst/>
          </a:prstGeom>
          <a:solidFill>
            <a:schemeClr val="accent4">
              <a:lumMod val="60000"/>
              <a:lumOff val="4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ניזכר מהפרקים הקודמים מי עזר במלחמה לגדעון?</a:t>
            </a:r>
          </a:p>
          <a:p>
            <a:r>
              <a:rPr lang="he-IL" sz="3200" b="1" i="1" dirty="0" smtClean="0">
                <a:latin typeface="David" panose="020E0502060401010101" pitchFamily="34" charset="-79"/>
                <a:cs typeface="David" panose="020E0502060401010101" pitchFamily="34" charset="-79"/>
              </a:rPr>
              <a:t>פרק ו' פס' לד:</a:t>
            </a:r>
          </a:p>
          <a:p>
            <a:r>
              <a:rPr lang="he-IL" sz="3200" dirty="0" smtClean="0">
                <a:latin typeface="David" panose="020E0502060401010101" pitchFamily="34" charset="-79"/>
                <a:cs typeface="David" panose="020E0502060401010101" pitchFamily="34" charset="-79"/>
              </a:rPr>
              <a:t>וְרוּחַ יְהוָה, לָבְשָׁה אֶת-גִּדְעוֹן; וַיִּתְקַע, בַּשּׁוֹפָר, וַיִּזָּעֵק </a:t>
            </a:r>
            <a:r>
              <a:rPr lang="he-IL" sz="3600" b="1" dirty="0" smtClean="0">
                <a:solidFill>
                  <a:srgbClr val="C00000"/>
                </a:solidFill>
                <a:latin typeface="David" panose="020E0502060401010101" pitchFamily="34" charset="-79"/>
                <a:cs typeface="David" panose="020E0502060401010101" pitchFamily="34" charset="-79"/>
              </a:rPr>
              <a:t>אֲבִיעֶזֶר</a:t>
            </a:r>
            <a:r>
              <a:rPr lang="he-IL" sz="3200" dirty="0" smtClean="0">
                <a:latin typeface="David" panose="020E0502060401010101" pitchFamily="34" charset="-79"/>
                <a:cs typeface="David" panose="020E0502060401010101" pitchFamily="34" charset="-79"/>
              </a:rPr>
              <a:t>, אַחֲרָיו.  לה וּמַלְאָכִים שָׁלַח בְּכָל-</a:t>
            </a:r>
            <a:r>
              <a:rPr lang="he-IL" sz="3200" b="1" dirty="0" smtClean="0">
                <a:solidFill>
                  <a:srgbClr val="C00000"/>
                </a:solidFill>
                <a:latin typeface="David" panose="020E0502060401010101" pitchFamily="34" charset="-79"/>
                <a:cs typeface="David" panose="020E0502060401010101" pitchFamily="34" charset="-79"/>
              </a:rPr>
              <a:t>מְנַשֶּׁה, </a:t>
            </a:r>
            <a:r>
              <a:rPr lang="he-IL" sz="3200" dirty="0" smtClean="0">
                <a:latin typeface="David" panose="020E0502060401010101" pitchFamily="34" charset="-79"/>
                <a:cs typeface="David" panose="020E0502060401010101" pitchFamily="34" charset="-79"/>
              </a:rPr>
              <a:t>וַיִּזָּעֵק גַּם-הוּא אַחֲרָיו; וּמַלְאָכִים שָׁלַח, </a:t>
            </a:r>
            <a:r>
              <a:rPr lang="he-IL" sz="3600" b="1" dirty="0" smtClean="0">
                <a:solidFill>
                  <a:srgbClr val="C00000"/>
                </a:solidFill>
                <a:latin typeface="David" panose="020E0502060401010101" pitchFamily="34" charset="-79"/>
                <a:cs typeface="David" panose="020E0502060401010101" pitchFamily="34" charset="-79"/>
              </a:rPr>
              <a:t>בְּאָשֵׁר </a:t>
            </a:r>
            <a:r>
              <a:rPr lang="he-IL" sz="3600" b="1" dirty="0" err="1" smtClean="0">
                <a:solidFill>
                  <a:srgbClr val="C00000"/>
                </a:solidFill>
                <a:latin typeface="David" panose="020E0502060401010101" pitchFamily="34" charset="-79"/>
                <a:cs typeface="David" panose="020E0502060401010101" pitchFamily="34" charset="-79"/>
              </a:rPr>
              <a:t>וּבִזְבֻלוּן</a:t>
            </a:r>
            <a:r>
              <a:rPr lang="he-IL" sz="3600" b="1" dirty="0" smtClean="0">
                <a:solidFill>
                  <a:srgbClr val="C00000"/>
                </a:solidFill>
                <a:latin typeface="David" panose="020E0502060401010101" pitchFamily="34" charset="-79"/>
                <a:cs typeface="David" panose="020E0502060401010101" pitchFamily="34" charset="-79"/>
              </a:rPr>
              <a:t> וּבְנַפְתָּלִי</a:t>
            </a:r>
            <a:r>
              <a:rPr lang="he-IL" sz="3200" dirty="0" smtClean="0">
                <a:latin typeface="David" panose="020E0502060401010101" pitchFamily="34" charset="-79"/>
                <a:cs typeface="David" panose="020E0502060401010101" pitchFamily="34" charset="-79"/>
              </a:rPr>
              <a:t>, וַיַּעֲלוּ, לִקְרָאתָם.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174170" y="106878"/>
            <a:ext cx="6096000" cy="6101157"/>
          </a:xfrm>
          <a:prstGeom prst="rect">
            <a:avLst/>
          </a:prstGeom>
          <a:solidFill>
            <a:schemeClr val="accent2">
              <a:lumMod val="60000"/>
              <a:lumOff val="40000"/>
            </a:schemeClr>
          </a:solidFill>
        </p:spPr>
        <p:txBody>
          <a:bodyPr>
            <a:spAutoFit/>
          </a:bodyPr>
          <a:lstStyle/>
          <a:p>
            <a:pPr lvl="0">
              <a:lnSpc>
                <a:spcPct val="80000"/>
              </a:lnSpc>
              <a:buClr>
                <a:srgbClr val="000000"/>
              </a:buClr>
              <a:buSzPts val="3600"/>
            </a:pPr>
            <a:r>
              <a:rPr kumimoji="0" lang="he-IL" sz="4000" b="1" i="0" u="sng" strike="noStrike" kern="0" cap="none" spc="0" normalizeH="0" baseline="0" noProof="0" dirty="0" smtClean="0">
                <a:ln>
                  <a:noFill/>
                </a:ln>
                <a:solidFill>
                  <a:srgbClr val="000000"/>
                </a:solidFill>
                <a:effectLst/>
                <a:uLnTx/>
                <a:uFillTx/>
                <a:latin typeface="Narkisim"/>
                <a:ea typeface="Narkisim"/>
                <a:cs typeface="Narkisim"/>
                <a:sym typeface="Narkisim"/>
              </a:rPr>
              <a:t>וכן בפרק ז' – </a:t>
            </a:r>
            <a:endParaRPr lang="he-IL" sz="3200" b="1" u="sng" kern="0" dirty="0">
              <a:solidFill>
                <a:srgbClr val="000000"/>
              </a:solidFill>
              <a:cs typeface="Calibri"/>
              <a:sym typeface="Calibri"/>
            </a:endParaRPr>
          </a:p>
          <a:p>
            <a:pPr lvl="0" algn="just">
              <a:lnSpc>
                <a:spcPct val="80000"/>
              </a:lnSpc>
              <a:spcBef>
                <a:spcPts val="1000"/>
              </a:spcBef>
              <a:buClr>
                <a:srgbClr val="000000"/>
              </a:buClr>
              <a:buSzPts val="3600"/>
            </a:pPr>
            <a:r>
              <a:rPr kumimoji="0" lang="he-IL" sz="3600" b="1" i="0" u="none" strike="noStrike" kern="0" cap="none" spc="0" normalizeH="0" baseline="0" noProof="0" dirty="0" err="1"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כג</a:t>
            </a: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וַיִּצָּעֵק אִישׁ-יִשְׂרָאֵל </a:t>
            </a:r>
            <a:r>
              <a:rPr kumimoji="0" lang="he-IL" sz="3600" b="1"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מִנַּפְתָּלִי</a:t>
            </a: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וּמִן-</a:t>
            </a:r>
            <a:r>
              <a:rPr kumimoji="0" lang="he-IL" sz="3600" b="1"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אָשֵׁר</a:t>
            </a: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וּמִן-כָּל-</a:t>
            </a:r>
            <a:r>
              <a:rPr kumimoji="0" lang="he-IL" sz="3600" b="1"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מְנַשֶּׁה</a:t>
            </a: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וַיִּרְדְּפוּ, אַחֲרֵי מִדְיָן.  </a:t>
            </a:r>
          </a:p>
          <a:p>
            <a:pPr lvl="0" algn="just">
              <a:lnSpc>
                <a:spcPct val="80000"/>
              </a:lnSpc>
              <a:spcBef>
                <a:spcPts val="1000"/>
              </a:spcBef>
              <a:buClr>
                <a:srgbClr val="000000"/>
              </a:buClr>
              <a:buSzPts val="3600"/>
            </a:pPr>
            <a:r>
              <a:rPr kumimoji="0" lang="he-IL" sz="3600" b="1"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כד</a:t>
            </a: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וּמַלְאָכִים שָׁלַח גִּדְעוֹן בְּכָל-הַר </a:t>
            </a:r>
            <a:r>
              <a:rPr kumimoji="0" lang="he-IL" sz="3600" b="1" i="0" u="none" strike="noStrike" kern="0" cap="none" spc="0" normalizeH="0" baseline="0" noProof="0" dirty="0" smtClean="0">
                <a:ln>
                  <a:noFill/>
                </a:ln>
                <a:solidFill>
                  <a:srgbClr val="000000"/>
                </a:solidFill>
                <a:effectLst/>
                <a:highlight>
                  <a:srgbClr val="FFFF00"/>
                </a:highlight>
                <a:uLnTx/>
                <a:uFillTx/>
                <a:latin typeface="David" panose="020E0502060401010101" pitchFamily="34" charset="-79"/>
                <a:ea typeface="Narkisim"/>
                <a:cs typeface="David" panose="020E0502060401010101" pitchFamily="34" charset="-79"/>
                <a:sym typeface="Narkisim"/>
              </a:rPr>
              <a:t>אֶפְרַיִם</a:t>
            </a: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a:t>
            </a:r>
            <a:r>
              <a:rPr kumimoji="0" lang="he-IL" sz="3600" b="0" i="0" u="none" strike="noStrike" kern="0" cap="none" spc="0" normalizeH="0" baseline="0" noProof="0" dirty="0" err="1"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לֵאמֹר</a:t>
            </a: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a:t>
            </a:r>
            <a:endParaRPr lang="he-IL" sz="3600" kern="0" dirty="0">
              <a:solidFill>
                <a:srgbClr val="000000"/>
              </a:solidFill>
              <a:latin typeface="David" panose="020E0502060401010101" pitchFamily="34" charset="-79"/>
              <a:cs typeface="David" panose="020E0502060401010101" pitchFamily="34" charset="-79"/>
              <a:sym typeface="Calibri"/>
            </a:endParaRPr>
          </a:p>
          <a:p>
            <a:pPr lvl="0" algn="just">
              <a:lnSpc>
                <a:spcPct val="80000"/>
              </a:lnSpc>
              <a:spcBef>
                <a:spcPts val="1000"/>
              </a:spcBef>
              <a:buClr>
                <a:srgbClr val="000000"/>
              </a:buClr>
              <a:buSzPts val="3600"/>
            </a:pP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"רְדוּ לִקְרַאת מִדְיָן וְלִכְדוּ לָהֶם אֶת-הַמַּיִם, עַד בֵּית בָּרָה, וְאֶת-הַיַּרְדֵּן." </a:t>
            </a:r>
            <a:endParaRPr lang="he-IL" sz="3600" kern="0" dirty="0">
              <a:solidFill>
                <a:srgbClr val="000000"/>
              </a:solidFill>
              <a:latin typeface="David" panose="020E0502060401010101" pitchFamily="34" charset="-79"/>
              <a:cs typeface="David" panose="020E0502060401010101" pitchFamily="34" charset="-79"/>
              <a:sym typeface="Calibri"/>
            </a:endParaRPr>
          </a:p>
          <a:p>
            <a:pPr lvl="0" algn="just">
              <a:lnSpc>
                <a:spcPct val="80000"/>
              </a:lnSpc>
              <a:spcBef>
                <a:spcPts val="1000"/>
              </a:spcBef>
              <a:buClr>
                <a:srgbClr val="000000"/>
              </a:buClr>
              <a:buSzPts val="3600"/>
            </a:pP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וַיִּצָּעֵק כָּל-אִישׁ </a:t>
            </a:r>
            <a:r>
              <a:rPr kumimoji="0" lang="he-IL" sz="3600" b="1"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אֶפְרַיִם,</a:t>
            </a: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a:t>
            </a:r>
            <a:r>
              <a:rPr kumimoji="0" lang="he-IL" sz="3600" b="1"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וַיִּלְכְּדוּ אֶת-הַמַּיִם</a:t>
            </a: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עַד בֵּית בָּרָה, וְאֶת-הַיַּרְדֵּן.</a:t>
            </a:r>
          </a:p>
          <a:p>
            <a:pPr lvl="0" algn="just">
              <a:lnSpc>
                <a:spcPct val="80000"/>
              </a:lnSpc>
              <a:spcBef>
                <a:spcPts val="1000"/>
              </a:spcBef>
              <a:buClr>
                <a:srgbClr val="000000"/>
              </a:buClr>
              <a:buSzPts val="3600"/>
            </a:pPr>
            <a:r>
              <a:rPr kumimoji="0" lang="he-IL" sz="36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a:t>
            </a:r>
            <a:r>
              <a:rPr kumimoji="0" lang="iw-IL" sz="3600" b="1" i="0" u="none" strike="noStrike" kern="0" cap="none" spc="0" normalizeH="0" baseline="0" noProof="0" dirty="0" smtClean="0">
                <a:ln>
                  <a:noFill/>
                </a:ln>
                <a:solidFill>
                  <a:srgbClr val="000000"/>
                </a:solidFill>
                <a:effectLst/>
                <a:uLnTx/>
                <a:uFillTx/>
                <a:latin typeface="Narkisim"/>
                <a:ea typeface="Narkisim"/>
                <a:cs typeface="Narkisim"/>
                <a:sym typeface="Narkisim"/>
              </a:rPr>
              <a:t>כה</a:t>
            </a:r>
            <a:r>
              <a:rPr kumimoji="0" lang="iw-IL" sz="3600" b="0" i="0" u="none" strike="noStrike" kern="0" cap="none" spc="0" normalizeH="0" baseline="0" noProof="0" dirty="0" smtClean="0">
                <a:ln>
                  <a:noFill/>
                </a:ln>
                <a:solidFill>
                  <a:srgbClr val="000000"/>
                </a:solidFill>
                <a:effectLst/>
                <a:uLnTx/>
                <a:uFillTx/>
                <a:latin typeface="Narkisim"/>
                <a:ea typeface="Narkisim"/>
                <a:cs typeface="Narkisim"/>
                <a:sym typeface="Narkisim"/>
              </a:rPr>
              <a:t> וַיִּלְכְּדוּ שְׁנֵי-שָׂרֵי מִדְיָן אֶת-עֹרֵב וְאֶת-זְאֵב </a:t>
            </a:r>
            <a:r>
              <a:rPr kumimoji="0" lang="he-IL" sz="3600" b="0" i="0" u="none" strike="noStrike" kern="0" cap="none" spc="0" normalizeH="0" baseline="0" noProof="0" dirty="0" smtClean="0">
                <a:ln>
                  <a:noFill/>
                </a:ln>
                <a:solidFill>
                  <a:srgbClr val="000000"/>
                </a:solidFill>
                <a:effectLst/>
                <a:uLnTx/>
                <a:uFillTx/>
                <a:latin typeface="Narkisim"/>
                <a:ea typeface="Narkisim"/>
                <a:cs typeface="Narkisim"/>
                <a:sym typeface="Narkisim"/>
              </a:rPr>
              <a:t> </a:t>
            </a:r>
            <a:endParaRPr kumimoji="0" lang="he-IL" sz="3600" b="0" i="0" u="none" strike="noStrike" kern="0" cap="none" spc="0" normalizeH="0" baseline="0" noProof="0" dirty="0">
              <a:ln>
                <a:noFill/>
              </a:ln>
              <a:solidFill>
                <a:srgbClr val="000000"/>
              </a:solidFill>
              <a:effectLst/>
              <a:uLnTx/>
              <a:uFillTx/>
              <a:latin typeface="Narkisim"/>
              <a:ea typeface="Narkisim"/>
              <a:cs typeface="Narkisim"/>
              <a:sym typeface="Narkisim"/>
            </a:endParaRPr>
          </a:p>
        </p:txBody>
      </p:sp>
      <p:sp>
        <p:nvSpPr>
          <p:cNvPr id="5" name="TextBox 4"/>
          <p:cNvSpPr txBox="1"/>
          <p:nvPr/>
        </p:nvSpPr>
        <p:spPr>
          <a:xfrm>
            <a:off x="6602680" y="5011387"/>
            <a:ext cx="5391398" cy="1736646"/>
          </a:xfrm>
          <a:prstGeom prst="flowChartAlternateProcess">
            <a:avLst/>
          </a:prstGeom>
          <a:solidFill>
            <a:schemeClr val="accent6">
              <a:lumMod val="60000"/>
              <a:lumOff val="40000"/>
            </a:schemeClr>
          </a:solidFill>
          <a:ln w="38100">
            <a:solidFill>
              <a:schemeClr val="tx1"/>
            </a:solidFill>
          </a:ln>
        </p:spPr>
        <p:txBody>
          <a:bodyPr wrap="square" rtlCol="1">
            <a:spAutoFit/>
          </a:bodyPr>
          <a:lstStyle/>
          <a:p>
            <a:r>
              <a:rPr lang="he-IL" sz="3200" dirty="0" smtClean="0">
                <a:latin typeface="David" panose="020E0502060401010101" pitchFamily="34" charset="-79"/>
                <a:cs typeface="David" panose="020E0502060401010101" pitchFamily="34" charset="-79"/>
              </a:rPr>
              <a:t>רואים מפה שגדעון קרא לשבט אפרים והם אלו שהרגו את עורב וזאב שרי מדיין. </a:t>
            </a:r>
            <a:endParaRPr lang="he-IL" sz="3200" dirty="0">
              <a:latin typeface="David" panose="020E0502060401010101" pitchFamily="34" charset="-79"/>
              <a:cs typeface="David" panose="020E0502060401010101" pitchFamily="34" charset="-79"/>
            </a:endParaRPr>
          </a:p>
        </p:txBody>
      </p:sp>
      <p:sp>
        <p:nvSpPr>
          <p:cNvPr id="3" name="חץ ימינה 2"/>
          <p:cNvSpPr/>
          <p:nvPr/>
        </p:nvSpPr>
        <p:spPr>
          <a:xfrm>
            <a:off x="6103917" y="5137504"/>
            <a:ext cx="1175657" cy="6887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2845176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circle(in)">
                                      <p:cBhvr>
                                        <p:cTn id="19" dur="2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down)">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45"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2000"/>
                                        <p:tgtEl>
                                          <p:spTgt spid="5"/>
                                        </p:tgtEl>
                                      </p:cBhvr>
                                    </p:animEffect>
                                    <p:anim calcmode="lin" valueType="num">
                                      <p:cBhvr>
                                        <p:cTn id="30" dur="2000" fill="hold"/>
                                        <p:tgtEl>
                                          <p:spTgt spid="5"/>
                                        </p:tgtEl>
                                        <p:attrNameLst>
                                          <p:attrName>ppt_w</p:attrName>
                                        </p:attrNameLst>
                                      </p:cBhvr>
                                      <p:tavLst>
                                        <p:tav tm="0" fmla="#ppt_w*sin(2.5*pi*$)">
                                          <p:val>
                                            <p:fltVal val="0"/>
                                          </p:val>
                                        </p:tav>
                                        <p:tav tm="100000">
                                          <p:val>
                                            <p:fltVal val="1"/>
                                          </p:val>
                                        </p:tav>
                                      </p:tavLst>
                                    </p:anim>
                                    <p:anim calcmode="lin" valueType="num">
                                      <p:cBhvr>
                                        <p:cTn id="31"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505" y="166254"/>
            <a:ext cx="6092040" cy="6494085"/>
          </a:xfrm>
          <a:prstGeom prst="rect">
            <a:avLst/>
          </a:prstGeom>
          <a:solidFill>
            <a:schemeClr val="accent1">
              <a:lumMod val="60000"/>
              <a:lumOff val="4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א'- </a:t>
            </a:r>
            <a:r>
              <a:rPr lang="he-IL" sz="3200" dirty="0" smtClean="0">
                <a:latin typeface="David" panose="020E0502060401010101" pitchFamily="34" charset="-79"/>
                <a:cs typeface="David" panose="020E0502060401010101" pitchFamily="34" charset="-79"/>
              </a:rPr>
              <a:t>הגיעו אנשי שבט אפרים ואמרו לגדעון מדוע פגעת בנו  ולא קראת לנו כאשר הלכת להילחם במדיין והיינו עוזרים  לך במלחמה הרי קראת לשבט מנשה ואשר וזבולון ונפתלי ולנו לא. מדוע? וטענו נגדו בתקיפות. </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ב': </a:t>
            </a:r>
            <a:r>
              <a:rPr lang="he-IL" sz="3200" dirty="0" smtClean="0">
                <a:latin typeface="David" panose="020E0502060401010101" pitchFamily="34" charset="-79"/>
                <a:cs typeface="David" panose="020E0502060401010101" pitchFamily="34" charset="-79"/>
              </a:rPr>
              <a:t>אמר להם גדעון: הלוואי והייתי זוכה למה שאתם עשיתם הלא טוב </a:t>
            </a:r>
            <a:r>
              <a:rPr lang="he-IL" sz="3200" b="1" dirty="0" smtClean="0">
                <a:latin typeface="David" panose="020E0502060401010101" pitchFamily="34" charset="-79"/>
                <a:cs typeface="David" panose="020E0502060401010101" pitchFamily="34" charset="-79"/>
              </a:rPr>
              <a:t>עוללות אפרים , שאלו הענבים שנשארים בסוף </a:t>
            </a:r>
            <a:r>
              <a:rPr lang="he-IL" sz="3200" dirty="0" smtClean="0">
                <a:latin typeface="David" panose="020E0502060401010101" pitchFamily="34" charset="-79"/>
                <a:cs typeface="David" panose="020E0502060401010101" pitchFamily="34" charset="-79"/>
              </a:rPr>
              <a:t>לאחר </a:t>
            </a:r>
            <a:r>
              <a:rPr lang="he-IL" sz="3200" dirty="0" err="1" smtClean="0">
                <a:latin typeface="David" panose="020E0502060401010101" pitchFamily="34" charset="-79"/>
                <a:cs typeface="David" panose="020E0502060401010101" pitchFamily="34" charset="-79"/>
              </a:rPr>
              <a:t>הבציר</a:t>
            </a:r>
            <a:r>
              <a:rPr lang="he-IL" sz="3200" dirty="0" smtClean="0">
                <a:latin typeface="David" panose="020E0502060401010101" pitchFamily="34" charset="-79"/>
                <a:cs typeface="David" panose="020E0502060401010101" pitchFamily="34" charset="-79"/>
              </a:rPr>
              <a:t> שהם יותר טובים </a:t>
            </a:r>
            <a:r>
              <a:rPr lang="he-IL" sz="3200" b="1" dirty="0" smtClean="0">
                <a:latin typeface="David" panose="020E0502060401010101" pitchFamily="34" charset="-79"/>
                <a:cs typeface="David" panose="020E0502060401010101" pitchFamily="34" charset="-79"/>
              </a:rPr>
              <a:t>מאשר בציר אביעזר שהוא הזמן של לקיטת הענבים הבשלים בהתחלה </a:t>
            </a:r>
            <a:r>
              <a:rPr lang="he-IL" sz="3200" b="1" dirty="0" err="1" smtClean="0">
                <a:latin typeface="David" panose="020E0502060401010101" pitchFamily="34" charset="-79"/>
                <a:cs typeface="David" panose="020E0502060401010101" pitchFamily="34" charset="-79"/>
              </a:rPr>
              <a:t>בבציר</a:t>
            </a:r>
            <a:r>
              <a:rPr lang="he-IL" sz="3200" b="1" dirty="0" smtClean="0">
                <a:latin typeface="David" panose="020E0502060401010101" pitchFamily="34" charset="-79"/>
                <a:cs typeface="David" panose="020E0502060401010101" pitchFamily="34" charset="-79"/>
              </a:rPr>
              <a:t>. </a:t>
            </a:r>
            <a:endParaRPr lang="he-IL" sz="3200" b="1" dirty="0">
              <a:latin typeface="David" panose="020E0502060401010101" pitchFamily="34" charset="-79"/>
              <a:cs typeface="David" panose="020E0502060401010101" pitchFamily="34" charset="-79"/>
            </a:endParaRPr>
          </a:p>
        </p:txBody>
      </p:sp>
      <p:sp>
        <p:nvSpPr>
          <p:cNvPr id="2" name="מלבן 1"/>
          <p:cNvSpPr/>
          <p:nvPr/>
        </p:nvSpPr>
        <p:spPr>
          <a:xfrm>
            <a:off x="6424550" y="166254"/>
            <a:ext cx="5676405" cy="3539430"/>
          </a:xfrm>
          <a:prstGeom prst="rect">
            <a:avLst/>
          </a:prstGeom>
          <a:solidFill>
            <a:schemeClr val="accent2">
              <a:lumMod val="60000"/>
              <a:lumOff val="40000"/>
            </a:schemeClr>
          </a:solidFill>
        </p:spPr>
        <p:txBody>
          <a:bodyPr wrap="square">
            <a:spAutoFit/>
          </a:bodyPr>
          <a:lstStyle/>
          <a:p>
            <a:r>
              <a:rPr lang="he-IL" sz="3200" b="1" dirty="0" smtClean="0">
                <a:latin typeface="David" panose="020E0502060401010101" pitchFamily="34" charset="-79"/>
                <a:cs typeface="David" panose="020E0502060401010101" pitchFamily="34" charset="-79"/>
              </a:rPr>
              <a:t>א</a:t>
            </a:r>
            <a:r>
              <a:rPr lang="he-IL" sz="3200" dirty="0" smtClean="0">
                <a:latin typeface="David" panose="020E0502060401010101" pitchFamily="34" charset="-79"/>
                <a:cs typeface="David" panose="020E0502060401010101" pitchFamily="34" charset="-79"/>
              </a:rPr>
              <a:t> וַיֹּאמְרוּ אֵלָיו אִישׁ אֶפְרַיִם, מָה-הַדָּבָר הַזֶּה עָשִׂיתָ לָּנוּ, </a:t>
            </a:r>
            <a:r>
              <a:rPr lang="he-IL" sz="3200" b="1" dirty="0" smtClean="0">
                <a:latin typeface="David" panose="020E0502060401010101" pitchFamily="34" charset="-79"/>
                <a:cs typeface="David" panose="020E0502060401010101" pitchFamily="34" charset="-79"/>
              </a:rPr>
              <a:t>לְבִלְתִּי קְרֹאות לָנוּ</a:t>
            </a:r>
            <a:r>
              <a:rPr lang="he-IL" sz="3200" dirty="0" smtClean="0">
                <a:latin typeface="David" panose="020E0502060401010101" pitchFamily="34" charset="-79"/>
                <a:cs typeface="David" panose="020E0502060401010101" pitchFamily="34" charset="-79"/>
              </a:rPr>
              <a:t>, כִּי הָלַכְתָּ </a:t>
            </a:r>
            <a:r>
              <a:rPr lang="he-IL" sz="3200" dirty="0" err="1" smtClean="0">
                <a:latin typeface="David" panose="020E0502060401010101" pitchFamily="34" charset="-79"/>
                <a:cs typeface="David" panose="020E0502060401010101" pitchFamily="34" charset="-79"/>
              </a:rPr>
              <a:t>לְהִלָּחֵם</a:t>
            </a:r>
            <a:r>
              <a:rPr lang="he-IL" sz="3200" dirty="0" smtClean="0">
                <a:latin typeface="David" panose="020E0502060401010101" pitchFamily="34" charset="-79"/>
                <a:cs typeface="David" panose="020E0502060401010101" pitchFamily="34" charset="-79"/>
              </a:rPr>
              <a:t> בְּמִדְיָן; </a:t>
            </a:r>
            <a:r>
              <a:rPr lang="he-IL" sz="3200" dirty="0" err="1" smtClean="0">
                <a:latin typeface="David" panose="020E0502060401010101" pitchFamily="34" charset="-79"/>
                <a:cs typeface="David" panose="020E0502060401010101" pitchFamily="34" charset="-79"/>
              </a:rPr>
              <a:t>וַיְרִיבוּן</a:t>
            </a:r>
            <a:r>
              <a:rPr lang="he-IL" sz="3200" dirty="0" smtClean="0">
                <a:latin typeface="David" panose="020E0502060401010101" pitchFamily="34" charset="-79"/>
                <a:cs typeface="David" panose="020E0502060401010101" pitchFamily="34" charset="-79"/>
              </a:rPr>
              <a:t> אִתּוֹ, בְּחָזְקָה.  </a:t>
            </a:r>
          </a:p>
          <a:p>
            <a:r>
              <a:rPr lang="he-IL" sz="3200" b="1" dirty="0" smtClean="0">
                <a:latin typeface="David" panose="020E0502060401010101" pitchFamily="34" charset="-79"/>
                <a:cs typeface="David" panose="020E0502060401010101" pitchFamily="34" charset="-79"/>
              </a:rPr>
              <a:t>ב</a:t>
            </a:r>
            <a:r>
              <a:rPr lang="he-IL" sz="3200" dirty="0" smtClean="0">
                <a:latin typeface="David" panose="020E0502060401010101" pitchFamily="34" charset="-79"/>
                <a:cs typeface="David" panose="020E0502060401010101" pitchFamily="34" charset="-79"/>
              </a:rPr>
              <a:t> וַיֹּאמֶר אֲלֵיהֶם, מֶה-עָשִׂיתִי עַתָּה </a:t>
            </a:r>
            <a:r>
              <a:rPr lang="he-IL" sz="3200" dirty="0" err="1" smtClean="0">
                <a:latin typeface="David" panose="020E0502060401010101" pitchFamily="34" charset="-79"/>
                <a:cs typeface="David" panose="020E0502060401010101" pitchFamily="34" charset="-79"/>
              </a:rPr>
              <a:t>כָּכֶם</a:t>
            </a:r>
            <a:r>
              <a:rPr lang="he-IL" sz="3200" dirty="0" smtClean="0">
                <a:latin typeface="David" panose="020E0502060401010101" pitchFamily="34" charset="-79"/>
                <a:cs typeface="David" panose="020E0502060401010101" pitchFamily="34" charset="-79"/>
              </a:rPr>
              <a:t>:  הֲלֹא, </a:t>
            </a:r>
            <a:r>
              <a:rPr lang="he-IL" sz="3200" b="1" dirty="0" smtClean="0">
                <a:latin typeface="David" panose="020E0502060401010101" pitchFamily="34" charset="-79"/>
                <a:cs typeface="David" panose="020E0502060401010101" pitchFamily="34" charset="-79"/>
              </a:rPr>
              <a:t>טוֹב </a:t>
            </a:r>
            <a:r>
              <a:rPr lang="he-IL" sz="3200" b="1" dirty="0" err="1" smtClean="0">
                <a:latin typeface="David" panose="020E0502060401010101" pitchFamily="34" charset="-79"/>
                <a:cs typeface="David" panose="020E0502060401010101" pitchFamily="34" charset="-79"/>
              </a:rPr>
              <a:t>עֹלְלוֹת</a:t>
            </a:r>
            <a:r>
              <a:rPr lang="he-IL" sz="3200" b="1" dirty="0" smtClean="0">
                <a:latin typeface="David" panose="020E0502060401010101" pitchFamily="34" charset="-79"/>
                <a:cs typeface="David" panose="020E0502060401010101" pitchFamily="34" charset="-79"/>
              </a:rPr>
              <a:t> אֶפְרַיִם--</a:t>
            </a:r>
            <a:r>
              <a:rPr lang="he-IL" sz="3200" b="1" dirty="0" err="1" smtClean="0">
                <a:latin typeface="David" panose="020E0502060401010101" pitchFamily="34" charset="-79"/>
                <a:cs typeface="David" panose="020E0502060401010101" pitchFamily="34" charset="-79"/>
              </a:rPr>
              <a:t>מִבְצִיר</a:t>
            </a:r>
            <a:r>
              <a:rPr lang="he-IL" sz="3200" b="1" dirty="0" smtClean="0">
                <a:latin typeface="David" panose="020E0502060401010101" pitchFamily="34" charset="-79"/>
                <a:cs typeface="David" panose="020E0502060401010101" pitchFamily="34" charset="-79"/>
              </a:rPr>
              <a:t> אֲבִיעֶזֶר</a:t>
            </a:r>
            <a:r>
              <a:rPr lang="he-IL" sz="3200" dirty="0" smtClean="0">
                <a:latin typeface="David" panose="020E0502060401010101" pitchFamily="34" charset="-79"/>
                <a:cs typeface="David" panose="020E0502060401010101" pitchFamily="34" charset="-79"/>
              </a:rPr>
              <a:t>. </a:t>
            </a:r>
            <a:endParaRPr lang="he-IL" sz="32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7227590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19"/>
          <p:cNvSpPr txBox="1">
            <a:spLocks noGrp="1"/>
          </p:cNvSpPr>
          <p:nvPr>
            <p:ph type="body" idx="1"/>
          </p:nvPr>
        </p:nvSpPr>
        <p:spPr>
          <a:xfrm>
            <a:off x="2001981" y="192876"/>
            <a:ext cx="8543307" cy="730555"/>
          </a:xfrm>
          <a:prstGeom prst="rect">
            <a:avLst/>
          </a:prstGeom>
          <a:solidFill>
            <a:schemeClr val="accent4"/>
          </a:solidFill>
          <a:ln>
            <a:noFill/>
          </a:ln>
        </p:spPr>
        <p:txBody>
          <a:bodyPr spcFirstLastPara="1" wrap="square" lIns="91425" tIns="45700" rIns="91425" bIns="45700" anchor="t" anchorCtr="0">
            <a:normAutofit/>
          </a:bodyPr>
          <a:lstStyle/>
          <a:p>
            <a:pPr marL="0" lvl="0" indent="0" algn="ctr" rtl="1">
              <a:lnSpc>
                <a:spcPct val="90000"/>
              </a:lnSpc>
              <a:spcBef>
                <a:spcPts val="0"/>
              </a:spcBef>
              <a:spcAft>
                <a:spcPts val="0"/>
              </a:spcAft>
              <a:buClr>
                <a:schemeClr val="dk1"/>
              </a:buClr>
              <a:buSzPts val="3600"/>
              <a:buNone/>
            </a:pPr>
            <a:r>
              <a:rPr lang="iw-IL" sz="3600" dirty="0">
                <a:latin typeface="Narkisim"/>
                <a:ea typeface="Narkisim"/>
                <a:cs typeface="Narkisim"/>
                <a:sym typeface="Narkisim"/>
              </a:rPr>
              <a:t>"הֲלֹא, טוֹב עֹלְלוֹת אֶפְרַיִם מִבְצִיר אֲבִיעֶזֶר."</a:t>
            </a:r>
            <a:r>
              <a:rPr lang="iw-IL" dirty="0">
                <a:latin typeface="Narkisim"/>
                <a:ea typeface="Narkisim"/>
                <a:cs typeface="Narkisim"/>
                <a:sym typeface="Narkisim"/>
              </a:rPr>
              <a:t>  </a:t>
            </a:r>
            <a:endParaRPr dirty="0"/>
          </a:p>
        </p:txBody>
      </p:sp>
      <p:cxnSp>
        <p:nvCxnSpPr>
          <p:cNvPr id="128" name="Google Shape;128;p19"/>
          <p:cNvCxnSpPr/>
          <p:nvPr/>
        </p:nvCxnSpPr>
        <p:spPr>
          <a:xfrm>
            <a:off x="7560128" y="759528"/>
            <a:ext cx="0" cy="476248"/>
          </a:xfrm>
          <a:prstGeom prst="straightConnector1">
            <a:avLst/>
          </a:prstGeom>
          <a:noFill/>
          <a:ln w="76200" cap="flat" cmpd="sng">
            <a:solidFill>
              <a:schemeClr val="accent1"/>
            </a:solidFill>
            <a:prstDash val="solid"/>
            <a:miter lim="800000"/>
            <a:headEnd type="none" w="sm" len="sm"/>
            <a:tailEnd type="triangle" w="med" len="med"/>
          </a:ln>
        </p:spPr>
      </p:cxnSp>
      <p:cxnSp>
        <p:nvCxnSpPr>
          <p:cNvPr id="129" name="Google Shape;129;p19"/>
          <p:cNvCxnSpPr/>
          <p:nvPr/>
        </p:nvCxnSpPr>
        <p:spPr>
          <a:xfrm>
            <a:off x="4879521" y="2291445"/>
            <a:ext cx="0" cy="522514"/>
          </a:xfrm>
          <a:prstGeom prst="straightConnector1">
            <a:avLst/>
          </a:prstGeom>
          <a:noFill/>
          <a:ln w="76200" cap="flat" cmpd="sng">
            <a:solidFill>
              <a:schemeClr val="accent1"/>
            </a:solidFill>
            <a:prstDash val="solid"/>
            <a:miter lim="800000"/>
            <a:headEnd type="none" w="sm" len="sm"/>
            <a:tailEnd type="triangle" w="med" len="med"/>
          </a:ln>
        </p:spPr>
      </p:cxnSp>
      <p:sp>
        <p:nvSpPr>
          <p:cNvPr id="130" name="Google Shape;130;p19"/>
          <p:cNvSpPr txBox="1"/>
          <p:nvPr/>
        </p:nvSpPr>
        <p:spPr>
          <a:xfrm>
            <a:off x="6125361" y="1248234"/>
            <a:ext cx="4041321" cy="1754326"/>
          </a:xfrm>
          <a:prstGeom prst="rect">
            <a:avLst/>
          </a:prstGeom>
          <a:solidFill>
            <a:schemeClr val="accent2">
              <a:lumMod val="40000"/>
              <a:lumOff val="60000"/>
            </a:schemeClr>
          </a:solidFill>
          <a:ln w="38100" cap="flat" cmpd="sng">
            <a:solidFill>
              <a:srgbClr val="C55A1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Clr>
                <a:srgbClr val="000000"/>
              </a:buClr>
              <a:buSzPts val="3600"/>
              <a:buFont typeface="Arial"/>
              <a:buNone/>
            </a:pPr>
            <a:r>
              <a:rPr lang="iw-IL" sz="3600" b="0" i="0" u="none" strike="noStrike" cap="none">
                <a:solidFill>
                  <a:schemeClr val="dk1"/>
                </a:solidFill>
                <a:latin typeface="Narkisim"/>
                <a:ea typeface="Narkisim"/>
                <a:cs typeface="Narkisim"/>
                <a:sym typeface="Narkisim"/>
              </a:rPr>
              <a:t>הענבים הבודדים שנשארים בסוף הבציר לעניים.</a:t>
            </a:r>
            <a:endParaRPr sz="3600" b="0" i="0" u="none" strike="noStrike" cap="none">
              <a:solidFill>
                <a:schemeClr val="dk1"/>
              </a:solidFill>
              <a:latin typeface="Narkisim"/>
              <a:ea typeface="Narkisim"/>
              <a:cs typeface="Narkisim"/>
              <a:sym typeface="Narkisim"/>
            </a:endParaRPr>
          </a:p>
        </p:txBody>
      </p:sp>
      <p:sp>
        <p:nvSpPr>
          <p:cNvPr id="131" name="Google Shape;131;p19"/>
          <p:cNvSpPr txBox="1"/>
          <p:nvPr/>
        </p:nvSpPr>
        <p:spPr>
          <a:xfrm>
            <a:off x="1688832" y="1354370"/>
            <a:ext cx="4041321" cy="1200329"/>
          </a:xfrm>
          <a:prstGeom prst="rect">
            <a:avLst/>
          </a:prstGeom>
          <a:solidFill>
            <a:schemeClr val="accent4">
              <a:lumMod val="60000"/>
              <a:lumOff val="40000"/>
            </a:schemeClr>
          </a:solidFill>
          <a:ln w="38100" cap="flat" cmpd="sng">
            <a:solidFill>
              <a:srgbClr val="C55A1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Clr>
                <a:srgbClr val="000000"/>
              </a:buClr>
              <a:buSzPts val="3600"/>
              <a:buFont typeface="Arial"/>
              <a:buNone/>
            </a:pPr>
            <a:r>
              <a:rPr lang="iw-IL" sz="3600" b="0" i="0" u="none" strike="noStrike" cap="none" dirty="0">
                <a:solidFill>
                  <a:schemeClr val="dk1"/>
                </a:solidFill>
                <a:latin typeface="Narkisim"/>
                <a:ea typeface="Narkisim"/>
                <a:cs typeface="Narkisim"/>
                <a:sym typeface="Narkisim"/>
              </a:rPr>
              <a:t>קטיף הענבים הראשונים</a:t>
            </a:r>
            <a:endParaRPr sz="3600" b="0" i="0" u="none" strike="noStrike" cap="none" dirty="0">
              <a:solidFill>
                <a:schemeClr val="dk1"/>
              </a:solidFill>
              <a:latin typeface="Narkisim"/>
              <a:ea typeface="Narkisim"/>
              <a:cs typeface="Narkisim"/>
              <a:sym typeface="Narkisim"/>
            </a:endParaRPr>
          </a:p>
        </p:txBody>
      </p:sp>
      <p:pic>
        <p:nvPicPr>
          <p:cNvPr id="132" name="Google Shape;132;p19" descr="Image result for ‫עוללות‬‎"/>
          <p:cNvPicPr preferRelativeResize="0"/>
          <p:nvPr/>
        </p:nvPicPr>
        <p:blipFill rotWithShape="1">
          <a:blip r:embed="rId3">
            <a:alphaModFix/>
          </a:blip>
          <a:srcRect/>
          <a:stretch/>
        </p:blipFill>
        <p:spPr>
          <a:xfrm>
            <a:off x="6694399" y="3233238"/>
            <a:ext cx="2911568" cy="15621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33" name="Google Shape;133;p19" descr="Image result for ‫בציר ענבים‬‎"/>
          <p:cNvPicPr preferRelativeResize="0"/>
          <p:nvPr/>
        </p:nvPicPr>
        <p:blipFill rotWithShape="1">
          <a:blip r:embed="rId4">
            <a:alphaModFix/>
          </a:blip>
          <a:srcRect/>
          <a:stretch/>
        </p:blipFill>
        <p:spPr>
          <a:xfrm>
            <a:off x="2424184" y="2686022"/>
            <a:ext cx="3505654" cy="22962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scene3d>
            <a:camera prst="perspectiveHeroicExtremeRightFacing"/>
            <a:lightRig rig="threePt" dir="t"/>
          </a:scene3d>
        </p:spPr>
      </p:pic>
      <p:cxnSp>
        <p:nvCxnSpPr>
          <p:cNvPr id="11" name="Google Shape;128;p19"/>
          <p:cNvCxnSpPr/>
          <p:nvPr/>
        </p:nvCxnSpPr>
        <p:spPr>
          <a:xfrm>
            <a:off x="4529941" y="771986"/>
            <a:ext cx="0" cy="476248"/>
          </a:xfrm>
          <a:prstGeom prst="straightConnector1">
            <a:avLst/>
          </a:prstGeom>
          <a:noFill/>
          <a:ln w="76200" cap="flat" cmpd="sng">
            <a:solidFill>
              <a:schemeClr val="accent1"/>
            </a:solidFill>
            <a:prstDash val="solid"/>
            <a:miter lim="800000"/>
            <a:headEnd type="none" w="sm" len="sm"/>
            <a:tailEnd type="triangle" w="med" len="med"/>
          </a:ln>
        </p:spPr>
      </p:cxnSp>
      <p:sp>
        <p:nvSpPr>
          <p:cNvPr id="3" name="מלבן 2"/>
          <p:cNvSpPr/>
          <p:nvPr/>
        </p:nvSpPr>
        <p:spPr>
          <a:xfrm>
            <a:off x="3931514" y="5232684"/>
            <a:ext cx="8121940" cy="1512209"/>
          </a:xfrm>
          <a:prstGeom prst="rect">
            <a:avLst/>
          </a:prstGeom>
          <a:solidFill>
            <a:schemeClr val="accent1">
              <a:lumMod val="60000"/>
              <a:lumOff val="40000"/>
            </a:schemeClr>
          </a:solidFill>
        </p:spPr>
        <p:txBody>
          <a:bodyPr wrap="square">
            <a:spAutoFit/>
          </a:bodyPr>
          <a:lstStyle/>
          <a:p>
            <a:pPr lvl="0">
              <a:lnSpc>
                <a:spcPct val="90000"/>
              </a:lnSpc>
              <a:buClr>
                <a:srgbClr val="000000"/>
              </a:buClr>
              <a:buSzPts val="3600"/>
            </a:pPr>
            <a:r>
              <a:rPr kumimoji="0" lang="he-IL" sz="28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(העוללות)  מה שאתם, שבט אפרים, עשיתם </a:t>
            </a:r>
            <a:r>
              <a:rPr kumimoji="0" lang="he-IL" sz="2800" b="1"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בסוף המלחמה</a:t>
            </a:r>
            <a:r>
              <a:rPr kumimoji="0" lang="he-IL" sz="28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a:t>
            </a:r>
            <a:endParaRPr lang="he-IL" sz="2000" kern="0" dirty="0">
              <a:solidFill>
                <a:srgbClr val="000000"/>
              </a:solidFill>
              <a:latin typeface="David" panose="020E0502060401010101" pitchFamily="34" charset="-79"/>
              <a:cs typeface="David" panose="020E0502060401010101" pitchFamily="34" charset="-79"/>
              <a:sym typeface="Calibri"/>
            </a:endParaRPr>
          </a:p>
          <a:p>
            <a:pPr lvl="0">
              <a:lnSpc>
                <a:spcPct val="90000"/>
              </a:lnSpc>
              <a:spcBef>
                <a:spcPts val="1000"/>
              </a:spcBef>
              <a:buClr>
                <a:srgbClr val="000000"/>
              </a:buClr>
              <a:buSzPts val="3600"/>
            </a:pPr>
            <a:r>
              <a:rPr kumimoji="0" lang="he-IL" sz="28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הוא יותר טוב ממה שאנחנו (אני והחיילים שלי) עשינו </a:t>
            </a:r>
            <a:endParaRPr lang="he-IL" sz="2000" kern="0" dirty="0">
              <a:solidFill>
                <a:srgbClr val="000000"/>
              </a:solidFill>
              <a:latin typeface="David" panose="020E0502060401010101" pitchFamily="34" charset="-79"/>
              <a:cs typeface="David" panose="020E0502060401010101" pitchFamily="34" charset="-79"/>
              <a:sym typeface="Calibri"/>
            </a:endParaRPr>
          </a:p>
          <a:p>
            <a:pPr lvl="0">
              <a:lnSpc>
                <a:spcPct val="90000"/>
              </a:lnSpc>
              <a:spcBef>
                <a:spcPts val="1000"/>
              </a:spcBef>
              <a:buClr>
                <a:srgbClr val="000000"/>
              </a:buClr>
              <a:buSzPts val="3600"/>
            </a:pPr>
            <a:r>
              <a:rPr kumimoji="0" lang="he-IL" sz="2800" b="1"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בתחילת המלחמה </a:t>
            </a:r>
            <a:r>
              <a:rPr kumimoji="0" lang="he-IL" sz="28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a:t>
            </a:r>
            <a:r>
              <a:rPr kumimoji="0" lang="he-IL" sz="2800" b="0" i="0" u="none" strike="noStrike" kern="0" cap="none" spc="0" normalizeH="0" baseline="0" noProof="0" dirty="0" err="1"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הבציר</a:t>
            </a:r>
            <a:r>
              <a:rPr kumimoji="0" lang="he-IL" sz="2800" b="0" i="0" u="none" strike="noStrike" kern="0" cap="none" spc="0" normalizeH="0" baseline="0" noProof="0" dirty="0" smtClean="0">
                <a:ln>
                  <a:noFill/>
                </a:ln>
                <a:solidFill>
                  <a:srgbClr val="000000"/>
                </a:solidFill>
                <a:effectLst/>
                <a:uLnTx/>
                <a:uFillTx/>
                <a:latin typeface="David" panose="020E0502060401010101" pitchFamily="34" charset="-79"/>
                <a:ea typeface="Narkisim"/>
                <a:cs typeface="David" panose="020E0502060401010101" pitchFamily="34" charset="-79"/>
                <a:sym typeface="Narkisim"/>
              </a:rPr>
              <a:t>). אתם הרגתם את מלכי מדיין.</a:t>
            </a:r>
            <a:endParaRPr lang="he-IL" sz="2000" kern="0" dirty="0">
              <a:solidFill>
                <a:srgbClr val="000000"/>
              </a:solidFill>
              <a:latin typeface="David" panose="020E0502060401010101" pitchFamily="34" charset="-79"/>
              <a:cs typeface="David" panose="020E0502060401010101" pitchFamily="34" charset="-79"/>
              <a:sym typeface="Calibri"/>
            </a:endParaRPr>
          </a:p>
        </p:txBody>
      </p:sp>
    </p:spTree>
    <p:extLst>
      <p:ext uri="{BB962C8B-B14F-4D97-AF65-F5344CB8AC3E}">
        <p14:creationId xmlns:p14="http://schemas.microsoft.com/office/powerpoint/2010/main" val="204987836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5631" y="166255"/>
            <a:ext cx="5391398" cy="2616101"/>
          </a:xfrm>
          <a:prstGeom prst="rect">
            <a:avLst/>
          </a:prstGeom>
          <a:solidFill>
            <a:schemeClr val="accent5">
              <a:lumMod val="60000"/>
              <a:lumOff val="40000"/>
            </a:schemeClr>
          </a:solidFill>
          <a:ln w="38100">
            <a:solidFill>
              <a:schemeClr val="tx1"/>
            </a:solidFill>
          </a:ln>
        </p:spPr>
        <p:txBody>
          <a:bodyPr wrap="square" rtlCol="1">
            <a:spAutoFit/>
          </a:bodyPr>
          <a:lstStyle/>
          <a:p>
            <a:r>
              <a:rPr lang="he-IL" sz="3600" b="1" u="sng" dirty="0" err="1" smtClean="0">
                <a:latin typeface="David" panose="020E0502060401010101" pitchFamily="34" charset="-79"/>
                <a:cs typeface="David" panose="020E0502060401010101" pitchFamily="34" charset="-79"/>
              </a:rPr>
              <a:t>פ"ס</a:t>
            </a:r>
            <a:r>
              <a:rPr lang="he-IL" sz="3600" b="1" u="sng" dirty="0" smtClean="0">
                <a:latin typeface="David" panose="020E0502060401010101" pitchFamily="34" charset="-79"/>
                <a:cs typeface="David" panose="020E0502060401010101" pitchFamily="34" charset="-79"/>
              </a:rPr>
              <a:t> ג': </a:t>
            </a:r>
            <a:r>
              <a:rPr lang="he-IL" sz="3200" dirty="0" smtClean="0">
                <a:latin typeface="David" panose="020E0502060401010101" pitchFamily="34" charset="-79"/>
                <a:cs typeface="David" panose="020E0502060401010101" pitchFamily="34" charset="-79"/>
              </a:rPr>
              <a:t>בידכם נתן אלוקים את שני שרי מדין ובכך הכנעתם את מדיין  והלוואי והייתי עושה כמותכם, לאחר שאמר להם זאת, </a:t>
            </a:r>
            <a:r>
              <a:rPr lang="he-IL" sz="3200" b="1" dirty="0" smtClean="0">
                <a:latin typeface="David" panose="020E0502060401010101" pitchFamily="34" charset="-79"/>
                <a:cs typeface="David" panose="020E0502060401010101" pitchFamily="34" charset="-79"/>
              </a:rPr>
              <a:t>כעסם נחלש והפסיקו מלריב. </a:t>
            </a:r>
            <a:endParaRPr lang="he-IL" sz="3200" b="1" dirty="0">
              <a:latin typeface="David" panose="020E0502060401010101" pitchFamily="34" charset="-79"/>
              <a:cs typeface="David" panose="020E0502060401010101" pitchFamily="34" charset="-79"/>
            </a:endParaRPr>
          </a:p>
        </p:txBody>
      </p:sp>
      <p:sp>
        <p:nvSpPr>
          <p:cNvPr id="3" name="מלבן 2"/>
          <p:cNvSpPr/>
          <p:nvPr/>
        </p:nvSpPr>
        <p:spPr>
          <a:xfrm>
            <a:off x="5945580" y="166255"/>
            <a:ext cx="6096000" cy="2062103"/>
          </a:xfrm>
          <a:prstGeom prst="rect">
            <a:avLst/>
          </a:prstGeom>
          <a:solidFill>
            <a:schemeClr val="accent6">
              <a:lumMod val="60000"/>
              <a:lumOff val="40000"/>
            </a:schemeClr>
          </a:solidFill>
        </p:spPr>
        <p:txBody>
          <a:bodyPr>
            <a:spAutoFit/>
          </a:bodyPr>
          <a:lstStyle/>
          <a:p>
            <a:r>
              <a:rPr lang="he-IL" sz="3200" dirty="0" smtClean="0">
                <a:latin typeface="David" panose="020E0502060401010101" pitchFamily="34" charset="-79"/>
                <a:cs typeface="David" panose="020E0502060401010101" pitchFamily="34" charset="-79"/>
              </a:rPr>
              <a:t>ג בְּיֶדְכֶם נָתַן </a:t>
            </a:r>
            <a:r>
              <a:rPr lang="he-IL" sz="3200" dirty="0" err="1" smtClean="0">
                <a:latin typeface="David" panose="020E0502060401010101" pitchFamily="34" charset="-79"/>
                <a:cs typeface="David" panose="020E0502060401010101" pitchFamily="34" charset="-79"/>
              </a:rPr>
              <a:t>אֱלֹהִים</a:t>
            </a:r>
            <a:r>
              <a:rPr lang="he-IL" sz="3200" dirty="0" smtClean="0">
                <a:latin typeface="David" panose="020E0502060401010101" pitchFamily="34" charset="-79"/>
                <a:cs typeface="David" panose="020E0502060401010101" pitchFamily="34" charset="-79"/>
              </a:rPr>
              <a:t> אֶת-שָׂרֵי מִדְיָן, אֶת-עֹרֵב וְאֶת-זְאֵב, </a:t>
            </a:r>
            <a:r>
              <a:rPr lang="he-IL" sz="3200" dirty="0" err="1" smtClean="0">
                <a:latin typeface="David" panose="020E0502060401010101" pitchFamily="34" charset="-79"/>
                <a:cs typeface="David" panose="020E0502060401010101" pitchFamily="34" charset="-79"/>
              </a:rPr>
              <a:t>וּמַה-יָּכֹלְתִּי</a:t>
            </a:r>
            <a:r>
              <a:rPr lang="he-IL" sz="3200" dirty="0" smtClean="0">
                <a:latin typeface="David" panose="020E0502060401010101" pitchFamily="34" charset="-79"/>
                <a:cs typeface="David" panose="020E0502060401010101" pitchFamily="34" charset="-79"/>
              </a:rPr>
              <a:t>, עֲשׂוֹת </a:t>
            </a:r>
            <a:r>
              <a:rPr lang="he-IL" sz="3200" dirty="0" err="1" smtClean="0">
                <a:latin typeface="David" panose="020E0502060401010101" pitchFamily="34" charset="-79"/>
                <a:cs typeface="David" panose="020E0502060401010101" pitchFamily="34" charset="-79"/>
              </a:rPr>
              <a:t>כָּכֶם</a:t>
            </a:r>
            <a:r>
              <a:rPr lang="he-IL" sz="3200" dirty="0" smtClean="0">
                <a:latin typeface="David" panose="020E0502060401010101" pitchFamily="34" charset="-79"/>
                <a:cs typeface="David" panose="020E0502060401010101" pitchFamily="34" charset="-79"/>
              </a:rPr>
              <a:t>; </a:t>
            </a:r>
            <a:r>
              <a:rPr lang="he-IL" sz="3200" b="1" dirty="0" smtClean="0">
                <a:latin typeface="David" panose="020E0502060401010101" pitchFamily="34" charset="-79"/>
                <a:cs typeface="David" panose="020E0502060401010101" pitchFamily="34" charset="-79"/>
              </a:rPr>
              <a:t>אָז, רָפְתָה רוּחָם מֵעָלָיו, בְּדַבְּרוֹ, הַדָּבָר הַזֶּה. </a:t>
            </a:r>
            <a:endParaRPr lang="he-IL" sz="3200" b="1" dirty="0">
              <a:latin typeface="David" panose="020E0502060401010101" pitchFamily="34" charset="-79"/>
              <a:cs typeface="David" panose="020E0502060401010101" pitchFamily="34" charset="-79"/>
            </a:endParaRPr>
          </a:p>
        </p:txBody>
      </p:sp>
      <p:sp>
        <p:nvSpPr>
          <p:cNvPr id="5" name="מלבן 4"/>
          <p:cNvSpPr/>
          <p:nvPr/>
        </p:nvSpPr>
        <p:spPr>
          <a:xfrm>
            <a:off x="5617029" y="2928252"/>
            <a:ext cx="6096000" cy="3373231"/>
          </a:xfrm>
          <a:prstGeom prst="rect">
            <a:avLst/>
          </a:prstGeom>
          <a:solidFill>
            <a:srgbClr val="FFFF00"/>
          </a:solidFill>
          <a:scene3d>
            <a:camera prst="perspectiveLeft"/>
            <a:lightRig rig="threePt" dir="t"/>
          </a:scene3d>
        </p:spPr>
        <p:txBody>
          <a:bodyPr>
            <a:spAutoFit/>
          </a:bodyPr>
          <a:lstStyle/>
          <a:p>
            <a:pPr algn="just">
              <a:lnSpc>
                <a:spcPct val="107000"/>
              </a:lnSpc>
              <a:spcAft>
                <a:spcPts val="800"/>
              </a:spcAft>
            </a:pPr>
            <a:r>
              <a:rPr lang="he-IL" sz="3200" dirty="0" smtClean="0">
                <a:effectLst/>
                <a:latin typeface="Calibri" panose="020F0502020204030204" pitchFamily="34" charset="0"/>
                <a:ea typeface="Calibri" panose="020F0502020204030204" pitchFamily="34" charset="0"/>
                <a:cs typeface="David" panose="020E0502060401010101" pitchFamily="34" charset="-79"/>
              </a:rPr>
              <a:t>עניין זה של המענה של גדעון לבני אפרים מראה על חוכמה של גדעון, </a:t>
            </a:r>
            <a:r>
              <a:rPr lang="he-IL" sz="3200" b="1" dirty="0" smtClean="0">
                <a:effectLst/>
                <a:latin typeface="Calibri" panose="020F0502020204030204" pitchFamily="34" charset="0"/>
                <a:ea typeface="Calibri" panose="020F0502020204030204" pitchFamily="34" charset="0"/>
                <a:cs typeface="David" panose="020E0502060401010101" pitchFamily="34" charset="-79"/>
              </a:rPr>
              <a:t>שבמקום להתווכח ולהיכנס איתם לוויכוח גדעון פייס אותם</a:t>
            </a:r>
            <a:r>
              <a:rPr lang="he-IL" sz="3200" dirty="0" smtClean="0">
                <a:effectLst/>
                <a:latin typeface="Calibri" panose="020F0502020204030204" pitchFamily="34" charset="0"/>
                <a:ea typeface="Calibri" panose="020F0502020204030204" pitchFamily="34" charset="0"/>
                <a:cs typeface="David" panose="020E0502060401010101" pitchFamily="34" charset="-79"/>
              </a:rPr>
              <a:t>, וזה מזכיר את הפסוק במשלי פרק טו: </a:t>
            </a:r>
            <a:r>
              <a:rPr lang="he-IL" sz="3600" b="1" dirty="0" smtClean="0">
                <a:effectLst/>
                <a:latin typeface="Calibri" panose="020F0502020204030204" pitchFamily="34" charset="0"/>
                <a:ea typeface="Calibri" panose="020F0502020204030204" pitchFamily="34" charset="0"/>
                <a:cs typeface="David" panose="020E0502060401010101" pitchFamily="34" charset="-79"/>
              </a:rPr>
              <a:t>"מענה רך ישיב חמה, ודבר עצב יעלה אף" </a:t>
            </a:r>
            <a:endParaRPr lang="en-US" sz="24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תמונה 5"/>
          <p:cNvPicPr>
            <a:picLocks noChangeAspect="1"/>
          </p:cNvPicPr>
          <p:nvPr/>
        </p:nvPicPr>
        <p:blipFill>
          <a:blip r:embed="rId2"/>
          <a:stretch>
            <a:fillRect/>
          </a:stretch>
        </p:blipFill>
        <p:spPr>
          <a:xfrm>
            <a:off x="586561" y="3400548"/>
            <a:ext cx="4669538" cy="3263469"/>
          </a:xfrm>
          <a:prstGeom prst="rect">
            <a:avLst/>
          </a:prstGeom>
        </p:spPr>
      </p:pic>
    </p:spTree>
    <p:extLst>
      <p:ext uri="{BB962C8B-B14F-4D97-AF65-F5344CB8AC3E}">
        <p14:creationId xmlns:p14="http://schemas.microsoft.com/office/powerpoint/2010/main" val="11397163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2190" y="56798"/>
            <a:ext cx="5818909" cy="5016758"/>
          </a:xfrm>
          <a:prstGeom prst="rect">
            <a:avLst/>
          </a:prstGeom>
          <a:solidFill>
            <a:schemeClr val="accent3">
              <a:lumMod val="60000"/>
              <a:lumOff val="4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ד': </a:t>
            </a:r>
            <a:r>
              <a:rPr lang="he-IL" sz="3200" dirty="0" smtClean="0">
                <a:latin typeface="David" panose="020E0502060401010101" pitchFamily="34" charset="-79"/>
                <a:cs typeface="David" panose="020E0502060401010101" pitchFamily="34" charset="-79"/>
              </a:rPr>
              <a:t>גדעון מגיע לירדן ועבר הוא ושלוש מאות חייליו  לצד מזרח והאנשים שהיו אתו היו עייפים וחלשים ורעבים  ועדיין המשיכו לרדוף. </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ה': </a:t>
            </a:r>
            <a:r>
              <a:rPr lang="he-IL" sz="3200" dirty="0" smtClean="0">
                <a:latin typeface="David" panose="020E0502060401010101" pitchFamily="34" charset="-79"/>
                <a:cs typeface="David" panose="020E0502060401010101" pitchFamily="34" charset="-79"/>
              </a:rPr>
              <a:t>גדעון ואנשיו עברו ליד סוכות ,שכנה בנחלת גד בעבר הירדן ביקש מהם גדעון שייתנו ככרות לחם לעם שאתו שהם חלשים והם עדיין במרדף אחרי זבח </a:t>
            </a:r>
            <a:r>
              <a:rPr lang="he-IL" sz="3200" dirty="0" err="1" smtClean="0">
                <a:latin typeface="David" panose="020E0502060401010101" pitchFamily="34" charset="-79"/>
                <a:cs typeface="David" panose="020E0502060401010101" pitchFamily="34" charset="-79"/>
              </a:rPr>
              <a:t>וצלמנע</a:t>
            </a:r>
            <a:r>
              <a:rPr lang="he-IL" sz="3200" dirty="0" smtClean="0">
                <a:latin typeface="David" panose="020E0502060401010101" pitchFamily="34" charset="-79"/>
                <a:cs typeface="David" panose="020E0502060401010101" pitchFamily="34" charset="-79"/>
              </a:rPr>
              <a:t>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222671" y="56798"/>
            <a:ext cx="5878286" cy="3539430"/>
          </a:xfrm>
          <a:prstGeom prst="rect">
            <a:avLst/>
          </a:prstGeom>
          <a:solidFill>
            <a:schemeClr val="accent2">
              <a:lumMod val="40000"/>
              <a:lumOff val="60000"/>
            </a:schemeClr>
          </a:solidFill>
        </p:spPr>
        <p:txBody>
          <a:bodyPr wrap="square">
            <a:spAutoFit/>
          </a:bodyPr>
          <a:lstStyle/>
          <a:p>
            <a:r>
              <a:rPr lang="he-IL" sz="3200" dirty="0" smtClean="0">
                <a:latin typeface="David" panose="020E0502060401010101" pitchFamily="34" charset="-79"/>
                <a:cs typeface="David" panose="020E0502060401010101" pitchFamily="34" charset="-79"/>
              </a:rPr>
              <a:t> </a:t>
            </a:r>
            <a:r>
              <a:rPr lang="he-IL" sz="3200" b="1" u="sng" dirty="0" smtClean="0">
                <a:latin typeface="David" panose="020E0502060401010101" pitchFamily="34" charset="-79"/>
                <a:cs typeface="David" panose="020E0502060401010101" pitchFamily="34" charset="-79"/>
              </a:rPr>
              <a:t>ד</a:t>
            </a:r>
            <a:r>
              <a:rPr lang="he-IL" sz="3200" dirty="0" smtClean="0">
                <a:latin typeface="David" panose="020E0502060401010101" pitchFamily="34" charset="-79"/>
                <a:cs typeface="David" panose="020E0502060401010101" pitchFamily="34" charset="-79"/>
              </a:rPr>
              <a:t> וַיָּבֹא גִדְעוֹן, </a:t>
            </a:r>
            <a:r>
              <a:rPr lang="he-IL" sz="3200" dirty="0" err="1" smtClean="0">
                <a:latin typeface="David" panose="020E0502060401010101" pitchFamily="34" charset="-79"/>
                <a:cs typeface="David" panose="020E0502060401010101" pitchFamily="34" charset="-79"/>
              </a:rPr>
              <a:t>הַיַּרְדֵּנָה</a:t>
            </a:r>
            <a:r>
              <a:rPr lang="he-IL" sz="3200" dirty="0" smtClean="0">
                <a:latin typeface="David" panose="020E0502060401010101" pitchFamily="34" charset="-79"/>
                <a:cs typeface="David" panose="020E0502060401010101" pitchFamily="34" charset="-79"/>
              </a:rPr>
              <a:t>; עֹבֵר הוּא, וּשְׁלֹשׁ-מֵאוֹת הָאִישׁ אֲשֶׁר אִתּוֹ, </a:t>
            </a:r>
            <a:r>
              <a:rPr lang="he-IL" sz="3200" dirty="0" err="1" smtClean="0">
                <a:latin typeface="David" panose="020E0502060401010101" pitchFamily="34" charset="-79"/>
                <a:cs typeface="David" panose="020E0502060401010101" pitchFamily="34" charset="-79"/>
              </a:rPr>
              <a:t>עֲיֵפִים</a:t>
            </a:r>
            <a:r>
              <a:rPr lang="he-IL" sz="3200" dirty="0" smtClean="0">
                <a:latin typeface="David" panose="020E0502060401010101" pitchFamily="34" charset="-79"/>
                <a:cs typeface="David" panose="020E0502060401010101" pitchFamily="34" charset="-79"/>
              </a:rPr>
              <a:t>, וְרֹדְפִים.  </a:t>
            </a:r>
          </a:p>
          <a:p>
            <a:r>
              <a:rPr lang="he-IL" sz="3200" dirty="0" smtClean="0">
                <a:latin typeface="David" panose="020E0502060401010101" pitchFamily="34" charset="-79"/>
                <a:cs typeface="David" panose="020E0502060401010101" pitchFamily="34" charset="-79"/>
              </a:rPr>
              <a:t>ה וַיֹּאמֶר, לְאַנְשֵׁי סֻכּוֹת, </a:t>
            </a:r>
            <a:r>
              <a:rPr lang="he-IL" sz="3200" b="1" dirty="0" smtClean="0">
                <a:latin typeface="David" panose="020E0502060401010101" pitchFamily="34" charset="-79"/>
                <a:cs typeface="David" panose="020E0502060401010101" pitchFamily="34" charset="-79"/>
              </a:rPr>
              <a:t>תְּנוּ-נָא כִּכְּרוֹת לֶחֶם, לָעָם אֲשֶׁר בְּרַגְלָי:  </a:t>
            </a:r>
            <a:r>
              <a:rPr lang="he-IL" sz="3200" b="1" dirty="0" err="1" smtClean="0">
                <a:latin typeface="David" panose="020E0502060401010101" pitchFamily="34" charset="-79"/>
                <a:cs typeface="David" panose="020E0502060401010101" pitchFamily="34" charset="-79"/>
              </a:rPr>
              <a:t>כִּי-עֲיֵפִים</a:t>
            </a:r>
            <a:r>
              <a:rPr lang="he-IL" sz="3200" b="1" dirty="0" smtClean="0">
                <a:latin typeface="David" panose="020E0502060401010101" pitchFamily="34" charset="-79"/>
                <a:cs typeface="David" panose="020E0502060401010101" pitchFamily="34" charset="-79"/>
              </a:rPr>
              <a:t> הֵם-</a:t>
            </a:r>
            <a:r>
              <a:rPr lang="he-IL" sz="3200" dirty="0" smtClean="0">
                <a:latin typeface="David" panose="020E0502060401010101" pitchFamily="34" charset="-79"/>
                <a:cs typeface="David" panose="020E0502060401010101" pitchFamily="34" charset="-79"/>
              </a:rPr>
              <a:t>-וְאָנֹכִי רֹדֵף אַחֲרֵי זֶבַח </a:t>
            </a:r>
            <a:r>
              <a:rPr lang="he-IL" sz="3200" dirty="0" err="1" smtClean="0">
                <a:latin typeface="David" panose="020E0502060401010101" pitchFamily="34" charset="-79"/>
                <a:cs typeface="David" panose="020E0502060401010101" pitchFamily="34" charset="-79"/>
              </a:rPr>
              <a:t>וְצַלְמֻנָּע</a:t>
            </a:r>
            <a:r>
              <a:rPr lang="he-IL" sz="3200" dirty="0" smtClean="0">
                <a:latin typeface="David" panose="020E0502060401010101" pitchFamily="34" charset="-79"/>
                <a:cs typeface="David" panose="020E0502060401010101" pitchFamily="34" charset="-79"/>
              </a:rPr>
              <a:t>, מַלְכֵי מִדְיָן</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2"/>
          <a:stretch>
            <a:fillRect/>
          </a:stretch>
        </p:blipFill>
        <p:spPr>
          <a:xfrm>
            <a:off x="6068290" y="3121672"/>
            <a:ext cx="4203864" cy="3535986"/>
          </a:xfrm>
          <a:prstGeom prst="rect">
            <a:avLst/>
          </a:prstGeom>
        </p:spPr>
      </p:pic>
      <p:pic>
        <p:nvPicPr>
          <p:cNvPr id="5" name="תמונה 4"/>
          <p:cNvPicPr>
            <a:picLocks noChangeAspect="1"/>
          </p:cNvPicPr>
          <p:nvPr/>
        </p:nvPicPr>
        <p:blipFill>
          <a:blip r:embed="rId3">
            <a:extLst>
              <a:ext uri="{BEBA8EAE-BF5A-486C-A8C5-ECC9F3942E4B}">
                <a14:imgProps xmlns:a14="http://schemas.microsoft.com/office/drawing/2010/main">
                  <a14:imgLayer r:embed="rId4">
                    <a14:imgEffect>
                      <a14:backgroundRemoval t="939" b="97653" l="422" r="98312"/>
                    </a14:imgEffect>
                  </a14:imgLayer>
                </a14:imgProps>
              </a:ext>
            </a:extLst>
          </a:blip>
          <a:stretch>
            <a:fillRect/>
          </a:stretch>
        </p:blipFill>
        <p:spPr>
          <a:xfrm>
            <a:off x="184066" y="4480893"/>
            <a:ext cx="2257425" cy="2028825"/>
          </a:xfrm>
          <a:prstGeom prst="rect">
            <a:avLst/>
          </a:prstGeom>
        </p:spPr>
      </p:pic>
      <p:pic>
        <p:nvPicPr>
          <p:cNvPr id="6" name="תמונה 5"/>
          <p:cNvPicPr>
            <a:picLocks noChangeAspect="1"/>
          </p:cNvPicPr>
          <p:nvPr/>
        </p:nvPicPr>
        <p:blipFill>
          <a:blip r:embed="rId5"/>
          <a:stretch>
            <a:fillRect/>
          </a:stretch>
        </p:blipFill>
        <p:spPr>
          <a:xfrm>
            <a:off x="2441491" y="5073556"/>
            <a:ext cx="2390775" cy="1782402"/>
          </a:xfrm>
          <a:prstGeom prst="rect">
            <a:avLst/>
          </a:prstGeom>
        </p:spPr>
      </p:pic>
    </p:spTree>
    <p:extLst>
      <p:ext uri="{BB962C8B-B14F-4D97-AF65-F5344CB8AC3E}">
        <p14:creationId xmlns:p14="http://schemas.microsoft.com/office/powerpoint/2010/main" val="459367855"/>
      </p:ext>
    </p:extLst>
  </p:cSld>
  <p:clrMapOvr>
    <a:masterClrMapping/>
  </p:clrMapOvr>
  <mc:AlternateContent xmlns:mc="http://schemas.openxmlformats.org/markup-compatibility/2006" xmlns:p14="http://schemas.microsoft.com/office/powerpoint/2010/main">
    <mc:Choice Requires="p14">
      <p:transition spd="slow" p14:dur="3900">
        <p14:glitter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80">
                                          <p:stCondLst>
                                            <p:cond delay="0"/>
                                          </p:stCondLst>
                                        </p:cTn>
                                        <p:tgtEl>
                                          <p:spTgt spid="5"/>
                                        </p:tgtEl>
                                      </p:cBhvr>
                                    </p:animEffect>
                                    <p:anim calcmode="lin" valueType="num">
                                      <p:cBhvr>
                                        <p:cTn id="23"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8" dur="26">
                                          <p:stCondLst>
                                            <p:cond delay="650"/>
                                          </p:stCondLst>
                                        </p:cTn>
                                        <p:tgtEl>
                                          <p:spTgt spid="5"/>
                                        </p:tgtEl>
                                      </p:cBhvr>
                                      <p:to x="100000" y="60000"/>
                                    </p:animScale>
                                    <p:animScale>
                                      <p:cBhvr>
                                        <p:cTn id="29" dur="166" decel="50000">
                                          <p:stCondLst>
                                            <p:cond delay="676"/>
                                          </p:stCondLst>
                                        </p:cTn>
                                        <p:tgtEl>
                                          <p:spTgt spid="5"/>
                                        </p:tgtEl>
                                      </p:cBhvr>
                                      <p:to x="100000" y="100000"/>
                                    </p:animScale>
                                    <p:animScale>
                                      <p:cBhvr>
                                        <p:cTn id="30" dur="26">
                                          <p:stCondLst>
                                            <p:cond delay="1312"/>
                                          </p:stCondLst>
                                        </p:cTn>
                                        <p:tgtEl>
                                          <p:spTgt spid="5"/>
                                        </p:tgtEl>
                                      </p:cBhvr>
                                      <p:to x="100000" y="80000"/>
                                    </p:animScale>
                                    <p:animScale>
                                      <p:cBhvr>
                                        <p:cTn id="31" dur="166" decel="50000">
                                          <p:stCondLst>
                                            <p:cond delay="1338"/>
                                          </p:stCondLst>
                                        </p:cTn>
                                        <p:tgtEl>
                                          <p:spTgt spid="5"/>
                                        </p:tgtEl>
                                      </p:cBhvr>
                                      <p:to x="100000" y="100000"/>
                                    </p:animScale>
                                    <p:animScale>
                                      <p:cBhvr>
                                        <p:cTn id="32" dur="26">
                                          <p:stCondLst>
                                            <p:cond delay="1642"/>
                                          </p:stCondLst>
                                        </p:cTn>
                                        <p:tgtEl>
                                          <p:spTgt spid="5"/>
                                        </p:tgtEl>
                                      </p:cBhvr>
                                      <p:to x="100000" y="90000"/>
                                    </p:animScale>
                                    <p:animScale>
                                      <p:cBhvr>
                                        <p:cTn id="33" dur="166" decel="50000">
                                          <p:stCondLst>
                                            <p:cond delay="1668"/>
                                          </p:stCondLst>
                                        </p:cTn>
                                        <p:tgtEl>
                                          <p:spTgt spid="5"/>
                                        </p:tgtEl>
                                      </p:cBhvr>
                                      <p:to x="100000" y="100000"/>
                                    </p:animScale>
                                    <p:animScale>
                                      <p:cBhvr>
                                        <p:cTn id="34" dur="26">
                                          <p:stCondLst>
                                            <p:cond delay="1808"/>
                                          </p:stCondLst>
                                        </p:cTn>
                                        <p:tgtEl>
                                          <p:spTgt spid="5"/>
                                        </p:tgtEl>
                                      </p:cBhvr>
                                      <p:to x="100000" y="95000"/>
                                    </p:animScale>
                                    <p:animScale>
                                      <p:cBhvr>
                                        <p:cTn id="35"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6255" y="190005"/>
            <a:ext cx="5830784" cy="6001643"/>
          </a:xfrm>
          <a:prstGeom prst="rect">
            <a:avLst/>
          </a:prstGeom>
          <a:blipFill>
            <a:blip r:embed="rId2"/>
            <a:tile tx="0" ty="0" sx="100000" sy="100000" flip="none" algn="tl"/>
          </a:blip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ו': </a:t>
            </a:r>
            <a:r>
              <a:rPr lang="he-IL" sz="3200" dirty="0" smtClean="0">
                <a:latin typeface="David" panose="020E0502060401010101" pitchFamily="34" charset="-79"/>
                <a:cs typeface="David" panose="020E0502060401010101" pitchFamily="34" charset="-79"/>
              </a:rPr>
              <a:t>אמרו לו שרי סוכות : </a:t>
            </a:r>
            <a:r>
              <a:rPr lang="he-IL" sz="3200" b="1" dirty="0" smtClean="0">
                <a:latin typeface="David" panose="020E0502060401010101" pitchFamily="34" charset="-79"/>
                <a:cs typeface="David" panose="020E0502060401010101" pitchFamily="34" charset="-79"/>
              </a:rPr>
              <a:t>האם כבר ניצחת אותם והם כבר בידך </a:t>
            </a:r>
            <a:r>
              <a:rPr lang="he-IL" sz="3200" dirty="0" smtClean="0">
                <a:latin typeface="David" panose="020E0502060401010101" pitchFamily="34" charset="-79"/>
                <a:cs typeface="David" panose="020E0502060401010101" pitchFamily="34" charset="-79"/>
              </a:rPr>
              <a:t>? אולי הם ינצחו אותך ואז הם יבואו אלינו ויגידו , מדוע נתתם אוכל לחייליו של גדעון והם יענישו אותנו וייהרגו בנו.</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ז': </a:t>
            </a:r>
            <a:r>
              <a:rPr lang="he-IL" sz="3200" dirty="0" smtClean="0">
                <a:latin typeface="David" panose="020E0502060401010101" pitchFamily="34" charset="-79"/>
                <a:cs typeface="David" panose="020E0502060401010101" pitchFamily="34" charset="-79"/>
              </a:rPr>
              <a:t>אנשי סוכות ללא האמינו בה' הרי ה' עשה לגדעון ניסים והבטיח לו שינצח את מדיין, לכן אומר להם גדעון כשה' יעזור לי ואתפוס את זבח </a:t>
            </a:r>
            <a:r>
              <a:rPr lang="he-IL" sz="3200" dirty="0" err="1" smtClean="0">
                <a:latin typeface="David" panose="020E0502060401010101" pitchFamily="34" charset="-79"/>
                <a:cs typeface="David" panose="020E0502060401010101" pitchFamily="34" charset="-79"/>
              </a:rPr>
              <a:t>וצלמונע</a:t>
            </a:r>
            <a:r>
              <a:rPr lang="he-IL" sz="3200" dirty="0" smtClean="0">
                <a:latin typeface="David" panose="020E0502060401010101" pitchFamily="34" charset="-79"/>
                <a:cs typeface="David" panose="020E0502060401010101" pitchFamily="34" charset="-79"/>
              </a:rPr>
              <a:t> אבוא לכאן ואעניש אתכם </a:t>
            </a:r>
            <a:r>
              <a:rPr lang="he-IL" sz="3200" b="1" dirty="0" smtClean="0">
                <a:latin typeface="David" panose="020E0502060401010101" pitchFamily="34" charset="-79"/>
                <a:cs typeface="David" panose="020E0502060401010101" pitchFamily="34" charset="-79"/>
              </a:rPr>
              <a:t>ואכה אתכם על בשרכם עם הקוצים והבקרנים שנמצאים במדבר סביבכם</a:t>
            </a:r>
            <a:r>
              <a:rPr lang="he-IL" sz="3200" dirty="0" smtClean="0">
                <a:latin typeface="David" panose="020E0502060401010101" pitchFamily="34" charset="-79"/>
                <a:cs typeface="David" panose="020E0502060401010101" pitchFamily="34" charset="-79"/>
              </a:rPr>
              <a:t>.</a:t>
            </a:r>
            <a:endParaRPr lang="he-IL" sz="3200" dirty="0">
              <a:latin typeface="David" panose="020E0502060401010101" pitchFamily="34" charset="-79"/>
              <a:cs typeface="David" panose="020E0502060401010101" pitchFamily="34" charset="-79"/>
            </a:endParaRPr>
          </a:p>
        </p:txBody>
      </p:sp>
      <p:sp>
        <p:nvSpPr>
          <p:cNvPr id="3" name="מלבן 2"/>
          <p:cNvSpPr/>
          <p:nvPr/>
        </p:nvSpPr>
        <p:spPr>
          <a:xfrm>
            <a:off x="6127667" y="190005"/>
            <a:ext cx="5961413" cy="3046988"/>
          </a:xfrm>
          <a:prstGeom prst="rect">
            <a:avLst/>
          </a:prstGeom>
          <a:solidFill>
            <a:schemeClr val="accent1">
              <a:lumMod val="60000"/>
              <a:lumOff val="40000"/>
            </a:schemeClr>
          </a:solidFill>
        </p:spPr>
        <p:txBody>
          <a:bodyPr wrap="square">
            <a:spAutoFit/>
          </a:bodyPr>
          <a:lstStyle/>
          <a:p>
            <a:r>
              <a:rPr lang="he-IL" sz="3200" b="1" dirty="0" smtClean="0">
                <a:latin typeface="David" panose="020E0502060401010101" pitchFamily="34" charset="-79"/>
                <a:cs typeface="David" panose="020E0502060401010101" pitchFamily="34" charset="-79"/>
              </a:rPr>
              <a:t>ו</a:t>
            </a:r>
            <a:r>
              <a:rPr lang="he-IL" sz="3200" dirty="0" smtClean="0">
                <a:latin typeface="David" panose="020E0502060401010101" pitchFamily="34" charset="-79"/>
                <a:cs typeface="David" panose="020E0502060401010101" pitchFamily="34" charset="-79"/>
              </a:rPr>
              <a:t> וַיֹּאמֶר, שָׂרֵי סֻכּוֹת, </a:t>
            </a:r>
            <a:r>
              <a:rPr lang="he-IL" sz="3200" b="1" dirty="0" smtClean="0">
                <a:latin typeface="David" panose="020E0502060401010101" pitchFamily="34" charset="-79"/>
                <a:cs typeface="David" panose="020E0502060401010101" pitchFamily="34" charset="-79"/>
              </a:rPr>
              <a:t>הֲכַף זֶבַח </a:t>
            </a:r>
            <a:r>
              <a:rPr lang="he-IL" sz="3200" b="1" dirty="0" err="1" smtClean="0">
                <a:latin typeface="David" panose="020E0502060401010101" pitchFamily="34" charset="-79"/>
                <a:cs typeface="David" panose="020E0502060401010101" pitchFamily="34" charset="-79"/>
              </a:rPr>
              <a:t>וְצַלְמֻנָּע</a:t>
            </a:r>
            <a:r>
              <a:rPr lang="he-IL" sz="3200" b="1" dirty="0" smtClean="0">
                <a:latin typeface="David" panose="020E0502060401010101" pitchFamily="34" charset="-79"/>
                <a:cs typeface="David" panose="020E0502060401010101" pitchFamily="34" charset="-79"/>
              </a:rPr>
              <a:t> עַתָּה, בְּיָדֶךָ:  </a:t>
            </a:r>
            <a:r>
              <a:rPr lang="he-IL" sz="3200" dirty="0" smtClean="0">
                <a:latin typeface="David" panose="020E0502060401010101" pitchFamily="34" charset="-79"/>
                <a:cs typeface="David" panose="020E0502060401010101" pitchFamily="34" charset="-79"/>
              </a:rPr>
              <a:t>כִּי-נִתֵּן לִצְבָאֲךָ, לָחֶם.  </a:t>
            </a:r>
          </a:p>
          <a:p>
            <a:r>
              <a:rPr lang="he-IL" sz="3200" b="1" dirty="0" smtClean="0">
                <a:latin typeface="David" panose="020E0502060401010101" pitchFamily="34" charset="-79"/>
                <a:cs typeface="David" panose="020E0502060401010101" pitchFamily="34" charset="-79"/>
              </a:rPr>
              <a:t>ז</a:t>
            </a:r>
            <a:r>
              <a:rPr lang="he-IL" sz="3200" dirty="0" smtClean="0">
                <a:latin typeface="David" panose="020E0502060401010101" pitchFamily="34" charset="-79"/>
                <a:cs typeface="David" panose="020E0502060401010101" pitchFamily="34" charset="-79"/>
              </a:rPr>
              <a:t> וַיֹּאמֶר גִּדְעוֹן--לָכֵן בְּתֵת יְהוָה אֶת-זֶבַח </a:t>
            </a:r>
            <a:r>
              <a:rPr lang="he-IL" sz="3200" dirty="0" err="1" smtClean="0">
                <a:latin typeface="David" panose="020E0502060401010101" pitchFamily="34" charset="-79"/>
                <a:cs typeface="David" panose="020E0502060401010101" pitchFamily="34" charset="-79"/>
              </a:rPr>
              <a:t>וְאֶת-צַלְמֻנָּע</a:t>
            </a:r>
            <a:r>
              <a:rPr lang="he-IL" sz="3200" dirty="0" smtClean="0">
                <a:latin typeface="David" panose="020E0502060401010101" pitchFamily="34" charset="-79"/>
                <a:cs typeface="David" panose="020E0502060401010101" pitchFamily="34" charset="-79"/>
              </a:rPr>
              <a:t>, בְּיָדִי:  </a:t>
            </a:r>
            <a:r>
              <a:rPr lang="he-IL" sz="3200" b="1" dirty="0" smtClean="0">
                <a:latin typeface="David" panose="020E0502060401010101" pitchFamily="34" charset="-79"/>
                <a:cs typeface="David" panose="020E0502060401010101" pitchFamily="34" charset="-79"/>
              </a:rPr>
              <a:t>וְדַשְׁתִּי, אֶת-בְּשַׂרְכֶם, אֶת-קוֹצֵי הַמִּדְבָּר, וְאֶת-הַבַּרְקֳנִים</a:t>
            </a:r>
            <a:r>
              <a:rPr lang="he-IL" sz="3200" dirty="0" smtClean="0">
                <a:latin typeface="David" panose="020E0502060401010101" pitchFamily="34" charset="-79"/>
                <a:cs typeface="David" panose="020E0502060401010101" pitchFamily="34" charset="-79"/>
              </a:rPr>
              <a:t>.</a:t>
            </a:r>
            <a:endParaRPr lang="he-IL" sz="3200" dirty="0">
              <a:latin typeface="David" panose="020E0502060401010101" pitchFamily="34" charset="-79"/>
              <a:cs typeface="David" panose="020E0502060401010101" pitchFamily="34" charset="-79"/>
            </a:endParaRPr>
          </a:p>
        </p:txBody>
      </p:sp>
      <p:pic>
        <p:nvPicPr>
          <p:cNvPr id="5" name="תמונה 4"/>
          <p:cNvPicPr>
            <a:picLocks noChangeAspect="1"/>
          </p:cNvPicPr>
          <p:nvPr/>
        </p:nvPicPr>
        <p:blipFill>
          <a:blip r:embed="rId3"/>
          <a:stretch>
            <a:fillRect/>
          </a:stretch>
        </p:blipFill>
        <p:spPr>
          <a:xfrm>
            <a:off x="9038074" y="3770144"/>
            <a:ext cx="3051006" cy="2672567"/>
          </a:xfrm>
          <a:prstGeom prst="rect">
            <a:avLst/>
          </a:prstGeom>
        </p:spPr>
      </p:pic>
      <p:sp>
        <p:nvSpPr>
          <p:cNvPr id="6" name="TextBox 5"/>
          <p:cNvSpPr txBox="1"/>
          <p:nvPr/>
        </p:nvSpPr>
        <p:spPr>
          <a:xfrm>
            <a:off x="6235497" y="3395723"/>
            <a:ext cx="2802577" cy="3046988"/>
          </a:xfrm>
          <a:prstGeom prst="rect">
            <a:avLst/>
          </a:prstGeom>
          <a:solidFill>
            <a:schemeClr val="accent1">
              <a:lumMod val="40000"/>
              <a:lumOff val="60000"/>
            </a:schemeClr>
          </a:solidFill>
          <a:ln w="38100">
            <a:solidFill>
              <a:schemeClr val="tx1"/>
            </a:solidFill>
          </a:ln>
        </p:spPr>
        <p:txBody>
          <a:bodyPr wrap="square" rtlCol="1">
            <a:spAutoFit/>
          </a:bodyPr>
          <a:lstStyle/>
          <a:p>
            <a:r>
              <a:rPr lang="he-IL" sz="2400" b="1" dirty="0" smtClean="0">
                <a:latin typeface="David" panose="020E0502060401010101" pitchFamily="34" charset="-79"/>
                <a:cs typeface="David" panose="020E0502060401010101" pitchFamily="34" charset="-79"/>
              </a:rPr>
              <a:t>"נראה כי סוכות היה מקום קוצים וברקנים</a:t>
            </a:r>
            <a:r>
              <a:rPr lang="he-IL" sz="2400" dirty="0" smtClean="0">
                <a:latin typeface="David" panose="020E0502060401010101" pitchFamily="34" charset="-79"/>
                <a:cs typeface="David" panose="020E0502060401010101" pitchFamily="34" charset="-79"/>
              </a:rPr>
              <a:t>, לפיכך שם העיר סוכות כמו שנאמר באיוב (</a:t>
            </a:r>
            <a:r>
              <a:rPr lang="he-IL" sz="2400" dirty="0" err="1" smtClean="0">
                <a:latin typeface="David" panose="020E0502060401010101" pitchFamily="34" charset="-79"/>
                <a:cs typeface="David" panose="020E0502060401010101" pitchFamily="34" charset="-79"/>
              </a:rPr>
              <a:t>מ,לא</a:t>
            </a:r>
            <a:r>
              <a:rPr lang="he-IL" sz="2400" dirty="0" smtClean="0">
                <a:latin typeface="David" panose="020E0502060401010101" pitchFamily="34" charset="-79"/>
                <a:cs typeface="David" panose="020E0502060401010101" pitchFamily="34" charset="-79"/>
              </a:rPr>
              <a:t>) "התמלא </a:t>
            </a:r>
            <a:r>
              <a:rPr lang="he-IL" sz="2400" dirty="0" err="1" smtClean="0">
                <a:latin typeface="David" panose="020E0502060401010101" pitchFamily="34" charset="-79"/>
                <a:cs typeface="David" panose="020E0502060401010101" pitchFamily="34" charset="-79"/>
              </a:rPr>
              <a:t>בשכות</a:t>
            </a:r>
            <a:r>
              <a:rPr lang="he-IL" sz="2400" dirty="0" smtClean="0">
                <a:latin typeface="David" panose="020E0502060401010101" pitchFamily="34" charset="-79"/>
                <a:cs typeface="David" panose="020E0502060401010101" pitchFamily="34" charset="-79"/>
              </a:rPr>
              <a:t> עורו" שפרושו 'קוצים. לכן אמר גדעון שיכה אותם בקוצים</a:t>
            </a:r>
            <a:endParaRPr lang="he-IL" sz="24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92233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wipe(down)">
                                      <p:cBhvr>
                                        <p:cTn id="14" dur="500"/>
                                        <p:tgtEl>
                                          <p:spTgt spid="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randombar(horizont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754" y="95002"/>
            <a:ext cx="5902037" cy="4031873"/>
          </a:xfrm>
          <a:prstGeom prst="rect">
            <a:avLst/>
          </a:prstGeom>
          <a:solidFill>
            <a:schemeClr val="accent4">
              <a:lumMod val="60000"/>
              <a:lumOff val="4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ח': </a:t>
            </a:r>
            <a:r>
              <a:rPr lang="he-IL" sz="3200" dirty="0" smtClean="0">
                <a:latin typeface="David" panose="020E0502060401010101" pitchFamily="34" charset="-79"/>
                <a:cs typeface="David" panose="020E0502060401010101" pitchFamily="34" charset="-79"/>
              </a:rPr>
              <a:t>ואז מגיע גדעון אל </a:t>
            </a:r>
            <a:r>
              <a:rPr lang="he-IL" sz="3200" dirty="0" err="1" smtClean="0">
                <a:latin typeface="David" panose="020E0502060401010101" pitchFamily="34" charset="-79"/>
                <a:cs typeface="David" panose="020E0502060401010101" pitchFamily="34" charset="-79"/>
              </a:rPr>
              <a:t>פנואל</a:t>
            </a:r>
            <a:r>
              <a:rPr lang="he-IL" sz="3200" dirty="0" smtClean="0">
                <a:latin typeface="David" panose="020E0502060401010101" pitchFamily="34" charset="-79"/>
                <a:cs typeface="David" panose="020E0502060401010101" pitchFamily="34" charset="-79"/>
              </a:rPr>
              <a:t> גם שאל אותו דבר והם ענו כמו אנשי סוכות שלא ניתן לך כי איננו בטוחים שתושיע אותנו ממדיין.</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ט': </a:t>
            </a:r>
            <a:r>
              <a:rPr lang="he-IL" sz="3200" dirty="0" smtClean="0">
                <a:latin typeface="David" panose="020E0502060401010101" pitchFamily="34" charset="-79"/>
                <a:cs typeface="David" panose="020E0502060401010101" pitchFamily="34" charset="-79"/>
              </a:rPr>
              <a:t>גם להם ענה גדעון כאשר אחזור אעניש אתכם </a:t>
            </a:r>
            <a:r>
              <a:rPr lang="he-IL" sz="3200" b="1" dirty="0" smtClean="0">
                <a:latin typeface="David" panose="020E0502060401010101" pitchFamily="34" charset="-79"/>
                <a:cs typeface="David" panose="020E0502060401010101" pitchFamily="34" charset="-79"/>
              </a:rPr>
              <a:t>ואשבור</a:t>
            </a:r>
            <a:r>
              <a:rPr lang="he-IL" sz="3200" dirty="0" smtClean="0">
                <a:latin typeface="David" panose="020E0502060401010101" pitchFamily="34" charset="-79"/>
                <a:cs typeface="David" panose="020E0502060401010101" pitchFamily="34" charset="-79"/>
              </a:rPr>
              <a:t> את המגדל שבניתם פה כדי לעמוד בראשו ולהילחם מול האויבים.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412676" y="95002"/>
            <a:ext cx="5688280" cy="2554545"/>
          </a:xfrm>
          <a:prstGeom prst="rect">
            <a:avLst/>
          </a:prstGeom>
          <a:solidFill>
            <a:schemeClr val="accent2">
              <a:lumMod val="60000"/>
              <a:lumOff val="40000"/>
            </a:schemeClr>
          </a:solidFill>
        </p:spPr>
        <p:txBody>
          <a:bodyPr wrap="square">
            <a:spAutoFit/>
          </a:bodyPr>
          <a:lstStyle/>
          <a:p>
            <a:r>
              <a:rPr lang="he-IL" sz="3200" b="1" dirty="0" smtClean="0">
                <a:latin typeface="David" panose="020E0502060401010101" pitchFamily="34" charset="-79"/>
                <a:cs typeface="David" panose="020E0502060401010101" pitchFamily="34" charset="-79"/>
              </a:rPr>
              <a:t> ח </a:t>
            </a:r>
            <a:r>
              <a:rPr lang="he-IL" sz="3200" dirty="0" smtClean="0">
                <a:latin typeface="David" panose="020E0502060401010101" pitchFamily="34" charset="-79"/>
                <a:cs typeface="David" panose="020E0502060401010101" pitchFamily="34" charset="-79"/>
              </a:rPr>
              <a:t>וַיַּעַל מִשָּׁם </a:t>
            </a:r>
            <a:r>
              <a:rPr lang="he-IL" sz="3200" b="1" dirty="0" err="1" smtClean="0">
                <a:latin typeface="David" panose="020E0502060401010101" pitchFamily="34" charset="-79"/>
                <a:cs typeface="David" panose="020E0502060401010101" pitchFamily="34" charset="-79"/>
              </a:rPr>
              <a:t>פְּנוּאֵל</a:t>
            </a:r>
            <a:r>
              <a:rPr lang="he-IL" sz="3200" dirty="0" smtClean="0">
                <a:latin typeface="David" panose="020E0502060401010101" pitchFamily="34" charset="-79"/>
                <a:cs typeface="David" panose="020E0502060401010101" pitchFamily="34" charset="-79"/>
              </a:rPr>
              <a:t>, וַיְדַבֵּר אֲלֵיהֶם כָּזֹאת; וַיַּעֲנוּ אוֹתוֹ אַנְשֵׁי </a:t>
            </a:r>
            <a:r>
              <a:rPr lang="he-IL" sz="3200" dirty="0" err="1" smtClean="0">
                <a:latin typeface="David" panose="020E0502060401010101" pitchFamily="34" charset="-79"/>
                <a:cs typeface="David" panose="020E0502060401010101" pitchFamily="34" charset="-79"/>
              </a:rPr>
              <a:t>פְנוּאֵל</a:t>
            </a:r>
            <a:r>
              <a:rPr lang="he-IL" sz="3200" dirty="0" smtClean="0">
                <a:latin typeface="David" panose="020E0502060401010101" pitchFamily="34" charset="-79"/>
                <a:cs typeface="David" panose="020E0502060401010101" pitchFamily="34" charset="-79"/>
              </a:rPr>
              <a:t>, כַּאֲשֶׁר עָנוּ אַנְשֵׁי סֻכּוֹת.  </a:t>
            </a:r>
          </a:p>
          <a:p>
            <a:r>
              <a:rPr lang="he-IL" sz="3200" b="1" dirty="0" smtClean="0">
                <a:latin typeface="David" panose="020E0502060401010101" pitchFamily="34" charset="-79"/>
                <a:cs typeface="David" panose="020E0502060401010101" pitchFamily="34" charset="-79"/>
              </a:rPr>
              <a:t>ט </a:t>
            </a:r>
            <a:r>
              <a:rPr lang="he-IL" sz="3200" dirty="0" smtClean="0">
                <a:latin typeface="David" panose="020E0502060401010101" pitchFamily="34" charset="-79"/>
                <a:cs typeface="David" panose="020E0502060401010101" pitchFamily="34" charset="-79"/>
              </a:rPr>
              <a:t>וַיֹּאמֶר גַּם-לְאַנְשֵׁי </a:t>
            </a:r>
            <a:r>
              <a:rPr lang="he-IL" sz="3200" dirty="0" err="1" smtClean="0">
                <a:latin typeface="David" panose="020E0502060401010101" pitchFamily="34" charset="-79"/>
                <a:cs typeface="David" panose="020E0502060401010101" pitchFamily="34" charset="-79"/>
              </a:rPr>
              <a:t>פְנוּאֵל</a:t>
            </a:r>
            <a:r>
              <a:rPr lang="he-IL" sz="3200" dirty="0" smtClean="0">
                <a:latin typeface="David" panose="020E0502060401010101" pitchFamily="34" charset="-79"/>
                <a:cs typeface="David" panose="020E0502060401010101" pitchFamily="34" charset="-79"/>
              </a:rPr>
              <a:t>, </a:t>
            </a:r>
            <a:r>
              <a:rPr lang="he-IL" sz="3200" dirty="0" err="1" smtClean="0">
                <a:latin typeface="David" panose="020E0502060401010101" pitchFamily="34" charset="-79"/>
                <a:cs typeface="David" panose="020E0502060401010101" pitchFamily="34" charset="-79"/>
              </a:rPr>
              <a:t>לֵאמֹר</a:t>
            </a:r>
            <a:r>
              <a:rPr lang="he-IL" sz="3200" dirty="0" smtClean="0">
                <a:latin typeface="David" panose="020E0502060401010101" pitchFamily="34" charset="-79"/>
                <a:cs typeface="David" panose="020E0502060401010101" pitchFamily="34" charset="-79"/>
              </a:rPr>
              <a:t>:  בְּשׁוּבִי בְשָׁלוֹם, </a:t>
            </a:r>
            <a:r>
              <a:rPr lang="he-IL" sz="3200" b="1" dirty="0" err="1" smtClean="0">
                <a:latin typeface="David" panose="020E0502060401010101" pitchFamily="34" charset="-79"/>
                <a:cs typeface="David" panose="020E0502060401010101" pitchFamily="34" charset="-79"/>
              </a:rPr>
              <a:t>אֶתֹּץ</a:t>
            </a:r>
            <a:r>
              <a:rPr lang="he-IL" sz="3200" dirty="0" smtClean="0">
                <a:latin typeface="David" panose="020E0502060401010101" pitchFamily="34" charset="-79"/>
                <a:cs typeface="David" panose="020E0502060401010101" pitchFamily="34" charset="-79"/>
              </a:rPr>
              <a:t> אֶת-הַמִּגְדָּל הַזֶּה. </a:t>
            </a:r>
            <a:endParaRPr lang="he-IL" sz="3200" dirty="0">
              <a:latin typeface="David" panose="020E0502060401010101" pitchFamily="34" charset="-79"/>
              <a:cs typeface="David" panose="020E0502060401010101" pitchFamily="34" charset="-79"/>
            </a:endParaRPr>
          </a:p>
        </p:txBody>
      </p:sp>
      <p:sp>
        <p:nvSpPr>
          <p:cNvPr id="5" name="TextBox 4"/>
          <p:cNvSpPr txBox="1"/>
          <p:nvPr/>
        </p:nvSpPr>
        <p:spPr>
          <a:xfrm>
            <a:off x="8977746" y="3266503"/>
            <a:ext cx="2766951" cy="2677656"/>
          </a:xfrm>
          <a:prstGeom prst="rect">
            <a:avLst/>
          </a:prstGeom>
          <a:solidFill>
            <a:schemeClr val="accent6">
              <a:lumMod val="60000"/>
              <a:lumOff val="40000"/>
            </a:schemeClr>
          </a:solidFill>
          <a:ln w="38100">
            <a:noFill/>
          </a:ln>
        </p:spPr>
        <p:txBody>
          <a:bodyPr wrap="square" rtlCol="1">
            <a:spAutoFit/>
          </a:bodyPr>
          <a:lstStyle/>
          <a:p>
            <a:r>
              <a:rPr lang="he-IL" sz="2400" dirty="0" smtClean="0">
                <a:latin typeface="David" panose="020E0502060401010101" pitchFamily="34" charset="-79"/>
                <a:cs typeface="David" panose="020E0502060401010101" pitchFamily="34" charset="-79"/>
              </a:rPr>
              <a:t>אנשי </a:t>
            </a:r>
            <a:r>
              <a:rPr lang="he-IL" sz="2400" dirty="0" err="1" smtClean="0">
                <a:latin typeface="David" panose="020E0502060401010101" pitchFamily="34" charset="-79"/>
                <a:cs typeface="David" panose="020E0502060401010101" pitchFamily="34" charset="-79"/>
              </a:rPr>
              <a:t>פנואל</a:t>
            </a:r>
            <a:r>
              <a:rPr lang="he-IL" sz="2400" dirty="0" smtClean="0">
                <a:latin typeface="David" panose="020E0502060401010101" pitchFamily="34" charset="-79"/>
                <a:cs typeface="David" panose="020E0502060401010101" pitchFamily="34" charset="-79"/>
              </a:rPr>
              <a:t> היו בוטחים במגדל שהיה להם בתוך העיר, אמר להם גדעון שבשובו מהמלחמה ישבור את המגדל שהם בוטחים בו.</a:t>
            </a:r>
            <a:endParaRPr lang="he-IL" sz="24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2">
            <a:extLst>
              <a:ext uri="{BEBA8EAE-BF5A-486C-A8C5-ECC9F3942E4B}">
                <a14:imgProps xmlns:a14="http://schemas.microsoft.com/office/drawing/2010/main">
                  <a14:imgLayer r:embed="rId3">
                    <a14:imgEffect>
                      <a14:backgroundRemoval t="0" b="99411" l="0" r="97485"/>
                    </a14:imgEffect>
                  </a14:imgLayer>
                </a14:imgProps>
              </a:ext>
            </a:extLst>
          </a:blip>
          <a:stretch>
            <a:fillRect/>
          </a:stretch>
        </p:blipFill>
        <p:spPr>
          <a:xfrm>
            <a:off x="6234259" y="2352663"/>
            <a:ext cx="3461944" cy="4505337"/>
          </a:xfrm>
          <a:prstGeom prst="rect">
            <a:avLst/>
          </a:prstGeom>
        </p:spPr>
      </p:pic>
      <p:sp>
        <p:nvSpPr>
          <p:cNvPr id="6" name="הסבר מלבני מעוגל 5"/>
          <p:cNvSpPr/>
          <p:nvPr/>
        </p:nvSpPr>
        <p:spPr>
          <a:xfrm>
            <a:off x="724395" y="4328194"/>
            <a:ext cx="4868883" cy="2009061"/>
          </a:xfrm>
          <a:prstGeom prst="wedgeRoundRectCallout">
            <a:avLst/>
          </a:prstGeom>
          <a:solidFill>
            <a:schemeClr val="accent1">
              <a:lumMod val="60000"/>
              <a:lumOff val="40000"/>
            </a:schemeClr>
          </a:solidFill>
          <a:ln w="28575">
            <a:solidFill>
              <a:schemeClr val="tx1"/>
            </a:solidFill>
          </a:ln>
        </p:spPr>
        <p:txBody>
          <a:bodyPr wrap="square">
            <a:spAutoFit/>
          </a:bodyPr>
          <a:lstStyle/>
          <a:p>
            <a:r>
              <a:rPr lang="he-IL" sz="2800" b="1" u="sng" dirty="0" smtClean="0">
                <a:latin typeface="David" panose="020E0502060401010101" pitchFamily="34" charset="-79"/>
                <a:cs typeface="David" panose="020E0502060401010101" pitchFamily="34" charset="-79"/>
              </a:rPr>
              <a:t>אלו תחושות חש גדעון כלפי אנשי סוכות </a:t>
            </a:r>
            <a:r>
              <a:rPr lang="he-IL" sz="2800" b="1" u="sng" dirty="0" err="1" smtClean="0">
                <a:latin typeface="David" panose="020E0502060401010101" pitchFamily="34" charset="-79"/>
                <a:cs typeface="David" panose="020E0502060401010101" pitchFamily="34" charset="-79"/>
              </a:rPr>
              <a:t>ופנואל</a:t>
            </a:r>
            <a:r>
              <a:rPr lang="he-IL" sz="2800" dirty="0" smtClean="0">
                <a:latin typeface="David" panose="020E0502060401010101" pitchFamily="34" charset="-79"/>
                <a:cs typeface="David" panose="020E0502060401010101" pitchFamily="34" charset="-79"/>
              </a:rPr>
              <a:t>?  אכזבה, קנאה, שמחה, כעס, עלבון, אהבה, שנאה, צער, גאווה, בגידה</a:t>
            </a:r>
            <a:endParaRPr lang="he-IL" sz="28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64069364"/>
      </p:ext>
    </p:extLst>
  </p:cSld>
  <p:clrMapOvr>
    <a:masterClrMapping/>
  </p:clrMapOvr>
  <mc:AlternateContent xmlns:mc="http://schemas.openxmlformats.org/markup-compatibility/2006" xmlns:p14="http://schemas.microsoft.com/office/powerpoint/2010/main">
    <mc:Choice Requires="p14">
      <p:transition spd="slow" p14:dur="1600">
        <p14:prism dir="r"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ircle(in)">
                                      <p:cBhvr>
                                        <p:cTn id="19" dur="2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1000" fill="hold"/>
                                        <p:tgtEl>
                                          <p:spTgt spid="5"/>
                                        </p:tgtEl>
                                        <p:attrNameLst>
                                          <p:attrName>ppt_w</p:attrName>
                                        </p:attrNameLst>
                                      </p:cBhvr>
                                      <p:tavLst>
                                        <p:tav tm="0">
                                          <p:val>
                                            <p:fltVal val="0"/>
                                          </p:val>
                                        </p:tav>
                                        <p:tav tm="100000">
                                          <p:val>
                                            <p:strVal val="#ppt_w"/>
                                          </p:val>
                                        </p:tav>
                                      </p:tavLst>
                                    </p:anim>
                                    <p:anim calcmode="lin" valueType="num">
                                      <p:cBhvr>
                                        <p:cTn id="25" dur="1000" fill="hold"/>
                                        <p:tgtEl>
                                          <p:spTgt spid="5"/>
                                        </p:tgtEl>
                                        <p:attrNameLst>
                                          <p:attrName>ppt_h</p:attrName>
                                        </p:attrNameLst>
                                      </p:cBhvr>
                                      <p:tavLst>
                                        <p:tav tm="0">
                                          <p:val>
                                            <p:fltVal val="0"/>
                                          </p:val>
                                        </p:tav>
                                        <p:tav tm="100000">
                                          <p:val>
                                            <p:strVal val="#ppt_h"/>
                                          </p:val>
                                        </p:tav>
                                      </p:tavLst>
                                    </p:anim>
                                    <p:anim calcmode="lin" valueType="num">
                                      <p:cBhvr>
                                        <p:cTn id="26" dur="1000" fill="hold"/>
                                        <p:tgtEl>
                                          <p:spTgt spid="5"/>
                                        </p:tgtEl>
                                        <p:attrNameLst>
                                          <p:attrName>style.rotation</p:attrName>
                                        </p:attrNameLst>
                                      </p:cBhvr>
                                      <p:tavLst>
                                        <p:tav tm="0">
                                          <p:val>
                                            <p:fltVal val="90"/>
                                          </p:val>
                                        </p:tav>
                                        <p:tav tm="100000">
                                          <p:val>
                                            <p:fltVal val="0"/>
                                          </p:val>
                                        </p:tav>
                                      </p:tavLst>
                                    </p:anim>
                                    <p:animEffect transition="in" filter="fade">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5002" y="154380"/>
            <a:ext cx="6258296" cy="6647974"/>
          </a:xfrm>
          <a:prstGeom prst="rect">
            <a:avLst/>
          </a:prstGeom>
          <a:solidFill>
            <a:schemeClr val="accent4">
              <a:lumMod val="40000"/>
              <a:lumOff val="60000"/>
            </a:schemeClr>
          </a:solidFill>
          <a:ln w="38100">
            <a:solidFill>
              <a:schemeClr val="tx1"/>
            </a:solidFill>
          </a:ln>
        </p:spPr>
        <p:txBody>
          <a:bodyPr wrap="square" rtlCol="1">
            <a:spAutoFit/>
          </a:bodyPr>
          <a:lstStyle/>
          <a:p>
            <a:r>
              <a:rPr lang="he-IL" sz="2800" b="1" u="sng" dirty="0" err="1" smtClean="0">
                <a:latin typeface="David" panose="020E0502060401010101" pitchFamily="34" charset="-79"/>
                <a:cs typeface="David" panose="020E0502060401010101" pitchFamily="34" charset="-79"/>
              </a:rPr>
              <a:t>פ"ס</a:t>
            </a:r>
            <a:r>
              <a:rPr lang="he-IL" sz="2800" b="1" u="sng" dirty="0" smtClean="0">
                <a:latin typeface="David" panose="020E0502060401010101" pitchFamily="34" charset="-79"/>
                <a:cs typeface="David" panose="020E0502060401010101" pitchFamily="34" charset="-79"/>
              </a:rPr>
              <a:t> י': </a:t>
            </a:r>
            <a:r>
              <a:rPr lang="he-IL" sz="2800" dirty="0" smtClean="0">
                <a:latin typeface="David" panose="020E0502060401010101" pitchFamily="34" charset="-79"/>
                <a:cs typeface="David" panose="020E0502060401010101" pitchFamily="34" charset="-79"/>
              </a:rPr>
              <a:t>זבח </a:t>
            </a:r>
            <a:r>
              <a:rPr lang="he-IL" sz="2800" dirty="0" err="1" smtClean="0">
                <a:latin typeface="David" panose="020E0502060401010101" pitchFamily="34" charset="-79"/>
                <a:cs typeface="David" panose="020E0502060401010101" pitchFamily="34" charset="-79"/>
              </a:rPr>
              <a:t>וצלמנע</a:t>
            </a:r>
            <a:r>
              <a:rPr lang="he-IL" sz="2800" dirty="0" smtClean="0">
                <a:latin typeface="David" panose="020E0502060401010101" pitchFamily="34" charset="-79"/>
                <a:cs typeface="David" panose="020E0502060401010101" pitchFamily="34" charset="-79"/>
              </a:rPr>
              <a:t> נמלטו לעיר קרקור ואיתם היו </a:t>
            </a:r>
            <a:r>
              <a:rPr lang="he-IL" sz="2800" b="1" dirty="0" smtClean="0">
                <a:latin typeface="David" panose="020E0502060401010101" pitchFamily="34" charset="-79"/>
                <a:cs typeface="David" panose="020E0502060401010101" pitchFamily="34" charset="-79"/>
              </a:rPr>
              <a:t>15 אלף חיילים </a:t>
            </a:r>
            <a:r>
              <a:rPr lang="he-IL" sz="2800" dirty="0" smtClean="0">
                <a:latin typeface="David" panose="020E0502060401010101" pitchFamily="34" charset="-79"/>
                <a:cs typeface="David" panose="020E0502060401010101" pitchFamily="34" charset="-79"/>
              </a:rPr>
              <a:t>שנמלטו </a:t>
            </a:r>
            <a:r>
              <a:rPr lang="he-IL" sz="2800" b="1" dirty="0" smtClean="0">
                <a:latin typeface="David" panose="020E0502060401010101" pitchFamily="34" charset="-79"/>
                <a:cs typeface="David" panose="020E0502060401010101" pitchFamily="34" charset="-79"/>
              </a:rPr>
              <a:t>ואלו שנפלו ומתו ממדין עמלק ובני קדם היה 120 אלף איש </a:t>
            </a:r>
            <a:r>
              <a:rPr lang="he-IL" sz="2800" dirty="0" smtClean="0">
                <a:latin typeface="David" panose="020E0502060401010101" pitchFamily="34" charset="-79"/>
                <a:cs typeface="David" panose="020E0502060401010101" pitchFamily="34" charset="-79"/>
              </a:rPr>
              <a:t>שולף חרב .</a:t>
            </a:r>
          </a:p>
          <a:p>
            <a:r>
              <a:rPr lang="he-IL" sz="3000" b="1" u="sng" dirty="0" err="1" smtClean="0">
                <a:latin typeface="David" panose="020E0502060401010101" pitchFamily="34" charset="-79"/>
                <a:cs typeface="David" panose="020E0502060401010101" pitchFamily="34" charset="-79"/>
              </a:rPr>
              <a:t>פ"ס</a:t>
            </a:r>
            <a:r>
              <a:rPr lang="he-IL" sz="3000" b="1" u="sng" dirty="0" smtClean="0">
                <a:latin typeface="David" panose="020E0502060401010101" pitchFamily="34" charset="-79"/>
                <a:cs typeface="David" panose="020E0502060401010101" pitchFamily="34" charset="-79"/>
              </a:rPr>
              <a:t> יא': </a:t>
            </a:r>
            <a:r>
              <a:rPr lang="he-IL" sz="2800" dirty="0" smtClean="0">
                <a:latin typeface="David" panose="020E0502060401010101" pitchFamily="34" charset="-79"/>
                <a:cs typeface="David" panose="020E0502060401010101" pitchFamily="34" charset="-79"/>
              </a:rPr>
              <a:t>גדעון לא רצה שחיילי מדיין ירגישו בו ולכן לא הלך בדרך הרגילה דרך הערים שגרים שם, </a:t>
            </a:r>
            <a:r>
              <a:rPr lang="he-IL" sz="2800" b="1" dirty="0" smtClean="0">
                <a:latin typeface="David" panose="020E0502060401010101" pitchFamily="34" charset="-79"/>
                <a:cs typeface="David" panose="020E0502060401010101" pitchFamily="34" charset="-79"/>
              </a:rPr>
              <a:t>אלא עשה עיקוף והלך דרך המדבר במקום שיש שם רק אוהלים של ערביים שנודדים כדי לרעות את הבהמות שלהם</a:t>
            </a:r>
            <a:r>
              <a:rPr lang="he-IL" sz="2800" dirty="0" smtClean="0">
                <a:latin typeface="David" panose="020E0502060401010101" pitchFamily="34" charset="-79"/>
                <a:cs typeface="David" panose="020E0502060401010101" pitchFamily="34" charset="-79"/>
              </a:rPr>
              <a:t>, וגדעון הגיע אליהם והכה בהם והם ישבו שם בבטחה, ולמה?</a:t>
            </a:r>
            <a:r>
              <a:rPr lang="he-IL" sz="3200" dirty="0" smtClean="0">
                <a:latin typeface="David" panose="020E0502060401010101" pitchFamily="34" charset="-79"/>
                <a:cs typeface="David" panose="020E0502060401010101" pitchFamily="34" charset="-79"/>
              </a:rPr>
              <a:t> </a:t>
            </a:r>
            <a:r>
              <a:rPr lang="he-IL" sz="2800" b="1" u="sng" dirty="0" smtClean="0">
                <a:latin typeface="David" panose="020E0502060401010101" pitchFamily="34" charset="-79"/>
                <a:cs typeface="David" panose="020E0502060401010101" pitchFamily="34" charset="-79"/>
              </a:rPr>
              <a:t>א</a:t>
            </a:r>
            <a:r>
              <a:rPr lang="he-IL" sz="2800" dirty="0" smtClean="0">
                <a:latin typeface="David" panose="020E0502060401010101" pitchFamily="34" charset="-79"/>
                <a:cs typeface="David" panose="020E0502060401010101" pitchFamily="34" charset="-79"/>
              </a:rPr>
              <a:t>. כי לא חשבו שגדעון וחייליו יגיעו כ"כ רחוק ויעברו את הירדן.</a:t>
            </a:r>
            <a:r>
              <a:rPr lang="he-IL" sz="2800" b="1" u="sng" dirty="0" smtClean="0">
                <a:latin typeface="David" panose="020E0502060401010101" pitchFamily="34" charset="-79"/>
                <a:cs typeface="David" panose="020E0502060401010101" pitchFamily="34" charset="-79"/>
              </a:rPr>
              <a:t> ב</a:t>
            </a:r>
            <a:r>
              <a:rPr lang="he-IL" sz="2800" dirty="0" smtClean="0">
                <a:latin typeface="David" panose="020E0502060401010101" pitchFamily="34" charset="-79"/>
                <a:cs typeface="David" panose="020E0502060401010101" pitchFamily="34" charset="-79"/>
              </a:rPr>
              <a:t>. הם לא הרגישו בהם שהגיעו.</a:t>
            </a:r>
          </a:p>
          <a:p>
            <a:r>
              <a:rPr lang="he-IL" sz="2800" b="1" u="sng" dirty="0" err="1" smtClean="0">
                <a:latin typeface="David" panose="020E0502060401010101" pitchFamily="34" charset="-79"/>
                <a:cs typeface="David" panose="020E0502060401010101" pitchFamily="34" charset="-79"/>
              </a:rPr>
              <a:t>פ"ס</a:t>
            </a:r>
            <a:r>
              <a:rPr lang="he-IL" sz="2800" b="1" u="sng" dirty="0" smtClean="0">
                <a:latin typeface="David" panose="020E0502060401010101" pitchFamily="34" charset="-79"/>
                <a:cs typeface="David" panose="020E0502060401010101" pitchFamily="34" charset="-79"/>
              </a:rPr>
              <a:t> </a:t>
            </a:r>
            <a:r>
              <a:rPr lang="he-IL" sz="2800" b="1" u="sng" dirty="0" err="1" smtClean="0">
                <a:latin typeface="David" panose="020E0502060401010101" pitchFamily="34" charset="-79"/>
                <a:cs typeface="David" panose="020E0502060401010101" pitchFamily="34" charset="-79"/>
              </a:rPr>
              <a:t>יב</a:t>
            </a:r>
            <a:r>
              <a:rPr lang="he-IL" sz="2800" b="1" u="sng" dirty="0" smtClean="0">
                <a:latin typeface="David" panose="020E0502060401010101" pitchFamily="34" charset="-79"/>
                <a:cs typeface="David" panose="020E0502060401010101" pitchFamily="34" charset="-79"/>
              </a:rPr>
              <a:t>' : </a:t>
            </a:r>
            <a:r>
              <a:rPr lang="he-IL" sz="2800" dirty="0" smtClean="0">
                <a:latin typeface="David" panose="020E0502060401010101" pitchFamily="34" charset="-79"/>
                <a:cs typeface="David" panose="020E0502060401010101" pitchFamily="34" charset="-79"/>
              </a:rPr>
              <a:t>ניסו לברוח גם זבח </a:t>
            </a:r>
            <a:r>
              <a:rPr lang="he-IL" sz="2800" dirty="0" err="1" smtClean="0">
                <a:latin typeface="David" panose="020E0502060401010101" pitchFamily="34" charset="-79"/>
                <a:cs typeface="David" panose="020E0502060401010101" pitchFamily="34" charset="-79"/>
              </a:rPr>
              <a:t>וצלמונע</a:t>
            </a:r>
            <a:r>
              <a:rPr lang="he-IL" sz="2800" dirty="0" smtClean="0">
                <a:latin typeface="David" panose="020E0502060401010101" pitchFamily="34" charset="-79"/>
                <a:cs typeface="David" panose="020E0502060401010101" pitchFamily="34" charset="-79"/>
              </a:rPr>
              <a:t>, תפס אותם גדעון וכל העם שעם שרי מדיין ברחו </a:t>
            </a:r>
            <a:endParaRPr lang="he-IL" sz="2800" dirty="0">
              <a:latin typeface="David" panose="020E0502060401010101" pitchFamily="34" charset="-79"/>
              <a:cs typeface="David" panose="020E0502060401010101" pitchFamily="34" charset="-79"/>
            </a:endParaRPr>
          </a:p>
        </p:txBody>
      </p:sp>
      <p:sp>
        <p:nvSpPr>
          <p:cNvPr id="2" name="מלבן 1"/>
          <p:cNvSpPr/>
          <p:nvPr/>
        </p:nvSpPr>
        <p:spPr>
          <a:xfrm>
            <a:off x="6448300" y="154380"/>
            <a:ext cx="5557653" cy="6001643"/>
          </a:xfrm>
          <a:prstGeom prst="rect">
            <a:avLst/>
          </a:prstGeom>
          <a:blipFill>
            <a:blip r:embed="rId2"/>
            <a:tile tx="0" ty="0" sx="100000" sy="100000" flip="none" algn="tl"/>
          </a:blipFill>
        </p:spPr>
        <p:txBody>
          <a:bodyPr wrap="square">
            <a:spAutoFit/>
          </a:bodyPr>
          <a:lstStyle/>
          <a:p>
            <a:r>
              <a:rPr lang="he-IL" sz="3200" b="1" dirty="0" smtClean="0">
                <a:latin typeface="David" panose="020E0502060401010101" pitchFamily="34" charset="-79"/>
                <a:cs typeface="David" panose="020E0502060401010101" pitchFamily="34" charset="-79"/>
              </a:rPr>
              <a:t>י</a:t>
            </a:r>
            <a:r>
              <a:rPr lang="he-IL" sz="3200" dirty="0" smtClean="0">
                <a:latin typeface="David" panose="020E0502060401010101" pitchFamily="34" charset="-79"/>
                <a:cs typeface="David" panose="020E0502060401010101" pitchFamily="34" charset="-79"/>
              </a:rPr>
              <a:t> וְזֶבַח </a:t>
            </a:r>
            <a:r>
              <a:rPr lang="he-IL" sz="3200" dirty="0" err="1" smtClean="0">
                <a:latin typeface="David" panose="020E0502060401010101" pitchFamily="34" charset="-79"/>
                <a:cs typeface="David" panose="020E0502060401010101" pitchFamily="34" charset="-79"/>
              </a:rPr>
              <a:t>וְצַלְמֻנָּע</a:t>
            </a:r>
            <a:r>
              <a:rPr lang="he-IL" sz="3200" dirty="0" smtClean="0">
                <a:latin typeface="David" panose="020E0502060401010101" pitchFamily="34" charset="-79"/>
                <a:cs typeface="David" panose="020E0502060401010101" pitchFamily="34" charset="-79"/>
              </a:rPr>
              <a:t> בַּקַּרְקֹר, </a:t>
            </a:r>
            <a:r>
              <a:rPr lang="he-IL" sz="3200" dirty="0" err="1" smtClean="0">
                <a:latin typeface="David" panose="020E0502060401010101" pitchFamily="34" charset="-79"/>
                <a:cs typeface="David" panose="020E0502060401010101" pitchFamily="34" charset="-79"/>
              </a:rPr>
              <a:t>וּמַחֲנֵיהֶם</a:t>
            </a:r>
            <a:r>
              <a:rPr lang="he-IL" sz="3200" dirty="0" smtClean="0">
                <a:latin typeface="David" panose="020E0502060401010101" pitchFamily="34" charset="-79"/>
                <a:cs typeface="David" panose="020E0502060401010101" pitchFamily="34" charset="-79"/>
              </a:rPr>
              <a:t> עִמָּם </a:t>
            </a:r>
            <a:r>
              <a:rPr lang="he-IL" sz="3200" b="1" dirty="0" smtClean="0">
                <a:latin typeface="David" panose="020E0502060401010101" pitchFamily="34" charset="-79"/>
                <a:cs typeface="David" panose="020E0502060401010101" pitchFamily="34" charset="-79"/>
              </a:rPr>
              <a:t>כַּחֲמֵשֶׁת עָשָׂר אֶלֶף-</a:t>
            </a:r>
            <a:r>
              <a:rPr lang="he-IL" sz="3200" dirty="0" smtClean="0">
                <a:latin typeface="David" panose="020E0502060401010101" pitchFamily="34" charset="-79"/>
                <a:cs typeface="David" panose="020E0502060401010101" pitchFamily="34" charset="-79"/>
              </a:rPr>
              <a:t>-כֹּל הַנּוֹתָרִים, מִכֹּל מַחֲנֵה בְנֵי-קֶדֶם; </a:t>
            </a:r>
            <a:r>
              <a:rPr lang="he-IL" sz="3200" b="1" dirty="0" smtClean="0">
                <a:latin typeface="David" panose="020E0502060401010101" pitchFamily="34" charset="-79"/>
                <a:cs typeface="David" panose="020E0502060401010101" pitchFamily="34" charset="-79"/>
              </a:rPr>
              <a:t>וְהַנֹּפְלִים, מֵאָה וְעֶשְׂרִים אֶלֶף אִישׁ שֹׁלֵף חָרֶב</a:t>
            </a:r>
            <a:r>
              <a:rPr lang="he-IL" sz="3200" dirty="0" smtClean="0">
                <a:latin typeface="David" panose="020E0502060401010101" pitchFamily="34" charset="-79"/>
                <a:cs typeface="David" panose="020E0502060401010101" pitchFamily="34" charset="-79"/>
              </a:rPr>
              <a:t>.  </a:t>
            </a:r>
          </a:p>
          <a:p>
            <a:r>
              <a:rPr lang="he-IL" sz="3200" b="1" dirty="0" smtClean="0">
                <a:latin typeface="David" panose="020E0502060401010101" pitchFamily="34" charset="-79"/>
                <a:cs typeface="David" panose="020E0502060401010101" pitchFamily="34" charset="-79"/>
              </a:rPr>
              <a:t>יא</a:t>
            </a:r>
            <a:r>
              <a:rPr lang="he-IL" sz="3200" dirty="0" smtClean="0">
                <a:latin typeface="David" panose="020E0502060401010101" pitchFamily="34" charset="-79"/>
                <a:cs typeface="David" panose="020E0502060401010101" pitchFamily="34" charset="-79"/>
              </a:rPr>
              <a:t> וַיַּעַל גִּדְעוֹן, דֶּרֶךְ </a:t>
            </a:r>
            <a:r>
              <a:rPr lang="he-IL" sz="3200" dirty="0" err="1" smtClean="0">
                <a:latin typeface="David" panose="020E0502060401010101" pitchFamily="34" charset="-79"/>
                <a:cs typeface="David" panose="020E0502060401010101" pitchFamily="34" charset="-79"/>
              </a:rPr>
              <a:t>הַשְּׁכוּנֵי</a:t>
            </a:r>
            <a:r>
              <a:rPr lang="he-IL" sz="3200" dirty="0" smtClean="0">
                <a:latin typeface="David" panose="020E0502060401010101" pitchFamily="34" charset="-79"/>
                <a:cs typeface="David" panose="020E0502060401010101" pitchFamily="34" charset="-79"/>
              </a:rPr>
              <a:t> בָאֳהָלִים, מִקֶּדֶם לְנֹבַח, </a:t>
            </a:r>
            <a:r>
              <a:rPr lang="he-IL" sz="3200" dirty="0" err="1" smtClean="0">
                <a:latin typeface="David" panose="020E0502060401010101" pitchFamily="34" charset="-79"/>
                <a:cs typeface="David" panose="020E0502060401010101" pitchFamily="34" charset="-79"/>
              </a:rPr>
              <a:t>וְיָגְבְּהָה</a:t>
            </a:r>
            <a:r>
              <a:rPr lang="he-IL" sz="3200" dirty="0" smtClean="0">
                <a:latin typeface="David" panose="020E0502060401010101" pitchFamily="34" charset="-79"/>
                <a:cs typeface="David" panose="020E0502060401010101" pitchFamily="34" charset="-79"/>
              </a:rPr>
              <a:t>; </a:t>
            </a:r>
            <a:r>
              <a:rPr lang="he-IL" sz="3200" dirty="0" err="1" smtClean="0">
                <a:latin typeface="David" panose="020E0502060401010101" pitchFamily="34" charset="-79"/>
                <a:cs typeface="David" panose="020E0502060401010101" pitchFamily="34" charset="-79"/>
              </a:rPr>
              <a:t>וַיַּך</a:t>
            </a:r>
            <a:r>
              <a:rPr lang="he-IL" sz="3200" dirty="0" smtClean="0">
                <a:latin typeface="David" panose="020E0502060401010101" pitchFamily="34" charset="-79"/>
                <a:cs typeface="David" panose="020E0502060401010101" pitchFamily="34" charset="-79"/>
              </a:rPr>
              <a:t>ְ, אֶת-הַמַּחֲנֶה, וְהַמַּחֲנֶה, הָיָה בֶטַח.  </a:t>
            </a:r>
          </a:p>
          <a:p>
            <a:r>
              <a:rPr lang="he-IL" sz="3200" b="1" dirty="0" err="1" smtClean="0">
                <a:latin typeface="David" panose="020E0502060401010101" pitchFamily="34" charset="-79"/>
                <a:cs typeface="David" panose="020E0502060401010101" pitchFamily="34" charset="-79"/>
              </a:rPr>
              <a:t>יב</a:t>
            </a:r>
            <a:r>
              <a:rPr lang="he-IL" sz="3200" dirty="0" smtClean="0">
                <a:latin typeface="David" panose="020E0502060401010101" pitchFamily="34" charset="-79"/>
                <a:cs typeface="David" panose="020E0502060401010101" pitchFamily="34" charset="-79"/>
              </a:rPr>
              <a:t> וַיָּנֻסוּ, זֶבַח </a:t>
            </a:r>
            <a:r>
              <a:rPr lang="he-IL" sz="3200" dirty="0" err="1" smtClean="0">
                <a:latin typeface="David" panose="020E0502060401010101" pitchFamily="34" charset="-79"/>
                <a:cs typeface="David" panose="020E0502060401010101" pitchFamily="34" charset="-79"/>
              </a:rPr>
              <a:t>וְצַלְמֻנָּע</a:t>
            </a:r>
            <a:r>
              <a:rPr lang="he-IL" sz="3200" dirty="0" smtClean="0">
                <a:latin typeface="David" panose="020E0502060401010101" pitchFamily="34" charset="-79"/>
                <a:cs typeface="David" panose="020E0502060401010101" pitchFamily="34" charset="-79"/>
              </a:rPr>
              <a:t>, </a:t>
            </a:r>
            <a:r>
              <a:rPr lang="he-IL" sz="3200" dirty="0" err="1" smtClean="0">
                <a:latin typeface="David" panose="020E0502060401010101" pitchFamily="34" charset="-79"/>
                <a:cs typeface="David" panose="020E0502060401010101" pitchFamily="34" charset="-79"/>
              </a:rPr>
              <a:t>וַיִּרְדֹּף</a:t>
            </a:r>
            <a:r>
              <a:rPr lang="he-IL" sz="3200" dirty="0" smtClean="0">
                <a:latin typeface="David" panose="020E0502060401010101" pitchFamily="34" charset="-79"/>
                <a:cs typeface="David" panose="020E0502060401010101" pitchFamily="34" charset="-79"/>
              </a:rPr>
              <a:t>, אַחֲרֵיהֶם; </a:t>
            </a:r>
            <a:r>
              <a:rPr lang="he-IL" sz="3200" b="1" dirty="0" smtClean="0">
                <a:solidFill>
                  <a:srgbClr val="C00000"/>
                </a:solidFill>
                <a:latin typeface="David" panose="020E0502060401010101" pitchFamily="34" charset="-79"/>
                <a:cs typeface="David" panose="020E0502060401010101" pitchFamily="34" charset="-79"/>
              </a:rPr>
              <a:t>וַיִּלְכֹּד אֶת-שְׁנֵי מַלְכֵי מִדְיָן, אֶת-זֶבַח </a:t>
            </a:r>
            <a:r>
              <a:rPr lang="he-IL" sz="3200" b="1" dirty="0" err="1" smtClean="0">
                <a:solidFill>
                  <a:srgbClr val="C00000"/>
                </a:solidFill>
                <a:latin typeface="David" panose="020E0502060401010101" pitchFamily="34" charset="-79"/>
                <a:cs typeface="David" panose="020E0502060401010101" pitchFamily="34" charset="-79"/>
              </a:rPr>
              <a:t>וְאֶת-צַלְמֻנָּע</a:t>
            </a:r>
            <a:r>
              <a:rPr lang="he-IL" sz="3200" b="1" dirty="0" smtClean="0">
                <a:solidFill>
                  <a:srgbClr val="C00000"/>
                </a:solidFill>
                <a:latin typeface="David" panose="020E0502060401010101" pitchFamily="34" charset="-79"/>
                <a:cs typeface="David" panose="020E0502060401010101" pitchFamily="34" charset="-79"/>
              </a:rPr>
              <a:t>,</a:t>
            </a:r>
            <a:r>
              <a:rPr lang="he-IL" sz="3200" dirty="0" smtClean="0">
                <a:latin typeface="David" panose="020E0502060401010101" pitchFamily="34" charset="-79"/>
                <a:cs typeface="David" panose="020E0502060401010101" pitchFamily="34" charset="-79"/>
              </a:rPr>
              <a:t> וְכָל-הַמַּחֲנֶה, הֶחֱרִיד. </a:t>
            </a:r>
            <a:endParaRPr lang="he-IL" sz="3200" dirty="0">
              <a:latin typeface="David" panose="020E0502060401010101" pitchFamily="34" charset="-79"/>
              <a:cs typeface="David" panose="020E0502060401010101" pitchFamily="34" charset="-79"/>
            </a:endParaRPr>
          </a:p>
        </p:txBody>
      </p:sp>
      <p:pic>
        <p:nvPicPr>
          <p:cNvPr id="5" name="תמונה 4"/>
          <p:cNvPicPr>
            <a:picLocks noChangeAspect="1"/>
          </p:cNvPicPr>
          <p:nvPr/>
        </p:nvPicPr>
        <p:blipFill>
          <a:blip r:embed="rId3"/>
          <a:stretch>
            <a:fillRect/>
          </a:stretch>
        </p:blipFill>
        <p:spPr>
          <a:xfrm>
            <a:off x="6604785" y="332509"/>
            <a:ext cx="5599751" cy="6325149"/>
          </a:xfrm>
          <a:prstGeom prst="rect">
            <a:avLst/>
          </a:prstGeom>
        </p:spPr>
      </p:pic>
      <p:cxnSp>
        <p:nvCxnSpPr>
          <p:cNvPr id="6" name="מחבר חץ ישר 5"/>
          <p:cNvCxnSpPr/>
          <p:nvPr/>
        </p:nvCxnSpPr>
        <p:spPr>
          <a:xfrm>
            <a:off x="4607626" y="2220686"/>
            <a:ext cx="6020790" cy="14250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8400216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p:cTn id="17"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4">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7505" y="178130"/>
            <a:ext cx="5723907" cy="6001643"/>
          </a:xfrm>
          <a:prstGeom prst="rect">
            <a:avLst/>
          </a:prstGeom>
          <a:solidFill>
            <a:schemeClr val="accent4">
              <a:lumMod val="60000"/>
              <a:lumOff val="4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יג</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גדעון וחייליו לאחר שתפסו את שני מלכי מדיין, חזרו לכיוון ביתם וזה קרה </a:t>
            </a:r>
            <a:r>
              <a:rPr lang="he-IL" sz="3200" b="1" dirty="0" smtClean="0">
                <a:latin typeface="David" panose="020E0502060401010101" pitchFamily="34" charset="-79"/>
                <a:cs typeface="David" panose="020E0502060401010101" pitchFamily="34" charset="-79"/>
              </a:rPr>
              <a:t>בעת שהשמש נראית למעלה בשמים ועדיין לא שקעה.</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יד': </a:t>
            </a:r>
            <a:r>
              <a:rPr lang="he-IL" sz="3200" dirty="0" smtClean="0">
                <a:latin typeface="David" panose="020E0502060401010101" pitchFamily="34" charset="-79"/>
                <a:cs typeface="David" panose="020E0502060401010101" pitchFamily="34" charset="-79"/>
              </a:rPr>
              <a:t>גדעון תפס נער אחד מאנשי סוכות וביקש שיכתוב לו את שמות שרי אנשי העיר סוכות, והוא כתב להם 77 איש.</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טו': </a:t>
            </a:r>
            <a:r>
              <a:rPr lang="he-IL" sz="3200" dirty="0" smtClean="0">
                <a:latin typeface="David" panose="020E0502060401010101" pitchFamily="34" charset="-79"/>
                <a:cs typeface="David" panose="020E0502060401010101" pitchFamily="34" charset="-79"/>
              </a:rPr>
              <a:t>ניכנס גדעון לסוכות ומראה להם הנה זבח </a:t>
            </a:r>
            <a:r>
              <a:rPr lang="he-IL" sz="3200" dirty="0" err="1" smtClean="0">
                <a:latin typeface="David" panose="020E0502060401010101" pitchFamily="34" charset="-79"/>
                <a:cs typeface="David" panose="020E0502060401010101" pitchFamily="34" charset="-79"/>
              </a:rPr>
              <a:t>וצלמנע</a:t>
            </a:r>
            <a:r>
              <a:rPr lang="he-IL" sz="3200" dirty="0" smtClean="0">
                <a:latin typeface="David" panose="020E0502060401010101" pitchFamily="34" charset="-79"/>
                <a:cs typeface="David" panose="020E0502060401010101" pitchFamily="34" charset="-79"/>
              </a:rPr>
              <a:t> שלא הייתי בטוחים ולכן לא נתתם לנו אוכל ולחיילים העייפים.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127668" y="47685"/>
            <a:ext cx="5961412" cy="4524315"/>
          </a:xfrm>
          <a:prstGeom prst="rect">
            <a:avLst/>
          </a:prstGeom>
          <a:solidFill>
            <a:schemeClr val="accent6">
              <a:lumMod val="40000"/>
              <a:lumOff val="60000"/>
            </a:schemeClr>
          </a:solidFill>
        </p:spPr>
        <p:txBody>
          <a:bodyPr wrap="square">
            <a:spAutoFit/>
          </a:bodyPr>
          <a:lstStyle/>
          <a:p>
            <a:r>
              <a:rPr lang="he-IL" sz="3200"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יג</a:t>
            </a:r>
            <a:r>
              <a:rPr lang="he-IL" sz="3200" dirty="0" smtClean="0">
                <a:latin typeface="David" panose="020E0502060401010101" pitchFamily="34" charset="-79"/>
                <a:cs typeface="David" panose="020E0502060401010101" pitchFamily="34" charset="-79"/>
              </a:rPr>
              <a:t> וַיָּשָׁב גִּדְעוֹן בֶּן-יוֹאָשׁ, מִן-הַמִּלְחָמָה, מִלְמ</a:t>
            </a:r>
            <a:r>
              <a:rPr lang="he-IL" sz="3200" b="1" dirty="0" smtClean="0">
                <a:latin typeface="David" panose="020E0502060401010101" pitchFamily="34" charset="-79"/>
                <a:cs typeface="David" panose="020E0502060401010101" pitchFamily="34" charset="-79"/>
              </a:rPr>
              <a:t>ַעֲלֵה, הֶחָרֶס.  </a:t>
            </a:r>
          </a:p>
          <a:p>
            <a:r>
              <a:rPr lang="he-IL" sz="3200" b="1" u="sng" dirty="0" smtClean="0">
                <a:latin typeface="David" panose="020E0502060401010101" pitchFamily="34" charset="-79"/>
                <a:cs typeface="David" panose="020E0502060401010101" pitchFamily="34" charset="-79"/>
              </a:rPr>
              <a:t>יד</a:t>
            </a:r>
            <a:r>
              <a:rPr lang="he-IL" sz="3200" dirty="0" smtClean="0">
                <a:latin typeface="David" panose="020E0502060401010101" pitchFamily="34" charset="-79"/>
                <a:cs typeface="David" panose="020E0502060401010101" pitchFamily="34" charset="-79"/>
              </a:rPr>
              <a:t> וַיִּלְכָּד-נַעַר מֵאַנְשֵׁי סֻכּוֹת, וַיִּשְׁאָלֵהוּ; </a:t>
            </a:r>
            <a:r>
              <a:rPr lang="he-IL" sz="3200" dirty="0" err="1" smtClean="0">
                <a:latin typeface="David" panose="020E0502060401010101" pitchFamily="34" charset="-79"/>
                <a:cs typeface="David" panose="020E0502060401010101" pitchFamily="34" charset="-79"/>
              </a:rPr>
              <a:t>וַיִּכְתֹּב</a:t>
            </a:r>
            <a:r>
              <a:rPr lang="he-IL" sz="3200" dirty="0" smtClean="0">
                <a:latin typeface="David" panose="020E0502060401010101" pitchFamily="34" charset="-79"/>
                <a:cs typeface="David" panose="020E0502060401010101" pitchFamily="34" charset="-79"/>
              </a:rPr>
              <a:t> אֵלָיו אֶת-שָׂרֵי סֻכּוֹת, וְאֶת-זְקֵנֶיהָ--</a:t>
            </a:r>
            <a:r>
              <a:rPr lang="he-IL" sz="3200" b="1" dirty="0" smtClean="0">
                <a:latin typeface="David" panose="020E0502060401010101" pitchFamily="34" charset="-79"/>
                <a:cs typeface="David" panose="020E0502060401010101" pitchFamily="34" charset="-79"/>
              </a:rPr>
              <a:t>שִׁבְעִים וְשִׁבְעָה, אִישׁ.  </a:t>
            </a:r>
          </a:p>
          <a:p>
            <a:r>
              <a:rPr lang="he-IL" sz="3200" b="1" u="sng" dirty="0" smtClean="0">
                <a:latin typeface="David" panose="020E0502060401010101" pitchFamily="34" charset="-79"/>
                <a:cs typeface="David" panose="020E0502060401010101" pitchFamily="34" charset="-79"/>
              </a:rPr>
              <a:t>טו</a:t>
            </a:r>
            <a:r>
              <a:rPr lang="he-IL" sz="3200" dirty="0" smtClean="0">
                <a:latin typeface="David" panose="020E0502060401010101" pitchFamily="34" charset="-79"/>
                <a:cs typeface="David" panose="020E0502060401010101" pitchFamily="34" charset="-79"/>
              </a:rPr>
              <a:t> וַיָּבֹא, אֶל-אַנְשֵׁי סֻכּוֹת, וַיֹּאמֶר, הִנֵּה זֶבַח </a:t>
            </a:r>
            <a:r>
              <a:rPr lang="he-IL" sz="3200" dirty="0" err="1" smtClean="0">
                <a:latin typeface="David" panose="020E0502060401010101" pitchFamily="34" charset="-79"/>
                <a:cs typeface="David" panose="020E0502060401010101" pitchFamily="34" charset="-79"/>
              </a:rPr>
              <a:t>וְצַלְמֻנָּע</a:t>
            </a:r>
            <a:r>
              <a:rPr lang="he-IL" sz="3200" dirty="0" smtClean="0">
                <a:latin typeface="David" panose="020E0502060401010101" pitchFamily="34" charset="-79"/>
                <a:cs typeface="David" panose="020E0502060401010101" pitchFamily="34" charset="-79"/>
              </a:rPr>
              <a:t>:  אֲשֶׁר חֵרַפְתֶּם אוֹתִי </a:t>
            </a:r>
            <a:r>
              <a:rPr lang="he-IL" sz="3200" dirty="0" err="1" smtClean="0">
                <a:latin typeface="David" panose="020E0502060401010101" pitchFamily="34" charset="-79"/>
                <a:cs typeface="David" panose="020E0502060401010101" pitchFamily="34" charset="-79"/>
              </a:rPr>
              <a:t>לֵאמֹר</a:t>
            </a:r>
            <a:r>
              <a:rPr lang="he-IL" sz="3200" dirty="0" smtClean="0">
                <a:latin typeface="David" panose="020E0502060401010101" pitchFamily="34" charset="-79"/>
                <a:cs typeface="David" panose="020E0502060401010101" pitchFamily="34" charset="-79"/>
              </a:rPr>
              <a:t>, הֲכַף זֶבַח </a:t>
            </a:r>
            <a:r>
              <a:rPr lang="he-IL" sz="3200" dirty="0" err="1" smtClean="0">
                <a:latin typeface="David" panose="020E0502060401010101" pitchFamily="34" charset="-79"/>
                <a:cs typeface="David" panose="020E0502060401010101" pitchFamily="34" charset="-79"/>
              </a:rPr>
              <a:t>וְצַלְמֻנָּע</a:t>
            </a:r>
            <a:r>
              <a:rPr lang="he-IL" sz="3200" dirty="0" smtClean="0">
                <a:latin typeface="David" panose="020E0502060401010101" pitchFamily="34" charset="-79"/>
                <a:cs typeface="David" panose="020E0502060401010101" pitchFamily="34" charset="-79"/>
              </a:rPr>
              <a:t> עַתָּה בְּיָדֶךָ, כִּי נִתֵּן לַאֲנָשֶׁיךָ הַיְּעֵפִים, לָחֶם.</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2"/>
          <a:stretch>
            <a:fillRect/>
          </a:stretch>
        </p:blipFill>
        <p:spPr>
          <a:xfrm>
            <a:off x="6127668" y="4773880"/>
            <a:ext cx="3096066" cy="1733797"/>
          </a:xfrm>
          <a:prstGeom prst="rect">
            <a:avLst/>
          </a:prstGeom>
        </p:spPr>
      </p:pic>
    </p:spTree>
    <p:extLst>
      <p:ext uri="{BB962C8B-B14F-4D97-AF65-F5344CB8AC3E}">
        <p14:creationId xmlns:p14="http://schemas.microsoft.com/office/powerpoint/2010/main" val="42639394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additive="base">
                                        <p:cTn id="14"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 calcmode="lin" valueType="num">
                                      <p:cBhvr additive="base">
                                        <p:cTn id="20"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down)">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7035" y="234412"/>
            <a:ext cx="6040009" cy="3539430"/>
          </a:xfrm>
          <a:prstGeom prst="rect">
            <a:avLst/>
          </a:prstGeom>
          <a:solidFill>
            <a:schemeClr val="accent1">
              <a:lumMod val="40000"/>
              <a:lumOff val="6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טז</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ולקח גדעון את הקוצים והברקנים והכה בהם את שרי סוכות.</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יז</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והגיע גם לעיר </a:t>
            </a:r>
            <a:r>
              <a:rPr lang="he-IL" sz="3200" dirty="0" err="1">
                <a:latin typeface="David" panose="020E0502060401010101" pitchFamily="34" charset="-79"/>
                <a:cs typeface="David" panose="020E0502060401010101" pitchFamily="34" charset="-79"/>
              </a:rPr>
              <a:t>פנואל</a:t>
            </a:r>
            <a:r>
              <a:rPr lang="he-IL" sz="3200" dirty="0">
                <a:latin typeface="David" panose="020E0502060401010101" pitchFamily="34" charset="-79"/>
                <a:cs typeface="David" panose="020E0502060401010101" pitchFamily="34" charset="-79"/>
              </a:rPr>
              <a:t> ושבר את המגדל שלהם והם ניסו להילחם בגדעון, קם גדעון והרג את אנשי העיר </a:t>
            </a:r>
            <a:r>
              <a:rPr lang="he-IL" sz="3200" dirty="0" err="1">
                <a:latin typeface="David" panose="020E0502060401010101" pitchFamily="34" charset="-79"/>
                <a:cs typeface="David" panose="020E0502060401010101" pitchFamily="34" charset="-79"/>
              </a:rPr>
              <a:t>פנואל</a:t>
            </a:r>
            <a:r>
              <a:rPr lang="he-IL" sz="3200" dirty="0">
                <a:latin typeface="David" panose="020E0502060401010101" pitchFamily="34" charset="-79"/>
                <a:cs typeface="David" panose="020E0502060401010101" pitchFamily="34" charset="-79"/>
              </a:rPr>
              <a:t>.  ולמרות שהם יהודים כיוון שהם מרדו במלך.</a:t>
            </a:r>
          </a:p>
        </p:txBody>
      </p:sp>
      <p:sp>
        <p:nvSpPr>
          <p:cNvPr id="2" name="מלבן 1"/>
          <p:cNvSpPr/>
          <p:nvPr/>
        </p:nvSpPr>
        <p:spPr>
          <a:xfrm>
            <a:off x="6548966" y="234412"/>
            <a:ext cx="5546557" cy="2554545"/>
          </a:xfrm>
          <a:prstGeom prst="rect">
            <a:avLst/>
          </a:prstGeom>
          <a:solidFill>
            <a:schemeClr val="accent6">
              <a:lumMod val="60000"/>
              <a:lumOff val="40000"/>
            </a:schemeClr>
          </a:solidFill>
        </p:spPr>
        <p:txBody>
          <a:bodyPr wrap="square">
            <a:spAutoFit/>
          </a:bodyPr>
          <a:lstStyle/>
          <a:p>
            <a:r>
              <a:rPr lang="he-IL" sz="3200" b="1" u="sng" dirty="0" err="1">
                <a:latin typeface="David" panose="020E0502060401010101" pitchFamily="34" charset="-79"/>
                <a:cs typeface="David" panose="020E0502060401010101" pitchFamily="34" charset="-79"/>
              </a:rPr>
              <a:t>טז</a:t>
            </a:r>
            <a:r>
              <a:rPr lang="he-IL" sz="3200" dirty="0">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וַיִּקַּח</a:t>
            </a:r>
            <a:r>
              <a:rPr lang="he-IL" sz="3200" dirty="0">
                <a:latin typeface="David" panose="020E0502060401010101" pitchFamily="34" charset="-79"/>
                <a:cs typeface="David" panose="020E0502060401010101" pitchFamily="34" charset="-79"/>
              </a:rPr>
              <a:t> אֶת-זִקְנֵי הָעִיר, וְאֶת-קוֹצֵי הַמִּדְבָּר וְאֶת-הַבַּרְקֳנִים; </a:t>
            </a:r>
            <a:r>
              <a:rPr lang="he-IL" sz="3200" b="1" dirty="0">
                <a:latin typeface="David" panose="020E0502060401010101" pitchFamily="34" charset="-79"/>
                <a:cs typeface="David" panose="020E0502060401010101" pitchFamily="34" charset="-79"/>
              </a:rPr>
              <a:t>וַיֹּדַע בָּהֶם</a:t>
            </a:r>
            <a:r>
              <a:rPr lang="he-IL" sz="3200" dirty="0">
                <a:latin typeface="David" panose="020E0502060401010101" pitchFamily="34" charset="-79"/>
                <a:cs typeface="David" panose="020E0502060401010101" pitchFamily="34" charset="-79"/>
              </a:rPr>
              <a:t>, אֵת אַנְשֵׁי סֻכּוֹת.  </a:t>
            </a:r>
            <a:endParaRPr lang="he-IL" sz="3200" dirty="0" smtClean="0">
              <a:latin typeface="David" panose="020E0502060401010101" pitchFamily="34" charset="-79"/>
              <a:cs typeface="David" panose="020E0502060401010101" pitchFamily="34" charset="-79"/>
            </a:endParaRPr>
          </a:p>
          <a:p>
            <a:r>
              <a:rPr lang="he-IL" sz="3200" b="1" u="sng" dirty="0" err="1" smtClean="0">
                <a:latin typeface="David" panose="020E0502060401010101" pitchFamily="34" charset="-79"/>
                <a:cs typeface="David" panose="020E0502060401010101" pitchFamily="34" charset="-79"/>
              </a:rPr>
              <a:t>יז</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וְאֶת-מִגְדַּל </a:t>
            </a:r>
            <a:r>
              <a:rPr lang="he-IL" sz="3200" dirty="0" err="1">
                <a:latin typeface="David" panose="020E0502060401010101" pitchFamily="34" charset="-79"/>
                <a:cs typeface="David" panose="020E0502060401010101" pitchFamily="34" charset="-79"/>
              </a:rPr>
              <a:t>פְּנוּאֵל</a:t>
            </a:r>
            <a:r>
              <a:rPr lang="he-IL" sz="3200" dirty="0">
                <a:latin typeface="David" panose="020E0502060401010101" pitchFamily="34" charset="-79"/>
                <a:cs typeface="David" panose="020E0502060401010101" pitchFamily="34" charset="-79"/>
              </a:rPr>
              <a:t>, נָתָץ; </a:t>
            </a:r>
            <a:r>
              <a:rPr lang="he-IL" sz="3200" dirty="0" err="1">
                <a:latin typeface="David" panose="020E0502060401010101" pitchFamily="34" charset="-79"/>
                <a:cs typeface="David" panose="020E0502060401010101" pitchFamily="34" charset="-79"/>
              </a:rPr>
              <a:t>וַיַּהֲרֹג</a:t>
            </a:r>
            <a:r>
              <a:rPr lang="he-IL" sz="3200" dirty="0">
                <a:latin typeface="David" panose="020E0502060401010101" pitchFamily="34" charset="-79"/>
                <a:cs typeface="David" panose="020E0502060401010101" pitchFamily="34" charset="-79"/>
              </a:rPr>
              <a:t>, אֶת-אַנְשֵׁי הָעִיר. </a:t>
            </a:r>
          </a:p>
        </p:txBody>
      </p:sp>
      <p:sp>
        <p:nvSpPr>
          <p:cNvPr id="5" name="Google Shape;131;p19"/>
          <p:cNvSpPr txBox="1"/>
          <p:nvPr/>
        </p:nvSpPr>
        <p:spPr>
          <a:xfrm>
            <a:off x="6276695" y="3143799"/>
            <a:ext cx="5818828" cy="3539390"/>
          </a:xfrm>
          <a:prstGeom prst="rect">
            <a:avLst/>
          </a:prstGeom>
          <a:solidFill>
            <a:schemeClr val="accent4">
              <a:lumMod val="60000"/>
              <a:lumOff val="40000"/>
            </a:schemeClr>
          </a:solidFill>
          <a:ln w="38100" cap="flat" cmpd="sng">
            <a:solidFill>
              <a:srgbClr val="C55A11"/>
            </a:solidFill>
            <a:prstDash val="solid"/>
            <a:round/>
            <a:headEnd type="none" w="sm" len="sm"/>
            <a:tailEnd type="none" w="sm" len="sm"/>
          </a:ln>
        </p:spPr>
        <p:txBody>
          <a:bodyPr spcFirstLastPara="1" wrap="square" lIns="91425" tIns="45700" rIns="91425" bIns="45700" anchor="t" anchorCtr="0">
            <a:spAutoFit/>
          </a:bodyPr>
          <a:lstStyle/>
          <a:p>
            <a:pPr marL="0" marR="0" lvl="0" indent="0" rtl="1">
              <a:lnSpc>
                <a:spcPct val="100000"/>
              </a:lnSpc>
              <a:spcBef>
                <a:spcPts val="0"/>
              </a:spcBef>
              <a:spcAft>
                <a:spcPts val="0"/>
              </a:spcAft>
              <a:buClr>
                <a:srgbClr val="000000"/>
              </a:buClr>
              <a:buSzPts val="3600"/>
              <a:buFont typeface="Arial"/>
              <a:buNone/>
            </a:pPr>
            <a:r>
              <a:rPr lang="he-IL" sz="2800" b="1" i="0" u="sng" strike="noStrike" cap="none" dirty="0" smtClean="0">
                <a:solidFill>
                  <a:schemeClr val="dk1"/>
                </a:solidFill>
                <a:latin typeface="Narkisim"/>
                <a:ea typeface="Narkisim"/>
                <a:cs typeface="Narkisim"/>
                <a:sym typeface="Narkisim"/>
              </a:rPr>
              <a:t>אנשי סוכות </a:t>
            </a:r>
            <a:r>
              <a:rPr lang="he-IL" sz="2800" b="1" i="0" u="sng" strike="noStrike" cap="none" dirty="0" err="1" smtClean="0">
                <a:solidFill>
                  <a:schemeClr val="dk1"/>
                </a:solidFill>
                <a:latin typeface="Narkisim"/>
                <a:ea typeface="Narkisim"/>
                <a:cs typeface="Narkisim"/>
                <a:sym typeface="Narkisim"/>
              </a:rPr>
              <a:t>ופנואל</a:t>
            </a:r>
            <a:r>
              <a:rPr lang="he-IL" sz="2800" b="1" i="0" u="sng" strike="noStrike" cap="none" dirty="0" smtClean="0">
                <a:solidFill>
                  <a:schemeClr val="dk1"/>
                </a:solidFill>
                <a:latin typeface="Narkisim"/>
                <a:ea typeface="Narkisim"/>
                <a:cs typeface="Narkisim"/>
                <a:sym typeface="Narkisim"/>
              </a:rPr>
              <a:t> חטאו בשלושה דברים:</a:t>
            </a:r>
            <a:r>
              <a:rPr lang="en-US" sz="2800" b="1" i="0" u="sng" strike="noStrike" cap="none" dirty="0" smtClean="0">
                <a:solidFill>
                  <a:schemeClr val="dk1"/>
                </a:solidFill>
                <a:latin typeface="Narkisim"/>
                <a:ea typeface="Narkisim"/>
                <a:cs typeface="Narkisim"/>
                <a:sym typeface="Narkisim"/>
              </a:rPr>
              <a:t> </a:t>
            </a:r>
            <a:endParaRPr lang="he-IL" sz="2800" b="1" i="0" u="sng" strike="noStrike" cap="none" dirty="0" smtClean="0">
              <a:solidFill>
                <a:schemeClr val="dk1"/>
              </a:solidFill>
              <a:latin typeface="Narkisim"/>
              <a:ea typeface="Narkisim"/>
              <a:cs typeface="Narkisim"/>
              <a:sym typeface="Narkisim"/>
            </a:endParaRPr>
          </a:p>
          <a:p>
            <a:pPr marL="0" marR="0" lvl="0" indent="0" rtl="1">
              <a:lnSpc>
                <a:spcPct val="100000"/>
              </a:lnSpc>
              <a:spcBef>
                <a:spcPts val="0"/>
              </a:spcBef>
              <a:spcAft>
                <a:spcPts val="0"/>
              </a:spcAft>
              <a:buClr>
                <a:srgbClr val="000000"/>
              </a:buClr>
              <a:buSzPts val="3600"/>
              <a:buFont typeface="Arial"/>
              <a:buNone/>
            </a:pPr>
            <a:r>
              <a:rPr lang="he-IL" sz="2800" b="1" i="0" u="sng" strike="noStrike" cap="none" dirty="0" smtClean="0">
                <a:solidFill>
                  <a:schemeClr val="dk1"/>
                </a:solidFill>
                <a:latin typeface="Narkisim"/>
                <a:ea typeface="Narkisim"/>
                <a:cs typeface="Narkisim"/>
                <a:sym typeface="Narkisim"/>
              </a:rPr>
              <a:t>א</a:t>
            </a:r>
            <a:r>
              <a:rPr lang="he-IL" sz="2800" b="0" i="0" u="none" strike="noStrike" cap="none" dirty="0" smtClean="0">
                <a:solidFill>
                  <a:schemeClr val="dk1"/>
                </a:solidFill>
                <a:latin typeface="Narkisim"/>
                <a:ea typeface="Narkisim"/>
                <a:cs typeface="Narkisim"/>
                <a:sym typeface="Narkisim"/>
              </a:rPr>
              <a:t>. שלא באו לעזרה במלחמה למרות שהיו סמוכים למקום. </a:t>
            </a:r>
          </a:p>
          <a:p>
            <a:pPr marL="0" marR="0" lvl="0" indent="0" rtl="1">
              <a:lnSpc>
                <a:spcPct val="100000"/>
              </a:lnSpc>
              <a:spcBef>
                <a:spcPts val="0"/>
              </a:spcBef>
              <a:spcAft>
                <a:spcPts val="0"/>
              </a:spcAft>
              <a:buClr>
                <a:srgbClr val="000000"/>
              </a:buClr>
              <a:buSzPts val="3600"/>
              <a:buFont typeface="Arial"/>
              <a:buNone/>
            </a:pPr>
            <a:r>
              <a:rPr lang="he-IL" sz="2800" b="1" i="0" u="sng" strike="noStrike" cap="none" dirty="0" smtClean="0">
                <a:solidFill>
                  <a:schemeClr val="dk1"/>
                </a:solidFill>
                <a:latin typeface="Narkisim"/>
                <a:ea typeface="Narkisim"/>
                <a:cs typeface="Narkisim"/>
                <a:sym typeface="Narkisim"/>
              </a:rPr>
              <a:t>ב</a:t>
            </a:r>
            <a:r>
              <a:rPr lang="he-IL" sz="2800" b="0" i="0" u="none" strike="noStrike" cap="none" dirty="0" smtClean="0">
                <a:solidFill>
                  <a:schemeClr val="dk1"/>
                </a:solidFill>
                <a:latin typeface="Narkisim"/>
                <a:ea typeface="Narkisim"/>
                <a:cs typeface="Narkisim"/>
                <a:sym typeface="Narkisim"/>
              </a:rPr>
              <a:t>. שלא קידמו את ישראל בלחם ובמים בהיותם עייפים. </a:t>
            </a:r>
          </a:p>
          <a:p>
            <a:pPr marL="0" marR="0" lvl="0" indent="0" rtl="1">
              <a:lnSpc>
                <a:spcPct val="100000"/>
              </a:lnSpc>
              <a:spcBef>
                <a:spcPts val="0"/>
              </a:spcBef>
              <a:spcAft>
                <a:spcPts val="0"/>
              </a:spcAft>
              <a:buClr>
                <a:srgbClr val="000000"/>
              </a:buClr>
              <a:buSzPts val="3600"/>
              <a:buFont typeface="Arial"/>
              <a:buNone/>
            </a:pPr>
            <a:r>
              <a:rPr lang="he-IL" sz="2800" b="1" i="0" u="sng" strike="noStrike" cap="none" dirty="0" smtClean="0">
                <a:solidFill>
                  <a:schemeClr val="dk1"/>
                </a:solidFill>
                <a:latin typeface="Narkisim"/>
                <a:ea typeface="Narkisim"/>
                <a:cs typeface="Narkisim"/>
                <a:sym typeface="Narkisim"/>
              </a:rPr>
              <a:t>ג</a:t>
            </a:r>
            <a:r>
              <a:rPr lang="he-IL" sz="2800" b="0" i="0" u="none" strike="noStrike" cap="none" dirty="0" smtClean="0">
                <a:solidFill>
                  <a:schemeClr val="dk1"/>
                </a:solidFill>
                <a:latin typeface="Narkisim"/>
                <a:ea typeface="Narkisim"/>
                <a:cs typeface="Narkisim"/>
                <a:sym typeface="Narkisim"/>
              </a:rPr>
              <a:t>. שדברו נגד גדעון דברים קשים ומרדו במאמרו וגדעון הוא במקום מלך.</a:t>
            </a:r>
          </a:p>
          <a:p>
            <a:pPr marL="0" marR="0" lvl="0" indent="0" rtl="1">
              <a:lnSpc>
                <a:spcPct val="100000"/>
              </a:lnSpc>
              <a:spcBef>
                <a:spcPts val="0"/>
              </a:spcBef>
              <a:spcAft>
                <a:spcPts val="0"/>
              </a:spcAft>
              <a:buClr>
                <a:srgbClr val="000000"/>
              </a:buClr>
              <a:buSzPts val="3600"/>
              <a:buFont typeface="Arial"/>
              <a:buNone/>
            </a:pPr>
            <a:r>
              <a:rPr lang="he-IL" sz="2800" dirty="0" smtClean="0">
                <a:solidFill>
                  <a:schemeClr val="dk1"/>
                </a:solidFill>
                <a:latin typeface="Narkisim"/>
                <a:ea typeface="Narkisim"/>
                <a:cs typeface="Narkisim"/>
                <a:sym typeface="Narkisim"/>
              </a:rPr>
              <a:t>ולכן נענשו בעונש מוות.</a:t>
            </a:r>
            <a:endParaRPr sz="2800" b="0" i="0" u="none" strike="noStrike" cap="none" dirty="0">
              <a:solidFill>
                <a:schemeClr val="dk1"/>
              </a:solidFill>
              <a:latin typeface="Narkisim"/>
              <a:ea typeface="Narkisim"/>
              <a:cs typeface="Narkisim"/>
              <a:sym typeface="Narkisim"/>
            </a:endParaRPr>
          </a:p>
        </p:txBody>
      </p:sp>
    </p:spTree>
    <p:extLst>
      <p:ext uri="{BB962C8B-B14F-4D97-AF65-F5344CB8AC3E}">
        <p14:creationId xmlns:p14="http://schemas.microsoft.com/office/powerpoint/2010/main" val="34624167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6590" y="172458"/>
            <a:ext cx="5706537" cy="5509200"/>
          </a:xfrm>
          <a:prstGeom prst="rect">
            <a:avLst/>
          </a:prstGeom>
          <a:blipFill>
            <a:blip r:embed="rId2"/>
            <a:tile tx="0" ty="0" sx="100000" sy="100000" flip="none" algn="tl"/>
          </a:blip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יח</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זבח </a:t>
            </a:r>
            <a:r>
              <a:rPr lang="he-IL" sz="3200" dirty="0" err="1" smtClean="0">
                <a:latin typeface="David" panose="020E0502060401010101" pitchFamily="34" charset="-79"/>
                <a:cs typeface="David" panose="020E0502060401010101" pitchFamily="34" charset="-79"/>
              </a:rPr>
              <a:t>וצלמנע</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לפני שעברו את הירדן עברו בעיר תבור והרגו שם את האחים של גדעון, שאל אותם גדעון את מי הרגתם בעיר תבור?</a:t>
            </a:r>
            <a:r>
              <a:rPr lang="he-IL" sz="3200" b="1" dirty="0">
                <a:latin typeface="David" panose="020E0502060401010101" pitchFamily="34" charset="-79"/>
                <a:cs typeface="David" panose="020E0502060401010101" pitchFamily="34" charset="-79"/>
              </a:rPr>
              <a:t> אמרו לו האנשים שהרגנו דומים לך </a:t>
            </a:r>
            <a:r>
              <a:rPr lang="he-IL" sz="3200" dirty="0">
                <a:latin typeface="David" panose="020E0502060401010101" pitchFamily="34" charset="-79"/>
                <a:cs typeface="David" panose="020E0502060401010101" pitchFamily="34" charset="-79"/>
              </a:rPr>
              <a:t>והיינו בטוחים שהם מורדים כמוך</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יט</a:t>
            </a:r>
            <a:r>
              <a:rPr lang="he-IL" sz="3200" b="1" u="sng" dirty="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אמר להם גדעון אלו אחי </a:t>
            </a:r>
            <a:r>
              <a:rPr lang="he-IL" sz="3200" b="1" dirty="0" smtClean="0">
                <a:latin typeface="David" panose="020E0502060401010101" pitchFamily="34" charset="-79"/>
                <a:cs typeface="David" panose="020E0502060401010101" pitchFamily="34" charset="-79"/>
              </a:rPr>
              <a:t>בני </a:t>
            </a:r>
            <a:r>
              <a:rPr lang="he-IL" sz="3200" b="1" dirty="0" err="1" smtClean="0">
                <a:latin typeface="David" panose="020E0502060401010101" pitchFamily="34" charset="-79"/>
                <a:cs typeface="David" panose="020E0502060401010101" pitchFamily="34" charset="-79"/>
              </a:rPr>
              <a:t>אימי</a:t>
            </a:r>
            <a:r>
              <a:rPr lang="he-IL" sz="3200" b="1"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ואני נשבע שאם לא הייתם הורגים אותם לא הייתי הורג אתכם עכשיו, אבל עכשיו שהרגתם אני אהרוג אתכם מדין גואל הדם.</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086900" y="172458"/>
            <a:ext cx="5936777" cy="2554545"/>
          </a:xfrm>
          <a:prstGeom prst="rect">
            <a:avLst/>
          </a:prstGeom>
          <a:solidFill>
            <a:schemeClr val="accent2">
              <a:lumMod val="60000"/>
              <a:lumOff val="40000"/>
            </a:schemeClr>
          </a:solidFill>
        </p:spPr>
        <p:txBody>
          <a:bodyPr wrap="square">
            <a:spAutoFit/>
          </a:bodyPr>
          <a:lstStyle/>
          <a:p>
            <a:r>
              <a:rPr lang="he-IL" sz="3200" b="1" dirty="0" err="1">
                <a:latin typeface="David" panose="020E0502060401010101" pitchFamily="34" charset="-79"/>
                <a:cs typeface="David" panose="020E0502060401010101" pitchFamily="34" charset="-79"/>
              </a:rPr>
              <a:t>יח</a:t>
            </a:r>
            <a:r>
              <a:rPr lang="he-IL" sz="3200" dirty="0">
                <a:latin typeface="David" panose="020E0502060401010101" pitchFamily="34" charset="-79"/>
                <a:cs typeface="David" panose="020E0502060401010101" pitchFamily="34" charset="-79"/>
              </a:rPr>
              <a:t> וַיֹּאמֶר, אֶל-זֶבַח </a:t>
            </a:r>
            <a:r>
              <a:rPr lang="he-IL" sz="3200" dirty="0" err="1">
                <a:latin typeface="David" panose="020E0502060401010101" pitchFamily="34" charset="-79"/>
                <a:cs typeface="David" panose="020E0502060401010101" pitchFamily="34" charset="-79"/>
              </a:rPr>
              <a:t>וְאֶל-צַלְמֻנָּע</a:t>
            </a:r>
            <a:r>
              <a:rPr lang="he-IL" sz="3200" dirty="0">
                <a:latin typeface="David" panose="020E0502060401010101" pitchFamily="34" charset="-79"/>
                <a:cs typeface="David" panose="020E0502060401010101" pitchFamily="34" charset="-79"/>
              </a:rPr>
              <a:t>, אֵיפֹה הָאֲנָשִׁים, אֲשֶׁר הֲרַגְתֶּם בְּתָבוֹר; </a:t>
            </a:r>
            <a:r>
              <a:rPr lang="he-IL" sz="3200" b="1" dirty="0">
                <a:latin typeface="David" panose="020E0502060401010101" pitchFamily="34" charset="-79"/>
                <a:cs typeface="David" panose="020E0502060401010101" pitchFamily="34" charset="-79"/>
              </a:rPr>
              <a:t>וַיֹּאמְרוּ, כָּמוֹךָ כְמוֹהֶם, אֶחָד, כְּתֹאַר בְּנֵי הַמֶּלֶךְ</a:t>
            </a:r>
            <a:r>
              <a:rPr lang="he-IL" sz="3200" dirty="0">
                <a:latin typeface="David" panose="020E0502060401010101" pitchFamily="34" charset="-79"/>
                <a:cs typeface="David" panose="020E0502060401010101" pitchFamily="34" charset="-79"/>
              </a:rPr>
              <a:t>.  </a:t>
            </a:r>
            <a:r>
              <a:rPr lang="he-IL" sz="3200" b="1" dirty="0" err="1">
                <a:latin typeface="David" panose="020E0502060401010101" pitchFamily="34" charset="-79"/>
                <a:cs typeface="David" panose="020E0502060401010101" pitchFamily="34" charset="-79"/>
              </a:rPr>
              <a:t>יט</a:t>
            </a:r>
            <a:r>
              <a:rPr lang="he-IL" sz="3200" dirty="0">
                <a:latin typeface="David" panose="020E0502060401010101" pitchFamily="34" charset="-79"/>
                <a:cs typeface="David" panose="020E0502060401010101" pitchFamily="34" charset="-79"/>
              </a:rPr>
              <a:t> וַיֹּאמַר, </a:t>
            </a:r>
            <a:r>
              <a:rPr lang="he-IL" sz="3200" b="1" dirty="0">
                <a:latin typeface="David" panose="020E0502060401010101" pitchFamily="34" charset="-79"/>
                <a:cs typeface="David" panose="020E0502060401010101" pitchFamily="34" charset="-79"/>
              </a:rPr>
              <a:t>אַחַי בְּנֵי-אִמִּי הֵם</a:t>
            </a:r>
            <a:r>
              <a:rPr lang="he-IL" sz="3200" dirty="0">
                <a:latin typeface="David" panose="020E0502060401010101" pitchFamily="34" charset="-79"/>
                <a:cs typeface="David" panose="020E0502060401010101" pitchFamily="34" charset="-79"/>
              </a:rPr>
              <a:t>; חַי-יְהוָה, לוּ </a:t>
            </a:r>
            <a:r>
              <a:rPr lang="he-IL" sz="3200" dirty="0" err="1">
                <a:latin typeface="David" panose="020E0502060401010101" pitchFamily="34" charset="-79"/>
                <a:cs typeface="David" panose="020E0502060401010101" pitchFamily="34" charset="-79"/>
              </a:rPr>
              <a:t>הַחֲיִתֶם</a:t>
            </a:r>
            <a:r>
              <a:rPr lang="he-IL" sz="3200" dirty="0">
                <a:latin typeface="David" panose="020E0502060401010101" pitchFamily="34" charset="-79"/>
                <a:cs typeface="David" panose="020E0502060401010101" pitchFamily="34" charset="-79"/>
              </a:rPr>
              <a:t> אוֹתָם--לֹא הָרַגְתִּי, אֶתְכֶם. </a:t>
            </a:r>
          </a:p>
        </p:txBody>
      </p:sp>
    </p:spTree>
    <p:extLst>
      <p:ext uri="{BB962C8B-B14F-4D97-AF65-F5344CB8AC3E}">
        <p14:creationId xmlns:p14="http://schemas.microsoft.com/office/powerpoint/2010/main" val="265514152"/>
      </p:ext>
    </p:extLst>
  </p:cSld>
  <p:clrMapOvr>
    <a:masterClrMapping/>
  </p:clrMapOvr>
  <mc:AlternateContent xmlns:mc="http://schemas.openxmlformats.org/markup-compatibility/2006">
    <mc:Choice xmlns:p14="http://schemas.microsoft.com/office/powerpoint/2010/main" Requires="p14">
      <p:transition spd="slow" p14:dur="1250">
        <p14:switch dir="l"/>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4704" y="151767"/>
            <a:ext cx="5692889" cy="6001643"/>
          </a:xfrm>
          <a:prstGeom prst="rect">
            <a:avLst/>
          </a:prstGeom>
          <a:blipFill>
            <a:blip r:embed="rId2"/>
            <a:tile tx="0" ty="0" sx="100000" sy="100000" flip="none" algn="tl"/>
          </a:blip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כ': </a:t>
            </a:r>
            <a:r>
              <a:rPr lang="he-IL" sz="3200" b="1" dirty="0">
                <a:latin typeface="David" panose="020E0502060401010101" pitchFamily="34" charset="-79"/>
                <a:cs typeface="David" panose="020E0502060401010101" pitchFamily="34" charset="-79"/>
              </a:rPr>
              <a:t>פנה גדעון לבן הבכור שלו שנקרא "יתר" </a:t>
            </a:r>
            <a:r>
              <a:rPr lang="he-IL" sz="3200" dirty="0">
                <a:latin typeface="David" panose="020E0502060401010101" pitchFamily="34" charset="-79"/>
                <a:cs typeface="David" panose="020E0502060401010101" pitchFamily="34" charset="-79"/>
              </a:rPr>
              <a:t>תוציא את החרב שלך ותהרוג אותם, יתר היה עדיין נער וכ"כ פחד שאפילו לא הצליח לשלוף את החרב.</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כא</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אמרו לו זבח </a:t>
            </a:r>
            <a:r>
              <a:rPr lang="he-IL" sz="3200" dirty="0" err="1" smtClean="0">
                <a:latin typeface="David" panose="020E0502060401010101" pitchFamily="34" charset="-79"/>
                <a:cs typeface="David" panose="020E0502060401010101" pitchFamily="34" charset="-79"/>
              </a:rPr>
              <a:t>וצלמנע</a:t>
            </a:r>
            <a:r>
              <a:rPr lang="he-IL" sz="3200" dirty="0" smtClean="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קום אתה ותפגע בנו </a:t>
            </a:r>
            <a:r>
              <a:rPr lang="he-IL" sz="3200" dirty="0">
                <a:latin typeface="David" panose="020E0502060401010101" pitchFamily="34" charset="-79"/>
                <a:cs typeface="David" panose="020E0502060401010101" pitchFamily="34" charset="-79"/>
              </a:rPr>
              <a:t>שאתה יותר מכובד ולא הנער החלש. קם גדעון ושלף את חרבו שהייתה חדה מאד והרג בבת אחת את שניהם ולקח מהם את </a:t>
            </a:r>
            <a:r>
              <a:rPr lang="he-IL" sz="3200" b="1" dirty="0">
                <a:latin typeface="David" panose="020E0502060401010101" pitchFamily="34" charset="-79"/>
                <a:cs typeface="David" panose="020E0502060401010101" pitchFamily="34" charset="-79"/>
              </a:rPr>
              <a:t>התכשיטים בצורת ירח שהיו תלויים על הצוואר של הגמלים </a:t>
            </a:r>
            <a:r>
              <a:rPr lang="he-IL" sz="3200" b="1" dirty="0" smtClean="0">
                <a:latin typeface="David" panose="020E0502060401010101" pitchFamily="34" charset="-79"/>
                <a:cs typeface="David" panose="020E0502060401010101" pitchFamily="34" charset="-79"/>
              </a:rPr>
              <a:t>שלהם.</a:t>
            </a:r>
            <a:endParaRPr lang="he-IL" sz="3200" b="1" dirty="0">
              <a:latin typeface="David" panose="020E0502060401010101" pitchFamily="34" charset="-79"/>
              <a:cs typeface="David" panose="020E0502060401010101" pitchFamily="34" charset="-79"/>
            </a:endParaRPr>
          </a:p>
        </p:txBody>
      </p:sp>
      <p:sp>
        <p:nvSpPr>
          <p:cNvPr id="2" name="מלבן 1"/>
          <p:cNvSpPr/>
          <p:nvPr/>
        </p:nvSpPr>
        <p:spPr>
          <a:xfrm>
            <a:off x="6005015" y="117866"/>
            <a:ext cx="6045957" cy="3539430"/>
          </a:xfrm>
          <a:prstGeom prst="rect">
            <a:avLst/>
          </a:prstGeom>
          <a:solidFill>
            <a:schemeClr val="accent2">
              <a:lumMod val="60000"/>
              <a:lumOff val="40000"/>
            </a:schemeClr>
          </a:solidFill>
        </p:spPr>
        <p:txBody>
          <a:bodyPr wrap="square">
            <a:spAutoFit/>
          </a:bodyPr>
          <a:lstStyle/>
          <a:p>
            <a:r>
              <a:rPr lang="he-IL" sz="3200" b="1" dirty="0">
                <a:latin typeface="David" panose="020E0502060401010101" pitchFamily="34" charset="-79"/>
                <a:cs typeface="David" panose="020E0502060401010101" pitchFamily="34" charset="-79"/>
              </a:rPr>
              <a:t>כ</a:t>
            </a:r>
            <a:r>
              <a:rPr lang="he-IL" sz="3200" dirty="0">
                <a:latin typeface="David" panose="020E0502060401010101" pitchFamily="34" charset="-79"/>
                <a:cs typeface="David" panose="020E0502060401010101" pitchFamily="34" charset="-79"/>
              </a:rPr>
              <a:t> וַיֹּאמֶר </a:t>
            </a:r>
            <a:r>
              <a:rPr lang="he-IL" sz="3200" b="1" dirty="0">
                <a:latin typeface="David" panose="020E0502060401010101" pitchFamily="34" charset="-79"/>
                <a:cs typeface="David" panose="020E0502060401010101" pitchFamily="34" charset="-79"/>
              </a:rPr>
              <a:t>לְיֶתֶר בְּכוֹרוֹ</a:t>
            </a:r>
            <a:r>
              <a:rPr lang="he-IL" sz="3200" dirty="0">
                <a:latin typeface="David" panose="020E0502060401010101" pitchFamily="34" charset="-79"/>
                <a:cs typeface="David" panose="020E0502060401010101" pitchFamily="34" charset="-79"/>
              </a:rPr>
              <a:t>, קוּם הֲרֹג אוֹתָם; וְלֹא-שָׁלַף הַנַּעַר חַרְבּוֹ כִּי יָרֵא, כִּי עוֹדֶנּוּ נָעַר.  </a:t>
            </a:r>
            <a:endParaRPr lang="he-IL" sz="3200" dirty="0" smtClean="0">
              <a:latin typeface="David" panose="020E0502060401010101" pitchFamily="34" charset="-79"/>
              <a:cs typeface="David" panose="020E0502060401010101" pitchFamily="34" charset="-79"/>
            </a:endParaRPr>
          </a:p>
          <a:p>
            <a:r>
              <a:rPr lang="he-IL" sz="3200" b="1" dirty="0" err="1" smtClean="0">
                <a:latin typeface="David" panose="020E0502060401010101" pitchFamily="34" charset="-79"/>
                <a:cs typeface="David" panose="020E0502060401010101" pitchFamily="34" charset="-79"/>
              </a:rPr>
              <a:t>כא</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וַיֹּאמֶר זֶבַח </a:t>
            </a:r>
            <a:r>
              <a:rPr lang="he-IL" sz="3200" dirty="0" err="1">
                <a:latin typeface="David" panose="020E0502060401010101" pitchFamily="34" charset="-79"/>
                <a:cs typeface="David" panose="020E0502060401010101" pitchFamily="34" charset="-79"/>
              </a:rPr>
              <a:t>וְצַלְמֻנָּע</a:t>
            </a:r>
            <a:r>
              <a:rPr lang="he-IL" sz="3200" dirty="0">
                <a:latin typeface="David" panose="020E0502060401010101" pitchFamily="34" charset="-79"/>
                <a:cs typeface="David" panose="020E0502060401010101" pitchFamily="34" charset="-79"/>
              </a:rPr>
              <a:t>, קוּם אַתָּה וּפְגַע-בָּנוּ--כִּי כָאִישׁ, גְּבוּרָתוֹ; </a:t>
            </a:r>
            <a:r>
              <a:rPr lang="he-IL" sz="3200" dirty="0" err="1">
                <a:latin typeface="David" panose="020E0502060401010101" pitchFamily="34" charset="-79"/>
                <a:cs typeface="David" panose="020E0502060401010101" pitchFamily="34" charset="-79"/>
              </a:rPr>
              <a:t>וַיָּקָם</a:t>
            </a:r>
            <a:r>
              <a:rPr lang="he-IL" sz="3200" dirty="0">
                <a:latin typeface="David" panose="020E0502060401010101" pitchFamily="34" charset="-79"/>
                <a:cs typeface="David" panose="020E0502060401010101" pitchFamily="34" charset="-79"/>
              </a:rPr>
              <a:t> גִּדְעוֹן, </a:t>
            </a:r>
            <a:r>
              <a:rPr lang="he-IL" sz="3200" dirty="0" err="1">
                <a:latin typeface="David" panose="020E0502060401010101" pitchFamily="34" charset="-79"/>
                <a:cs typeface="David" panose="020E0502060401010101" pitchFamily="34" charset="-79"/>
              </a:rPr>
              <a:t>וַיַּהֲרֹג</a:t>
            </a:r>
            <a:r>
              <a:rPr lang="he-IL" sz="3200" dirty="0">
                <a:latin typeface="David" panose="020E0502060401010101" pitchFamily="34" charset="-79"/>
                <a:cs typeface="David" panose="020E0502060401010101" pitchFamily="34" charset="-79"/>
              </a:rPr>
              <a:t> אֶת-זֶבַח </a:t>
            </a:r>
            <a:r>
              <a:rPr lang="he-IL" sz="3200" dirty="0" err="1">
                <a:latin typeface="David" panose="020E0502060401010101" pitchFamily="34" charset="-79"/>
                <a:cs typeface="David" panose="020E0502060401010101" pitchFamily="34" charset="-79"/>
              </a:rPr>
              <a:t>וְאֶת-צַלְמֻנָּע</a:t>
            </a:r>
            <a:r>
              <a:rPr lang="he-IL" sz="3200" dirty="0">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וַיִּקַּח</a:t>
            </a:r>
            <a:r>
              <a:rPr lang="he-IL" sz="3200" dirty="0">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אֶת-ה</a:t>
            </a:r>
            <a:r>
              <a:rPr lang="he-IL" sz="3200" b="1" dirty="0" err="1">
                <a:latin typeface="David" panose="020E0502060401010101" pitchFamily="34" charset="-79"/>
                <a:cs typeface="David" panose="020E0502060401010101" pitchFamily="34" charset="-79"/>
              </a:rPr>
              <a:t>ַשַּׂהֲרֹנִים</a:t>
            </a:r>
            <a:r>
              <a:rPr lang="he-IL" sz="3200" dirty="0">
                <a:latin typeface="David" panose="020E0502060401010101" pitchFamily="34" charset="-79"/>
                <a:cs typeface="David" panose="020E0502060401010101" pitchFamily="34" charset="-79"/>
              </a:rPr>
              <a:t>, אֲשֶׁר </a:t>
            </a:r>
            <a:r>
              <a:rPr lang="he-IL" sz="3200" dirty="0" err="1">
                <a:latin typeface="David" panose="020E0502060401010101" pitchFamily="34" charset="-79"/>
                <a:cs typeface="David" panose="020E0502060401010101" pitchFamily="34" charset="-79"/>
              </a:rPr>
              <a:t>בְּצַוְּארֵי</a:t>
            </a:r>
            <a:r>
              <a:rPr lang="he-IL" sz="3200" dirty="0">
                <a:latin typeface="David" panose="020E0502060401010101" pitchFamily="34" charset="-79"/>
                <a:cs typeface="David" panose="020E0502060401010101" pitchFamily="34" charset="-79"/>
              </a:rPr>
              <a:t> גְמַלֵּיהֶם. </a:t>
            </a:r>
          </a:p>
        </p:txBody>
      </p:sp>
      <p:pic>
        <p:nvPicPr>
          <p:cNvPr id="3" name="תמונה 2"/>
          <p:cNvPicPr>
            <a:picLocks noChangeAspect="1"/>
          </p:cNvPicPr>
          <p:nvPr/>
        </p:nvPicPr>
        <p:blipFill>
          <a:blip r:embed="rId3"/>
          <a:stretch>
            <a:fillRect/>
          </a:stretch>
        </p:blipFill>
        <p:spPr>
          <a:xfrm>
            <a:off x="6513175" y="3854005"/>
            <a:ext cx="5029636" cy="2834886"/>
          </a:xfrm>
          <a:prstGeom prst="rect">
            <a:avLst/>
          </a:prstGeom>
        </p:spPr>
      </p:pic>
    </p:spTree>
    <p:extLst>
      <p:ext uri="{BB962C8B-B14F-4D97-AF65-F5344CB8AC3E}">
        <p14:creationId xmlns:p14="http://schemas.microsoft.com/office/powerpoint/2010/main" val="2732144326"/>
      </p:ext>
    </p:extLst>
  </p:cSld>
  <p:clrMapOvr>
    <a:masterClrMapping/>
  </p:clrMapOvr>
  <mc:AlternateContent xmlns:mc="http://schemas.openxmlformats.org/markup-compatibility/2006">
    <mc:Choice xmlns:p14="http://schemas.microsoft.com/office/powerpoint/2010/main" Requires="p14">
      <p:transition spd="slow" p14:dur="1600">
        <p14:prism dir="r"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ircle(in)">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774" y="145162"/>
            <a:ext cx="5936776" cy="6186309"/>
          </a:xfrm>
          <a:prstGeom prst="rect">
            <a:avLst/>
          </a:prstGeom>
          <a:solidFill>
            <a:schemeClr val="accent6">
              <a:lumMod val="60000"/>
              <a:lumOff val="4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כב</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באו כל עם ישראל בלב אחד ואמרו לגדעון היה אתה לנו למלך גם אתה והבן שלך והנכד שלך כולם, וזאת בשביל להוקיר טוב לגדעון שהציל את עם ישראל מידי מדיין. </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כג</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ענה להם גדעון- לא אני ולא בני וכו' ימשלו עליכם אלא הקב"ה ימלוך עליכם, </a:t>
            </a:r>
            <a:r>
              <a:rPr lang="he-IL" sz="2800" dirty="0" smtClean="0">
                <a:latin typeface="David" panose="020E0502060401010101" pitchFamily="34" charset="-79"/>
                <a:cs typeface="David" panose="020E0502060401010101" pitchFamily="34" charset="-79"/>
              </a:rPr>
              <a:t>(ה</a:t>
            </a:r>
            <a:r>
              <a:rPr lang="he-IL" sz="2800" dirty="0">
                <a:latin typeface="David" panose="020E0502060401010101" pitchFamily="34" charset="-79"/>
                <a:cs typeface="David" panose="020E0502060401010101" pitchFamily="34" charset="-79"/>
              </a:rPr>
              <a:t>' הביא את הישועה של 300 איש על מאה שלושים וחמש אלף חיילים והיה זה נס ואם אתם תשמרו את המצוות ותשמעו בקול ה' לא תצטרכו מלך או מנהיג , כל הצרות שהגויים עושים- זה רק בגלל שה' רוצה לעורר אתכם</a:t>
            </a:r>
            <a:r>
              <a:rPr lang="he-IL" sz="2800" dirty="0" smtClean="0">
                <a:latin typeface="David" panose="020E0502060401010101" pitchFamily="34" charset="-79"/>
                <a:cs typeface="David" panose="020E0502060401010101" pitchFamily="34" charset="-79"/>
              </a:rPr>
              <a:t>.) </a:t>
            </a:r>
            <a:endParaRPr lang="he-IL" sz="2800" dirty="0">
              <a:latin typeface="David" panose="020E0502060401010101" pitchFamily="34" charset="-79"/>
              <a:cs typeface="David" panose="020E0502060401010101" pitchFamily="34" charset="-79"/>
            </a:endParaRPr>
          </a:p>
        </p:txBody>
      </p:sp>
      <p:sp>
        <p:nvSpPr>
          <p:cNvPr id="2" name="מלבן 1"/>
          <p:cNvSpPr/>
          <p:nvPr/>
        </p:nvSpPr>
        <p:spPr>
          <a:xfrm>
            <a:off x="6346208" y="145162"/>
            <a:ext cx="5691117" cy="3046988"/>
          </a:xfrm>
          <a:prstGeom prst="rect">
            <a:avLst/>
          </a:prstGeom>
          <a:solidFill>
            <a:schemeClr val="accent2">
              <a:lumMod val="40000"/>
              <a:lumOff val="60000"/>
            </a:schemeClr>
          </a:solidFill>
        </p:spPr>
        <p:txBody>
          <a:bodyPr wrap="square">
            <a:spAutoFit/>
          </a:bodyPr>
          <a:lstStyle/>
          <a:p>
            <a:r>
              <a:rPr lang="he-IL" sz="3200" b="1" dirty="0" err="1">
                <a:latin typeface="David" panose="020E0502060401010101" pitchFamily="34" charset="-79"/>
                <a:cs typeface="David" panose="020E0502060401010101" pitchFamily="34" charset="-79"/>
              </a:rPr>
              <a:t>כב</a:t>
            </a:r>
            <a:r>
              <a:rPr lang="he-IL" sz="3200" dirty="0">
                <a:latin typeface="David" panose="020E0502060401010101" pitchFamily="34" charset="-79"/>
                <a:cs typeface="David" panose="020E0502060401010101" pitchFamily="34" charset="-79"/>
              </a:rPr>
              <a:t> וַיֹּאמְרוּ אִישׁ-יִשְׂרָאֵל, אֶל-גִּדְעוֹן, </a:t>
            </a:r>
            <a:r>
              <a:rPr lang="he-IL" sz="3200" b="1" dirty="0">
                <a:latin typeface="David" panose="020E0502060401010101" pitchFamily="34" charset="-79"/>
                <a:cs typeface="David" panose="020E0502060401010101" pitchFamily="34" charset="-79"/>
              </a:rPr>
              <a:t>מְשָׁל-בָּנוּ גַּם-אַתָּה, גַּם-בִּנְךָ גַּם בֶּן-בְּנֶךָ</a:t>
            </a:r>
            <a:r>
              <a:rPr lang="he-IL" sz="3200" dirty="0">
                <a:latin typeface="David" panose="020E0502060401010101" pitchFamily="34" charset="-79"/>
                <a:cs typeface="David" panose="020E0502060401010101" pitchFamily="34" charset="-79"/>
              </a:rPr>
              <a:t>:  כִּי הוֹשַׁעְתָּנוּ, מִיַּד מִדְיָן.  </a:t>
            </a:r>
            <a:endParaRPr lang="he-IL" sz="3200" dirty="0" smtClean="0">
              <a:latin typeface="David" panose="020E0502060401010101" pitchFamily="34" charset="-79"/>
              <a:cs typeface="David" panose="020E0502060401010101" pitchFamily="34" charset="-79"/>
            </a:endParaRPr>
          </a:p>
          <a:p>
            <a:r>
              <a:rPr lang="he-IL" sz="3200" b="1" dirty="0" err="1" smtClean="0">
                <a:latin typeface="David" panose="020E0502060401010101" pitchFamily="34" charset="-79"/>
                <a:cs typeface="David" panose="020E0502060401010101" pitchFamily="34" charset="-79"/>
              </a:rPr>
              <a:t>כג</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וַיֹּאמֶר </a:t>
            </a:r>
            <a:r>
              <a:rPr lang="he-IL" sz="3200" dirty="0" err="1">
                <a:latin typeface="David" panose="020E0502060401010101" pitchFamily="34" charset="-79"/>
                <a:cs typeface="David" panose="020E0502060401010101" pitchFamily="34" charset="-79"/>
              </a:rPr>
              <a:t>אֲלֵהֶם</a:t>
            </a:r>
            <a:r>
              <a:rPr lang="he-IL" sz="3200" dirty="0">
                <a:latin typeface="David" panose="020E0502060401010101" pitchFamily="34" charset="-79"/>
                <a:cs typeface="David" panose="020E0502060401010101" pitchFamily="34" charset="-79"/>
              </a:rPr>
              <a:t>, גִּדְעוֹן, </a:t>
            </a:r>
            <a:r>
              <a:rPr lang="he-IL" sz="3200" dirty="0" err="1">
                <a:latin typeface="David" panose="020E0502060401010101" pitchFamily="34" charset="-79"/>
                <a:cs typeface="David" panose="020E0502060401010101" pitchFamily="34" charset="-79"/>
              </a:rPr>
              <a:t>לֹא-אֶמְשֹׁל</a:t>
            </a:r>
            <a:r>
              <a:rPr lang="he-IL" sz="3200" dirty="0">
                <a:latin typeface="David" panose="020E0502060401010101" pitchFamily="34" charset="-79"/>
                <a:cs typeface="David" panose="020E0502060401010101" pitchFamily="34" charset="-79"/>
              </a:rPr>
              <a:t> אֲנִי בָּכֶם, </a:t>
            </a:r>
            <a:r>
              <a:rPr lang="he-IL" sz="3200" dirty="0" err="1">
                <a:latin typeface="David" panose="020E0502060401010101" pitchFamily="34" charset="-79"/>
                <a:cs typeface="David" panose="020E0502060401010101" pitchFamily="34" charset="-79"/>
              </a:rPr>
              <a:t>וְלֹא-יִמְשֹׁל</a:t>
            </a:r>
            <a:r>
              <a:rPr lang="he-IL" sz="3200" dirty="0">
                <a:latin typeface="David" panose="020E0502060401010101" pitchFamily="34" charset="-79"/>
                <a:cs typeface="David" panose="020E0502060401010101" pitchFamily="34" charset="-79"/>
              </a:rPr>
              <a:t> בְּנִי בָּכֶם:  </a:t>
            </a:r>
            <a:r>
              <a:rPr lang="he-IL" sz="3200" b="1" dirty="0">
                <a:latin typeface="David" panose="020E0502060401010101" pitchFamily="34" charset="-79"/>
                <a:cs typeface="David" panose="020E0502060401010101" pitchFamily="34" charset="-79"/>
              </a:rPr>
              <a:t>יְהוָה, </a:t>
            </a:r>
            <a:r>
              <a:rPr lang="he-IL" sz="3200" b="1" dirty="0" err="1">
                <a:latin typeface="David" panose="020E0502060401010101" pitchFamily="34" charset="-79"/>
                <a:cs typeface="David" panose="020E0502060401010101" pitchFamily="34" charset="-79"/>
              </a:rPr>
              <a:t>יִמְשֹׁל</a:t>
            </a:r>
            <a:r>
              <a:rPr lang="he-IL" sz="3200" b="1" dirty="0">
                <a:latin typeface="David" panose="020E0502060401010101" pitchFamily="34" charset="-79"/>
                <a:cs typeface="David" panose="020E0502060401010101" pitchFamily="34" charset="-79"/>
              </a:rPr>
              <a:t> בָּכֶם. </a:t>
            </a:r>
          </a:p>
        </p:txBody>
      </p:sp>
      <p:pic>
        <p:nvPicPr>
          <p:cNvPr id="3" name="תמונה 2"/>
          <p:cNvPicPr>
            <a:picLocks noChangeAspect="1"/>
          </p:cNvPicPr>
          <p:nvPr/>
        </p:nvPicPr>
        <p:blipFill>
          <a:blip r:embed="rId2"/>
          <a:stretch>
            <a:fillRect/>
          </a:stretch>
        </p:blipFill>
        <p:spPr>
          <a:xfrm>
            <a:off x="6909747" y="2756848"/>
            <a:ext cx="1887398" cy="1210802"/>
          </a:xfrm>
          <a:prstGeom prst="rect">
            <a:avLst/>
          </a:prstGeom>
        </p:spPr>
      </p:pic>
      <p:pic>
        <p:nvPicPr>
          <p:cNvPr id="5" name="תמונה 4"/>
          <p:cNvPicPr>
            <a:picLocks noChangeAspect="1"/>
          </p:cNvPicPr>
          <p:nvPr/>
        </p:nvPicPr>
        <p:blipFill>
          <a:blip r:embed="rId3"/>
          <a:stretch>
            <a:fillRect/>
          </a:stretch>
        </p:blipFill>
        <p:spPr>
          <a:xfrm>
            <a:off x="10165691" y="3549143"/>
            <a:ext cx="1871634" cy="2511770"/>
          </a:xfrm>
          <a:prstGeom prst="rect">
            <a:avLst/>
          </a:prstGeom>
        </p:spPr>
      </p:pic>
      <p:sp>
        <p:nvSpPr>
          <p:cNvPr id="6" name="Google Shape;194;p28"/>
          <p:cNvSpPr/>
          <p:nvPr/>
        </p:nvSpPr>
        <p:spPr>
          <a:xfrm rot="3377808">
            <a:off x="10948839" y="3560439"/>
            <a:ext cx="139579" cy="2868014"/>
          </a:xfrm>
          <a:prstGeom prst="rect">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 name="תמונה 6"/>
          <p:cNvPicPr>
            <a:picLocks noChangeAspect="1"/>
          </p:cNvPicPr>
          <p:nvPr/>
        </p:nvPicPr>
        <p:blipFill>
          <a:blip r:embed="rId4"/>
          <a:stretch>
            <a:fillRect/>
          </a:stretch>
        </p:blipFill>
        <p:spPr>
          <a:xfrm>
            <a:off x="10156077" y="4159520"/>
            <a:ext cx="2035923" cy="1409485"/>
          </a:xfrm>
          <a:prstGeom prst="rect">
            <a:avLst/>
          </a:prstGeom>
        </p:spPr>
      </p:pic>
      <p:sp>
        <p:nvSpPr>
          <p:cNvPr id="8" name="Google Shape;130;p19"/>
          <p:cNvSpPr txBox="1"/>
          <p:nvPr/>
        </p:nvSpPr>
        <p:spPr>
          <a:xfrm>
            <a:off x="6182528" y="3967650"/>
            <a:ext cx="3522413" cy="2677616"/>
          </a:xfrm>
          <a:prstGeom prst="rect">
            <a:avLst/>
          </a:prstGeom>
          <a:solidFill>
            <a:schemeClr val="accent2">
              <a:lumMod val="40000"/>
              <a:lumOff val="60000"/>
            </a:schemeClr>
          </a:solidFill>
          <a:ln w="38100" cap="flat" cmpd="sng">
            <a:solidFill>
              <a:srgbClr val="C55A11"/>
            </a:solidFill>
            <a:prstDash val="solid"/>
            <a:round/>
            <a:headEnd type="none" w="sm" len="sm"/>
            <a:tailEnd type="none" w="sm" len="sm"/>
          </a:ln>
        </p:spPr>
        <p:txBody>
          <a:bodyPr spcFirstLastPara="1" wrap="square" lIns="91425" tIns="45700" rIns="91425" bIns="45700" anchor="t" anchorCtr="0">
            <a:spAutoFit/>
          </a:bodyPr>
          <a:lstStyle/>
          <a:p>
            <a:pPr marL="0" marR="0" lvl="0" indent="0" rtl="1">
              <a:lnSpc>
                <a:spcPct val="100000"/>
              </a:lnSpc>
              <a:spcBef>
                <a:spcPts val="0"/>
              </a:spcBef>
              <a:spcAft>
                <a:spcPts val="0"/>
              </a:spcAft>
              <a:buClr>
                <a:srgbClr val="000000"/>
              </a:buClr>
              <a:buSzPts val="3600"/>
              <a:buFont typeface="Arial"/>
              <a:buNone/>
            </a:pPr>
            <a:r>
              <a:rPr lang="he-IL" sz="2400" b="0" i="0" u="none" strike="noStrike" cap="none" dirty="0" smtClean="0">
                <a:solidFill>
                  <a:schemeClr val="dk1"/>
                </a:solidFill>
                <a:latin typeface="David" panose="020E0502060401010101" pitchFamily="34" charset="-79"/>
                <a:ea typeface="Narkisim"/>
                <a:cs typeface="David" panose="020E0502060401010101" pitchFamily="34" charset="-79"/>
                <a:sym typeface="Narkisim"/>
              </a:rPr>
              <a:t>עם ישראל אמרו שלושה דברים (משול בנו אתה בנך ובן בנך). וגדעון ענה להם שלושה דברים (לא אמשול ולא בני , ה' ימשול בכם) אמר לו ה' חייך שאני מעמיד ממך בן שימשול 3 שנים (אבימלך). </a:t>
            </a:r>
            <a:endParaRPr sz="2400" b="0" i="0" u="none" strike="noStrike" cap="none" dirty="0">
              <a:solidFill>
                <a:schemeClr val="dk1"/>
              </a:solidFill>
              <a:latin typeface="David" panose="020E0502060401010101" pitchFamily="34" charset="-79"/>
              <a:ea typeface="Narkisim"/>
              <a:cs typeface="David" panose="020E0502060401010101" pitchFamily="34" charset="-79"/>
              <a:sym typeface="Narkisim"/>
            </a:endParaRPr>
          </a:p>
        </p:txBody>
      </p:sp>
    </p:spTree>
    <p:extLst>
      <p:ext uri="{BB962C8B-B14F-4D97-AF65-F5344CB8AC3E}">
        <p14:creationId xmlns:p14="http://schemas.microsoft.com/office/powerpoint/2010/main" val="418683530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p:cTn id="17"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8"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19"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20" dur="100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down)">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arn(inVertical)">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arn(inVertical)">
                                      <p:cBhvr>
                                        <p:cTn id="4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296" y="0"/>
            <a:ext cx="6441743" cy="6719468"/>
          </a:xfrm>
          <a:prstGeom prst="rect">
            <a:avLst/>
          </a:prstGeom>
          <a:solidFill>
            <a:schemeClr val="accent3">
              <a:lumMod val="40000"/>
              <a:lumOff val="60000"/>
            </a:schemeClr>
          </a:solidFill>
          <a:ln w="38100">
            <a:solidFill>
              <a:schemeClr val="tx1"/>
            </a:solidFill>
          </a:ln>
        </p:spPr>
        <p:txBody>
          <a:bodyPr wrap="square" rtlCol="1">
            <a:spAutoFit/>
          </a:bodyPr>
          <a:lstStyle/>
          <a:p>
            <a:pPr>
              <a:lnSpc>
                <a:spcPct val="107000"/>
              </a:lnSpc>
              <a:spcAft>
                <a:spcPts val="800"/>
              </a:spcAft>
            </a:pPr>
            <a:r>
              <a:rPr lang="he-IL" sz="2600" b="1" u="sng" dirty="0" err="1" smtClean="0">
                <a:latin typeface="Calibri" panose="020F0502020204030204" pitchFamily="34" charset="0"/>
                <a:ea typeface="Calibri" panose="020F0502020204030204" pitchFamily="34" charset="0"/>
                <a:cs typeface="David" panose="020E0502060401010101" pitchFamily="34" charset="-79"/>
              </a:rPr>
              <a:t>פ"ס</a:t>
            </a:r>
            <a:r>
              <a:rPr lang="he-IL" sz="2600" b="1" u="sng" dirty="0" smtClean="0">
                <a:latin typeface="Calibri" panose="020F0502020204030204" pitchFamily="34" charset="0"/>
                <a:ea typeface="Calibri" panose="020F0502020204030204" pitchFamily="34" charset="0"/>
                <a:cs typeface="David" panose="020E0502060401010101" pitchFamily="34" charset="-79"/>
              </a:rPr>
              <a:t> </a:t>
            </a:r>
            <a:r>
              <a:rPr lang="he-IL" sz="2600" b="1" u="sng" dirty="0">
                <a:latin typeface="Calibri" panose="020F0502020204030204" pitchFamily="34" charset="0"/>
                <a:ea typeface="Calibri" panose="020F0502020204030204" pitchFamily="34" charset="0"/>
                <a:cs typeface="David" panose="020E0502060401010101" pitchFamily="34" charset="-79"/>
              </a:rPr>
              <a:t>כד':</a:t>
            </a:r>
            <a:r>
              <a:rPr lang="he-IL" sz="2600" dirty="0">
                <a:latin typeface="Calibri" panose="020F0502020204030204" pitchFamily="34" charset="0"/>
                <a:ea typeface="Calibri" panose="020F0502020204030204" pitchFamily="34" charset="0"/>
                <a:cs typeface="David" panose="020E0502060401010101" pitchFamily="34" charset="-79"/>
              </a:rPr>
              <a:t> אמר להם גדעון אשאל מכם רק בקשה אחת שכל אחד מכם ייתן לי נזם זהב מהשלל שלקח ממדין, שלכל חייל מדיין היה נזם זהב שכן מדיין הם מבני קטורה שהיא הגר אם ישמעאל, ומדיין כמו הישמעאלים נהגו לענוד נזם זהב באפם</a:t>
            </a:r>
            <a:r>
              <a:rPr lang="he-IL" sz="2600" dirty="0" smtClean="0">
                <a:latin typeface="Calibri" panose="020F0502020204030204" pitchFamily="34" charset="0"/>
                <a:ea typeface="Calibri" panose="020F0502020204030204" pitchFamily="34" charset="0"/>
                <a:cs typeface="David" panose="020E0502060401010101" pitchFamily="34" charset="-79"/>
              </a:rPr>
              <a:t>.</a:t>
            </a:r>
            <a:endParaRPr lang="en-US" sz="2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sz="2600" b="1" u="sng" dirty="0" err="1">
                <a:latin typeface="Calibri" panose="020F0502020204030204" pitchFamily="34" charset="0"/>
                <a:ea typeface="Calibri" panose="020F0502020204030204" pitchFamily="34" charset="0"/>
                <a:cs typeface="David" panose="020E0502060401010101" pitchFamily="34" charset="-79"/>
              </a:rPr>
              <a:t>פ"ס</a:t>
            </a:r>
            <a:r>
              <a:rPr lang="he-IL" sz="2600" b="1" u="sng" dirty="0">
                <a:latin typeface="Calibri" panose="020F0502020204030204" pitchFamily="34" charset="0"/>
                <a:ea typeface="Calibri" panose="020F0502020204030204" pitchFamily="34" charset="0"/>
                <a:cs typeface="David" panose="020E0502060401010101" pitchFamily="34" charset="-79"/>
              </a:rPr>
              <a:t> כה':</a:t>
            </a:r>
            <a:r>
              <a:rPr lang="he-IL" sz="2600" dirty="0">
                <a:latin typeface="Calibri" panose="020F0502020204030204" pitchFamily="34" charset="0"/>
                <a:ea typeface="Calibri" panose="020F0502020204030204" pitchFamily="34" charset="0"/>
                <a:cs typeface="David" panose="020E0502060401010101" pitchFamily="34" charset="-79"/>
              </a:rPr>
              <a:t> אמרו לו כל עם ישראל אנחנו ניתן ומרוב שהיה המון זהב פרשו שמלה על הרצפה וכל העם השליך לתוכה את הזהב שהיה לו. </a:t>
            </a:r>
            <a:endParaRPr lang="en-US" sz="2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sz="2600" b="1" u="sng" dirty="0" err="1">
                <a:latin typeface="Calibri" panose="020F0502020204030204" pitchFamily="34" charset="0"/>
                <a:ea typeface="Calibri" panose="020F0502020204030204" pitchFamily="34" charset="0"/>
                <a:cs typeface="David" panose="020E0502060401010101" pitchFamily="34" charset="-79"/>
              </a:rPr>
              <a:t>פ"ס</a:t>
            </a:r>
            <a:r>
              <a:rPr lang="he-IL" sz="2600" b="1" u="sng" dirty="0">
                <a:latin typeface="Calibri" panose="020F0502020204030204" pitchFamily="34" charset="0"/>
                <a:ea typeface="Calibri" panose="020F0502020204030204" pitchFamily="34" charset="0"/>
                <a:cs typeface="David" panose="020E0502060401010101" pitchFamily="34" charset="-79"/>
              </a:rPr>
              <a:t> </a:t>
            </a:r>
            <a:r>
              <a:rPr lang="he-IL" sz="2600" b="1" u="sng" dirty="0" err="1">
                <a:latin typeface="Calibri" panose="020F0502020204030204" pitchFamily="34" charset="0"/>
                <a:ea typeface="Calibri" panose="020F0502020204030204" pitchFamily="34" charset="0"/>
                <a:cs typeface="David" panose="020E0502060401010101" pitchFamily="34" charset="-79"/>
              </a:rPr>
              <a:t>כו</a:t>
            </a:r>
            <a:r>
              <a:rPr lang="he-IL" sz="2600" b="1" u="sng" dirty="0">
                <a:latin typeface="Calibri" panose="020F0502020204030204" pitchFamily="34" charset="0"/>
                <a:ea typeface="Calibri" panose="020F0502020204030204" pitchFamily="34" charset="0"/>
                <a:cs typeface="David" panose="020E0502060401010101" pitchFamily="34" charset="-79"/>
              </a:rPr>
              <a:t>':</a:t>
            </a:r>
            <a:r>
              <a:rPr lang="he-IL" sz="2600" dirty="0">
                <a:latin typeface="Calibri" panose="020F0502020204030204" pitchFamily="34" charset="0"/>
                <a:ea typeface="Calibri" panose="020F0502020204030204" pitchFamily="34" charset="0"/>
                <a:cs typeface="David" panose="020E0502060401010101" pitchFamily="34" charset="-79"/>
              </a:rPr>
              <a:t> המשקל של כל הזהב שיצא מכל מה שהביאו היה 1,700 דינר זהב (דינר= 120 גרם, סה"כ 204 קילוגרם) וזה היה חוץ </a:t>
            </a:r>
            <a:r>
              <a:rPr lang="he-IL" sz="2600" b="1" u="sng" dirty="0" err="1">
                <a:latin typeface="Calibri" panose="020F0502020204030204" pitchFamily="34" charset="0"/>
                <a:ea typeface="Calibri" panose="020F0502020204030204" pitchFamily="34" charset="0"/>
                <a:cs typeface="David" panose="020E0502060401010101" pitchFamily="34" charset="-79"/>
              </a:rPr>
              <a:t>מהשהרונים</a:t>
            </a:r>
            <a:r>
              <a:rPr lang="he-IL" sz="2600" dirty="0">
                <a:latin typeface="Calibri" panose="020F0502020204030204" pitchFamily="34" charset="0"/>
                <a:ea typeface="Calibri" panose="020F0502020204030204" pitchFamily="34" charset="0"/>
                <a:cs typeface="David" panose="020E0502060401010101" pitchFamily="34" charset="-79"/>
              </a:rPr>
              <a:t> תכשיט </a:t>
            </a:r>
            <a:r>
              <a:rPr lang="he-IL" sz="2600" dirty="0" smtClean="0">
                <a:latin typeface="Calibri" panose="020F0502020204030204" pitchFamily="34" charset="0"/>
                <a:ea typeface="Calibri" panose="020F0502020204030204" pitchFamily="34" charset="0"/>
                <a:cs typeface="David" panose="020E0502060401010101" pitchFamily="34" charset="-79"/>
              </a:rPr>
              <a:t>של </a:t>
            </a:r>
            <a:r>
              <a:rPr lang="he-IL" sz="2600" dirty="0">
                <a:latin typeface="Calibri" panose="020F0502020204030204" pitchFamily="34" charset="0"/>
                <a:ea typeface="Calibri" panose="020F0502020204030204" pitchFamily="34" charset="0"/>
                <a:cs typeface="David" panose="020E0502060401010101" pitchFamily="34" charset="-79"/>
              </a:rPr>
              <a:t>זהב בדמות ירח שצמוד לצוואר. וחוץ </a:t>
            </a:r>
            <a:r>
              <a:rPr lang="he-IL" sz="2600" b="1" u="sng" dirty="0">
                <a:latin typeface="Calibri" panose="020F0502020204030204" pitchFamily="34" charset="0"/>
                <a:ea typeface="Calibri" panose="020F0502020204030204" pitchFamily="34" charset="0"/>
                <a:cs typeface="David" panose="020E0502060401010101" pitchFamily="34" charset="-79"/>
              </a:rPr>
              <a:t>מהנטיפות </a:t>
            </a:r>
            <a:r>
              <a:rPr lang="he-IL" sz="2600" dirty="0">
                <a:latin typeface="Calibri" panose="020F0502020204030204" pitchFamily="34" charset="0"/>
                <a:ea typeface="Calibri" panose="020F0502020204030204" pitchFamily="34" charset="0"/>
                <a:cs typeface="David" panose="020E0502060401010101" pitchFamily="34" charset="-79"/>
              </a:rPr>
              <a:t>(שרשרת זהב שיורדת לאזור הלב) ובגדי הארגמן שלבשו מלכי מדיין , וחוץ </a:t>
            </a:r>
            <a:r>
              <a:rPr lang="he-IL" sz="2600" b="1" u="sng" dirty="0">
                <a:latin typeface="Calibri" panose="020F0502020204030204" pitchFamily="34" charset="0"/>
                <a:ea typeface="Calibri" panose="020F0502020204030204" pitchFamily="34" charset="0"/>
                <a:cs typeface="David" panose="020E0502060401010101" pitchFamily="34" charset="-79"/>
              </a:rPr>
              <a:t>מהענקות-</a:t>
            </a:r>
            <a:r>
              <a:rPr lang="he-IL" sz="2600" dirty="0">
                <a:latin typeface="Calibri" panose="020F0502020204030204" pitchFamily="34" charset="0"/>
                <a:ea typeface="Calibri" panose="020F0502020204030204" pitchFamily="34" charset="0"/>
                <a:cs typeface="David" panose="020E0502060401010101" pitchFamily="34" charset="-79"/>
              </a:rPr>
              <a:t> שרשראות מזהב שהיו על צווארי הגמלים את כל אלה לקח שלל </a:t>
            </a:r>
            <a:endParaRPr lang="en-US" sz="2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מלבן 1"/>
          <p:cNvSpPr/>
          <p:nvPr/>
        </p:nvSpPr>
        <p:spPr>
          <a:xfrm>
            <a:off x="6769289" y="131515"/>
            <a:ext cx="5281683" cy="6001643"/>
          </a:xfrm>
          <a:prstGeom prst="rect">
            <a:avLst/>
          </a:prstGeom>
          <a:blipFill>
            <a:blip r:embed="rId2"/>
            <a:tile tx="0" ty="0" sx="100000" sy="100000" flip="none" algn="tl"/>
          </a:blipFill>
        </p:spPr>
        <p:txBody>
          <a:bodyPr wrap="square">
            <a:spAutoFit/>
          </a:bodyPr>
          <a:lstStyle/>
          <a:p>
            <a:r>
              <a:rPr lang="he-IL" sz="3200" b="1" u="sng" dirty="0">
                <a:latin typeface="David" panose="020E0502060401010101" pitchFamily="34" charset="-79"/>
                <a:cs typeface="David" panose="020E0502060401010101" pitchFamily="34" charset="-79"/>
              </a:rPr>
              <a:t>כד</a:t>
            </a:r>
            <a:r>
              <a:rPr lang="he-IL" sz="3200" dirty="0">
                <a:latin typeface="David" panose="020E0502060401010101" pitchFamily="34" charset="-79"/>
                <a:cs typeface="David" panose="020E0502060401010101" pitchFamily="34" charset="-79"/>
              </a:rPr>
              <a:t> וַיֹּאמֶר </a:t>
            </a:r>
            <a:r>
              <a:rPr lang="he-IL" sz="3200" dirty="0" err="1">
                <a:latin typeface="David" panose="020E0502060401010101" pitchFamily="34" charset="-79"/>
                <a:cs typeface="David" panose="020E0502060401010101" pitchFamily="34" charset="-79"/>
              </a:rPr>
              <a:t>אֲלֵהֶם</a:t>
            </a:r>
            <a:r>
              <a:rPr lang="he-IL" sz="3200" dirty="0">
                <a:latin typeface="David" panose="020E0502060401010101" pitchFamily="34" charset="-79"/>
                <a:cs typeface="David" panose="020E0502060401010101" pitchFamily="34" charset="-79"/>
              </a:rPr>
              <a:t> גִּדְעוֹן, אֶשְׁאֲלָה מִכֶּם שְׁאֵלָה, </a:t>
            </a:r>
            <a:r>
              <a:rPr lang="he-IL" sz="3200" b="1" dirty="0">
                <a:latin typeface="David" panose="020E0502060401010101" pitchFamily="34" charset="-79"/>
                <a:cs typeface="David" panose="020E0502060401010101" pitchFamily="34" charset="-79"/>
              </a:rPr>
              <a:t>וּתְנוּ-לִי, אִישׁ נֶזֶם שְׁלָלוֹ</a:t>
            </a:r>
            <a:r>
              <a:rPr lang="he-IL" sz="3200" dirty="0">
                <a:latin typeface="David" panose="020E0502060401010101" pitchFamily="34" charset="-79"/>
                <a:cs typeface="David" panose="020E0502060401010101" pitchFamily="34" charset="-79"/>
              </a:rPr>
              <a:t>:  כִּי-נִזְמֵי זָהָב לָהֶם, כִּי יִשְׁמְעֵאלִים הֵם. </a:t>
            </a:r>
            <a:endParaRPr lang="he-IL" sz="3200" dirty="0" smtClean="0">
              <a:latin typeface="David" panose="020E0502060401010101" pitchFamily="34" charset="-79"/>
              <a:cs typeface="David" panose="020E0502060401010101" pitchFamily="34" charset="-79"/>
            </a:endParaRPr>
          </a:p>
          <a:p>
            <a:r>
              <a:rPr lang="he-IL" sz="3200" dirty="0" smtClean="0">
                <a:latin typeface="David" panose="020E0502060401010101" pitchFamily="34" charset="-79"/>
                <a:cs typeface="David" panose="020E0502060401010101" pitchFamily="34" charset="-79"/>
              </a:rPr>
              <a:t> </a:t>
            </a:r>
            <a:r>
              <a:rPr lang="he-IL" sz="3200" b="1" u="sng" dirty="0">
                <a:latin typeface="David" panose="020E0502060401010101" pitchFamily="34" charset="-79"/>
                <a:cs typeface="David" panose="020E0502060401010101" pitchFamily="34" charset="-79"/>
              </a:rPr>
              <a:t>כה</a:t>
            </a:r>
            <a:r>
              <a:rPr lang="he-IL" sz="3200" dirty="0">
                <a:latin typeface="David" panose="020E0502060401010101" pitchFamily="34" charset="-79"/>
                <a:cs typeface="David" panose="020E0502060401010101" pitchFamily="34" charset="-79"/>
              </a:rPr>
              <a:t> וַיֹּאמְרוּ, נָתוֹן נִתֵּן; וַיִּפְרְשׂוּ, אֶת-הַשִּׂמְלָה, וַיַּשְׁלִיכוּ שָׁמָּה, אִישׁ נֶזֶם שְׁלָלוֹ.  </a:t>
            </a:r>
            <a:endParaRPr lang="he-IL" sz="3200" dirty="0" smtClean="0">
              <a:latin typeface="David" panose="020E0502060401010101" pitchFamily="34" charset="-79"/>
              <a:cs typeface="David" panose="020E0502060401010101" pitchFamily="34" charset="-79"/>
            </a:endParaRPr>
          </a:p>
          <a:p>
            <a:r>
              <a:rPr lang="he-IL" sz="3200" b="1" u="sng" dirty="0" err="1" smtClean="0">
                <a:latin typeface="David" panose="020E0502060401010101" pitchFamily="34" charset="-79"/>
                <a:cs typeface="David" panose="020E0502060401010101" pitchFamily="34" charset="-79"/>
              </a:rPr>
              <a:t>כו</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וַיְהִי, </a:t>
            </a:r>
            <a:r>
              <a:rPr lang="he-IL" sz="3200" b="1" dirty="0">
                <a:latin typeface="David" panose="020E0502060401010101" pitchFamily="34" charset="-79"/>
                <a:cs typeface="David" panose="020E0502060401010101" pitchFamily="34" charset="-79"/>
              </a:rPr>
              <a:t>מִשְׁקַל נִזְמֵי הַזָּהָב אֲשֶׁר שָׁאָל, אֶלֶף וּשְׁבַע-מֵאוֹת, זָהָב-</a:t>
            </a:r>
            <a:r>
              <a:rPr lang="he-IL" sz="3200" dirty="0">
                <a:latin typeface="David" panose="020E0502060401010101" pitchFamily="34" charset="-79"/>
                <a:cs typeface="David" panose="020E0502060401010101" pitchFamily="34" charset="-79"/>
              </a:rPr>
              <a:t>-לְבַד </a:t>
            </a:r>
            <a:r>
              <a:rPr lang="he-IL" sz="3200" dirty="0" err="1">
                <a:latin typeface="David" panose="020E0502060401010101" pitchFamily="34" charset="-79"/>
                <a:cs typeface="David" panose="020E0502060401010101" pitchFamily="34" charset="-79"/>
              </a:rPr>
              <a:t>מִן-</a:t>
            </a:r>
            <a:r>
              <a:rPr lang="he-IL" sz="3200" b="1" dirty="0" err="1">
                <a:latin typeface="David" panose="020E0502060401010101" pitchFamily="34" charset="-79"/>
                <a:cs typeface="David" panose="020E0502060401010101" pitchFamily="34" charset="-79"/>
              </a:rPr>
              <a:t>הַשַּׂהֲרֹנִים</a:t>
            </a:r>
            <a:r>
              <a:rPr lang="he-IL" sz="3200" b="1" dirty="0">
                <a:latin typeface="David" panose="020E0502060401010101" pitchFamily="34" charset="-79"/>
                <a:cs typeface="David" panose="020E0502060401010101" pitchFamily="34" charset="-79"/>
              </a:rPr>
              <a:t> וְהַנְּטִיפוֹת </a:t>
            </a:r>
            <a:r>
              <a:rPr lang="he-IL" sz="3200" dirty="0">
                <a:latin typeface="David" panose="020E0502060401010101" pitchFamily="34" charset="-79"/>
                <a:cs typeface="David" panose="020E0502060401010101" pitchFamily="34" charset="-79"/>
              </a:rPr>
              <a:t>וּבִגְדֵי הָאַרְגָּמָן, שֶׁעַל מַלְכֵי מִדְיָן, וּלְבַד </a:t>
            </a:r>
            <a:r>
              <a:rPr lang="he-IL" sz="3200" b="1" dirty="0">
                <a:latin typeface="David" panose="020E0502060401010101" pitchFamily="34" charset="-79"/>
                <a:cs typeface="David" panose="020E0502060401010101" pitchFamily="34" charset="-79"/>
              </a:rPr>
              <a:t>מִן-הָעֲנָקוֹת, </a:t>
            </a:r>
            <a:r>
              <a:rPr lang="he-IL" sz="3200" dirty="0">
                <a:latin typeface="David" panose="020E0502060401010101" pitchFamily="34" charset="-79"/>
                <a:cs typeface="David" panose="020E0502060401010101" pitchFamily="34" charset="-79"/>
              </a:rPr>
              <a:t>אֲשֶׁר </a:t>
            </a:r>
            <a:r>
              <a:rPr lang="he-IL" sz="3200" dirty="0" err="1">
                <a:latin typeface="David" panose="020E0502060401010101" pitchFamily="34" charset="-79"/>
                <a:cs typeface="David" panose="020E0502060401010101" pitchFamily="34" charset="-79"/>
              </a:rPr>
              <a:t>בְּצַוְּארֵי</a:t>
            </a:r>
            <a:r>
              <a:rPr lang="he-IL" sz="3200" dirty="0">
                <a:latin typeface="David" panose="020E0502060401010101" pitchFamily="34" charset="-79"/>
                <a:cs typeface="David" panose="020E0502060401010101" pitchFamily="34" charset="-79"/>
              </a:rPr>
              <a:t> גְמַלֵּיהֶם. </a:t>
            </a:r>
          </a:p>
        </p:txBody>
      </p:sp>
      <p:pic>
        <p:nvPicPr>
          <p:cNvPr id="3" name="תמונה 2"/>
          <p:cNvPicPr>
            <a:picLocks noChangeAspect="1"/>
          </p:cNvPicPr>
          <p:nvPr/>
        </p:nvPicPr>
        <p:blipFill>
          <a:blip r:embed="rId3"/>
          <a:stretch>
            <a:fillRect/>
          </a:stretch>
        </p:blipFill>
        <p:spPr>
          <a:xfrm>
            <a:off x="259309" y="0"/>
            <a:ext cx="3155120" cy="3155120"/>
          </a:xfrm>
          <a:prstGeom prst="rect">
            <a:avLst/>
          </a:prstGeom>
        </p:spPr>
      </p:pic>
    </p:spTree>
    <p:extLst>
      <p:ext uri="{BB962C8B-B14F-4D97-AF65-F5344CB8AC3E}">
        <p14:creationId xmlns:p14="http://schemas.microsoft.com/office/powerpoint/2010/main" val="315531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barn(inVertical)">
                                      <p:cBhvr>
                                        <p:cTn id="14" dur="500"/>
                                        <p:tgtEl>
                                          <p:spTgt spid="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circle(in)">
                                      <p:cBhvr>
                                        <p:cTn id="19" dur="2000"/>
                                        <p:tgtEl>
                                          <p:spTgt spid="4">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8352" y="145163"/>
            <a:ext cx="5665593" cy="6555641"/>
          </a:xfrm>
          <a:prstGeom prst="rect">
            <a:avLst/>
          </a:prstGeom>
          <a:blipFill>
            <a:blip r:embed="rId2"/>
            <a:tile tx="0" ty="0" sx="100000" sy="100000" flip="none" algn="tl"/>
          </a:blipFill>
          <a:ln w="38100">
            <a:solidFill>
              <a:schemeClr val="tx1"/>
            </a:solidFill>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a:t>
            </a:r>
            <a:r>
              <a:rPr lang="he-IL" sz="3000" b="1" u="sng" dirty="0" err="1">
                <a:latin typeface="David" panose="020E0502060401010101" pitchFamily="34" charset="-79"/>
                <a:cs typeface="David" panose="020E0502060401010101" pitchFamily="34" charset="-79"/>
              </a:rPr>
              <a:t>כז</a:t>
            </a:r>
            <a:r>
              <a:rPr lang="he-IL" sz="3000" b="1" u="sng" dirty="0">
                <a:latin typeface="David" panose="020E0502060401010101" pitchFamily="34" charset="-79"/>
                <a:cs typeface="David" panose="020E0502060401010101" pitchFamily="34" charset="-79"/>
              </a:rPr>
              <a:t>': </a:t>
            </a:r>
            <a:r>
              <a:rPr lang="he-IL" sz="3000" dirty="0">
                <a:latin typeface="David" panose="020E0502060401010101" pitchFamily="34" charset="-79"/>
                <a:cs typeface="David" panose="020E0502060401010101" pitchFamily="34" charset="-79"/>
              </a:rPr>
              <a:t>מה עשה גדעון? הדליק מדורה גדולה וזרק את הזהב לאש והוא נמס ואז בעודו נוזלי הכין ממנו </a:t>
            </a:r>
            <a:r>
              <a:rPr lang="he-IL" sz="3000" b="1" dirty="0">
                <a:latin typeface="David" panose="020E0502060401010101" pitchFamily="34" charset="-79"/>
                <a:cs typeface="David" panose="020E0502060401010101" pitchFamily="34" charset="-79"/>
              </a:rPr>
              <a:t>גדעון צורת "אפוד" מזהב, וזה מיועד לזיכרון לניצחון על מדיין ושם אותו בעיר שלו בעופרה</a:t>
            </a:r>
            <a:r>
              <a:rPr lang="he-IL" sz="3000" dirty="0">
                <a:latin typeface="David" panose="020E0502060401010101" pitchFamily="34" charset="-79"/>
                <a:cs typeface="David" panose="020E0502060401010101" pitchFamily="34" charset="-79"/>
              </a:rPr>
              <a:t>, גדעון חשב למטרה טובה אך האפוד הזה הפך להיות לע"ז לבני ישראל לאחר מותו של גדעון, ואפוד זה היה למכשול לביתו של </a:t>
            </a:r>
            <a:r>
              <a:rPr lang="he-IL" sz="3000" dirty="0" smtClean="0">
                <a:latin typeface="David" panose="020E0502060401010101" pitchFamily="34" charset="-79"/>
                <a:cs typeface="David" panose="020E0502060401010101" pitchFamily="34" charset="-79"/>
              </a:rPr>
              <a:t>גדעון. </a:t>
            </a:r>
            <a:endParaRPr lang="he-IL" sz="3000" dirty="0">
              <a:latin typeface="David" panose="020E0502060401010101" pitchFamily="34" charset="-79"/>
              <a:cs typeface="David" panose="020E0502060401010101" pitchFamily="34" charset="-79"/>
            </a:endParaRPr>
          </a:p>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a:t>
            </a:r>
            <a:r>
              <a:rPr lang="he-IL" sz="3000" b="1" u="sng" dirty="0" err="1">
                <a:latin typeface="David" panose="020E0502060401010101" pitchFamily="34" charset="-79"/>
                <a:cs typeface="David" panose="020E0502060401010101" pitchFamily="34" charset="-79"/>
              </a:rPr>
              <a:t>כח</a:t>
            </a:r>
            <a:r>
              <a:rPr lang="he-IL" sz="3000" b="1" u="sng" dirty="0">
                <a:latin typeface="David" panose="020E0502060401010101" pitchFamily="34" charset="-79"/>
                <a:cs typeface="David" panose="020E0502060401010101" pitchFamily="34" charset="-79"/>
              </a:rPr>
              <a:t>': </a:t>
            </a:r>
            <a:r>
              <a:rPr lang="he-IL" sz="3000" dirty="0">
                <a:latin typeface="David" panose="020E0502060401010101" pitchFamily="34" charset="-79"/>
                <a:cs typeface="David" panose="020E0502060401010101" pitchFamily="34" charset="-79"/>
              </a:rPr>
              <a:t>כל זמן שגדעון היה חי המדיינים היו כנועים לבני ישראל ופחדו להרים את ראשם ולהילחם מול ישראל ולשלוט עליהם, והם לא הציקו לישראל במשך 40 שנה שהיה שקט בארץ.</a:t>
            </a:r>
            <a:endParaRPr lang="he-IL" sz="3000" dirty="0">
              <a:latin typeface="David" panose="020E0502060401010101" pitchFamily="34" charset="-79"/>
              <a:cs typeface="David" panose="020E0502060401010101" pitchFamily="34" charset="-79"/>
            </a:endParaRPr>
          </a:p>
        </p:txBody>
      </p:sp>
      <p:sp>
        <p:nvSpPr>
          <p:cNvPr id="2" name="מלבן 1"/>
          <p:cNvSpPr/>
          <p:nvPr/>
        </p:nvSpPr>
        <p:spPr>
          <a:xfrm>
            <a:off x="6018662" y="145163"/>
            <a:ext cx="6018663" cy="3046988"/>
          </a:xfrm>
          <a:prstGeom prst="rect">
            <a:avLst/>
          </a:prstGeom>
          <a:solidFill>
            <a:schemeClr val="accent6">
              <a:lumMod val="60000"/>
              <a:lumOff val="40000"/>
            </a:schemeClr>
          </a:solidFill>
        </p:spPr>
        <p:txBody>
          <a:bodyPr wrap="square">
            <a:spAutoFit/>
          </a:bodyPr>
          <a:lstStyle/>
          <a:p>
            <a:r>
              <a:rPr lang="he-IL" sz="3200" b="1" dirty="0" err="1">
                <a:latin typeface="David" panose="020E0502060401010101" pitchFamily="34" charset="-79"/>
                <a:cs typeface="David" panose="020E0502060401010101" pitchFamily="34" charset="-79"/>
              </a:rPr>
              <a:t>כז</a:t>
            </a:r>
            <a:r>
              <a:rPr lang="he-IL" sz="3200" dirty="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וַיַּעַשׂ אוֹתוֹ גִדְעוֹן לְאֵפוֹד, וַיַּצֵּג אוֹתוֹ בְעִירוֹ בְּעָפְרָה</a:t>
            </a:r>
            <a:r>
              <a:rPr lang="he-IL" sz="3200" dirty="0">
                <a:latin typeface="David" panose="020E0502060401010101" pitchFamily="34" charset="-79"/>
                <a:cs typeface="David" panose="020E0502060401010101" pitchFamily="34" charset="-79"/>
              </a:rPr>
              <a:t>, וַיִּזְנוּ כָל-יִשְׂרָאֵל אַחֲרָיו, שָׁם; וַיְהִי לְגִדְעוֹן וּלְבֵיתוֹ, לְמוֹקֵשׁ.  </a:t>
            </a:r>
            <a:endParaRPr lang="he-IL" sz="3200" dirty="0" smtClean="0">
              <a:latin typeface="David" panose="020E0502060401010101" pitchFamily="34" charset="-79"/>
              <a:cs typeface="David" panose="020E0502060401010101" pitchFamily="34" charset="-79"/>
            </a:endParaRPr>
          </a:p>
          <a:p>
            <a:r>
              <a:rPr lang="he-IL" sz="3200" b="1" dirty="0" err="1" smtClean="0">
                <a:latin typeface="David" panose="020E0502060401010101" pitchFamily="34" charset="-79"/>
                <a:cs typeface="David" panose="020E0502060401010101" pitchFamily="34" charset="-79"/>
              </a:rPr>
              <a:t>כח</a:t>
            </a:r>
            <a:r>
              <a:rPr lang="he-IL" sz="3200" b="1" dirty="0" smtClean="0">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וַיִּכָּנַע</a:t>
            </a:r>
            <a:r>
              <a:rPr lang="he-IL" sz="3200" dirty="0">
                <a:latin typeface="David" panose="020E0502060401010101" pitchFamily="34" charset="-79"/>
                <a:cs typeface="David" panose="020E0502060401010101" pitchFamily="34" charset="-79"/>
              </a:rPr>
              <a:t> מִדְיָן, לִפְנֵי בְּנֵי יִשְׂרָאֵל, וְלֹא יָסְפוּ, לָשֵׂאת רֹאשָׁם; </a:t>
            </a:r>
            <a:r>
              <a:rPr lang="he-IL" sz="3200" b="1" dirty="0" err="1">
                <a:latin typeface="David" panose="020E0502060401010101" pitchFamily="34" charset="-79"/>
                <a:cs typeface="David" panose="020E0502060401010101" pitchFamily="34" charset="-79"/>
              </a:rPr>
              <a:t>וַתִּשְׁקֹט</a:t>
            </a:r>
            <a:r>
              <a:rPr lang="he-IL" sz="3200" b="1" dirty="0">
                <a:latin typeface="David" panose="020E0502060401010101" pitchFamily="34" charset="-79"/>
                <a:cs typeface="David" panose="020E0502060401010101" pitchFamily="34" charset="-79"/>
              </a:rPr>
              <a:t> הָאָרֶץ אַרְבָּעִים שָׁנָה,</a:t>
            </a:r>
            <a:r>
              <a:rPr lang="he-IL" sz="3200" dirty="0">
                <a:latin typeface="David" panose="020E0502060401010101" pitchFamily="34" charset="-79"/>
                <a:cs typeface="David" panose="020E0502060401010101" pitchFamily="34" charset="-79"/>
              </a:rPr>
              <a:t> בִּימֵי גִדְעוֹן. </a:t>
            </a:r>
          </a:p>
        </p:txBody>
      </p:sp>
      <p:pic>
        <p:nvPicPr>
          <p:cNvPr id="3" name="תמונה 2"/>
          <p:cNvPicPr>
            <a:picLocks noChangeAspect="1"/>
          </p:cNvPicPr>
          <p:nvPr/>
        </p:nvPicPr>
        <p:blipFill>
          <a:blip r:embed="rId3"/>
          <a:stretch>
            <a:fillRect/>
          </a:stretch>
        </p:blipFill>
        <p:spPr>
          <a:xfrm>
            <a:off x="5943598" y="3322918"/>
            <a:ext cx="3582539" cy="2843568"/>
          </a:xfrm>
          <a:prstGeom prst="rect">
            <a:avLst/>
          </a:prstGeom>
        </p:spPr>
      </p:pic>
      <p:sp>
        <p:nvSpPr>
          <p:cNvPr id="5" name="TextBox 4"/>
          <p:cNvSpPr txBox="1"/>
          <p:nvPr/>
        </p:nvSpPr>
        <p:spPr>
          <a:xfrm>
            <a:off x="7267433" y="6177584"/>
            <a:ext cx="1842447" cy="523220"/>
          </a:xfrm>
          <a:prstGeom prst="rect">
            <a:avLst/>
          </a:prstGeom>
          <a:noFill/>
        </p:spPr>
        <p:txBody>
          <a:bodyPr wrap="square" rtlCol="1">
            <a:spAutoFit/>
          </a:bodyPr>
          <a:lstStyle/>
          <a:p>
            <a:r>
              <a:rPr lang="he-IL" sz="2800" b="1" dirty="0" smtClean="0"/>
              <a:t>אפוד הכהן</a:t>
            </a:r>
            <a:endParaRPr lang="he-IL" sz="2800" b="1" dirty="0"/>
          </a:p>
        </p:txBody>
      </p:sp>
      <p:cxnSp>
        <p:nvCxnSpPr>
          <p:cNvPr id="7" name="מחבר חץ ישר 6"/>
          <p:cNvCxnSpPr/>
          <p:nvPr/>
        </p:nvCxnSpPr>
        <p:spPr>
          <a:xfrm flipV="1">
            <a:off x="8468434" y="5497499"/>
            <a:ext cx="402610" cy="9280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מחבר חץ ישר 7"/>
          <p:cNvCxnSpPr/>
          <p:nvPr/>
        </p:nvCxnSpPr>
        <p:spPr>
          <a:xfrm flipH="1" flipV="1">
            <a:off x="7929349" y="5341910"/>
            <a:ext cx="218364" cy="9280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Google Shape;130;p19"/>
          <p:cNvSpPr txBox="1"/>
          <p:nvPr/>
        </p:nvSpPr>
        <p:spPr>
          <a:xfrm>
            <a:off x="9565697" y="3422983"/>
            <a:ext cx="2471628" cy="3046948"/>
          </a:xfrm>
          <a:prstGeom prst="rect">
            <a:avLst/>
          </a:prstGeom>
          <a:solidFill>
            <a:schemeClr val="accent2">
              <a:lumMod val="40000"/>
              <a:lumOff val="60000"/>
            </a:schemeClr>
          </a:solidFill>
          <a:ln w="38100" cap="flat" cmpd="sng">
            <a:solidFill>
              <a:srgbClr val="C55A11"/>
            </a:solidFill>
            <a:prstDash val="solid"/>
            <a:round/>
            <a:headEnd type="none" w="sm" len="sm"/>
            <a:tailEnd type="none" w="sm" len="sm"/>
          </a:ln>
        </p:spPr>
        <p:txBody>
          <a:bodyPr spcFirstLastPara="1" wrap="square" lIns="91425" tIns="45700" rIns="91425" bIns="45700" anchor="t" anchorCtr="0">
            <a:spAutoFit/>
          </a:bodyPr>
          <a:lstStyle/>
          <a:p>
            <a:pPr marL="0" marR="0" lvl="0" indent="0" rtl="1">
              <a:lnSpc>
                <a:spcPct val="100000"/>
              </a:lnSpc>
              <a:spcBef>
                <a:spcPts val="0"/>
              </a:spcBef>
              <a:spcAft>
                <a:spcPts val="0"/>
              </a:spcAft>
              <a:buClr>
                <a:srgbClr val="000000"/>
              </a:buClr>
              <a:buSzPts val="3600"/>
              <a:buFont typeface="Arial"/>
              <a:buNone/>
            </a:pPr>
            <a:r>
              <a:rPr lang="he-IL" sz="2400" b="1" i="0" u="none" strike="noStrike" cap="none" dirty="0" smtClean="0">
                <a:solidFill>
                  <a:schemeClr val="dk1"/>
                </a:solidFill>
                <a:latin typeface="David" panose="020E0502060401010101" pitchFamily="34" charset="-79"/>
                <a:ea typeface="Narkisim"/>
                <a:cs typeface="David" panose="020E0502060401010101" pitchFamily="34" charset="-79"/>
                <a:sym typeface="Narkisim"/>
              </a:rPr>
              <a:t>האפוד של הכהן מכפר על עבודה זרה, </a:t>
            </a:r>
            <a:r>
              <a:rPr lang="he-IL" sz="2400" b="0" i="0" u="none" strike="noStrike" cap="none" dirty="0" smtClean="0">
                <a:solidFill>
                  <a:schemeClr val="dk1"/>
                </a:solidFill>
                <a:latin typeface="David" panose="020E0502060401010101" pitchFamily="34" charset="-79"/>
                <a:ea typeface="Narkisim"/>
                <a:cs typeface="David" panose="020E0502060401010101" pitchFamily="34" charset="-79"/>
                <a:sym typeface="Narkisim"/>
              </a:rPr>
              <a:t>וכיוון שגדעון ביער  העבודה זרה מהעולם שנקרא "</a:t>
            </a:r>
            <a:r>
              <a:rPr lang="he-IL" sz="2400" b="0" i="0" u="none" strike="noStrike" cap="none" dirty="0" err="1" smtClean="0">
                <a:solidFill>
                  <a:schemeClr val="dk1"/>
                </a:solidFill>
                <a:latin typeface="David" panose="020E0502060401010101" pitchFamily="34" charset="-79"/>
                <a:ea typeface="Narkisim"/>
                <a:cs typeface="David" panose="020E0502060401010101" pitchFamily="34" charset="-79"/>
                <a:sym typeface="Narkisim"/>
              </a:rPr>
              <a:t>ירובעל</a:t>
            </a:r>
            <a:r>
              <a:rPr lang="he-IL" sz="2400" b="0" i="0" u="none" strike="noStrike" cap="none" dirty="0" smtClean="0">
                <a:solidFill>
                  <a:schemeClr val="dk1"/>
                </a:solidFill>
                <a:latin typeface="David" panose="020E0502060401010101" pitchFamily="34" charset="-79"/>
                <a:ea typeface="Narkisim"/>
                <a:cs typeface="David" panose="020E0502060401010101" pitchFamily="34" charset="-79"/>
                <a:sym typeface="Narkisim"/>
              </a:rPr>
              <a:t>" לכן עשה אפוד וחשב לטובה לזיכרון.</a:t>
            </a:r>
            <a:endParaRPr sz="2400" b="0" i="0" u="none" strike="noStrike" cap="none" dirty="0">
              <a:solidFill>
                <a:schemeClr val="dk1"/>
              </a:solidFill>
              <a:latin typeface="David" panose="020E0502060401010101" pitchFamily="34" charset="-79"/>
              <a:ea typeface="Narkisim"/>
              <a:cs typeface="David" panose="020E0502060401010101" pitchFamily="34" charset="-79"/>
              <a:sym typeface="Narkisim"/>
            </a:endParaRPr>
          </a:p>
        </p:txBody>
      </p:sp>
    </p:spTree>
    <p:extLst>
      <p:ext uri="{BB962C8B-B14F-4D97-AF65-F5344CB8AC3E}">
        <p14:creationId xmlns:p14="http://schemas.microsoft.com/office/powerpoint/2010/main" val="2360772052"/>
      </p:ext>
    </p:extLst>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barn(inVertical)">
                                      <p:cBhvr>
                                        <p:cTn id="14" dur="500"/>
                                        <p:tgtEl>
                                          <p:spTgt spid="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inVertical)">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ircle(in)">
                                      <p:cBhvr>
                                        <p:cTn id="24" dur="2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arn(inVertical)">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1183" y="172459"/>
            <a:ext cx="5870310" cy="6001643"/>
          </a:xfrm>
          <a:prstGeom prst="rect">
            <a:avLst/>
          </a:prstGeom>
          <a:solidFill>
            <a:schemeClr val="accent2">
              <a:lumMod val="60000"/>
              <a:lumOff val="4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כט</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גדעון סיים את מלחמתו ושב חזרה לביתו וישב שם בשלווה , לא חיפש שררה וכבוד .</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ל': </a:t>
            </a:r>
            <a:r>
              <a:rPr lang="he-IL" sz="3200" dirty="0">
                <a:latin typeface="David" panose="020E0502060401010101" pitchFamily="34" charset="-79"/>
                <a:cs typeface="David" panose="020E0502060401010101" pitchFamily="34" charset="-79"/>
              </a:rPr>
              <a:t>גדעון הלך ונשא נשים רבות </a:t>
            </a:r>
            <a:r>
              <a:rPr lang="he-IL" sz="3200" b="1" dirty="0">
                <a:latin typeface="David" panose="020E0502060401010101" pitchFamily="34" charset="-79"/>
                <a:cs typeface="David" panose="020E0502060401010101" pitchFamily="34" charset="-79"/>
              </a:rPr>
              <a:t>ונולדו מהם 70 בנים </a:t>
            </a:r>
            <a:r>
              <a:rPr lang="he-IL" sz="3200" dirty="0">
                <a:latin typeface="David" panose="020E0502060401010101" pitchFamily="34" charset="-79"/>
                <a:cs typeface="David" panose="020E0502060401010101" pitchFamily="34" charset="-79"/>
              </a:rPr>
              <a:t>שיצאו ממנו, חז"ל מפרשים שהם היו צדיקים ואהבו אחד את השני ולא רבו ביניהם וזה שימח את גדעון מאד. </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לא': </a:t>
            </a:r>
            <a:r>
              <a:rPr lang="he-IL" sz="3200" dirty="0">
                <a:latin typeface="David" panose="020E0502060401010101" pitchFamily="34" charset="-79"/>
                <a:cs typeface="David" panose="020E0502060401010101" pitchFamily="34" charset="-79"/>
              </a:rPr>
              <a:t>לגדעון הייתה חצי אישה (פילגש) אישה שנשואה אך ללא כתובה, והיא הייתה בשכם</a:t>
            </a:r>
            <a:r>
              <a:rPr lang="he-IL" sz="3200" b="1" dirty="0">
                <a:latin typeface="David" panose="020E0502060401010101" pitchFamily="34" charset="-79"/>
                <a:cs typeface="David" panose="020E0502060401010101" pitchFamily="34" charset="-79"/>
              </a:rPr>
              <a:t> ונולד לו ממנה בן ושם את שמו אבימלך.</a:t>
            </a:r>
            <a:endParaRPr lang="he-IL" sz="3200" b="1" dirty="0">
              <a:latin typeface="David" panose="020E0502060401010101" pitchFamily="34" charset="-79"/>
              <a:cs typeface="David" panose="020E0502060401010101" pitchFamily="34" charset="-79"/>
            </a:endParaRPr>
          </a:p>
        </p:txBody>
      </p:sp>
      <p:sp>
        <p:nvSpPr>
          <p:cNvPr id="2" name="מלבן 1"/>
          <p:cNvSpPr/>
          <p:nvPr/>
        </p:nvSpPr>
        <p:spPr>
          <a:xfrm>
            <a:off x="6332560" y="172459"/>
            <a:ext cx="5663821" cy="2554545"/>
          </a:xfrm>
          <a:prstGeom prst="rect">
            <a:avLst/>
          </a:prstGeom>
          <a:blipFill>
            <a:blip r:embed="rId2"/>
            <a:tile tx="0" ty="0" sx="100000" sy="100000" flip="none" algn="tl"/>
          </a:blipFill>
        </p:spPr>
        <p:txBody>
          <a:bodyPr wrap="square">
            <a:spAutoFit/>
          </a:bodyPr>
          <a:lstStyle/>
          <a:p>
            <a:r>
              <a:rPr lang="he-IL" sz="3200" b="1" dirty="0" err="1">
                <a:latin typeface="David" panose="020E0502060401010101" pitchFamily="34" charset="-79"/>
                <a:cs typeface="David" panose="020E0502060401010101" pitchFamily="34" charset="-79"/>
              </a:rPr>
              <a:t>כט</a:t>
            </a:r>
            <a:r>
              <a:rPr lang="he-IL" sz="3200" dirty="0">
                <a:latin typeface="David" panose="020E0502060401010101" pitchFamily="34" charset="-79"/>
                <a:cs typeface="David" panose="020E0502060401010101" pitchFamily="34" charset="-79"/>
              </a:rPr>
              <a:t> וַיֵּלֶךְ </a:t>
            </a:r>
            <a:r>
              <a:rPr lang="he-IL" sz="3200" dirty="0" err="1">
                <a:latin typeface="David" panose="020E0502060401010101" pitchFamily="34" charset="-79"/>
                <a:cs typeface="David" panose="020E0502060401010101" pitchFamily="34" charset="-79"/>
              </a:rPr>
              <a:t>יְרֻבַּעַל</a:t>
            </a:r>
            <a:r>
              <a:rPr lang="he-IL" sz="3200" dirty="0">
                <a:latin typeface="David" panose="020E0502060401010101" pitchFamily="34" charset="-79"/>
                <a:cs typeface="David" panose="020E0502060401010101" pitchFamily="34" charset="-79"/>
              </a:rPr>
              <a:t> בֶּן-יוֹאָשׁ, וַיֵּשֶׁב בְּבֵיתוֹ.  </a:t>
            </a:r>
            <a:r>
              <a:rPr lang="he-IL" sz="3200" b="1" dirty="0">
                <a:latin typeface="David" panose="020E0502060401010101" pitchFamily="34" charset="-79"/>
                <a:cs typeface="David" panose="020E0502060401010101" pitchFamily="34" charset="-79"/>
              </a:rPr>
              <a:t>ל</a:t>
            </a:r>
            <a:r>
              <a:rPr lang="he-IL" sz="3200" dirty="0">
                <a:latin typeface="David" panose="020E0502060401010101" pitchFamily="34" charset="-79"/>
                <a:cs typeface="David" panose="020E0502060401010101" pitchFamily="34" charset="-79"/>
              </a:rPr>
              <a:t> וּלְגִדְעוֹן, הָיוּ </a:t>
            </a:r>
            <a:r>
              <a:rPr lang="he-IL" sz="3200" b="1" dirty="0">
                <a:latin typeface="David" panose="020E0502060401010101" pitchFamily="34" charset="-79"/>
                <a:cs typeface="David" panose="020E0502060401010101" pitchFamily="34" charset="-79"/>
              </a:rPr>
              <a:t>שִׁבְעִים בָּנִים</a:t>
            </a:r>
            <a:r>
              <a:rPr lang="he-IL" sz="3200" dirty="0">
                <a:latin typeface="David" panose="020E0502060401010101" pitchFamily="34" charset="-79"/>
                <a:cs typeface="David" panose="020E0502060401010101" pitchFamily="34" charset="-79"/>
              </a:rPr>
              <a:t>, יֹצְאֵי, יְרֵכוֹ:  כִּי-נָשִׁים רַבּוֹת, הָיוּ לוֹ. </a:t>
            </a:r>
            <a:r>
              <a:rPr lang="he-IL" sz="3200" b="1" dirty="0">
                <a:latin typeface="David" panose="020E0502060401010101" pitchFamily="34" charset="-79"/>
                <a:cs typeface="David" panose="020E0502060401010101" pitchFamily="34" charset="-79"/>
              </a:rPr>
              <a:t> </a:t>
            </a:r>
            <a:endParaRPr lang="he-IL" sz="3200" b="1" dirty="0" smtClean="0">
              <a:latin typeface="David" panose="020E0502060401010101" pitchFamily="34" charset="-79"/>
              <a:cs typeface="David" panose="020E0502060401010101" pitchFamily="34" charset="-79"/>
            </a:endParaRPr>
          </a:p>
          <a:p>
            <a:r>
              <a:rPr lang="he-IL" sz="3200" b="1" dirty="0" smtClean="0">
                <a:latin typeface="David" panose="020E0502060401010101" pitchFamily="34" charset="-79"/>
                <a:cs typeface="David" panose="020E0502060401010101" pitchFamily="34" charset="-79"/>
              </a:rPr>
              <a:t>לא </a:t>
            </a:r>
            <a:r>
              <a:rPr lang="he-IL" sz="3200" dirty="0">
                <a:latin typeface="David" panose="020E0502060401010101" pitchFamily="34" charset="-79"/>
                <a:cs typeface="David" panose="020E0502060401010101" pitchFamily="34" charset="-79"/>
              </a:rPr>
              <a:t>וּפִילַגְשׁוֹ אֲשֶׁר בִּשְׁכֶם, יָלְדָה-לּוֹ גַם-הִיא בֵּן; </a:t>
            </a:r>
            <a:r>
              <a:rPr lang="he-IL" sz="3200" b="1" dirty="0">
                <a:latin typeface="David" panose="020E0502060401010101" pitchFamily="34" charset="-79"/>
                <a:cs typeface="David" panose="020E0502060401010101" pitchFamily="34" charset="-79"/>
              </a:rPr>
              <a:t>וַיָּשֶׂם אֶת-שְׁמוֹ, אֲבִימֶלֶךְ</a:t>
            </a:r>
            <a:r>
              <a:rPr lang="he-IL" sz="3200" dirty="0">
                <a:latin typeface="David" panose="020E0502060401010101" pitchFamily="34" charset="-79"/>
                <a:cs typeface="David" panose="020E0502060401010101" pitchFamily="34" charset="-79"/>
              </a:rPr>
              <a:t>.  </a:t>
            </a:r>
            <a:endParaRPr lang="he-IL" sz="3200" dirty="0" smtClean="0">
              <a:latin typeface="David" panose="020E0502060401010101" pitchFamily="34" charset="-79"/>
              <a:cs typeface="David" panose="020E0502060401010101" pitchFamily="34" charset="-79"/>
            </a:endParaRPr>
          </a:p>
        </p:txBody>
      </p:sp>
      <p:sp>
        <p:nvSpPr>
          <p:cNvPr id="5" name="TextBox 4"/>
          <p:cNvSpPr txBox="1"/>
          <p:nvPr/>
        </p:nvSpPr>
        <p:spPr>
          <a:xfrm>
            <a:off x="6604983" y="3173280"/>
            <a:ext cx="5391398" cy="1191816"/>
          </a:xfrm>
          <a:prstGeom prst="flowChartAlternateProcess">
            <a:avLst/>
          </a:prstGeom>
          <a:solidFill>
            <a:schemeClr val="accent6">
              <a:lumMod val="60000"/>
              <a:lumOff val="40000"/>
            </a:schemeClr>
          </a:solidFill>
          <a:ln w="38100">
            <a:solidFill>
              <a:schemeClr val="tx1"/>
            </a:solidFill>
          </a:ln>
        </p:spPr>
        <p:txBody>
          <a:bodyPr wrap="square" rtlCol="1">
            <a:spAutoFit/>
          </a:bodyPr>
          <a:lstStyle/>
          <a:p>
            <a:r>
              <a:rPr lang="he-IL" sz="3200" dirty="0" smtClean="0">
                <a:latin typeface="David" panose="020E0502060401010101" pitchFamily="34" charset="-79"/>
                <a:cs typeface="David" panose="020E0502060401010101" pitchFamily="34" charset="-79"/>
              </a:rPr>
              <a:t>"וישם את שמו אבימלך"- לרמז שהוא יהיה מלך אחרי כן. </a:t>
            </a:r>
            <a:endParaRPr lang="he-IL" sz="32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24388056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wipe(down)">
                                      <p:cBhvr>
                                        <p:cTn id="14" dur="500"/>
                                        <p:tgtEl>
                                          <p:spTgt spid="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circle(in)">
                                      <p:cBhvr>
                                        <p:cTn id="19" dur="2000"/>
                                        <p:tgtEl>
                                          <p:spTgt spid="4">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9296" y="199754"/>
            <a:ext cx="5391398" cy="4031873"/>
          </a:xfrm>
          <a:prstGeom prst="rect">
            <a:avLst/>
          </a:prstGeom>
          <a:solidFill>
            <a:schemeClr val="accent3">
              <a:lumMod val="60000"/>
              <a:lumOff val="4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לב': </a:t>
            </a:r>
            <a:r>
              <a:rPr lang="he-IL" sz="3200" dirty="0">
                <a:latin typeface="David" panose="020E0502060401010101" pitchFamily="34" charset="-79"/>
                <a:cs typeface="David" panose="020E0502060401010101" pitchFamily="34" charset="-79"/>
              </a:rPr>
              <a:t>גדעון חי בשמחה מכיוון שהיו לו בנים צדיקים ובגלל זה נאמר עליו "בשיבה טובה" </a:t>
            </a:r>
            <a:endParaRPr lang="he-IL" sz="3200" dirty="0" smtClean="0">
              <a:latin typeface="David" panose="020E0502060401010101" pitchFamily="34" charset="-79"/>
              <a:cs typeface="David" panose="020E0502060401010101" pitchFamily="34" charset="-79"/>
            </a:endParaRPr>
          </a:p>
          <a:p>
            <a:r>
              <a:rPr lang="he-IL" sz="3200" dirty="0" smtClean="0">
                <a:latin typeface="David" panose="020E0502060401010101" pitchFamily="34" charset="-79"/>
                <a:cs typeface="David" panose="020E0502060401010101" pitchFamily="34" charset="-79"/>
              </a:rPr>
              <a:t>(</a:t>
            </a:r>
            <a:r>
              <a:rPr lang="he-IL" sz="3200" b="1" dirty="0">
                <a:latin typeface="David" panose="020E0502060401010101" pitchFamily="34" charset="-79"/>
                <a:cs typeface="David" panose="020E0502060401010101" pitchFamily="34" charset="-79"/>
              </a:rPr>
              <a:t>שלושה בני אדם נאמר עליהם שמתו בשיבה טובה- אברהם אבינו ודוד המלך וגדעון</a:t>
            </a:r>
            <a:r>
              <a:rPr lang="he-IL" sz="3200" dirty="0">
                <a:latin typeface="David" panose="020E0502060401010101" pitchFamily="34" charset="-79"/>
                <a:cs typeface="David" panose="020E0502060401010101" pitchFamily="34" charset="-79"/>
              </a:rPr>
              <a:t>) ומת ונקבר בקבר של יואש אביו שנמצא בעופרה בנחלת משפחת אביעזר.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005014" y="199754"/>
            <a:ext cx="5854889" cy="1569660"/>
          </a:xfrm>
          <a:prstGeom prst="rect">
            <a:avLst/>
          </a:prstGeom>
          <a:solidFill>
            <a:schemeClr val="accent4">
              <a:lumMod val="60000"/>
              <a:lumOff val="40000"/>
            </a:schemeClr>
          </a:solidFill>
        </p:spPr>
        <p:txBody>
          <a:bodyPr wrap="square">
            <a:spAutoFit/>
          </a:bodyPr>
          <a:lstStyle/>
          <a:p>
            <a:pPr lvl="0"/>
            <a:r>
              <a:rPr lang="he-IL" sz="3200" b="1" dirty="0">
                <a:solidFill>
                  <a:prstClr val="black"/>
                </a:solidFill>
                <a:latin typeface="David" panose="020E0502060401010101" pitchFamily="34" charset="-79"/>
                <a:cs typeface="David" panose="020E0502060401010101" pitchFamily="34" charset="-79"/>
              </a:rPr>
              <a:t>לב</a:t>
            </a:r>
            <a:r>
              <a:rPr lang="he-IL" sz="3200" dirty="0">
                <a:solidFill>
                  <a:prstClr val="black"/>
                </a:solidFill>
                <a:latin typeface="David" panose="020E0502060401010101" pitchFamily="34" charset="-79"/>
                <a:cs typeface="David" panose="020E0502060401010101" pitchFamily="34" charset="-79"/>
              </a:rPr>
              <a:t> וַיָּמָת גִּדְעוֹן בֶּן-יוֹאָשׁ, </a:t>
            </a:r>
            <a:r>
              <a:rPr lang="he-IL" sz="3200" b="1" dirty="0">
                <a:solidFill>
                  <a:prstClr val="black"/>
                </a:solidFill>
                <a:latin typeface="David" panose="020E0502060401010101" pitchFamily="34" charset="-79"/>
                <a:cs typeface="David" panose="020E0502060401010101" pitchFamily="34" charset="-79"/>
              </a:rPr>
              <a:t>בְּשֵׂיבָה טוֹבָה</a:t>
            </a:r>
            <a:r>
              <a:rPr lang="he-IL" sz="3200" dirty="0">
                <a:solidFill>
                  <a:prstClr val="black"/>
                </a:solidFill>
                <a:latin typeface="David" panose="020E0502060401010101" pitchFamily="34" charset="-79"/>
                <a:cs typeface="David" panose="020E0502060401010101" pitchFamily="34" charset="-79"/>
              </a:rPr>
              <a:t>; וַיִּקָּבֵר, בְּקֶבֶר יוֹאָשׁ אָבִיו, בְּעָפְרָה, אֲבִי </a:t>
            </a:r>
            <a:r>
              <a:rPr lang="he-IL" sz="3200" dirty="0" err="1">
                <a:solidFill>
                  <a:prstClr val="black"/>
                </a:solidFill>
                <a:latin typeface="David" panose="020E0502060401010101" pitchFamily="34" charset="-79"/>
                <a:cs typeface="David" panose="020E0502060401010101" pitchFamily="34" charset="-79"/>
              </a:rPr>
              <a:t>הָעֶזְרִי</a:t>
            </a:r>
            <a:r>
              <a:rPr lang="he-IL" sz="3200" dirty="0">
                <a:solidFill>
                  <a:prstClr val="black"/>
                </a:solidFill>
                <a:latin typeface="David" panose="020E0502060401010101" pitchFamily="34" charset="-79"/>
                <a:cs typeface="David" panose="020E0502060401010101" pitchFamily="34" charset="-79"/>
              </a:rPr>
              <a:t>. </a:t>
            </a:r>
            <a:endParaRPr lang="he-IL" sz="3200" dirty="0">
              <a:solidFill>
                <a:prstClr val="black"/>
              </a:solidFill>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2"/>
          <a:stretch>
            <a:fillRect/>
          </a:stretch>
        </p:blipFill>
        <p:spPr>
          <a:xfrm>
            <a:off x="6977914" y="1923776"/>
            <a:ext cx="4881989" cy="3656779"/>
          </a:xfrm>
          <a:prstGeom prst="rect">
            <a:avLst/>
          </a:prstGeom>
        </p:spPr>
      </p:pic>
      <p:sp>
        <p:nvSpPr>
          <p:cNvPr id="5" name="מלבן 4"/>
          <p:cNvSpPr/>
          <p:nvPr/>
        </p:nvSpPr>
        <p:spPr>
          <a:xfrm>
            <a:off x="5763903" y="5747595"/>
            <a:ext cx="6096000" cy="954107"/>
          </a:xfrm>
          <a:prstGeom prst="rect">
            <a:avLst/>
          </a:prstGeom>
          <a:solidFill>
            <a:schemeClr val="accent2">
              <a:lumMod val="60000"/>
              <a:lumOff val="40000"/>
            </a:schemeClr>
          </a:solidFill>
        </p:spPr>
        <p:txBody>
          <a:bodyPr>
            <a:spAutoFit/>
          </a:bodyPr>
          <a:lstStyle/>
          <a:p>
            <a:r>
              <a:rPr lang="he-IL" sz="2800" dirty="0" smtClean="0">
                <a:latin typeface="David" panose="020E0502060401010101" pitchFamily="34" charset="-79"/>
                <a:cs typeface="David" panose="020E0502060401010101" pitchFamily="34" charset="-79"/>
              </a:rPr>
              <a:t>קבר </a:t>
            </a:r>
            <a:r>
              <a:rPr lang="he-IL" sz="2800" dirty="0">
                <a:latin typeface="David" panose="020E0502060401010101" pitchFamily="34" charset="-79"/>
                <a:cs typeface="David" panose="020E0502060401010101" pitchFamily="34" charset="-79"/>
              </a:rPr>
              <a:t>המיוחס לגדעון נמצא ברכס </a:t>
            </a:r>
            <a:r>
              <a:rPr lang="he-IL" sz="2800" dirty="0" err="1">
                <a:latin typeface="David" panose="020E0502060401010101" pitchFamily="34" charset="-79"/>
                <a:cs typeface="David" panose="020E0502060401010101" pitchFamily="34" charset="-79"/>
              </a:rPr>
              <a:t>גדעונים</a:t>
            </a:r>
            <a:r>
              <a:rPr lang="he-IL" sz="2800" dirty="0">
                <a:latin typeface="David" panose="020E0502060401010101" pitchFamily="34" charset="-79"/>
                <a:cs typeface="David" panose="020E0502060401010101" pitchFamily="34" charset="-79"/>
              </a:rPr>
              <a:t> (בערבית "ג'בל </a:t>
            </a:r>
            <a:r>
              <a:rPr lang="he-IL" sz="2800" dirty="0" err="1">
                <a:latin typeface="David" panose="020E0502060401010101" pitchFamily="34" charset="-79"/>
                <a:cs typeface="David" panose="020E0502060401010101" pitchFamily="34" charset="-79"/>
              </a:rPr>
              <a:t>ג'דוע</a:t>
            </a:r>
            <a:r>
              <a:rPr lang="he-IL" sz="2800" dirty="0">
                <a:latin typeface="David" panose="020E0502060401010101" pitchFamily="34" charset="-79"/>
                <a:cs typeface="David" panose="020E0502060401010101" pitchFamily="34" charset="-79"/>
              </a:rPr>
              <a:t>"), סמוך ליישוב איתמר </a:t>
            </a:r>
          </a:p>
        </p:txBody>
      </p:sp>
    </p:spTree>
    <p:extLst>
      <p:ext uri="{BB962C8B-B14F-4D97-AF65-F5344CB8AC3E}">
        <p14:creationId xmlns:p14="http://schemas.microsoft.com/office/powerpoint/2010/main" val="14460151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2126" y="199753"/>
            <a:ext cx="5391398" cy="6124754"/>
          </a:xfrm>
          <a:prstGeom prst="rect">
            <a:avLst/>
          </a:prstGeom>
          <a:solidFill>
            <a:schemeClr val="accent2">
              <a:lumMod val="60000"/>
              <a:lumOff val="40000"/>
            </a:schemeClr>
          </a:solidFill>
          <a:ln w="38100">
            <a:solidFill>
              <a:schemeClr val="tx1"/>
            </a:solidFill>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לג': </a:t>
            </a:r>
            <a:r>
              <a:rPr lang="he-IL" sz="3000" dirty="0">
                <a:latin typeface="David" panose="020E0502060401010101" pitchFamily="34" charset="-79"/>
                <a:cs typeface="David" panose="020E0502060401010101" pitchFamily="34" charset="-79"/>
              </a:rPr>
              <a:t>וכמו שראינו לאחר שהשופט מת בני ישראל חוזרים לעבוד עבודה זרה </a:t>
            </a:r>
            <a:r>
              <a:rPr lang="he-IL" sz="3000" b="1" dirty="0">
                <a:latin typeface="David" panose="020E0502060401010101" pitchFamily="34" charset="-79"/>
                <a:cs typeface="David" panose="020E0502060401010101" pitchFamily="34" charset="-79"/>
              </a:rPr>
              <a:t>היה להם פסל שנקרא "בעל ברית" </a:t>
            </a:r>
            <a:r>
              <a:rPr lang="he-IL" sz="3000" dirty="0">
                <a:latin typeface="David" panose="020E0502060401010101" pitchFamily="34" charset="-79"/>
                <a:cs typeface="David" panose="020E0502060401010101" pitchFamily="34" charset="-79"/>
              </a:rPr>
              <a:t>והיו עובדים אליו, ובנוסף גם עבדו לאפוד שעשה גדעון. </a:t>
            </a:r>
          </a:p>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לד': </a:t>
            </a:r>
            <a:r>
              <a:rPr lang="he-IL" sz="3000" dirty="0">
                <a:latin typeface="David" panose="020E0502060401010101" pitchFamily="34" charset="-79"/>
                <a:cs typeface="David" panose="020E0502060401010101" pitchFamily="34" charset="-79"/>
              </a:rPr>
              <a:t>ולא זכרו בני ישראל לעבוד את ה' </a:t>
            </a:r>
            <a:r>
              <a:rPr lang="he-IL" sz="3000" dirty="0" err="1">
                <a:latin typeface="David" panose="020E0502060401010101" pitchFamily="34" charset="-79"/>
                <a:cs typeface="David" panose="020E0502060401010101" pitchFamily="34" charset="-79"/>
              </a:rPr>
              <a:t>אלוההם</a:t>
            </a:r>
            <a:r>
              <a:rPr lang="he-IL" sz="3000" dirty="0">
                <a:latin typeface="David" panose="020E0502060401010101" pitchFamily="34" charset="-79"/>
                <a:cs typeface="David" panose="020E0502060401010101" pitchFamily="34" charset="-79"/>
              </a:rPr>
              <a:t> שהציל אותם מיד כל האויבים שלהם מסביב ושעשה להם נס וניצחו את מדיין ועמלק.</a:t>
            </a:r>
          </a:p>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לה': </a:t>
            </a:r>
            <a:r>
              <a:rPr lang="he-IL" sz="3000" dirty="0">
                <a:latin typeface="David" panose="020E0502060401010101" pitchFamily="34" charset="-79"/>
                <a:cs typeface="David" panose="020E0502060401010101" pitchFamily="34" charset="-79"/>
              </a:rPr>
              <a:t>ולא עשו בני ישראל חסד עם בית </a:t>
            </a:r>
            <a:r>
              <a:rPr lang="he-IL" sz="3000" dirty="0" err="1">
                <a:latin typeface="David" panose="020E0502060401010101" pitchFamily="34" charset="-79"/>
                <a:cs typeface="David" panose="020E0502060401010101" pitchFamily="34" charset="-79"/>
              </a:rPr>
              <a:t>ירובעל</a:t>
            </a:r>
            <a:r>
              <a:rPr lang="he-IL" sz="3000" dirty="0">
                <a:latin typeface="David" panose="020E0502060401010101" pitchFamily="34" charset="-79"/>
                <a:cs typeface="David" panose="020E0502060401010101" pitchFamily="34" charset="-79"/>
              </a:rPr>
              <a:t> והבנים של גדעון ככל הטובה שעשו עם ישראל והושיעו אותם משעבוד גדעון</a:t>
            </a:r>
            <a:r>
              <a:rPr lang="he-IL" sz="3200" dirty="0">
                <a:latin typeface="David" panose="020E0502060401010101" pitchFamily="34" charset="-79"/>
                <a:cs typeface="David" panose="020E0502060401010101" pitchFamily="34" charset="-79"/>
              </a:rPr>
              <a:t>.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5923129" y="104218"/>
            <a:ext cx="6114196" cy="4031873"/>
          </a:xfrm>
          <a:prstGeom prst="rect">
            <a:avLst/>
          </a:prstGeom>
          <a:solidFill>
            <a:schemeClr val="accent1">
              <a:lumMod val="60000"/>
              <a:lumOff val="40000"/>
            </a:schemeClr>
          </a:solidFill>
        </p:spPr>
        <p:txBody>
          <a:bodyPr wrap="square">
            <a:spAutoFit/>
          </a:bodyPr>
          <a:lstStyle/>
          <a:p>
            <a:r>
              <a:rPr lang="he-IL" sz="3200" b="1" dirty="0">
                <a:latin typeface="David" panose="020E0502060401010101" pitchFamily="34" charset="-79"/>
                <a:cs typeface="David" panose="020E0502060401010101" pitchFamily="34" charset="-79"/>
              </a:rPr>
              <a:t>לג</a:t>
            </a:r>
            <a:r>
              <a:rPr lang="he-IL" sz="3200" dirty="0">
                <a:latin typeface="David" panose="020E0502060401010101" pitchFamily="34" charset="-79"/>
                <a:cs typeface="David" panose="020E0502060401010101" pitchFamily="34" charset="-79"/>
              </a:rPr>
              <a:t> וַיְהִי, כַּאֲשֶׁר מֵת גִּדְעוֹן, וַיָּשׁוּבוּ בְּנֵי יִשְׂרָאֵל, וַיִּזְנוּ אַחֲרֵי הַבְּעָלִים; וַיָּשִׂימוּ לָהֶם בַּעַל בְּרִית, </a:t>
            </a:r>
            <a:r>
              <a:rPr lang="he-IL" sz="3200" dirty="0" err="1">
                <a:latin typeface="David" panose="020E0502060401010101" pitchFamily="34" charset="-79"/>
                <a:cs typeface="David" panose="020E0502060401010101" pitchFamily="34" charset="-79"/>
              </a:rPr>
              <a:t>לֵאלֹהִים</a:t>
            </a:r>
            <a:r>
              <a:rPr lang="he-IL" sz="3200" dirty="0">
                <a:latin typeface="David" panose="020E0502060401010101" pitchFamily="34" charset="-79"/>
                <a:cs typeface="David" panose="020E0502060401010101" pitchFamily="34" charset="-79"/>
              </a:rPr>
              <a:t>.  </a:t>
            </a:r>
            <a:endParaRPr lang="he-IL" sz="3200" dirty="0" smtClean="0">
              <a:latin typeface="David" panose="020E0502060401010101" pitchFamily="34" charset="-79"/>
              <a:cs typeface="David" panose="020E0502060401010101" pitchFamily="34" charset="-79"/>
            </a:endParaRPr>
          </a:p>
          <a:p>
            <a:r>
              <a:rPr lang="he-IL" sz="3200" b="1" dirty="0" smtClean="0">
                <a:latin typeface="David" panose="020E0502060401010101" pitchFamily="34" charset="-79"/>
                <a:cs typeface="David" panose="020E0502060401010101" pitchFamily="34" charset="-79"/>
              </a:rPr>
              <a:t>לד</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וְלֹא זָכְרוּ בְּנֵי יִשְׂרָאֵל, אֶת-יְהוָה </a:t>
            </a:r>
            <a:r>
              <a:rPr lang="he-IL" sz="3200" dirty="0" err="1">
                <a:latin typeface="David" panose="020E0502060401010101" pitchFamily="34" charset="-79"/>
                <a:cs typeface="David" panose="020E0502060401010101" pitchFamily="34" charset="-79"/>
              </a:rPr>
              <a:t>אֱלֹהֵיהֶם</a:t>
            </a:r>
            <a:r>
              <a:rPr lang="he-IL" sz="3200" dirty="0">
                <a:latin typeface="David" panose="020E0502060401010101" pitchFamily="34" charset="-79"/>
                <a:cs typeface="David" panose="020E0502060401010101" pitchFamily="34" charset="-79"/>
              </a:rPr>
              <a:t>, הַמַּצִּיל אוֹתָם מִיַּד </a:t>
            </a:r>
            <a:r>
              <a:rPr lang="he-IL" sz="3200" dirty="0" err="1">
                <a:latin typeface="David" panose="020E0502060401010101" pitchFamily="34" charset="-79"/>
                <a:cs typeface="David" panose="020E0502060401010101" pitchFamily="34" charset="-79"/>
              </a:rPr>
              <a:t>כָּל-אֹיְבֵיהֶם</a:t>
            </a:r>
            <a:r>
              <a:rPr lang="he-IL" sz="3200" dirty="0">
                <a:latin typeface="David" panose="020E0502060401010101" pitchFamily="34" charset="-79"/>
                <a:cs typeface="David" panose="020E0502060401010101" pitchFamily="34" charset="-79"/>
              </a:rPr>
              <a:t>, מִסָּבִיב.  </a:t>
            </a:r>
            <a:endParaRPr lang="he-IL" sz="3200" dirty="0" smtClean="0">
              <a:latin typeface="David" panose="020E0502060401010101" pitchFamily="34" charset="-79"/>
              <a:cs typeface="David" panose="020E0502060401010101" pitchFamily="34" charset="-79"/>
            </a:endParaRPr>
          </a:p>
          <a:p>
            <a:r>
              <a:rPr lang="he-IL" sz="3200" b="1" dirty="0" smtClean="0">
                <a:latin typeface="David" panose="020E0502060401010101" pitchFamily="34" charset="-79"/>
                <a:cs typeface="David" panose="020E0502060401010101" pitchFamily="34" charset="-79"/>
              </a:rPr>
              <a:t>לה</a:t>
            </a:r>
            <a:r>
              <a:rPr lang="he-IL" sz="3200" dirty="0" smtClean="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וְלֹא-עָשׂוּ חֶסֶד, עִם-בֵּית </a:t>
            </a:r>
            <a:r>
              <a:rPr lang="he-IL" sz="3200" b="1" dirty="0" err="1">
                <a:latin typeface="David" panose="020E0502060401010101" pitchFamily="34" charset="-79"/>
                <a:cs typeface="David" panose="020E0502060401010101" pitchFamily="34" charset="-79"/>
              </a:rPr>
              <a:t>יְרֻבַּעַל</a:t>
            </a:r>
            <a:r>
              <a:rPr lang="he-IL" sz="3200" b="1" dirty="0">
                <a:latin typeface="David" panose="020E0502060401010101" pitchFamily="34" charset="-79"/>
                <a:cs typeface="David" panose="020E0502060401010101" pitchFamily="34" charset="-79"/>
              </a:rPr>
              <a:t> גִּדְעוֹן</a:t>
            </a:r>
            <a:r>
              <a:rPr lang="he-IL" sz="3200" dirty="0">
                <a:latin typeface="David" panose="020E0502060401010101" pitchFamily="34" charset="-79"/>
                <a:cs typeface="David" panose="020E0502060401010101" pitchFamily="34" charset="-79"/>
              </a:rPr>
              <a:t>:  כְּכָל-הַטּוֹבָה--אֲשֶׁר עָשָׂה, עִם-יִשְׂרָאֵל.</a:t>
            </a:r>
          </a:p>
        </p:txBody>
      </p:sp>
    </p:spTree>
    <p:extLst>
      <p:ext uri="{BB962C8B-B14F-4D97-AF65-F5344CB8AC3E}">
        <p14:creationId xmlns:p14="http://schemas.microsoft.com/office/powerpoint/2010/main" val="23679468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67265" y="1550882"/>
            <a:ext cx="5391398" cy="4524315"/>
          </a:xfrm>
          <a:prstGeom prst="rect">
            <a:avLst/>
          </a:prstGeom>
          <a:solidFill>
            <a:schemeClr val="accent3">
              <a:lumMod val="60000"/>
              <a:lumOff val="40000"/>
            </a:schemeClr>
          </a:solidFill>
          <a:ln w="38100">
            <a:solidFill>
              <a:schemeClr val="tx1"/>
            </a:solidFill>
          </a:ln>
          <a:scene3d>
            <a:camera prst="perspectiveLeft"/>
            <a:lightRig rig="threePt" dir="t"/>
          </a:scene3d>
        </p:spPr>
        <p:txBody>
          <a:bodyPr wrap="square" rtlCol="1">
            <a:spAutoFit/>
          </a:bodyPr>
          <a:lstStyle/>
          <a:p>
            <a:r>
              <a:rPr lang="he-IL" sz="3200" dirty="0">
                <a:latin typeface="David" panose="020E0502060401010101" pitchFamily="34" charset="-79"/>
                <a:cs typeface="David" panose="020E0502060401010101" pitchFamily="34" charset="-79"/>
              </a:rPr>
              <a:t>סיפורו של גדעון שימש השראה לארגונים רבים מראשית הציונות, מ"ארגון בני המושבות" בעלייה הראשונה, (</a:t>
            </a:r>
            <a:r>
              <a:rPr lang="he-IL" sz="3200" dirty="0" err="1">
                <a:latin typeface="David" panose="020E0502060401010101" pitchFamily="34" charset="-79"/>
                <a:cs typeface="David" panose="020E0502060401010101" pitchFamily="34" charset="-79"/>
              </a:rPr>
              <a:t>הגדעונים</a:t>
            </a:r>
            <a:r>
              <a:rPr lang="he-IL" sz="3200" dirty="0">
                <a:latin typeface="David" panose="020E0502060401010101" pitchFamily="34" charset="-79"/>
                <a:cs typeface="David" panose="020E0502060401010101" pitchFamily="34" charset="-79"/>
              </a:rPr>
              <a:t>) ועד לצה"ל של ימינו. </a:t>
            </a:r>
            <a:endParaRPr lang="he-IL" sz="3200" dirty="0" smtClean="0">
              <a:latin typeface="David" panose="020E0502060401010101" pitchFamily="34" charset="-79"/>
              <a:cs typeface="David" panose="020E0502060401010101" pitchFamily="34" charset="-79"/>
            </a:endParaRPr>
          </a:p>
          <a:p>
            <a:r>
              <a:rPr lang="he-IL" sz="3200" dirty="0" smtClean="0">
                <a:latin typeface="David" panose="020E0502060401010101" pitchFamily="34" charset="-79"/>
                <a:cs typeface="David" panose="020E0502060401010101" pitchFamily="34" charset="-79"/>
              </a:rPr>
              <a:t>כמו </a:t>
            </a:r>
            <a:r>
              <a:rPr lang="he-IL" sz="3200" dirty="0">
                <a:latin typeface="David" panose="020E0502060401010101" pitchFamily="34" charset="-79"/>
                <a:cs typeface="David" panose="020E0502060401010101" pitchFamily="34" charset="-79"/>
              </a:rPr>
              <a:t>כן, על שמו יחידות בצה"ל (גדוד 13 בחטיבת גולני) ובמשטרה (</a:t>
            </a:r>
            <a:r>
              <a:rPr lang="he-IL" sz="3200" dirty="0" err="1">
                <a:latin typeface="David" panose="020E0502060401010101" pitchFamily="34" charset="-79"/>
                <a:cs typeface="David" panose="020E0502060401010101" pitchFamily="34" charset="-79"/>
              </a:rPr>
              <a:t>הגדעונים</a:t>
            </a:r>
            <a:r>
              <a:rPr lang="he-IL" sz="3200" dirty="0">
                <a:latin typeface="David" panose="020E0502060401010101" pitchFamily="34" charset="-79"/>
                <a:cs typeface="David" panose="020E0502060401010101" pitchFamily="34" charset="-79"/>
              </a:rPr>
              <a:t>). על שמו נקרא גם מבצע גדעון במלחמת העצמאות.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328663" y="0"/>
            <a:ext cx="4881465" cy="1015663"/>
          </a:xfrm>
          <a:prstGeom prst="rect">
            <a:avLst/>
          </a:prstGeom>
          <a:noFill/>
        </p:spPr>
        <p:txBody>
          <a:bodyPr wrap="none" lIns="91440" tIns="45720" rIns="91440" bIns="45720">
            <a:spAutoFit/>
          </a:bodyPr>
          <a:lstStyle/>
          <a:p>
            <a:pPr algn="l"/>
            <a:r>
              <a:rPr lang="he-IL" sz="6000" b="1" dirty="0">
                <a:solidFill>
                  <a:srgbClr val="000000"/>
                </a:solidFill>
                <a:latin typeface="Arial" panose="020B0604020202020204" pitchFamily="34" charset="0"/>
              </a:rPr>
              <a:t>מורשת והנצחה</a:t>
            </a:r>
            <a:endParaRPr lang="he-IL" sz="6000" b="1" i="0" dirty="0">
              <a:solidFill>
                <a:srgbClr val="000000"/>
              </a:solidFill>
              <a:effectLst/>
              <a:latin typeface="Arial" panose="020B0604020202020204" pitchFamily="34" charset="0"/>
            </a:endParaRPr>
          </a:p>
        </p:txBody>
      </p:sp>
      <p:pic>
        <p:nvPicPr>
          <p:cNvPr id="3" name="תמונה 2"/>
          <p:cNvPicPr>
            <a:picLocks noChangeAspect="1"/>
          </p:cNvPicPr>
          <p:nvPr/>
        </p:nvPicPr>
        <p:blipFill>
          <a:blip r:embed="rId2"/>
          <a:stretch>
            <a:fillRect/>
          </a:stretch>
        </p:blipFill>
        <p:spPr>
          <a:xfrm>
            <a:off x="339865" y="1106141"/>
            <a:ext cx="5543437" cy="270689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5" name="TextBox 4"/>
          <p:cNvSpPr txBox="1"/>
          <p:nvPr/>
        </p:nvSpPr>
        <p:spPr>
          <a:xfrm>
            <a:off x="504967" y="3813039"/>
            <a:ext cx="4531056" cy="1328023"/>
          </a:xfrm>
          <a:prstGeom prst="flowChartAlternateProcess">
            <a:avLst/>
          </a:prstGeom>
          <a:solidFill>
            <a:schemeClr val="accent6">
              <a:lumMod val="60000"/>
              <a:lumOff val="40000"/>
            </a:schemeClr>
          </a:solidFill>
          <a:ln w="38100">
            <a:solidFill>
              <a:schemeClr val="tx1"/>
            </a:solidFill>
          </a:ln>
        </p:spPr>
        <p:txBody>
          <a:bodyPr wrap="square" rtlCol="1">
            <a:spAutoFit/>
          </a:bodyPr>
          <a:lstStyle/>
          <a:p>
            <a:r>
              <a:rPr lang="he-IL" sz="2400" dirty="0">
                <a:latin typeface="David" panose="020E0502060401010101" pitchFamily="34" charset="-79"/>
                <a:cs typeface="David" panose="020E0502060401010101" pitchFamily="34" charset="-79"/>
              </a:rPr>
              <a:t>”מִמֶּנִּי תִרְאוּ וְכֵן תַּעֲשׂוּ” (שופטים ז', י"ז), </a:t>
            </a:r>
            <a:r>
              <a:rPr lang="he-IL" sz="2400" dirty="0" err="1">
                <a:latin typeface="David" panose="020E0502060401010101" pitchFamily="34" charset="-79"/>
                <a:cs typeface="David" panose="020E0502060401010101" pitchFamily="34" charset="-79"/>
              </a:rPr>
              <a:t>אימרתו</a:t>
            </a:r>
            <a:r>
              <a:rPr lang="he-IL" sz="2400" dirty="0">
                <a:latin typeface="David" panose="020E0502060401010101" pitchFamily="34" charset="-79"/>
                <a:cs typeface="David" panose="020E0502060401010101" pitchFamily="34" charset="-79"/>
              </a:rPr>
              <a:t> של גדעון כמוטו של בית הספר לקצינים</a:t>
            </a:r>
            <a:endParaRPr lang="he-IL" sz="2400" dirty="0">
              <a:latin typeface="David" panose="020E0502060401010101" pitchFamily="34" charset="-79"/>
              <a:cs typeface="David" panose="020E0502060401010101" pitchFamily="34" charset="-79"/>
            </a:endParaRPr>
          </a:p>
        </p:txBody>
      </p:sp>
      <p:sp>
        <p:nvSpPr>
          <p:cNvPr id="6" name="מלבן 5"/>
          <p:cNvSpPr/>
          <p:nvPr/>
        </p:nvSpPr>
        <p:spPr>
          <a:xfrm>
            <a:off x="1880753" y="5442719"/>
            <a:ext cx="4586512" cy="1077218"/>
          </a:xfrm>
          <a:prstGeom prst="rect">
            <a:avLst/>
          </a:prstGeom>
          <a:solidFill>
            <a:schemeClr val="accent4">
              <a:lumMod val="60000"/>
              <a:lumOff val="40000"/>
            </a:schemeClr>
          </a:solidFill>
          <a:scene3d>
            <a:camera prst="perspectiveRight"/>
            <a:lightRig rig="threePt" dir="t"/>
          </a:scene3d>
        </p:spPr>
        <p:txBody>
          <a:bodyPr wrap="none">
            <a:spAutoFit/>
          </a:bodyPr>
          <a:lstStyle/>
          <a:p>
            <a:r>
              <a:rPr lang="he-IL" sz="3200" dirty="0">
                <a:latin typeface="David" panose="020E0502060401010101" pitchFamily="34" charset="-79"/>
                <a:cs typeface="David" panose="020E0502060401010101" pitchFamily="34" charset="-79"/>
              </a:rPr>
              <a:t>על שמו כפר גדעון </a:t>
            </a:r>
            <a:endParaRPr lang="he-IL" sz="3200" dirty="0" smtClean="0">
              <a:latin typeface="David" panose="020E0502060401010101" pitchFamily="34" charset="-79"/>
              <a:cs typeface="David" panose="020E0502060401010101" pitchFamily="34" charset="-79"/>
            </a:endParaRPr>
          </a:p>
          <a:p>
            <a:r>
              <a:rPr lang="he-IL" sz="3200" dirty="0" smtClean="0">
                <a:latin typeface="David" panose="020E0502060401010101" pitchFamily="34" charset="-79"/>
                <a:cs typeface="David" panose="020E0502060401010101" pitchFamily="34" charset="-79"/>
              </a:rPr>
              <a:t>והמושב </a:t>
            </a:r>
            <a:r>
              <a:rPr lang="he-IL" sz="3200" dirty="0" err="1">
                <a:latin typeface="David" panose="020E0502060401010101" pitchFamily="34" charset="-79"/>
                <a:cs typeface="David" panose="020E0502060401010101" pitchFamily="34" charset="-79"/>
              </a:rPr>
              <a:t>גדעונה</a:t>
            </a:r>
            <a:r>
              <a:rPr lang="he-IL" sz="3200" dirty="0">
                <a:latin typeface="David" panose="020E0502060401010101" pitchFamily="34" charset="-79"/>
                <a:cs typeface="David" panose="020E0502060401010101" pitchFamily="34" charset="-79"/>
              </a:rPr>
              <a:t> בעמק יזרעאל</a:t>
            </a:r>
            <a:r>
              <a:rPr lang="he-IL" dirty="0"/>
              <a:t>.</a:t>
            </a:r>
          </a:p>
        </p:txBody>
      </p:sp>
    </p:spTree>
    <p:extLst>
      <p:ext uri="{BB962C8B-B14F-4D97-AF65-F5344CB8AC3E}">
        <p14:creationId xmlns:p14="http://schemas.microsoft.com/office/powerpoint/2010/main" val="4188376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7546" y="1059562"/>
            <a:ext cx="11517469" cy="5693866"/>
          </a:xfrm>
          <a:prstGeom prst="rect">
            <a:avLst/>
          </a:prstGeom>
          <a:solidFill>
            <a:schemeClr val="accent1">
              <a:lumMod val="40000"/>
              <a:lumOff val="60000"/>
            </a:schemeClr>
          </a:solidFill>
          <a:ln w="38100">
            <a:solidFill>
              <a:schemeClr val="tx1"/>
            </a:solidFill>
          </a:ln>
        </p:spPr>
        <p:txBody>
          <a:bodyPr wrap="square" rtlCol="1">
            <a:spAutoFit/>
          </a:bodyPr>
          <a:lstStyle/>
          <a:p>
            <a:r>
              <a:rPr lang="he-IL" sz="2800" dirty="0">
                <a:latin typeface="David" panose="020E0502060401010101" pitchFamily="34" charset="-79"/>
                <a:cs typeface="David" panose="020E0502060401010101" pitchFamily="34" charset="-79"/>
              </a:rPr>
              <a:t>דמותו של גדעון מורכבת ומתפתחת במהלך הסיפור, </a:t>
            </a:r>
            <a:r>
              <a:rPr lang="he-IL" sz="2800" b="1" dirty="0">
                <a:latin typeface="David" panose="020E0502060401010101" pitchFamily="34" charset="-79"/>
                <a:cs typeface="David" panose="020E0502060401010101" pitchFamily="34" charset="-79"/>
              </a:rPr>
              <a:t>והיא מכילה ניגודים</a:t>
            </a:r>
            <a:r>
              <a:rPr lang="he-IL" sz="2800" dirty="0">
                <a:latin typeface="David" panose="020E0502060401010101" pitchFamily="34" charset="-79"/>
                <a:cs typeface="David" panose="020E0502060401010101" pitchFamily="34" charset="-79"/>
              </a:rPr>
              <a:t>. מצד אחד, גדעון חושש מאוד מפעולה, והוא מחפש אותות וחיזוקים לפני כל מעשה. לעומת זאת, לאחר שקיבל אות מהמלאך ואותות בגיזת הצמר וסימן במחנה מדיין, יוצא גדעון בכוח קטן למבצע נועז ואף מבצע מרדף בעומק שטח האויב.</a:t>
            </a:r>
          </a:p>
          <a:p>
            <a:endParaRPr lang="he-IL" sz="2800" dirty="0">
              <a:latin typeface="David" panose="020E0502060401010101" pitchFamily="34" charset="-79"/>
              <a:cs typeface="David" panose="020E0502060401010101" pitchFamily="34" charset="-79"/>
            </a:endParaRPr>
          </a:p>
          <a:p>
            <a:r>
              <a:rPr lang="he-IL" sz="2800" b="1" u="sng" dirty="0">
                <a:latin typeface="David" panose="020E0502060401010101" pitchFamily="34" charset="-79"/>
                <a:cs typeface="David" panose="020E0502060401010101" pitchFamily="34" charset="-79"/>
              </a:rPr>
              <a:t>גם ביחס לעמו</a:t>
            </a:r>
            <a:r>
              <a:rPr lang="he-IL" sz="2800" dirty="0">
                <a:latin typeface="David" panose="020E0502060401010101" pitchFamily="34" charset="-79"/>
                <a:cs typeface="David" panose="020E0502060401010101" pitchFamily="34" charset="-79"/>
              </a:rPr>
              <a:t>, גדעון מגלה התנהגות שונה במקרים שונים. מצד אחד, לאחר הקרב הוא </a:t>
            </a:r>
            <a:r>
              <a:rPr lang="he-IL" sz="2800" b="1" dirty="0">
                <a:latin typeface="David" panose="020E0502060401010101" pitchFamily="34" charset="-79"/>
                <a:cs typeface="David" panose="020E0502060401010101" pitchFamily="34" charset="-79"/>
              </a:rPr>
              <a:t>מפייס את בני אפרים </a:t>
            </a:r>
            <a:r>
              <a:rPr lang="he-IL" sz="2800" dirty="0">
                <a:latin typeface="David" panose="020E0502060401010101" pitchFamily="34" charset="-79"/>
                <a:cs typeface="David" panose="020E0502060401010101" pitchFamily="34" charset="-79"/>
              </a:rPr>
              <a:t>שבאו לקראתו בטענה שלא קרא להם לקרב; לעומת זאת, לאחר שאנשי סוכות </a:t>
            </a:r>
            <a:r>
              <a:rPr lang="he-IL" sz="2800" dirty="0" err="1">
                <a:latin typeface="David" panose="020E0502060401010101" pitchFamily="34" charset="-79"/>
                <a:cs typeface="David" panose="020E0502060401010101" pitchFamily="34" charset="-79"/>
              </a:rPr>
              <a:t>ופנואל</a:t>
            </a:r>
            <a:r>
              <a:rPr lang="he-IL" sz="2800" dirty="0">
                <a:latin typeface="David" panose="020E0502060401010101" pitchFamily="34" charset="-79"/>
                <a:cs typeface="David" panose="020E0502060401010101" pitchFamily="34" charset="-79"/>
              </a:rPr>
              <a:t> סירבו לתת לו עזרה במהלך הקרב,</a:t>
            </a:r>
            <a:r>
              <a:rPr lang="he-IL" sz="2800" b="1" dirty="0">
                <a:latin typeface="David" panose="020E0502060401010101" pitchFamily="34" charset="-79"/>
                <a:cs typeface="David" panose="020E0502060401010101" pitchFamily="34" charset="-79"/>
              </a:rPr>
              <a:t> נקם בהם ולא סלח להם</a:t>
            </a:r>
            <a:r>
              <a:rPr lang="he-IL" sz="2800" dirty="0">
                <a:latin typeface="David" panose="020E0502060401010101" pitchFamily="34" charset="-79"/>
                <a:cs typeface="David" panose="020E0502060401010101" pitchFamily="34" charset="-79"/>
              </a:rPr>
              <a:t>.</a:t>
            </a:r>
          </a:p>
          <a:p>
            <a:endParaRPr lang="he-IL" sz="2800" dirty="0">
              <a:latin typeface="David" panose="020E0502060401010101" pitchFamily="34" charset="-79"/>
              <a:cs typeface="David" panose="020E0502060401010101" pitchFamily="34" charset="-79"/>
            </a:endParaRPr>
          </a:p>
          <a:p>
            <a:r>
              <a:rPr lang="he-IL" sz="2800" dirty="0">
                <a:latin typeface="David" panose="020E0502060401010101" pitchFamily="34" charset="-79"/>
                <a:cs typeface="David" panose="020E0502060401010101" pitchFamily="34" charset="-79"/>
              </a:rPr>
              <a:t>חז״ל שראו את גדעון באור חיובי לא ביקרו אותו על התנהגותו זו עם בני סוכות. גמישותו של גדעון והגיוון שבאישיותו מתפרשים כמעלה, כאשר כמנהיג הוא יכול להכיל </a:t>
            </a:r>
            <a:r>
              <a:rPr lang="he-IL" sz="2800" dirty="0" err="1">
                <a:latin typeface="David" panose="020E0502060401010101" pitchFamily="34" charset="-79"/>
                <a:cs typeface="David" panose="020E0502060401010101" pitchFamily="34" charset="-79"/>
              </a:rPr>
              <a:t>מורכבויות</a:t>
            </a:r>
            <a:r>
              <a:rPr lang="he-IL" sz="2800" dirty="0">
                <a:latin typeface="David" panose="020E0502060401010101" pitchFamily="34" charset="-79"/>
                <a:cs typeface="David" panose="020E0502060401010101" pitchFamily="34" charset="-79"/>
              </a:rPr>
              <a:t> וניגודים - מצד אחד הוא עושה כל מאמץ לפיוס ומניעת מלחמת אחים, ומצד שני אינו יכול להשאיר ללא ענישה את מי שהפנו עורף ללוחמים בזמן הקרב</a:t>
            </a:r>
            <a:endParaRPr lang="he-IL" sz="2800" dirty="0">
              <a:latin typeface="David" panose="020E0502060401010101" pitchFamily="34" charset="-79"/>
              <a:cs typeface="David" panose="020E0502060401010101" pitchFamily="34" charset="-79"/>
            </a:endParaRPr>
          </a:p>
        </p:txBody>
      </p:sp>
      <p:sp>
        <p:nvSpPr>
          <p:cNvPr id="5" name="מלבן 4"/>
          <p:cNvSpPr/>
          <p:nvPr/>
        </p:nvSpPr>
        <p:spPr>
          <a:xfrm>
            <a:off x="2015970" y="109183"/>
            <a:ext cx="8937062" cy="830997"/>
          </a:xfrm>
          <a:prstGeom prst="rect">
            <a:avLst/>
          </a:prstGeom>
          <a:noFill/>
        </p:spPr>
        <p:txBody>
          <a:bodyPr wrap="none" lIns="91440" tIns="45720" rIns="91440" bIns="45720">
            <a:spAutoFit/>
          </a:bodyPr>
          <a:lstStyle/>
          <a:p>
            <a:pPr algn="l"/>
            <a:r>
              <a:rPr lang="he-IL" sz="4800" b="1" dirty="0" smtClean="0">
                <a:solidFill>
                  <a:srgbClr val="000000"/>
                </a:solidFill>
                <a:latin typeface="Arial" panose="020B0604020202020204" pitchFamily="34" charset="0"/>
              </a:rPr>
              <a:t>לסכום דמותו של גדעון ממה שראינו</a:t>
            </a:r>
            <a:endParaRPr lang="he-IL" sz="4800" b="1"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31171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59104" y="131515"/>
            <a:ext cx="6536038" cy="4031873"/>
          </a:xfrm>
          <a:prstGeom prst="rect">
            <a:avLst/>
          </a:prstGeom>
          <a:solidFill>
            <a:schemeClr val="accent2">
              <a:lumMod val="40000"/>
              <a:lumOff val="60000"/>
            </a:schemeClr>
          </a:solidFill>
          <a:ln w="38100">
            <a:solidFill>
              <a:schemeClr val="tx1"/>
            </a:solidFill>
          </a:ln>
        </p:spPr>
        <p:txBody>
          <a:bodyPr wrap="square" rtlCol="1">
            <a:spAutoFit/>
          </a:bodyPr>
          <a:lstStyle/>
          <a:p>
            <a:r>
              <a:rPr lang="he-IL" sz="3200" b="1" u="sng" dirty="0">
                <a:latin typeface="David" panose="020E0502060401010101" pitchFamily="34" charset="-79"/>
                <a:cs typeface="David" panose="020E0502060401010101" pitchFamily="34" charset="-79"/>
              </a:rPr>
              <a:t>מ</a:t>
            </a:r>
            <a:r>
              <a:rPr lang="he-IL" sz="2800" b="1" u="sng" dirty="0">
                <a:latin typeface="David" panose="020E0502060401010101" pitchFamily="34" charset="-79"/>
                <a:cs typeface="David" panose="020E0502060401010101" pitchFamily="34" charset="-79"/>
              </a:rPr>
              <a:t>ִי אָמַר לְמִי:</a:t>
            </a:r>
          </a:p>
          <a:p>
            <a:r>
              <a:rPr lang="he-IL" sz="2800" dirty="0">
                <a:latin typeface="David" panose="020E0502060401010101" pitchFamily="34" charset="-79"/>
                <a:cs typeface="David" panose="020E0502060401010101" pitchFamily="34" charset="-79"/>
              </a:rPr>
              <a:t>1. "מָה הַדָּבָר הַזֶּה עָשִׂיתָ לָנוּ לְבִלְתִּי קְרֹאות לָנוּ"</a:t>
            </a:r>
          </a:p>
          <a:p>
            <a:r>
              <a:rPr lang="he-IL" sz="2800" dirty="0">
                <a:latin typeface="David" panose="020E0502060401010101" pitchFamily="34" charset="-79"/>
                <a:cs typeface="David" panose="020E0502060401010101" pitchFamily="34" charset="-79"/>
              </a:rPr>
              <a:t>______________ אֶל _______________</a:t>
            </a:r>
          </a:p>
          <a:p>
            <a:r>
              <a:rPr lang="he-IL" sz="2800" dirty="0">
                <a:latin typeface="David" panose="020E0502060401010101" pitchFamily="34" charset="-79"/>
                <a:cs typeface="David" panose="020E0502060401010101" pitchFamily="34" charset="-79"/>
              </a:rPr>
              <a:t>2. "הֲלֹא טוֹב עוֹלֵלוֹת אֶפְרַיִם </a:t>
            </a:r>
            <a:r>
              <a:rPr lang="he-IL" sz="2800" dirty="0" err="1">
                <a:latin typeface="David" panose="020E0502060401010101" pitchFamily="34" charset="-79"/>
                <a:cs typeface="David" panose="020E0502060401010101" pitchFamily="34" charset="-79"/>
              </a:rPr>
              <a:t>מִבָּצִיר</a:t>
            </a:r>
            <a:r>
              <a:rPr lang="he-IL" sz="2800" dirty="0">
                <a:latin typeface="David" panose="020E0502060401010101" pitchFamily="34" charset="-79"/>
                <a:cs typeface="David" panose="020E0502060401010101" pitchFamily="34" charset="-79"/>
              </a:rPr>
              <a:t> אֲבִיעֶזֶר"</a:t>
            </a:r>
          </a:p>
          <a:p>
            <a:r>
              <a:rPr lang="he-IL" sz="2800" dirty="0">
                <a:latin typeface="David" panose="020E0502060401010101" pitchFamily="34" charset="-79"/>
                <a:cs typeface="David" panose="020E0502060401010101" pitchFamily="34" charset="-79"/>
              </a:rPr>
              <a:t>______________ אֶל _______________</a:t>
            </a:r>
          </a:p>
          <a:p>
            <a:r>
              <a:rPr lang="he-IL" sz="2800" dirty="0">
                <a:latin typeface="David" panose="020E0502060401010101" pitchFamily="34" charset="-79"/>
                <a:cs typeface="David" panose="020E0502060401010101" pitchFamily="34" charset="-79"/>
              </a:rPr>
              <a:t>3. "תְּנוּ נָא כִּכְּרוֹת לֶחֶם לָעַם אֲשֶׁר בְּרַגְלֵי"</a:t>
            </a:r>
          </a:p>
          <a:p>
            <a:r>
              <a:rPr lang="he-IL" sz="2800" dirty="0">
                <a:latin typeface="David" panose="020E0502060401010101" pitchFamily="34" charset="-79"/>
                <a:cs typeface="David" panose="020E0502060401010101" pitchFamily="34" charset="-79"/>
              </a:rPr>
              <a:t>______________ אֶל _______________</a:t>
            </a:r>
          </a:p>
          <a:p>
            <a:r>
              <a:rPr lang="he-IL" sz="2800" dirty="0">
                <a:latin typeface="David" panose="020E0502060401010101" pitchFamily="34" charset="-79"/>
                <a:cs typeface="David" panose="020E0502060401010101" pitchFamily="34" charset="-79"/>
              </a:rPr>
              <a:t>4. "בְּשׁוּבִי בְּשָׁלוֹם </a:t>
            </a:r>
            <a:r>
              <a:rPr lang="he-IL" sz="2800" dirty="0" err="1">
                <a:latin typeface="David" panose="020E0502060401010101" pitchFamily="34" charset="-79"/>
                <a:cs typeface="David" panose="020E0502060401010101" pitchFamily="34" charset="-79"/>
              </a:rPr>
              <a:t>אֶתּוֹץ</a:t>
            </a:r>
            <a:r>
              <a:rPr lang="he-IL" sz="2800" dirty="0">
                <a:latin typeface="David" panose="020E0502060401010101" pitchFamily="34" charset="-79"/>
                <a:cs typeface="David" panose="020E0502060401010101" pitchFamily="34" charset="-79"/>
              </a:rPr>
              <a:t> אֶת הַמִּגְדָּל הַזֶּה"</a:t>
            </a:r>
          </a:p>
          <a:p>
            <a:r>
              <a:rPr lang="he-IL" sz="2800" dirty="0">
                <a:latin typeface="David" panose="020E0502060401010101" pitchFamily="34" charset="-79"/>
                <a:cs typeface="David" panose="020E0502060401010101" pitchFamily="34" charset="-79"/>
              </a:rPr>
              <a:t>______________ אֶל _______________</a:t>
            </a:r>
            <a:endParaRPr lang="he-IL" sz="2800" dirty="0">
              <a:latin typeface="David" panose="020E0502060401010101" pitchFamily="34" charset="-79"/>
              <a:cs typeface="David" panose="020E0502060401010101" pitchFamily="34" charset="-79"/>
            </a:endParaRPr>
          </a:p>
        </p:txBody>
      </p:sp>
      <p:sp>
        <p:nvSpPr>
          <p:cNvPr id="3" name="TextBox 2"/>
          <p:cNvSpPr txBox="1"/>
          <p:nvPr/>
        </p:nvSpPr>
        <p:spPr>
          <a:xfrm>
            <a:off x="5459104" y="4163388"/>
            <a:ext cx="6536038" cy="2677656"/>
          </a:xfrm>
          <a:prstGeom prst="rect">
            <a:avLst/>
          </a:prstGeom>
          <a:solidFill>
            <a:schemeClr val="accent2">
              <a:lumMod val="60000"/>
              <a:lumOff val="40000"/>
            </a:schemeClr>
          </a:solidFill>
          <a:ln w="38100">
            <a:solidFill>
              <a:schemeClr val="tx1"/>
            </a:solidFill>
          </a:ln>
        </p:spPr>
        <p:txBody>
          <a:bodyPr wrap="square" rtlCol="1">
            <a:spAutoFit/>
          </a:bodyPr>
          <a:lstStyle/>
          <a:p>
            <a:r>
              <a:rPr lang="he-IL" sz="2800" dirty="0">
                <a:latin typeface="David" panose="020E0502060401010101" pitchFamily="34" charset="-79"/>
                <a:cs typeface="David" panose="020E0502060401010101" pitchFamily="34" charset="-79"/>
              </a:rPr>
              <a:t>5. "כָּמוֹךָ כְּמוֹהֶם אֶחָד כְּתֹּאַר בְּנֵי הַמֶּלֶךְ"</a:t>
            </a:r>
          </a:p>
          <a:p>
            <a:r>
              <a:rPr lang="he-IL" sz="2800" dirty="0">
                <a:latin typeface="David" panose="020E0502060401010101" pitchFamily="34" charset="-79"/>
                <a:cs typeface="David" panose="020E0502060401010101" pitchFamily="34" charset="-79"/>
              </a:rPr>
              <a:t>______________ אֶל _______________</a:t>
            </a:r>
          </a:p>
          <a:p>
            <a:r>
              <a:rPr lang="he-IL" sz="2800" dirty="0">
                <a:latin typeface="David" panose="020E0502060401010101" pitchFamily="34" charset="-79"/>
                <a:cs typeface="David" panose="020E0502060401010101" pitchFamily="34" charset="-79"/>
              </a:rPr>
              <a:t>6. "קוּם הָרוֹג אוֹתָם"</a:t>
            </a:r>
          </a:p>
          <a:p>
            <a:r>
              <a:rPr lang="he-IL" sz="2800" dirty="0">
                <a:latin typeface="David" panose="020E0502060401010101" pitchFamily="34" charset="-79"/>
                <a:cs typeface="David" panose="020E0502060401010101" pitchFamily="34" charset="-79"/>
              </a:rPr>
              <a:t>______________ אֶל _______________</a:t>
            </a:r>
          </a:p>
          <a:p>
            <a:r>
              <a:rPr lang="he-IL" sz="2800" dirty="0">
                <a:latin typeface="David" panose="020E0502060401010101" pitchFamily="34" charset="-79"/>
                <a:cs typeface="David" panose="020E0502060401010101" pitchFamily="34" charset="-79"/>
              </a:rPr>
              <a:t>7. "מְשֹׁל בָּנוּ גַּם אַתָּה גַּם בִּנְךָ גַּם בֵּן בִּנְךָ"</a:t>
            </a:r>
          </a:p>
          <a:p>
            <a:r>
              <a:rPr lang="he-IL" sz="2800" dirty="0">
                <a:latin typeface="David" panose="020E0502060401010101" pitchFamily="34" charset="-79"/>
                <a:cs typeface="David" panose="020E0502060401010101" pitchFamily="34" charset="-79"/>
              </a:rPr>
              <a:t>______________ אֶל _______________</a:t>
            </a:r>
            <a:endParaRPr lang="he-IL" sz="2800" dirty="0">
              <a:latin typeface="David" panose="020E0502060401010101" pitchFamily="34" charset="-79"/>
              <a:cs typeface="David" panose="020E0502060401010101" pitchFamily="34" charset="-79"/>
            </a:endParaRPr>
          </a:p>
        </p:txBody>
      </p:sp>
      <p:pic>
        <p:nvPicPr>
          <p:cNvPr id="2" name="תמונה 1"/>
          <p:cNvPicPr>
            <a:picLocks noChangeAspect="1"/>
          </p:cNvPicPr>
          <p:nvPr/>
        </p:nvPicPr>
        <p:blipFill>
          <a:blip r:embed="rId2"/>
          <a:stretch>
            <a:fillRect/>
          </a:stretch>
        </p:blipFill>
        <p:spPr>
          <a:xfrm>
            <a:off x="518614" y="247881"/>
            <a:ext cx="3507475" cy="6364787"/>
          </a:xfrm>
          <a:prstGeom prst="rect">
            <a:avLst/>
          </a:prstGeom>
        </p:spPr>
      </p:pic>
    </p:spTree>
    <p:extLst>
      <p:ext uri="{BB962C8B-B14F-4D97-AF65-F5344CB8AC3E}">
        <p14:creationId xmlns:p14="http://schemas.microsoft.com/office/powerpoint/2010/main" val="17105117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3589361" y="283333"/>
            <a:ext cx="8338782" cy="5786199"/>
          </a:xfrm>
          <a:prstGeom prst="rect">
            <a:avLst/>
          </a:prstGeom>
          <a:solidFill>
            <a:schemeClr val="accent6">
              <a:lumMod val="60000"/>
              <a:lumOff val="40000"/>
            </a:schemeClr>
          </a:solidFill>
        </p:spPr>
        <p:txBody>
          <a:bodyPr wrap="square">
            <a:spAutoFit/>
          </a:bodyPr>
          <a:lstStyle/>
          <a:p>
            <a:pPr algn="just">
              <a:lnSpc>
                <a:spcPct val="150000"/>
              </a:lnSpc>
              <a:spcAft>
                <a:spcPts val="600"/>
              </a:spcAft>
            </a:pPr>
            <a:r>
              <a:rPr lang="he-IL" sz="2800" b="1" dirty="0" smtClean="0">
                <a:latin typeface="David" panose="020E0502060401010101" pitchFamily="34" charset="-79"/>
                <a:ea typeface="Calibri" panose="020F0502020204030204" pitchFamily="34" charset="0"/>
                <a:cs typeface="David" panose="020E0502060401010101" pitchFamily="34" charset="-79"/>
              </a:rPr>
              <a:t>מי </a:t>
            </a:r>
            <a:r>
              <a:rPr lang="he-IL" sz="2800" b="1" dirty="0">
                <a:latin typeface="David" panose="020E0502060401010101" pitchFamily="34" charset="-79"/>
                <a:ea typeface="Calibri" panose="020F0502020204030204" pitchFamily="34" charset="0"/>
                <a:cs typeface="David" panose="020E0502060401010101" pitchFamily="34" charset="-79"/>
              </a:rPr>
              <a:t>אֲנִי:</a:t>
            </a:r>
            <a:endParaRPr lang="en-US" sz="2800" dirty="0">
              <a:latin typeface="David" panose="020E0502060401010101" pitchFamily="34" charset="-79"/>
              <a:ea typeface="Calibri" panose="020F0502020204030204" pitchFamily="34" charset="0"/>
              <a:cs typeface="David" panose="020E0502060401010101" pitchFamily="34" charset="-79"/>
            </a:endParaRPr>
          </a:p>
          <a:p>
            <a:pPr algn="just">
              <a:lnSpc>
                <a:spcPct val="150000"/>
              </a:lnSpc>
              <a:spcAft>
                <a:spcPts val="600"/>
              </a:spcAft>
            </a:pPr>
            <a:r>
              <a:rPr lang="he-IL" sz="2400" b="1" dirty="0">
                <a:latin typeface="Calibri" panose="020F0502020204030204" pitchFamily="34" charset="0"/>
                <a:ea typeface="Calibri" panose="020F0502020204030204" pitchFamily="34" charset="0"/>
                <a:cs typeface="FrankRuehl" panose="020E0503060101010101" pitchFamily="34" charset="-79"/>
              </a:rPr>
              <a:t>1</a:t>
            </a:r>
            <a:r>
              <a:rPr lang="he-IL" sz="2400" dirty="0">
                <a:latin typeface="Calibri" panose="020F0502020204030204" pitchFamily="34" charset="0"/>
                <a:ea typeface="Calibri" panose="020F0502020204030204" pitchFamily="34" charset="0"/>
                <a:cs typeface="FrankRuehl" panose="020E0503060101010101" pitchFamily="34" charset="-79"/>
              </a:rPr>
              <a:t>. רַבְנוּ עִם גִּדְעוֹן בְּחָזְקָה: _________________</a:t>
            </a:r>
            <a:endParaRPr lang="en-US"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600"/>
              </a:spcAft>
            </a:pPr>
            <a:r>
              <a:rPr lang="he-IL" sz="2400" b="1" dirty="0">
                <a:latin typeface="Calibri" panose="020F0502020204030204" pitchFamily="34" charset="0"/>
                <a:ea typeface="Calibri" panose="020F0502020204030204" pitchFamily="34" charset="0"/>
                <a:cs typeface="FrankRuehl" panose="020E0503060101010101" pitchFamily="34" charset="-79"/>
              </a:rPr>
              <a:t>2</a:t>
            </a:r>
            <a:r>
              <a:rPr lang="he-IL" sz="2400" dirty="0">
                <a:latin typeface="Calibri" panose="020F0502020204030204" pitchFamily="34" charset="0"/>
                <a:ea typeface="Calibri" panose="020F0502020204030204" pitchFamily="34" charset="0"/>
                <a:cs typeface="FrankRuehl" panose="020E0503060101010101" pitchFamily="34" charset="-79"/>
              </a:rPr>
              <a:t>. רָדַפְנוּ אַחֲרֵי זֶבַח </a:t>
            </a:r>
            <a:r>
              <a:rPr lang="he-IL" sz="2400" dirty="0" err="1">
                <a:latin typeface="Calibri" panose="020F0502020204030204" pitchFamily="34" charset="0"/>
                <a:ea typeface="Calibri" panose="020F0502020204030204" pitchFamily="34" charset="0"/>
                <a:cs typeface="FrankRuehl" panose="020E0503060101010101" pitchFamily="34" charset="-79"/>
              </a:rPr>
              <a:t>וְצַלְמֻנָּע</a:t>
            </a:r>
            <a:r>
              <a:rPr lang="he-IL" sz="2400" dirty="0">
                <a:latin typeface="Calibri" panose="020F0502020204030204" pitchFamily="34" charset="0"/>
                <a:ea typeface="Calibri" panose="020F0502020204030204" pitchFamily="34" charset="0"/>
                <a:cs typeface="FrankRuehl" panose="020E0503060101010101" pitchFamily="34" charset="-79"/>
              </a:rPr>
              <a:t> וְהֲיִּנוּ </a:t>
            </a:r>
            <a:r>
              <a:rPr lang="he-IL" sz="2400" dirty="0" err="1">
                <a:latin typeface="Calibri" panose="020F0502020204030204" pitchFamily="34" charset="0"/>
                <a:ea typeface="Calibri" panose="020F0502020204030204" pitchFamily="34" charset="0"/>
                <a:cs typeface="FrankRuehl" panose="020E0503060101010101" pitchFamily="34" charset="-79"/>
              </a:rPr>
              <a:t>עֲיֵפִים</a:t>
            </a:r>
            <a:r>
              <a:rPr lang="he-IL" sz="2400" dirty="0">
                <a:latin typeface="Calibri" panose="020F0502020204030204" pitchFamily="34" charset="0"/>
                <a:ea typeface="Calibri" panose="020F0502020204030204" pitchFamily="34" charset="0"/>
                <a:cs typeface="FrankRuehl" panose="020E0503060101010101" pitchFamily="34" charset="-79"/>
              </a:rPr>
              <a:t> מְאֹד: ________________</a:t>
            </a:r>
            <a:endParaRPr lang="en-US"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600"/>
              </a:spcAft>
            </a:pPr>
            <a:r>
              <a:rPr lang="he-IL" sz="2400" b="1" dirty="0">
                <a:latin typeface="Calibri" panose="020F0502020204030204" pitchFamily="34" charset="0"/>
                <a:ea typeface="Calibri" panose="020F0502020204030204" pitchFamily="34" charset="0"/>
                <a:cs typeface="FrankRuehl" panose="020E0503060101010101" pitchFamily="34" charset="-79"/>
              </a:rPr>
              <a:t>3</a:t>
            </a:r>
            <a:r>
              <a:rPr lang="he-IL" sz="2400" dirty="0">
                <a:latin typeface="Calibri" panose="020F0502020204030204" pitchFamily="34" charset="0"/>
                <a:ea typeface="Calibri" panose="020F0502020204030204" pitchFamily="34" charset="0"/>
                <a:cs typeface="FrankRuehl" panose="020E0503060101010101" pitchFamily="34" charset="-79"/>
              </a:rPr>
              <a:t>. נִלְחַמְנוּ עִם גִּדְעוֹן, כִּי הוּא רָצָה </a:t>
            </a:r>
            <a:r>
              <a:rPr lang="he-IL" sz="2400" dirty="0" err="1">
                <a:latin typeface="Calibri" panose="020F0502020204030204" pitchFamily="34" charset="0"/>
                <a:ea typeface="Calibri" panose="020F0502020204030204" pitchFamily="34" charset="0"/>
                <a:cs typeface="FrankRuehl" panose="020E0503060101010101" pitchFamily="34" charset="-79"/>
              </a:rPr>
              <a:t>לִנְתוֹץ</a:t>
            </a:r>
            <a:r>
              <a:rPr lang="he-IL" sz="2400" dirty="0">
                <a:latin typeface="Calibri" panose="020F0502020204030204" pitchFamily="34" charset="0"/>
                <a:ea typeface="Calibri" panose="020F0502020204030204" pitchFamily="34" charset="0"/>
                <a:cs typeface="FrankRuehl" panose="020E0503060101010101" pitchFamily="34" charset="-79"/>
              </a:rPr>
              <a:t> אֶת הַמִּגְדָּל שֶׁלָּנוּ: __________</a:t>
            </a:r>
            <a:endParaRPr lang="en-US"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600"/>
              </a:spcAft>
            </a:pPr>
            <a:r>
              <a:rPr lang="he-IL" sz="2400" b="1" dirty="0">
                <a:latin typeface="Calibri" panose="020F0502020204030204" pitchFamily="34" charset="0"/>
                <a:ea typeface="Calibri" panose="020F0502020204030204" pitchFamily="34" charset="0"/>
                <a:cs typeface="FrankRuehl" panose="020E0503060101010101" pitchFamily="34" charset="-79"/>
              </a:rPr>
              <a:t>4</a:t>
            </a:r>
            <a:r>
              <a:rPr lang="he-IL" sz="2400" dirty="0">
                <a:latin typeface="Calibri" panose="020F0502020204030204" pitchFamily="34" charset="0"/>
                <a:ea typeface="Calibri" panose="020F0502020204030204" pitchFamily="34" charset="0"/>
                <a:cs typeface="FrankRuehl" panose="020E0503060101010101" pitchFamily="34" charset="-79"/>
              </a:rPr>
              <a:t>. לֹא הֵעַזְתִּי לַהֲרֹג אֶת זֶבַח </a:t>
            </a:r>
            <a:r>
              <a:rPr lang="he-IL" sz="2400" dirty="0" err="1">
                <a:latin typeface="Calibri" panose="020F0502020204030204" pitchFamily="34" charset="0"/>
                <a:ea typeface="Calibri" panose="020F0502020204030204" pitchFamily="34" charset="0"/>
                <a:cs typeface="FrankRuehl" panose="020E0503060101010101" pitchFamily="34" charset="-79"/>
              </a:rPr>
              <a:t>וְצַלְמֻנָּע</a:t>
            </a:r>
            <a:r>
              <a:rPr lang="he-IL" sz="2400" dirty="0">
                <a:latin typeface="Calibri" panose="020F0502020204030204" pitchFamily="34" charset="0"/>
                <a:ea typeface="Calibri" panose="020F0502020204030204" pitchFamily="34" charset="0"/>
                <a:cs typeface="FrankRuehl" panose="020E0503060101010101" pitchFamily="34" charset="-79"/>
              </a:rPr>
              <a:t>: _________________</a:t>
            </a:r>
            <a:endParaRPr lang="en-US"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600"/>
              </a:spcAft>
            </a:pPr>
            <a:r>
              <a:rPr lang="he-IL" sz="2400" b="1" dirty="0">
                <a:latin typeface="Calibri" panose="020F0502020204030204" pitchFamily="34" charset="0"/>
                <a:ea typeface="Calibri" panose="020F0502020204030204" pitchFamily="34" charset="0"/>
                <a:cs typeface="FrankRuehl" panose="020E0503060101010101" pitchFamily="34" charset="-79"/>
              </a:rPr>
              <a:t>5</a:t>
            </a:r>
            <a:r>
              <a:rPr lang="he-IL" sz="2400" dirty="0">
                <a:latin typeface="Calibri" panose="020F0502020204030204" pitchFamily="34" charset="0"/>
                <a:ea typeface="Calibri" panose="020F0502020204030204" pitchFamily="34" charset="0"/>
                <a:cs typeface="FrankRuehl" panose="020E0503060101010101" pitchFamily="34" charset="-79"/>
              </a:rPr>
              <a:t>. שַׂמְנוּ אֶת כָּל הַשָּׁלָל שֶׁלָּקַחְנוּ מִמִדְיָן בְּשִׂמְלָה: _______________</a:t>
            </a:r>
            <a:endParaRPr lang="en-US"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600"/>
              </a:spcAft>
            </a:pPr>
            <a:r>
              <a:rPr lang="he-IL" sz="2400" b="1" dirty="0">
                <a:latin typeface="Calibri" panose="020F0502020204030204" pitchFamily="34" charset="0"/>
                <a:ea typeface="Calibri" panose="020F0502020204030204" pitchFamily="34" charset="0"/>
                <a:cs typeface="FrankRuehl" panose="020E0503060101010101" pitchFamily="34" charset="-79"/>
              </a:rPr>
              <a:t>6</a:t>
            </a:r>
            <a:r>
              <a:rPr lang="he-IL" sz="2400" dirty="0">
                <a:latin typeface="Calibri" panose="020F0502020204030204" pitchFamily="34" charset="0"/>
                <a:ea typeface="Calibri" panose="020F0502020204030204" pitchFamily="34" charset="0"/>
                <a:cs typeface="FrankRuehl" panose="020E0503060101010101" pitchFamily="34" charset="-79"/>
              </a:rPr>
              <a:t>. נִכְנַעְנוּ לְעַם יִשְׂרָאֵל: _________________</a:t>
            </a:r>
            <a:endParaRPr lang="en-US"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600"/>
              </a:spcAft>
            </a:pPr>
            <a:r>
              <a:rPr lang="he-IL" sz="2400" b="1" dirty="0">
                <a:latin typeface="Calibri" panose="020F0502020204030204" pitchFamily="34" charset="0"/>
                <a:ea typeface="Calibri" panose="020F0502020204030204" pitchFamily="34" charset="0"/>
                <a:cs typeface="FrankRuehl" panose="020E0503060101010101" pitchFamily="34" charset="-79"/>
              </a:rPr>
              <a:t>7</a:t>
            </a:r>
            <a:r>
              <a:rPr lang="he-IL" sz="2400" dirty="0">
                <a:latin typeface="Calibri" panose="020F0502020204030204" pitchFamily="34" charset="0"/>
                <a:ea typeface="Calibri" panose="020F0502020204030204" pitchFamily="34" charset="0"/>
                <a:cs typeface="FrankRuehl" panose="020E0503060101010101" pitchFamily="34" charset="-79"/>
              </a:rPr>
              <a:t>. שָׁקַטְתִּי 40 שָׁנָה: _________________</a:t>
            </a:r>
            <a:endParaRPr lang="en-US"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600"/>
              </a:spcAft>
            </a:pPr>
            <a:r>
              <a:rPr lang="he-IL" sz="2400" b="1" dirty="0">
                <a:latin typeface="Calibri" panose="020F0502020204030204" pitchFamily="34" charset="0"/>
                <a:ea typeface="Calibri" panose="020F0502020204030204" pitchFamily="34" charset="0"/>
                <a:cs typeface="FrankRuehl" panose="020E0503060101010101" pitchFamily="34" charset="-79"/>
              </a:rPr>
              <a:t>8</a:t>
            </a:r>
            <a:r>
              <a:rPr lang="he-IL" sz="2400" dirty="0">
                <a:latin typeface="Calibri" panose="020F0502020204030204" pitchFamily="34" charset="0"/>
                <a:ea typeface="Calibri" panose="020F0502020204030204" pitchFamily="34" charset="0"/>
                <a:cs typeface="FrankRuehl" panose="020E0503060101010101" pitchFamily="34" charset="-79"/>
              </a:rPr>
              <a:t>. בִּמְקוֹם לִהְיוֹת סֵמֶל </a:t>
            </a:r>
            <a:r>
              <a:rPr lang="he-IL" sz="2400" dirty="0" err="1">
                <a:latin typeface="Calibri" panose="020F0502020204030204" pitchFamily="34" charset="0"/>
                <a:ea typeface="Calibri" panose="020F0502020204030204" pitchFamily="34" charset="0"/>
                <a:cs typeface="FrankRuehl" panose="020E0503060101010101" pitchFamily="34" charset="-79"/>
              </a:rPr>
              <a:t>לַנִּצָּחוֹן</a:t>
            </a:r>
            <a:r>
              <a:rPr lang="he-IL" sz="2400" dirty="0">
                <a:latin typeface="Calibri" panose="020F0502020204030204" pitchFamily="34" charset="0"/>
                <a:ea typeface="Calibri" panose="020F0502020204030204" pitchFamily="34" charset="0"/>
                <a:cs typeface="FrankRuehl" panose="020E0503060101010101" pitchFamily="34" charset="-79"/>
              </a:rPr>
              <a:t>, הָפַכְתִּי לִהְיוֹת עֲבוֹדָה זָרָה: _________</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 name="תמונה 2"/>
          <p:cNvPicPr>
            <a:picLocks noChangeAspect="1"/>
          </p:cNvPicPr>
          <p:nvPr/>
        </p:nvPicPr>
        <p:blipFill>
          <a:blip r:embed="rId2"/>
          <a:stretch>
            <a:fillRect/>
          </a:stretch>
        </p:blipFill>
        <p:spPr>
          <a:xfrm>
            <a:off x="232012" y="283333"/>
            <a:ext cx="3812605" cy="3777627"/>
          </a:xfrm>
          <a:prstGeom prst="rect">
            <a:avLst/>
          </a:prstGeom>
        </p:spPr>
      </p:pic>
    </p:spTree>
    <p:extLst>
      <p:ext uri="{BB962C8B-B14F-4D97-AF65-F5344CB8AC3E}">
        <p14:creationId xmlns:p14="http://schemas.microsoft.com/office/powerpoint/2010/main" val="8139111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7421" y="131513"/>
            <a:ext cx="11858663" cy="5509200"/>
          </a:xfrm>
          <a:prstGeom prst="rect">
            <a:avLst/>
          </a:prstGeom>
          <a:solidFill>
            <a:schemeClr val="accent1">
              <a:lumMod val="40000"/>
              <a:lumOff val="60000"/>
            </a:schemeClr>
          </a:solidFill>
          <a:ln w="38100">
            <a:solidFill>
              <a:schemeClr val="tx1"/>
            </a:solidFill>
          </a:ln>
        </p:spPr>
        <p:txBody>
          <a:bodyPr wrap="square" rtlCol="1">
            <a:spAutoFit/>
          </a:bodyPr>
          <a:lstStyle/>
          <a:p>
            <a:r>
              <a:rPr lang="he-IL" sz="4400" b="1" u="sng" dirty="0" smtClean="0">
                <a:latin typeface="David" panose="020E0502060401010101" pitchFamily="34" charset="-79"/>
                <a:cs typeface="David" panose="020E0502060401010101" pitchFamily="34" charset="-79"/>
              </a:rPr>
              <a:t>סכום הפרק:</a:t>
            </a:r>
          </a:p>
          <a:p>
            <a:r>
              <a:rPr lang="he-IL" sz="2800" dirty="0" smtClean="0">
                <a:latin typeface="David" panose="020E0502060401010101" pitchFamily="34" charset="-79"/>
                <a:cs typeface="David" panose="020E0502060401010101" pitchFamily="34" charset="-79"/>
              </a:rPr>
              <a:t>אנשי אפרים מתלוננים בפני גדעון על כך שלא קרא להם למלחמה מול מדין, גדעון מפייסם בכך שהם עשו דבר גדול יותר שהרגו את עורב וזאב שרי מדין.</a:t>
            </a:r>
          </a:p>
          <a:p>
            <a:r>
              <a:rPr lang="he-IL" sz="2800" dirty="0" smtClean="0">
                <a:latin typeface="David" panose="020E0502060401010101" pitchFamily="34" charset="-79"/>
                <a:cs typeface="David" panose="020E0502060401010101" pitchFamily="34" charset="-79"/>
              </a:rPr>
              <a:t>גדעון רודף אחרי זבח </a:t>
            </a:r>
            <a:r>
              <a:rPr lang="he-IL" sz="2800" dirty="0" err="1" smtClean="0">
                <a:latin typeface="David" panose="020E0502060401010101" pitchFamily="34" charset="-79"/>
                <a:cs typeface="David" panose="020E0502060401010101" pitchFamily="34" charset="-79"/>
              </a:rPr>
              <a:t>וצלמנע</a:t>
            </a:r>
            <a:r>
              <a:rPr lang="he-IL" sz="2800" dirty="0" smtClean="0">
                <a:latin typeface="David" panose="020E0502060401010101" pitchFamily="34" charset="-79"/>
                <a:cs typeface="David" panose="020E0502060401010101" pitchFamily="34" charset="-79"/>
              </a:rPr>
              <a:t> מלכי מדין. בדרך הוא מבקש לחם מאנשי סוכות </a:t>
            </a:r>
            <a:r>
              <a:rPr lang="he-IL" sz="2800" dirty="0" err="1" smtClean="0">
                <a:latin typeface="David" panose="020E0502060401010101" pitchFamily="34" charset="-79"/>
                <a:cs typeface="David" panose="020E0502060401010101" pitchFamily="34" charset="-79"/>
              </a:rPr>
              <a:t>ופנואל</a:t>
            </a:r>
            <a:r>
              <a:rPr lang="he-IL" sz="2800" dirty="0" smtClean="0">
                <a:latin typeface="David" panose="020E0502060401010101" pitchFamily="34" charset="-79"/>
                <a:cs typeface="David" panose="020E0502060401010101" pitchFamily="34" charset="-79"/>
              </a:rPr>
              <a:t>, הם מסרבים לתת, וגדעון מבטיח להם שיענישם קשות.</a:t>
            </a:r>
          </a:p>
          <a:p>
            <a:r>
              <a:rPr lang="he-IL" sz="2800" dirty="0" smtClean="0">
                <a:latin typeface="David" panose="020E0502060401010101" pitchFamily="34" charset="-79"/>
                <a:cs typeface="David" panose="020E0502060401010101" pitchFamily="34" charset="-79"/>
              </a:rPr>
              <a:t>לאחר שגדעון תפס והרג את זבח </a:t>
            </a:r>
            <a:r>
              <a:rPr lang="he-IL" sz="2800" dirty="0" err="1" smtClean="0">
                <a:latin typeface="David" panose="020E0502060401010101" pitchFamily="34" charset="-79"/>
                <a:cs typeface="David" panose="020E0502060401010101" pitchFamily="34" charset="-79"/>
              </a:rPr>
              <a:t>וצלמונע</a:t>
            </a:r>
            <a:r>
              <a:rPr lang="he-IL" sz="2800" dirty="0" smtClean="0">
                <a:latin typeface="David" panose="020E0502060401010101" pitchFamily="34" charset="-79"/>
                <a:cs typeface="David" panose="020E0502060401010101" pitchFamily="34" charset="-79"/>
              </a:rPr>
              <a:t>, העניש גדעון את </a:t>
            </a:r>
            <a:r>
              <a:rPr lang="he-IL" sz="2800" dirty="0" err="1" smtClean="0">
                <a:latin typeface="David" panose="020E0502060401010101" pitchFamily="34" charset="-79"/>
                <a:cs typeface="David" panose="020E0502060401010101" pitchFamily="34" charset="-79"/>
              </a:rPr>
              <a:t>פנואל</a:t>
            </a:r>
            <a:r>
              <a:rPr lang="he-IL" sz="2800" dirty="0" smtClean="0">
                <a:latin typeface="David" panose="020E0502060401010101" pitchFamily="34" charset="-79"/>
                <a:cs typeface="David" panose="020E0502060401010101" pitchFamily="34" charset="-79"/>
              </a:rPr>
              <a:t> וסוכות.</a:t>
            </a:r>
          </a:p>
          <a:p>
            <a:r>
              <a:rPr lang="he-IL" sz="2800" dirty="0" smtClean="0">
                <a:latin typeface="David" panose="020E0502060401010101" pitchFamily="34" charset="-79"/>
                <a:cs typeface="David" panose="020E0502060401010101" pitchFamily="34" charset="-79"/>
              </a:rPr>
              <a:t>בני ישראל רוצים להמליך את גדעון וזרעו, אך הוא מתנגד ואומר להם שה' הוא ימלוך עליהם.</a:t>
            </a:r>
          </a:p>
          <a:p>
            <a:r>
              <a:rPr lang="he-IL" sz="2800" dirty="0" smtClean="0">
                <a:latin typeface="David" panose="020E0502060401010101" pitchFamily="34" charset="-79"/>
                <a:cs typeface="David" panose="020E0502060401010101" pitchFamily="34" charset="-79"/>
              </a:rPr>
              <a:t>גדעון אוסף מבני ישראל זהב שלקחו שלל ממדין ועושה בהם אפוד לזיכרון לנס המלחמה, האפוד היה למוקש לגדעון וביתו וגרם לעם ישראל לעבוד אותו כעבודה זרה.</a:t>
            </a:r>
          </a:p>
          <a:p>
            <a:r>
              <a:rPr lang="he-IL" sz="2800" dirty="0" smtClean="0">
                <a:latin typeface="David" panose="020E0502060401010101" pitchFamily="34" charset="-79"/>
                <a:cs typeface="David" panose="020E0502060401010101" pitchFamily="34" charset="-79"/>
              </a:rPr>
              <a:t>לגדעון נולדו 70 בנים, ופילגשו בשכם הולידה בן שקרא לו אבימלך. לאחר מות גדעון חזרו שוב עם ישראל לעבוד עבודה זרה, ולא זכרו את ה' והחסד עם בית גדעון.</a:t>
            </a:r>
          </a:p>
        </p:txBody>
      </p:sp>
      <p:sp>
        <p:nvSpPr>
          <p:cNvPr id="5" name="TextBox 4"/>
          <p:cNvSpPr txBox="1"/>
          <p:nvPr/>
        </p:nvSpPr>
        <p:spPr>
          <a:xfrm>
            <a:off x="1923713" y="5640713"/>
            <a:ext cx="8366078" cy="1191816"/>
          </a:xfrm>
          <a:prstGeom prst="flowChartAlternateProcess">
            <a:avLst/>
          </a:prstGeom>
          <a:solidFill>
            <a:schemeClr val="accent6">
              <a:lumMod val="60000"/>
              <a:lumOff val="40000"/>
            </a:schemeClr>
          </a:solidFill>
          <a:ln w="38100">
            <a:solidFill>
              <a:schemeClr val="tx1"/>
            </a:solidFill>
          </a:ln>
        </p:spPr>
        <p:txBody>
          <a:bodyPr wrap="square" rtlCol="1">
            <a:spAutoFit/>
          </a:bodyPr>
          <a:lstStyle/>
          <a:p>
            <a:r>
              <a:rPr lang="he-IL" sz="2800" b="1" dirty="0" smtClean="0">
                <a:latin typeface="David" panose="020E0502060401010101" pitchFamily="34" charset="-79"/>
                <a:cs typeface="David" panose="020E0502060401010101" pitchFamily="34" charset="-79"/>
              </a:rPr>
              <a:t>סימן לזכירת הפרק: פרק </a:t>
            </a:r>
            <a:r>
              <a:rPr lang="he-IL" sz="3200" b="1" dirty="0" smtClean="0">
                <a:latin typeface="David" panose="020E0502060401010101" pitchFamily="34" charset="-79"/>
                <a:cs typeface="David" panose="020E0502060401010101" pitchFamily="34" charset="-79"/>
              </a:rPr>
              <a:t>ח</a:t>
            </a:r>
            <a:r>
              <a:rPr lang="he-IL" sz="2800" b="1" dirty="0" smtClean="0">
                <a:latin typeface="David" panose="020E0502060401010101" pitchFamily="34" charset="-79"/>
                <a:cs typeface="David" panose="020E0502060401010101" pitchFamily="34" charset="-79"/>
              </a:rPr>
              <a:t>':</a:t>
            </a:r>
          </a:p>
          <a:p>
            <a:r>
              <a:rPr lang="he-IL" sz="2800" b="1" dirty="0" smtClean="0">
                <a:latin typeface="David" panose="020E0502060401010101" pitchFamily="34" charset="-79"/>
                <a:cs typeface="David" panose="020E0502060401010101" pitchFamily="34" charset="-79"/>
              </a:rPr>
              <a:t>ח</a:t>
            </a:r>
            <a:r>
              <a:rPr lang="he-IL" sz="2400" dirty="0" smtClean="0">
                <a:latin typeface="David" panose="020E0502060401010101" pitchFamily="34" charset="-79"/>
                <a:cs typeface="David" panose="020E0502060401010101" pitchFamily="34" charset="-79"/>
              </a:rPr>
              <a:t>טאו- אנשי סוכות </a:t>
            </a:r>
            <a:r>
              <a:rPr lang="he-IL" sz="2400" dirty="0" err="1" smtClean="0">
                <a:latin typeface="David" panose="020E0502060401010101" pitchFamily="34" charset="-79"/>
                <a:cs typeface="David" panose="020E0502060401010101" pitchFamily="34" charset="-79"/>
              </a:rPr>
              <a:t>ופנואל</a:t>
            </a:r>
            <a:r>
              <a:rPr lang="he-IL" sz="2400" dirty="0" smtClean="0">
                <a:latin typeface="David" panose="020E0502060401010101" pitchFamily="34" charset="-79"/>
                <a:cs typeface="David" panose="020E0502060401010101" pitchFamily="34" charset="-79"/>
              </a:rPr>
              <a:t> </a:t>
            </a:r>
            <a:r>
              <a:rPr lang="he-IL" sz="3200" b="1" dirty="0" smtClean="0">
                <a:latin typeface="David" panose="020E0502060401010101" pitchFamily="34" charset="-79"/>
                <a:cs typeface="David" panose="020E0502060401010101" pitchFamily="34" charset="-79"/>
              </a:rPr>
              <a:t>ח</a:t>
            </a:r>
            <a:r>
              <a:rPr lang="he-IL" sz="2400" dirty="0" smtClean="0">
                <a:latin typeface="David" panose="020E0502060401010101" pitchFamily="34" charset="-79"/>
                <a:cs typeface="David" panose="020E0502060401010101" pitchFamily="34" charset="-79"/>
              </a:rPr>
              <a:t>טאו לגדעון . ו</a:t>
            </a:r>
            <a:r>
              <a:rPr lang="he-IL" sz="3200" b="1" dirty="0" smtClean="0">
                <a:latin typeface="David" panose="020E0502060401010101" pitchFamily="34" charset="-79"/>
                <a:cs typeface="David" panose="020E0502060401010101" pitchFamily="34" charset="-79"/>
              </a:rPr>
              <a:t>ח</a:t>
            </a:r>
            <a:r>
              <a:rPr lang="he-IL" sz="2400" dirty="0" smtClean="0">
                <a:latin typeface="David" panose="020E0502060401010101" pitchFamily="34" charset="-79"/>
                <a:cs typeface="David" panose="020E0502060401010101" pitchFamily="34" charset="-79"/>
              </a:rPr>
              <a:t>טא חטא גדעון שעשה אפוד </a:t>
            </a:r>
            <a:endParaRPr lang="he-IL" sz="24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66343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10586</TotalTime>
  <Words>3007</Words>
  <Application>Microsoft Office PowerPoint</Application>
  <PresentationFormat>מסך רחב</PresentationFormat>
  <Paragraphs>146</Paragraphs>
  <Slides>24</Slides>
  <Notes>1</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24</vt:i4>
      </vt:variant>
    </vt:vector>
  </HeadingPairs>
  <TitlesOfParts>
    <vt:vector size="32" baseType="lpstr">
      <vt:lpstr>Arial</vt:lpstr>
      <vt:lpstr>Calibri</vt:lpstr>
      <vt:lpstr>Calibri Light</vt:lpstr>
      <vt:lpstr>David</vt:lpstr>
      <vt:lpstr>FrankRuehl</vt:lpstr>
      <vt:lpstr>Narkisim</vt:lpstr>
      <vt:lpstr>Times New Roman</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User</dc:creator>
  <cp:lastModifiedBy>User</cp:lastModifiedBy>
  <cp:revision>63</cp:revision>
  <dcterms:created xsi:type="dcterms:W3CDTF">2024-01-22T10:16:20Z</dcterms:created>
  <dcterms:modified xsi:type="dcterms:W3CDTF">2024-01-29T18:52:07Z</dcterms:modified>
</cp:coreProperties>
</file>