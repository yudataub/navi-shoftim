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2" r:id="rId2"/>
    <p:sldId id="261" r:id="rId3"/>
    <p:sldId id="263" r:id="rId4"/>
    <p:sldId id="256" r:id="rId5"/>
    <p:sldId id="257" r:id="rId6"/>
    <p:sldId id="258" r:id="rId7"/>
    <p:sldId id="259" r:id="rId8"/>
    <p:sldId id="260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סגנון ביניים 2 - הדגשה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סגנון ביניים 4 - הדגשה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סגנון ביניים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0" d="100"/>
          <a:sy n="70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51" y="144122"/>
            <a:ext cx="11750721" cy="65016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954F7E-3AE2-4210-A627-845811C8F151}"/>
              </a:ext>
            </a:extLst>
          </p:cNvPr>
          <p:cNvSpPr txBox="1"/>
          <p:nvPr/>
        </p:nvSpPr>
        <p:spPr>
          <a:xfrm>
            <a:off x="3064934" y="1086135"/>
            <a:ext cx="5601395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7200" b="1" dirty="0" smtClean="0">
                <a:latin typeface="David" panose="020E0502060401010101" pitchFamily="34" charset="-79"/>
                <a:cs typeface="David" panose="020E0502060401010101" pitchFamily="34" charset="-79"/>
              </a:rPr>
              <a:t>ספר שופטים:</a:t>
            </a:r>
            <a:endParaRPr lang="he-IL" sz="7200" b="1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8803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954F7E-3AE2-4210-A627-845811C8F151}"/>
              </a:ext>
            </a:extLst>
          </p:cNvPr>
          <p:cNvSpPr txBox="1"/>
          <p:nvPr/>
        </p:nvSpPr>
        <p:spPr>
          <a:xfrm>
            <a:off x="7025647" y="709600"/>
            <a:ext cx="4618841" cy="3785652"/>
          </a:xfrm>
          <a:prstGeom prst="rect">
            <a:avLst/>
          </a:prstGeom>
          <a:solidFill>
            <a:srgbClr val="FFC000"/>
          </a:solidFill>
          <a:scene3d>
            <a:camera prst="perspectiveLeft"/>
            <a:lightRig rig="threePt" dir="t"/>
          </a:scene3d>
        </p:spPr>
        <p:txBody>
          <a:bodyPr wrap="square" rtlCol="1">
            <a:spAutoFit/>
          </a:bodyPr>
          <a:lstStyle/>
          <a:p>
            <a:pPr algn="r"/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בפרק הקודם למדנו שיפתח הגלעדי ניצח את בני עמון. אבל יפתח לא ידע שיש כמה אנשים שמאד כועסים על כך שהוא לא קרא להם למלחמה בבני עמון.  </a:t>
            </a:r>
          </a:p>
          <a:p>
            <a:pPr algn="r"/>
            <a:r>
              <a:rPr lang="he-IL" sz="4000" b="1" dirty="0" smtClean="0">
                <a:latin typeface="David" panose="020E0502060401010101" pitchFamily="34" charset="-79"/>
                <a:cs typeface="David" panose="020E0502060401010101" pitchFamily="34" charset="-79"/>
              </a:rPr>
              <a:t>מי הם הכועסים?</a:t>
            </a:r>
            <a:endParaRPr lang="he-IL" sz="4000" b="1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54F7E-3AE2-4210-A627-845811C8F151}"/>
              </a:ext>
            </a:extLst>
          </p:cNvPr>
          <p:cNvSpPr txBox="1"/>
          <p:nvPr/>
        </p:nvSpPr>
        <p:spPr>
          <a:xfrm>
            <a:off x="245659" y="31592"/>
            <a:ext cx="5691117" cy="34163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גם אצל גדעון היה שבט אחד שבא וכעס שגדעון לא קרא לו . מי היה אותו שבט? </a:t>
            </a:r>
          </a:p>
          <a:p>
            <a:pPr algn="r"/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נכון שבט </a:t>
            </a:r>
            <a:r>
              <a:rPr lang="he-IL" sz="4000" b="1" dirty="0" smtClean="0">
                <a:latin typeface="David" panose="020E0502060401010101" pitchFamily="34" charset="-79"/>
                <a:cs typeface="David" panose="020E0502060401010101" pitchFamily="34" charset="-79"/>
              </a:rPr>
              <a:t>אפרים. </a:t>
            </a:r>
          </a:p>
          <a:p>
            <a:pPr algn="r"/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וגם פה אצל יפתח היו </a:t>
            </a:r>
            <a:r>
              <a:rPr lang="he-IL" sz="4000" b="1" dirty="0" smtClean="0">
                <a:latin typeface="David" panose="020E0502060401010101" pitchFamily="34" charset="-79"/>
                <a:cs typeface="David" panose="020E0502060401010101" pitchFamily="34" charset="-79"/>
              </a:rPr>
              <a:t>אלה אפרים. </a:t>
            </a:r>
            <a:endParaRPr lang="he-IL" sz="3200" b="1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7" name="חץ שמאלה 6"/>
          <p:cNvSpPr/>
          <p:nvPr/>
        </p:nvSpPr>
        <p:spPr>
          <a:xfrm>
            <a:off x="5936776" y="1446663"/>
            <a:ext cx="1255594" cy="148760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954F7E-3AE2-4210-A627-845811C8F151}"/>
              </a:ext>
            </a:extLst>
          </p:cNvPr>
          <p:cNvSpPr txBox="1"/>
          <p:nvPr/>
        </p:nvSpPr>
        <p:spPr>
          <a:xfrm>
            <a:off x="245659" y="3801154"/>
            <a:ext cx="6482687" cy="21236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אצל גדעון איך הייתה תגובתו?</a:t>
            </a:r>
          </a:p>
          <a:p>
            <a:pPr algn="r"/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הרגיע אותם ושיבח אותם על כך שתפסו שני מלכי מדיין:</a:t>
            </a:r>
          </a:p>
          <a:p>
            <a:pPr algn="r"/>
            <a:r>
              <a:rPr lang="he-IL" sz="3600" b="1" dirty="0" smtClean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"טוב עוללות אפרים </a:t>
            </a:r>
            <a:r>
              <a:rPr lang="he-IL" sz="3600" b="1" dirty="0" err="1" smtClean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מבציר</a:t>
            </a:r>
            <a:r>
              <a:rPr lang="he-IL" sz="3600" b="1" dirty="0" smtClean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אביעזר"</a:t>
            </a:r>
            <a:endParaRPr lang="he-IL" sz="3600" b="1" dirty="0">
              <a:solidFill>
                <a:srgbClr val="C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9" name="חץ למטה 8"/>
          <p:cNvSpPr/>
          <p:nvPr/>
        </p:nvSpPr>
        <p:spPr>
          <a:xfrm>
            <a:off x="2852381" y="2862785"/>
            <a:ext cx="1269242" cy="1170253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0" name="תמונה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329" y="4495252"/>
            <a:ext cx="2143125" cy="21431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954F7E-3AE2-4210-A627-845811C8F151}"/>
              </a:ext>
            </a:extLst>
          </p:cNvPr>
          <p:cNvSpPr txBox="1"/>
          <p:nvPr/>
        </p:nvSpPr>
        <p:spPr>
          <a:xfrm>
            <a:off x="2085158" y="6145366"/>
            <a:ext cx="4940489" cy="646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3600" b="1" dirty="0" smtClean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לעומת זאת אצל יפתח......?</a:t>
            </a:r>
          </a:p>
        </p:txBody>
      </p:sp>
    </p:spTree>
    <p:extLst>
      <p:ext uri="{BB962C8B-B14F-4D97-AF65-F5344CB8AC3E}">
        <p14:creationId xmlns:p14="http://schemas.microsoft.com/office/powerpoint/2010/main" val="732609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838" y="4171917"/>
            <a:ext cx="3553040" cy="235853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954F7E-3AE2-4210-A627-845811C8F151}"/>
              </a:ext>
            </a:extLst>
          </p:cNvPr>
          <p:cNvSpPr txBox="1"/>
          <p:nvPr/>
        </p:nvSpPr>
        <p:spPr>
          <a:xfrm>
            <a:off x="232013" y="271831"/>
            <a:ext cx="5513694" cy="58785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3200" b="1" u="sng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פ"ס</a:t>
            </a:r>
            <a:r>
              <a:rPr lang="he-IL" sz="3200" b="1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 א': </a:t>
            </a:r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שבט 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אפרים עלו </a:t>
            </a:r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לגלעד </a:t>
            </a:r>
            <a:r>
              <a:rPr lang="he-IL" sz="2800" dirty="0" smtClean="0">
                <a:latin typeface="David" panose="020E0502060401010101" pitchFamily="34" charset="-79"/>
                <a:cs typeface="David" panose="020E0502060401010101" pitchFamily="34" charset="-79"/>
              </a:rPr>
              <a:t>(אפרים יושבים בארץ ישראל ויפתח יושב בגלעד בעבר הירדן, וחצו אפרים את הירדן) 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ובאו ליפתח </a:t>
            </a:r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ואמרו בכעס 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מדוע לא קראת לנו גם להילחם מול עמון?</a:t>
            </a:r>
          </a:p>
          <a:p>
            <a:pPr algn="r"/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אנחנו נשרוף את הבית שלך כשאתה תהיה בתוכו</a:t>
            </a:r>
            <a:r>
              <a:rPr lang="he-IL" sz="3200" b="1" dirty="0" smtClean="0">
                <a:latin typeface="David" panose="020E0502060401010101" pitchFamily="34" charset="-79"/>
                <a:cs typeface="David" panose="020E0502060401010101" pitchFamily="34" charset="-79"/>
              </a:rPr>
              <a:t>..</a:t>
            </a:r>
            <a:endParaRPr lang="he-IL" sz="3200" b="1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/>
            <a:r>
              <a:rPr lang="he-IL" sz="3200" b="1" u="sng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פ"ס</a:t>
            </a:r>
            <a:r>
              <a:rPr lang="he-IL" sz="3200" b="1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 ב': </a:t>
            </a:r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ענה 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יפתח: נלחמתי כבר כמה פעמים מול עמון עוד שהייתי בארץ טוב ולא מנהיג. וקראתי לכם שתבואו לעזור לי.. ולא באתם.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58DF21DF-661C-4A25-B7A3-CDBA26F3D263}"/>
              </a:ext>
            </a:extLst>
          </p:cNvPr>
          <p:cNvSpPr/>
          <p:nvPr/>
        </p:nvSpPr>
        <p:spPr>
          <a:xfrm>
            <a:off x="6114196" y="271831"/>
            <a:ext cx="5925993" cy="3662541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r"/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 וַיִּצָּעֵק </a:t>
            </a:r>
            <a:r>
              <a:rPr lang="he-IL" sz="3200" b="1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אִישׁ אֶפְרַיִם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וַיַּעֲבֹר צָפוֹנָה; וַיֹּאמְרוּ לְיִפְתָּח מַדּוּעַ עָבַרְתָּ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לְהִלָּחֵם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בִּבְנֵי-עַמּוֹן, </a:t>
            </a:r>
            <a:r>
              <a:rPr lang="he-IL" sz="3600" b="1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וְלָנוּ לֹא קָרָאתָ לָלֶכֶת עִמָּךְ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--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בֵּיתְךָ, נִשְׂרֹף עָלֶיךָ בָּאֵשׁ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  </a:t>
            </a:r>
          </a:p>
          <a:p>
            <a:pPr algn="r"/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 וַיֹּאמֶר יִפְתָּח, אֲלֵיהֶם, אִישׁ רִיב הָיִיתִי אֲנִי וְעַמִּי וּבְנֵי-עַמּוֹן, מְאֹד; וָאֶזְעַק אֶתְכֶם, וְלֹא-הוֹשַׁעְתֶּם אוֹתִי מִיָּדָם. </a:t>
            </a:r>
          </a:p>
        </p:txBody>
      </p:sp>
    </p:spTree>
    <p:extLst>
      <p:ext uri="{BB962C8B-B14F-4D97-AF65-F5344CB8AC3E}">
        <p14:creationId xmlns:p14="http://schemas.microsoft.com/office/powerpoint/2010/main" val="9839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58DF21DF-661C-4A25-B7A3-CDBA26F3D263}"/>
              </a:ext>
            </a:extLst>
          </p:cNvPr>
          <p:cNvSpPr/>
          <p:nvPr/>
        </p:nvSpPr>
        <p:spPr>
          <a:xfrm>
            <a:off x="5800299" y="274290"/>
            <a:ext cx="6185300" cy="4031873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r"/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 וָאֶרְאֶה כִּי-אֵינְךָ מוֹשִׁיעַ, </a:t>
            </a:r>
            <a:r>
              <a:rPr lang="he-IL" sz="3200" b="1" dirty="0" err="1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וָאָשִׂימָה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 נַפְשִׁי בְכַפִּי 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וָאֶעְבְּרָה אֶל-בְּנֵי עַמּוֹן,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וַיִּתְּנֵם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יְהוָה, בְּיָדִי; וְלָמָה עֲלִיתֶם אֵלַי, הַיּוֹם הַזֶּה--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לְהִלָּחֶם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בִּי</a:t>
            </a:r>
            <a:r>
              <a:rPr lang="he-IL" sz="3200" dirty="0" smtClean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</a:p>
          <a:p>
            <a:pPr algn="r"/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ד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וַיִּקְבֹּץ יִפְתָּח 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אֶת-כָּל-אַנְשֵׁי גִלְעָד, וַיִּלָּחֶם אֶת-אֶפְרָיִם; וַיַּכּוּ אַנְשֵׁי גִלְעָד אֶת-אֶפְרַיִם, כִּי אָמְרוּ </a:t>
            </a:r>
            <a:r>
              <a:rPr lang="he-IL" sz="3200" b="1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פְּלִיטֵי אֶפְרַיִם אַתֶּם--גִּלְעָד, בְּתוֹךְ אֶפְרַיִם בְּתוֹךְ מְנַשֶּׁה.</a:t>
            </a:r>
            <a:endParaRPr lang="he-IL" sz="3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505289-F387-4C3E-8327-F267A183AE6C}"/>
              </a:ext>
            </a:extLst>
          </p:cNvPr>
          <p:cNvSpPr txBox="1"/>
          <p:nvPr/>
        </p:nvSpPr>
        <p:spPr>
          <a:xfrm>
            <a:off x="174050" y="274290"/>
            <a:ext cx="5448828" cy="60016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3200" b="1" u="sng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פ"ס</a:t>
            </a:r>
            <a:r>
              <a:rPr lang="he-IL" sz="3200" b="1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 ג': </a:t>
            </a:r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ראיתי 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שאתם לא מושיעים אותי לקחתי את עצמי </a:t>
            </a:r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וסיכנתי את עצמי 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ונלחמתי מול עמון וה' נתנם בידי.</a:t>
            </a:r>
          </a:p>
          <a:p>
            <a:pPr algn="r"/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מדוע עליתם להילחם נגדי</a:t>
            </a:r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?</a:t>
            </a:r>
          </a:p>
          <a:p>
            <a:pPr algn="r"/>
            <a:r>
              <a:rPr lang="he-IL" sz="3200" b="1" u="sng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פ"ס</a:t>
            </a:r>
            <a:r>
              <a:rPr lang="he-IL" sz="3200" b="1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b="1" u="sng" dirty="0">
                <a:latin typeface="David" panose="020E0502060401010101" pitchFamily="34" charset="-79"/>
                <a:cs typeface="David" panose="020E0502060401010101" pitchFamily="34" charset="-79"/>
              </a:rPr>
              <a:t>ד':  </a:t>
            </a:r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יפתח אסף 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את אנשי גלעד ויצא להילחם מול שבט אפרים , </a:t>
            </a:r>
            <a:endParaRPr lang="he-IL" sz="32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/>
            <a:r>
              <a:rPr lang="he-IL" sz="3200" b="1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והסיבה שנלחמו תושבי גלעד באפרים</a:t>
            </a:r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, כי היו רגילים הפחותים שבאפרים לבזות את אנשי גלעד ולומר להם: מה חשובים אתם גלעד, בתוך שבט אפרים ובתוך מנשה?</a:t>
            </a:r>
            <a:endParaRPr lang="he-IL" sz="3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108395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37E0EC64-4931-470C-A052-9DD272D89621}"/>
              </a:ext>
            </a:extLst>
          </p:cNvPr>
          <p:cNvSpPr/>
          <p:nvPr/>
        </p:nvSpPr>
        <p:spPr>
          <a:xfrm>
            <a:off x="5622878" y="103496"/>
            <a:ext cx="6350084" cy="415498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 </a:t>
            </a: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וַיִּלְכֹּד גִּלְעָד אֶת-מַעְבְּרוֹת הַיַּרְדֵּן, לְאֶפְרָיִם; וְהָיָה כִּי יֹאמְרוּ פְּלִיטֵי אֶפְרַיִם, אֶעֱבֹרָה, וַיֹּאמְרוּ לוֹ אַנְשֵׁי-גִלְעָד הַאֶפְרָתִי אַתָּה, וַיֹּאמֶר לֹא.  </a:t>
            </a:r>
            <a:endParaRPr lang="he-IL" sz="2800" dirty="0" smtClean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/>
            <a:r>
              <a:rPr lang="he-IL" sz="2800" b="1" dirty="0" smtClean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וַיֹּאמְרוּ לוֹ אֱמָר-נָא </a:t>
            </a:r>
            <a:r>
              <a:rPr lang="he-IL" sz="3600" b="1" dirty="0" err="1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שִ</a:t>
            </a:r>
            <a:r>
              <a:rPr lang="he-IL" sz="2800" b="1" dirty="0" err="1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בֹּלֶת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וַיֹּאמֶר </a:t>
            </a:r>
            <a:r>
              <a:rPr lang="he-IL" sz="36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ס</a:t>
            </a:r>
            <a:r>
              <a:rPr lang="he-IL" sz="28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ִבֹּלֶת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וְלֹא יָכִין לְדַבֵּר כֵּן, וַיֹּאחֲזוּ אוֹתוֹ, וַיִּשְׁחָטוּהוּ אֶל-מַעְבְּרוֹת הַיַּרְדֵּן;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וַיִּפֹּל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בָּעֵת הַהִיא, מֵאֶפְרַיִם, </a:t>
            </a:r>
            <a:r>
              <a:rPr lang="he-IL" sz="2800" b="1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אַרְבָּעִים וּשְׁנַיִם, אָלֶף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  </a:t>
            </a:r>
            <a:endParaRPr lang="he-IL" sz="2800" dirty="0" smtClean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/>
            <a:r>
              <a:rPr lang="he-IL" sz="2800" b="1" dirty="0" smtClean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ז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וַיִּשְׁפֹּט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יִפְתָּח אֶת-יִשְׂרָאֵל, </a:t>
            </a:r>
            <a:r>
              <a:rPr lang="he-IL" sz="2800" b="1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שֵׁשׁ שָׁנִים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; וַיָּמָת, יִפְתָּח הַגִּלְעָדִי, וַיִּקָּבֵר, 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בְּעָרֵי גִלְעָד. 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{פ}</a:t>
            </a:r>
            <a:endParaRPr lang="he-IL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954F7E-3AE2-4210-A627-845811C8F151}"/>
              </a:ext>
            </a:extLst>
          </p:cNvPr>
          <p:cNvSpPr txBox="1"/>
          <p:nvPr/>
        </p:nvSpPr>
        <p:spPr>
          <a:xfrm>
            <a:off x="360402" y="103496"/>
            <a:ext cx="4921282" cy="5509200"/>
          </a:xfrm>
          <a:prstGeom prst="rect">
            <a:avLst/>
          </a:prstGeom>
          <a:solidFill>
            <a:srgbClr val="FFC000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3200" b="1" u="sng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פ"ס</a:t>
            </a:r>
            <a:r>
              <a:rPr lang="he-IL" sz="3200" b="1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 ה': </a:t>
            </a:r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יפתח 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כבש את המעבר של הירדן ולא נתן להם לעבור.. וכל מי שבא שאל אותו אתה משבט אפרים? </a:t>
            </a:r>
            <a:endParaRPr lang="he-IL" sz="32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/>
            <a:r>
              <a:rPr lang="he-IL" sz="3200" b="1" u="sng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פ"ס</a:t>
            </a:r>
            <a:r>
              <a:rPr lang="he-IL" sz="3200" b="1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 ו': </a:t>
            </a:r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אמר 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לו תגיד "</a:t>
            </a:r>
            <a:r>
              <a:rPr lang="he-IL" sz="3200" b="1" dirty="0" smtClean="0">
                <a:latin typeface="David" panose="020E0502060401010101" pitchFamily="34" charset="-79"/>
                <a:cs typeface="David" panose="020E0502060401010101" pitchFamily="34" charset="-79"/>
              </a:rPr>
              <a:t>ש</a:t>
            </a:r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בולת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"? ואם אמר </a:t>
            </a:r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ס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בולת סימן שהוא אפרתי והרגו.. ומתו משבט אפרים 42,000</a:t>
            </a:r>
          </a:p>
          <a:p>
            <a:pPr algn="r"/>
            <a:r>
              <a:rPr lang="he-IL" sz="3200" b="1" u="sng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פ"ס</a:t>
            </a:r>
            <a:r>
              <a:rPr lang="he-IL" sz="3200" b="1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 ז': </a:t>
            </a:r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יפתח 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שפט 6 שנים ונפטר ונקבר בערי גלעד (שגופו היה מפוזר בכמה </a:t>
            </a:r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ערים)</a:t>
            </a:r>
            <a:endParaRPr lang="he-IL" sz="3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4" name="מלבן 3"/>
          <p:cNvSpPr/>
          <p:nvPr/>
        </p:nvSpPr>
        <p:spPr>
          <a:xfrm>
            <a:off x="5281684" y="4827866"/>
            <a:ext cx="6800797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למים הזורמים קוראים לזה "</a:t>
            </a:r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שיבולת מים</a:t>
            </a:r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"  </a:t>
            </a:r>
          </a:p>
          <a:p>
            <a:pPr algn="r"/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לשבט אפרים </a:t>
            </a:r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הייתה 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בעיה בהיגוי נכון והיו מחליפים את האות "שין" ואומרים </a:t>
            </a:r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"סמך"</a:t>
            </a:r>
            <a:endParaRPr lang="he-IL" sz="3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26" y="642315"/>
            <a:ext cx="5480062" cy="364673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6" name="TextBox 5"/>
          <p:cNvSpPr txBox="1"/>
          <p:nvPr/>
        </p:nvSpPr>
        <p:spPr>
          <a:xfrm>
            <a:off x="3985145" y="1064525"/>
            <a:ext cx="177420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b="1" dirty="0" smtClean="0"/>
              <a:t>מעברות הירדן:</a:t>
            </a:r>
            <a:endParaRPr lang="he-IL" b="1" dirty="0"/>
          </a:p>
        </p:txBody>
      </p:sp>
      <p:pic>
        <p:nvPicPr>
          <p:cNvPr id="10" name="תמונה 9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215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11405" y="4299713"/>
            <a:ext cx="2613831" cy="3164786"/>
          </a:xfrm>
          <a:prstGeom prst="rect">
            <a:avLst/>
          </a:prstGeom>
        </p:spPr>
      </p:pic>
      <p:pic>
        <p:nvPicPr>
          <p:cNvPr id="11" name="תמונה 10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97778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37258" y="4078376"/>
            <a:ext cx="3348663" cy="3348663"/>
          </a:xfrm>
          <a:prstGeom prst="rect">
            <a:avLst/>
          </a:prstGeom>
        </p:spPr>
      </p:pic>
      <p:pic>
        <p:nvPicPr>
          <p:cNvPr id="8" name="תמונה 7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93685" y="4583167"/>
            <a:ext cx="2009775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8982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769EF963-B33A-4A3F-8C5E-BCFAC2FC5430}"/>
              </a:ext>
            </a:extLst>
          </p:cNvPr>
          <p:cNvSpPr/>
          <p:nvPr/>
        </p:nvSpPr>
        <p:spPr>
          <a:xfrm>
            <a:off x="6523629" y="288835"/>
            <a:ext cx="5436947" cy="40318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ח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וַיִּשְׁפֹּט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אַחֲרָיו אֶת-יִשְׂרָאֵל, </a:t>
            </a:r>
            <a:r>
              <a:rPr lang="he-IL" sz="3200" b="1" dirty="0" err="1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אִבְצָן</a:t>
            </a:r>
            <a:r>
              <a:rPr lang="he-IL" sz="3200" b="1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 מִבֵּית לָחֶם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  </a:t>
            </a:r>
            <a:endParaRPr lang="he-IL" sz="3200" dirty="0" smtClean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/>
            <a:r>
              <a:rPr lang="he-IL" sz="3200" b="1" dirty="0" smtClean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ט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וַיְהִי-לוֹ 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שְׁלֹשִׁים בָּנִים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וּשְׁלֹשִׁים בָּנוֹת 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שִׁלַּח הַחוּצָה, וּשְׁלֹשִׁים בָּנוֹת, הֵבִיא לְבָנָיו מִן-הַחוּץ;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וַיִּשְׁפֹּט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אֶת-יִשְׂרָאֵל, 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שֶׁבַע שָׁנִים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 </a:t>
            </a:r>
            <a:endParaRPr lang="he-IL" sz="3200" dirty="0" smtClean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/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וַיָּמָת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אִבְצָן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וַיִּקָּבֵר בְּבֵית לָחֶם.  {פ}</a:t>
            </a:r>
            <a:endParaRPr lang="he-IL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6EADA-3F92-4D26-AC4F-A2681F6D3732}"/>
              </a:ext>
            </a:extLst>
          </p:cNvPr>
          <p:cNvSpPr txBox="1"/>
          <p:nvPr/>
        </p:nvSpPr>
        <p:spPr>
          <a:xfrm>
            <a:off x="174389" y="150125"/>
            <a:ext cx="6226412" cy="65556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2800" b="1" u="sng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פ"ס</a:t>
            </a:r>
            <a:r>
              <a:rPr lang="he-IL" sz="2800" b="1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 ח': </a:t>
            </a:r>
            <a:r>
              <a:rPr lang="he-IL" sz="2800" dirty="0" smtClean="0">
                <a:latin typeface="David" panose="020E0502060401010101" pitchFamily="34" charset="-79"/>
                <a:cs typeface="David" panose="020E0502060401010101" pitchFamily="34" charset="-79"/>
              </a:rPr>
              <a:t>אחריו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מלך </a:t>
            </a: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אבצן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 מבית לחם, הוא בועז ממגילת רות ונקרא בשם זה בגלל שהיה דואג לעם ישראל שהם כמו צאן.. </a:t>
            </a:r>
            <a:r>
              <a:rPr lang="he-IL" sz="2800" b="1" dirty="0">
                <a:latin typeface="David" panose="020E0502060401010101" pitchFamily="34" charset="-79"/>
                <a:cs typeface="David" panose="020E0502060401010101" pitchFamily="34" charset="-79"/>
              </a:rPr>
              <a:t>"אב – צאן" לכן נקרא </a:t>
            </a:r>
            <a:r>
              <a:rPr lang="he-IL" sz="2800" b="1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אבצן</a:t>
            </a:r>
            <a:endParaRPr lang="he-IL" sz="2800" b="1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/>
            <a:r>
              <a:rPr lang="he-IL" sz="2800" b="1" u="sng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פ"ס</a:t>
            </a:r>
            <a:r>
              <a:rPr lang="he-IL" sz="2800" b="1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 ט'-י': </a:t>
            </a:r>
            <a:r>
              <a:rPr lang="he-IL" sz="2800" dirty="0" smtClean="0">
                <a:latin typeface="David" panose="020E0502060401010101" pitchFamily="34" charset="-79"/>
                <a:cs typeface="David" panose="020E0502060401010101" pitchFamily="34" charset="-79"/>
              </a:rPr>
              <a:t>בימיו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היו לו 30 בנים 30 בנות ואת כולם חיתן וכל בניו ובנותיו מתו לו בימיו.. </a:t>
            </a:r>
            <a:r>
              <a:rPr lang="he-IL" sz="2800" dirty="0" smtClean="0">
                <a:latin typeface="David" panose="020E0502060401010101" pitchFamily="34" charset="-79"/>
                <a:cs typeface="David" panose="020E0502060401010101" pitchFamily="34" charset="-79"/>
              </a:rPr>
              <a:t>(ובסוף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ימיו שהיה בגיל 400 התחתן עם רות ונולד לו "עובד" (הוא נפטר בלי לראות אותו</a:t>
            </a:r>
            <a:r>
              <a:rPr lang="he-IL" sz="2800" dirty="0" smtClean="0">
                <a:latin typeface="David" panose="020E0502060401010101" pitchFamily="34" charset="-79"/>
                <a:cs typeface="David" panose="020E0502060401010101" pitchFamily="34" charset="-79"/>
              </a:rPr>
              <a:t>).</a:t>
            </a: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/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הוא שפט את ישראל 7 שנים ונקבר בבית לחם</a:t>
            </a:r>
            <a:r>
              <a:rPr lang="he-IL" sz="2800" dirty="0" smtClean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/>
            <a:endParaRPr lang="he-IL" sz="2800" b="1" u="sng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/>
            <a:r>
              <a:rPr lang="he-IL" sz="2800" b="1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מדוע </a:t>
            </a:r>
            <a:r>
              <a:rPr lang="he-IL" sz="2800" b="1" u="sng" dirty="0">
                <a:latin typeface="David" panose="020E0502060401010101" pitchFamily="34" charset="-79"/>
                <a:cs typeface="David" panose="020E0502060401010101" pitchFamily="34" charset="-79"/>
              </a:rPr>
              <a:t>מתו כל בניו ובנותיו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? מכיוון שהיה לו שכן בשם "מנוח, שלא היו לו ילדים </a:t>
            </a: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ואבצן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 לא הזמין אותו לשום חתונה של ילדיו, בטענה שמנוח אין ילדים והוא לא יזמין אותו בחזרה לסעודתו.. לכן לא הזמינו. ועל כך נענש.</a:t>
            </a:r>
          </a:p>
        </p:txBody>
      </p:sp>
      <p:pic>
        <p:nvPicPr>
          <p:cNvPr id="1026" name="Picture 2" descr="אמונה ישראל Emunah Israel: סיפור מגילת רות">
            <a:extLst>
              <a:ext uri="{FF2B5EF4-FFF2-40B4-BE49-F238E27FC236}">
                <a16:creationId xmlns:a16="http://schemas.microsoft.com/office/drawing/2014/main" id="{D40DF332-9124-45A9-A7C3-C135FA909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7646" y="3974108"/>
            <a:ext cx="2698043" cy="2698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6231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9BCAACF0-ED88-4C6C-B88C-DDDC482735EA}"/>
              </a:ext>
            </a:extLst>
          </p:cNvPr>
          <p:cNvSpPr/>
          <p:nvPr/>
        </p:nvSpPr>
        <p:spPr>
          <a:xfrm>
            <a:off x="6100548" y="164490"/>
            <a:ext cx="5873423" cy="50783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יא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וַיִּשְׁפֹּט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אַחֲרָיו אֶת-יִשְׂרָאֵל, 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אֵילוֹן </a:t>
            </a:r>
            <a:r>
              <a:rPr lang="he-IL" sz="3200" b="1" dirty="0" err="1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הַזְּבוּלֹנִי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;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וַיִּשְׁפֹּט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אֶת-יִשְׂרָאֵל, עֶשֶׂר שָׁנִים.  </a:t>
            </a:r>
            <a:endParaRPr lang="he-IL" sz="2800" dirty="0" smtClean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/>
            <a:r>
              <a:rPr lang="he-IL" sz="2800" b="1" dirty="0" err="1" smtClean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יב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וַיָּמָת, אֵילוֹן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הַזְּבוּלֹנִי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; וַיִּקָּבֵר בְּאַיָּלוֹן, בְּאֶרֶץ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זְבוּלֻן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  {פ}</a:t>
            </a:r>
            <a:b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וַיִּשְׁפֹּט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אַחֲרָיו, אֶת-יִשְׂרָאֵל, 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עַבְדּוֹן בֶּן-הִלֵּל, </a:t>
            </a:r>
            <a:r>
              <a:rPr lang="he-IL" sz="3200" b="1" dirty="0" err="1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הַפִּרְעָתוֹנִי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  </a:t>
            </a:r>
            <a:endParaRPr lang="he-IL" sz="2800" dirty="0" smtClean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/>
            <a:r>
              <a:rPr lang="he-IL" sz="2800" b="1" dirty="0" smtClean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יד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וַיְהִי-לוֹ אַרְבָּעִים בָּנִים, וּשְׁלֹשִׁים בְּנֵי בָנִים, רֹכְבִים, עַל-שִׁבְעִים עֲיָרִם;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וַיִּשְׁפֹּט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אֶת-יִשְׂרָאֵל, שְׁמֹנֶה שָׁנִים.  </a:t>
            </a:r>
            <a:endParaRPr lang="he-IL" sz="2800" dirty="0" smtClean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/>
            <a:r>
              <a:rPr lang="he-IL" sz="2800" b="1" dirty="0" smtClean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טו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וַיָּמָת עַבְדּוֹן בֶּן-הִלֵּל,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הַפִּרְעָתוֹנִי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; וַיִּקָּבֵר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בְּפִרְעָתוֹן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בְּאֶרֶץ אֶפְרַיִם, בְּהַר הָעֲמָלֵקִי.  {פ</a:t>
            </a:r>
            <a:r>
              <a:rPr lang="he-IL" sz="2800" dirty="0" smtClean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}</a:t>
            </a:r>
            <a:endParaRPr lang="he-IL" sz="2800" dirty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3" name="מלבן 2"/>
          <p:cNvSpPr/>
          <p:nvPr/>
        </p:nvSpPr>
        <p:spPr>
          <a:xfrm>
            <a:off x="259308" y="164490"/>
            <a:ext cx="5691116" cy="6496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800" b="1" u="sng" dirty="0" err="1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פ"ס</a:t>
            </a:r>
            <a:r>
              <a:rPr lang="he-IL" sz="2800" b="1" u="sng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יא': </a:t>
            </a:r>
            <a:r>
              <a:rPr lang="he-IL" sz="2800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לאחר בועז שפט שופט אחד עשר- </a:t>
            </a:r>
            <a:r>
              <a:rPr lang="he-IL" sz="2800" b="1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אילון </a:t>
            </a:r>
            <a:r>
              <a:rPr lang="he-IL" sz="2800" b="1" dirty="0" err="1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הזבולוני</a:t>
            </a:r>
            <a:r>
              <a:rPr lang="he-IL" sz="2800" b="1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2800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משבט זבולון שפט 10 </a:t>
            </a:r>
            <a:r>
              <a:rPr lang="he-IL" sz="2800" dirty="0" smtClean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שנים</a:t>
            </a:r>
            <a:endParaRPr lang="en-US" sz="2800" dirty="0">
              <a:latin typeface="David" panose="020E0502060401010101" pitchFamily="34" charset="-79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800" b="1" u="sng" dirty="0" err="1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פ"ס</a:t>
            </a:r>
            <a:r>
              <a:rPr lang="he-IL" sz="2800" b="1" u="sng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2800" b="1" u="sng" dirty="0" err="1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יב</a:t>
            </a:r>
            <a:r>
              <a:rPr lang="he-IL" sz="2800" b="1" u="sng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': </a:t>
            </a:r>
            <a:r>
              <a:rPr lang="he-IL" sz="2800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נפטר אילון ונקבר בעיר אילון בארץ זבולון</a:t>
            </a:r>
            <a:endParaRPr lang="en-US" sz="2800" dirty="0">
              <a:latin typeface="David" panose="020E0502060401010101" pitchFamily="34" charset="-79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800" b="1" u="sng" dirty="0" err="1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פ"ס</a:t>
            </a:r>
            <a:r>
              <a:rPr lang="he-IL" sz="2800" b="1" u="sng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2800" b="1" u="sng" dirty="0" err="1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יג</a:t>
            </a:r>
            <a:r>
              <a:rPr lang="he-IL" sz="2800" b="1" u="sng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': </a:t>
            </a:r>
            <a:r>
              <a:rPr lang="he-IL" sz="2800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אחריו היה שופט מספר 12 </a:t>
            </a:r>
            <a:r>
              <a:rPr lang="he-IL" sz="2800" b="1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עבדון בן הילל </a:t>
            </a:r>
            <a:r>
              <a:rPr lang="he-IL" sz="2800" b="1" dirty="0" err="1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הפרעתוני</a:t>
            </a:r>
            <a:r>
              <a:rPr lang="he-IL" sz="2800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שגר בנחלת אפרים והיה משבט אפרים.</a:t>
            </a:r>
            <a:endParaRPr lang="en-US" sz="2800" dirty="0">
              <a:latin typeface="David" panose="020E0502060401010101" pitchFamily="34" charset="-79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800" b="1" u="sng" dirty="0" err="1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פ"ס</a:t>
            </a:r>
            <a:r>
              <a:rPr lang="he-IL" sz="2800" b="1" u="sng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יד': </a:t>
            </a:r>
            <a:r>
              <a:rPr lang="he-IL" sz="2800" dirty="0" err="1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לעבדון</a:t>
            </a:r>
            <a:r>
              <a:rPr lang="he-IL" sz="2800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היו ארבעים בנים ושלושים נכדים שגדלו בחייו</a:t>
            </a:r>
            <a:r>
              <a:rPr lang="he-IL" sz="2800" dirty="0" smtClean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. והם </a:t>
            </a:r>
            <a:r>
              <a:rPr lang="he-IL" sz="2800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כולם היו רוכבים על חמורים צעירים </a:t>
            </a:r>
            <a:r>
              <a:rPr lang="he-IL" sz="2800" dirty="0" smtClean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(</a:t>
            </a:r>
            <a:r>
              <a:rPr lang="he-IL" sz="2800" dirty="0" err="1" smtClean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עירים</a:t>
            </a:r>
            <a:r>
              <a:rPr lang="he-IL" sz="2800" dirty="0" smtClean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) והוא </a:t>
            </a:r>
            <a:r>
              <a:rPr lang="he-IL" sz="2800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שפט את ישראל 8 שנים</a:t>
            </a:r>
            <a:endParaRPr lang="en-US" sz="2800" dirty="0">
              <a:latin typeface="David" panose="020E0502060401010101" pitchFamily="34" charset="-79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800" b="1" u="sng" dirty="0" err="1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פ"ס</a:t>
            </a:r>
            <a:r>
              <a:rPr lang="he-IL" sz="2800" b="1" u="sng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טו': </a:t>
            </a:r>
            <a:r>
              <a:rPr lang="he-IL" sz="2800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עבדון נפטר ונקבר בעיר </a:t>
            </a:r>
            <a:r>
              <a:rPr lang="he-IL" sz="2800" dirty="0" err="1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פרעתון</a:t>
            </a:r>
            <a:r>
              <a:rPr lang="he-IL" sz="2800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בנחלת אפרים </a:t>
            </a:r>
            <a:endParaRPr lang="en-US" sz="2800" dirty="0">
              <a:effectLst/>
              <a:latin typeface="David" panose="020E0502060401010101" pitchFamily="34" charset="-79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7942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BF6E79D0-AE12-466E-BE3E-7901C86DC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224721"/>
              </p:ext>
            </p:extLst>
          </p:nvPr>
        </p:nvGraphicFramePr>
        <p:xfrm>
          <a:off x="3641424" y="250587"/>
          <a:ext cx="8128000" cy="3078480"/>
        </p:xfrm>
        <a:graphic>
          <a:graphicData uri="http://schemas.openxmlformats.org/drawingml/2006/table">
            <a:tbl>
              <a:tblPr rtl="1" firstRow="1" bandRow="1">
                <a:tableStyleId>{C4B1156A-380E-4F78-BDF5-A606A8083BF9}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58544284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981145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881343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521713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22450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endParaRPr lang="he-IL" sz="2400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 dirty="0"/>
                        <a:t>במי נלחם?</a:t>
                      </a:r>
                      <a:endParaRPr lang="he-IL" sz="2400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 dirty="0"/>
                        <a:t>טענת אנשי אפרים</a:t>
                      </a:r>
                      <a:endParaRPr lang="he-IL" sz="2400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 dirty="0"/>
                        <a:t>תשובת השופט</a:t>
                      </a:r>
                      <a:endParaRPr lang="he-IL" sz="2400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 dirty="0"/>
                        <a:t>סופו של המקרה:</a:t>
                      </a:r>
                      <a:endParaRPr lang="he-IL" sz="2400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72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sz="2800" dirty="0"/>
                        <a:t>גדעון</a:t>
                      </a:r>
                      <a:endParaRPr lang="he-IL" sz="2800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sz="2800" dirty="0"/>
                    </a:p>
                    <a:p>
                      <a:pPr rtl="1"/>
                      <a:endParaRPr lang="he-IL" sz="2800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sz="280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sz="280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sz="280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2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sz="2800" dirty="0"/>
                        <a:t>יפתח</a:t>
                      </a:r>
                      <a:endParaRPr lang="he-IL" sz="2800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sz="2800" dirty="0"/>
                    </a:p>
                    <a:p>
                      <a:pPr rtl="1"/>
                      <a:endParaRPr lang="he-IL" sz="2800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sz="2800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sz="280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sz="2800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712930"/>
                  </a:ext>
                </a:extLst>
              </a:tr>
            </a:tbl>
          </a:graphicData>
        </a:graphic>
      </p:graphicFrame>
      <p:graphicFrame>
        <p:nvGraphicFramePr>
          <p:cNvPr id="3" name="טבלה 2">
            <a:extLst>
              <a:ext uri="{FF2B5EF4-FFF2-40B4-BE49-F238E27FC236}">
                <a16:creationId xmlns:a16="http://schemas.microsoft.com/office/drawing/2014/main" id="{DA216267-D242-4F39-AE65-1D1044896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550233"/>
              </p:ext>
            </p:extLst>
          </p:nvPr>
        </p:nvGraphicFramePr>
        <p:xfrm>
          <a:off x="449870" y="3820741"/>
          <a:ext cx="8128000" cy="2560320"/>
        </p:xfrm>
        <a:graphic>
          <a:graphicData uri="http://schemas.openxmlformats.org/drawingml/2006/table">
            <a:tbl>
              <a:tblPr rtl="1" firstRow="1" bandRow="1">
                <a:tableStyleId>{D7AC3CCA-C797-4891-BE02-D94E43425B78}</a:tableStyleId>
              </a:tblPr>
              <a:tblGrid>
                <a:gridCol w="959556">
                  <a:extLst>
                    <a:ext uri="{9D8B030D-6E8A-4147-A177-3AD203B41FA5}">
                      <a16:colId xmlns:a16="http://schemas.microsoft.com/office/drawing/2014/main" val="4221138844"/>
                    </a:ext>
                  </a:extLst>
                </a:gridCol>
                <a:gridCol w="2291644">
                  <a:extLst>
                    <a:ext uri="{9D8B030D-6E8A-4147-A177-3AD203B41FA5}">
                      <a16:colId xmlns:a16="http://schemas.microsoft.com/office/drawing/2014/main" val="2730994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6238992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9946434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92717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השופט: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מה כתוב עליו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כמה שנים שפט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מקום קבורתו: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575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יא'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58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dirty="0" err="1"/>
                        <a:t>יג</a:t>
                      </a:r>
                      <a:r>
                        <a:rPr lang="he-IL" dirty="0"/>
                        <a:t>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895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269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13898" y="271146"/>
            <a:ext cx="11614245" cy="58631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r" rtl="1">
              <a:lnSpc>
                <a:spcPct val="150000"/>
              </a:lnSpc>
              <a:spcAft>
                <a:spcPts val="0"/>
              </a:spcAft>
              <a:buSzPts val="1400"/>
              <a:tabLst>
                <a:tab pos="228600" algn="l"/>
              </a:tabLst>
            </a:pPr>
            <a:r>
              <a:rPr lang="he-IL" sz="3600" b="1" u="sng" dirty="0" smtClean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 שאלות סכום פרק </a:t>
            </a:r>
            <a:r>
              <a:rPr lang="he-IL" sz="3600" b="1" u="sng" dirty="0" err="1" smtClean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יב</a:t>
            </a:r>
            <a:r>
              <a:rPr lang="he-IL" sz="3600" b="1" u="sng" dirty="0" smtClean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':</a:t>
            </a:r>
          </a:p>
          <a:p>
            <a:pPr marL="342900" lvl="0" indent="-342900" algn="r" rtl="1">
              <a:lnSpc>
                <a:spcPct val="150000"/>
              </a:lnSpc>
              <a:spcAft>
                <a:spcPts val="0"/>
              </a:spcAft>
              <a:buSzPts val="1400"/>
              <a:buFont typeface="+mj-lt"/>
              <a:buAutoNum type="arabicPeriod"/>
              <a:tabLst>
                <a:tab pos="228600" algn="l"/>
              </a:tabLst>
            </a:pPr>
            <a:r>
              <a:rPr lang="he-IL" sz="2400" dirty="0" smtClean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על </a:t>
            </a:r>
            <a:r>
              <a:rPr lang="he-IL" sz="2400" dirty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מה טוענים נגד יפתח בני אפרים? </a:t>
            </a:r>
            <a:endParaRPr lang="he-IL" sz="2400" dirty="0" smtClean="0">
              <a:latin typeface="David" panose="020E0502060401010101" pitchFamily="34" charset="-79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342900" lvl="0" indent="-342900" algn="r" rtl="1">
              <a:lnSpc>
                <a:spcPct val="150000"/>
              </a:lnSpc>
              <a:spcAft>
                <a:spcPts val="0"/>
              </a:spcAft>
              <a:buSzPts val="1400"/>
              <a:buFont typeface="+mj-lt"/>
              <a:buAutoNum type="arabicPeriod"/>
              <a:tabLst>
                <a:tab pos="228600" algn="l"/>
              </a:tabLst>
            </a:pPr>
            <a:r>
              <a:rPr lang="he-IL" sz="2400" dirty="0" smtClean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כיצד </a:t>
            </a:r>
            <a:r>
              <a:rPr lang="he-IL" sz="2400" dirty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הבחינו אנשי גלעד מי שייך לאפרים? </a:t>
            </a:r>
            <a:endParaRPr lang="he-IL" sz="2400" dirty="0" smtClean="0">
              <a:latin typeface="David" panose="020E0502060401010101" pitchFamily="34" charset="-79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342900" lvl="0" indent="-342900" algn="r" rtl="1">
              <a:lnSpc>
                <a:spcPct val="150000"/>
              </a:lnSpc>
              <a:spcAft>
                <a:spcPts val="0"/>
              </a:spcAft>
              <a:buSzPts val="1400"/>
              <a:buFont typeface="+mj-lt"/>
              <a:buAutoNum type="arabicPeriod"/>
              <a:tabLst>
                <a:tab pos="228600" algn="l"/>
              </a:tabLst>
            </a:pPr>
            <a:r>
              <a:rPr lang="he-IL" sz="2400" spc="-40" dirty="0" smtClean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מי </a:t>
            </a:r>
            <a:r>
              <a:rPr lang="he-IL" sz="2400" spc="-40" dirty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שפט אחר יפתח?</a:t>
            </a:r>
            <a:r>
              <a:rPr lang="he-IL" sz="2400" dirty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endParaRPr lang="he-IL" sz="2400" dirty="0" smtClean="0">
              <a:latin typeface="David" panose="020E0502060401010101" pitchFamily="34" charset="-79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342900" lvl="0" indent="-342900" algn="r" rtl="1">
              <a:lnSpc>
                <a:spcPct val="150000"/>
              </a:lnSpc>
              <a:spcAft>
                <a:spcPts val="0"/>
              </a:spcAft>
              <a:buSzPts val="1400"/>
              <a:buFont typeface="+mj-lt"/>
              <a:buAutoNum type="arabicPeriod"/>
              <a:tabLst>
                <a:tab pos="228600" algn="l"/>
              </a:tabLst>
            </a:pPr>
            <a:r>
              <a:rPr lang="he-IL" sz="2400" spc="-40" dirty="0" smtClean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ומי </a:t>
            </a:r>
            <a:r>
              <a:rPr lang="he-IL" sz="2400" spc="-40" dirty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אחריו?</a:t>
            </a:r>
            <a:r>
              <a:rPr lang="he-IL" sz="2400" dirty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endParaRPr lang="he-IL" sz="2400" dirty="0" smtClean="0">
              <a:latin typeface="David" panose="020E0502060401010101" pitchFamily="34" charset="-79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342900" lvl="0" indent="-342900" algn="r" rtl="1">
              <a:lnSpc>
                <a:spcPct val="150000"/>
              </a:lnSpc>
              <a:spcAft>
                <a:spcPts val="0"/>
              </a:spcAft>
              <a:buSzPts val="1400"/>
              <a:buFont typeface="+mj-lt"/>
              <a:buAutoNum type="arabicPeriod"/>
              <a:tabLst>
                <a:tab pos="228600" algn="l"/>
              </a:tabLst>
            </a:pPr>
            <a:r>
              <a:rPr lang="he-IL" sz="2400" spc="-40" dirty="0" smtClean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לאיזה </a:t>
            </a:r>
            <a:r>
              <a:rPr lang="he-IL" sz="2400" spc="-40" dirty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שופט היו ארבעים בנים ושלושים בני בנים רוכבים על שבעים </a:t>
            </a:r>
            <a:r>
              <a:rPr lang="he-IL" sz="2400" spc="-40" dirty="0" err="1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עיירים</a:t>
            </a:r>
            <a:r>
              <a:rPr lang="he-IL" sz="2400" spc="-40" dirty="0" smtClean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?</a:t>
            </a:r>
          </a:p>
          <a:p>
            <a:pPr marL="342900" lvl="0" indent="-342900" algn="r" rtl="1">
              <a:lnSpc>
                <a:spcPct val="150000"/>
              </a:lnSpc>
              <a:spcAft>
                <a:spcPts val="0"/>
              </a:spcAft>
              <a:buSzPts val="1400"/>
              <a:buFont typeface="+mj-lt"/>
              <a:buAutoNum type="arabicPeriod"/>
              <a:tabLst>
                <a:tab pos="228600" algn="l"/>
              </a:tabLst>
            </a:pPr>
            <a:r>
              <a:rPr lang="he-IL" sz="2400" dirty="0" smtClean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r>
              <a:rPr lang="he-IL" sz="2400" dirty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איזו מילה ביקשו השומרים של אנשי הגלעד למי שרצה לעבור להגיד?</a:t>
            </a:r>
          </a:p>
          <a:p>
            <a:pPr marL="342900" lvl="0" indent="-342900" algn="r" rtl="1">
              <a:lnSpc>
                <a:spcPct val="150000"/>
              </a:lnSpc>
              <a:spcAft>
                <a:spcPts val="0"/>
              </a:spcAft>
              <a:buSzPts val="1400"/>
              <a:buFont typeface="+mj-lt"/>
              <a:buAutoNum type="arabicPeriod"/>
              <a:tabLst>
                <a:tab pos="228600" algn="l"/>
              </a:tabLst>
            </a:pPr>
            <a:r>
              <a:rPr lang="he-IL" sz="2400" dirty="0" smtClean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r>
              <a:rPr lang="he-IL" sz="2400" dirty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כמה אלפים נהרגו מבני אפרים?</a:t>
            </a:r>
          </a:p>
          <a:p>
            <a:pPr marL="342900" lvl="0" indent="-342900" algn="r" rtl="1">
              <a:lnSpc>
                <a:spcPct val="150000"/>
              </a:lnSpc>
              <a:spcAft>
                <a:spcPts val="0"/>
              </a:spcAft>
              <a:buSzPts val="1400"/>
              <a:buFont typeface="+mj-lt"/>
              <a:buAutoNum type="arabicPeriod"/>
              <a:tabLst>
                <a:tab pos="228600" algn="l"/>
              </a:tabLst>
            </a:pPr>
            <a:r>
              <a:rPr lang="he-IL" sz="2400" dirty="0" smtClean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* </a:t>
            </a:r>
            <a:r>
              <a:rPr lang="he-IL" sz="2400" dirty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על איזה שופט נוסף כעסו בני אפרים וכיצד הסתיים אז הסיפור?</a:t>
            </a:r>
          </a:p>
          <a:p>
            <a:pPr marL="342900" lvl="0" indent="-342900" algn="r" rtl="1">
              <a:lnSpc>
                <a:spcPct val="150000"/>
              </a:lnSpc>
              <a:spcAft>
                <a:spcPts val="0"/>
              </a:spcAft>
              <a:buSzPts val="1400"/>
              <a:buFont typeface="+mj-lt"/>
              <a:buAutoNum type="arabicPeriod"/>
              <a:tabLst>
                <a:tab pos="228600" algn="l"/>
              </a:tabLst>
            </a:pPr>
            <a:r>
              <a:rPr lang="he-IL" sz="2400" dirty="0" smtClean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* </a:t>
            </a:r>
            <a:r>
              <a:rPr lang="he-IL" sz="2400" dirty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מה היה עונשו של יפתח</a:t>
            </a:r>
            <a:r>
              <a:rPr lang="he-IL" sz="2400" dirty="0" smtClean="0"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?</a:t>
            </a:r>
            <a:endParaRPr lang="he-IL" sz="2400" dirty="0">
              <a:latin typeface="David" panose="020E0502060401010101" pitchFamily="34" charset="-79"/>
              <a:ea typeface="Times New Roman" panose="02020603050405020304" pitchFamily="18" charset="0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53761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פיאה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30845</TotalTime>
  <Words>660</Words>
  <Application>Microsoft Office PowerPoint</Application>
  <PresentationFormat>מסך רחב</PresentationFormat>
  <Paragraphs>70</Paragraphs>
  <Slides>9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7" baseType="lpstr">
      <vt:lpstr>Arial</vt:lpstr>
      <vt:lpstr>Calibri</vt:lpstr>
      <vt:lpstr>David</vt:lpstr>
      <vt:lpstr>Gisha</vt:lpstr>
      <vt:lpstr>Times New Roman</vt:lpstr>
      <vt:lpstr>Trebuchet MS</vt:lpstr>
      <vt:lpstr>Wingdings 3</vt:lpstr>
      <vt:lpstr>פיאה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Teacher</dc:creator>
  <cp:lastModifiedBy>User</cp:lastModifiedBy>
  <cp:revision>24</cp:revision>
  <dcterms:created xsi:type="dcterms:W3CDTF">2021-01-02T22:27:19Z</dcterms:created>
  <dcterms:modified xsi:type="dcterms:W3CDTF">2024-03-25T18:05:51Z</dcterms:modified>
</cp:coreProperties>
</file>