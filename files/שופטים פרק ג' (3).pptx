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0" r:id="rId2"/>
  </p:sldMasterIdLst>
  <p:sldIdLst>
    <p:sldId id="256" r:id="rId3"/>
    <p:sldId id="274" r:id="rId4"/>
    <p:sldId id="275" r:id="rId5"/>
    <p:sldId id="280" r:id="rId6"/>
    <p:sldId id="276" r:id="rId7"/>
    <p:sldId id="278" r:id="rId8"/>
    <p:sldId id="279" r:id="rId9"/>
    <p:sldId id="281" r:id="rId10"/>
    <p:sldId id="284" r:id="rId11"/>
    <p:sldId id="287" r:id="rId12"/>
    <p:sldId id="260" r:id="rId13"/>
    <p:sldId id="261" r:id="rId14"/>
    <p:sldId id="262" r:id="rId15"/>
    <p:sldId id="263" r:id="rId16"/>
    <p:sldId id="264" r:id="rId17"/>
    <p:sldId id="266" r:id="rId18"/>
    <p:sldId id="285" r:id="rId19"/>
    <p:sldId id="290" r:id="rId20"/>
    <p:sldId id="286" r:id="rId21"/>
    <p:sldId id="288" r:id="rId22"/>
    <p:sldId id="289" r:id="rId23"/>
    <p:sldId id="291" r:id="rId24"/>
    <p:sldId id="292" r:id="rId25"/>
    <p:sldId id="293" r:id="rId26"/>
    <p:sldId id="294" r:id="rId27"/>
    <p:sldId id="295" r:id="rId28"/>
    <p:sldId id="296" r:id="rId29"/>
    <p:sldId id="271" r:id="rId30"/>
    <p:sldId id="272" r:id="rId31"/>
    <p:sldId id="273" r:id="rId32"/>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4956" autoAdjust="0"/>
    <p:restoredTop sz="94660"/>
  </p:normalViewPr>
  <p:slideViewPr>
    <p:cSldViewPr snapToGrid="0">
      <p:cViewPr varScale="1">
        <p:scale>
          <a:sx n="70" d="100"/>
          <a:sy n="70" d="100"/>
        </p:scale>
        <p:origin x="65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BE20C9C-917A-4BC1-B98D-3BD15D538FC2}"/>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E58A96F5-4C90-4963-ADFD-A7CBE3989E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1A1DED61-6DD0-4AA2-82EB-1CBDF5ADA65E}"/>
              </a:ext>
            </a:extLst>
          </p:cNvPr>
          <p:cNvSpPr>
            <a:spLocks noGrp="1"/>
          </p:cNvSpPr>
          <p:nvPr>
            <p:ph type="dt" sz="half" idx="10"/>
          </p:nvPr>
        </p:nvSpPr>
        <p:spPr/>
        <p:txBody>
          <a:bodyPr/>
          <a:lstStyle/>
          <a:p>
            <a:fld id="{768A2C8D-7117-47C9-8152-D429DA997BB7}" type="datetimeFigureOut">
              <a:rPr lang="he-IL" smtClean="0"/>
              <a:t>ג'/חשון/תשפ"ד</a:t>
            </a:fld>
            <a:endParaRPr lang="he-IL"/>
          </a:p>
        </p:txBody>
      </p:sp>
      <p:sp>
        <p:nvSpPr>
          <p:cNvPr id="5" name="מציין מיקום של כותרת תחתונה 4">
            <a:extLst>
              <a:ext uri="{FF2B5EF4-FFF2-40B4-BE49-F238E27FC236}">
                <a16:creationId xmlns:a16="http://schemas.microsoft.com/office/drawing/2014/main" id="{F43D9C7A-F7AF-46D3-A588-2037E3F0649B}"/>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F771960-089A-4318-90E9-B95B66100650}"/>
              </a:ext>
            </a:extLst>
          </p:cNvPr>
          <p:cNvSpPr>
            <a:spLocks noGrp="1"/>
          </p:cNvSpPr>
          <p:nvPr>
            <p:ph type="sldNum" sz="quarter" idx="12"/>
          </p:nvPr>
        </p:nvSpPr>
        <p:spPr/>
        <p:txBody>
          <a:bodyPr/>
          <a:lstStyle/>
          <a:p>
            <a:fld id="{6945118F-0522-45C9-930D-F968BD933BE2}" type="slidenum">
              <a:rPr lang="he-IL" smtClean="0"/>
              <a:t>‹#›</a:t>
            </a:fld>
            <a:endParaRPr lang="he-IL"/>
          </a:p>
        </p:txBody>
      </p:sp>
    </p:spTree>
    <p:extLst>
      <p:ext uri="{BB962C8B-B14F-4D97-AF65-F5344CB8AC3E}">
        <p14:creationId xmlns:p14="http://schemas.microsoft.com/office/powerpoint/2010/main" val="401327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83CB554-F8A8-49C2-8B68-C317689F818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42295E30-372D-4F5C-9D19-3E9807CCEEF9}"/>
              </a:ext>
            </a:extLst>
          </p:cNvPr>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9EEB86D3-28FA-42E8-B48A-3F06F2A24787}"/>
              </a:ext>
            </a:extLst>
          </p:cNvPr>
          <p:cNvSpPr>
            <a:spLocks noGrp="1"/>
          </p:cNvSpPr>
          <p:nvPr>
            <p:ph type="dt" sz="half" idx="10"/>
          </p:nvPr>
        </p:nvSpPr>
        <p:spPr/>
        <p:txBody>
          <a:bodyPr/>
          <a:lstStyle/>
          <a:p>
            <a:fld id="{768A2C8D-7117-47C9-8152-D429DA997BB7}" type="datetimeFigureOut">
              <a:rPr lang="he-IL" smtClean="0"/>
              <a:t>ג'/חשון/תשפ"ד</a:t>
            </a:fld>
            <a:endParaRPr lang="he-IL"/>
          </a:p>
        </p:txBody>
      </p:sp>
      <p:sp>
        <p:nvSpPr>
          <p:cNvPr id="5" name="מציין מיקום של כותרת תחתונה 4">
            <a:extLst>
              <a:ext uri="{FF2B5EF4-FFF2-40B4-BE49-F238E27FC236}">
                <a16:creationId xmlns:a16="http://schemas.microsoft.com/office/drawing/2014/main" id="{62A0AA2D-EDCA-4075-81CF-4C750982B36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F79FBB7E-419F-4E44-8E44-EC50ED46933C}"/>
              </a:ext>
            </a:extLst>
          </p:cNvPr>
          <p:cNvSpPr>
            <a:spLocks noGrp="1"/>
          </p:cNvSpPr>
          <p:nvPr>
            <p:ph type="sldNum" sz="quarter" idx="12"/>
          </p:nvPr>
        </p:nvSpPr>
        <p:spPr/>
        <p:txBody>
          <a:bodyPr/>
          <a:lstStyle/>
          <a:p>
            <a:fld id="{6945118F-0522-45C9-930D-F968BD933BE2}" type="slidenum">
              <a:rPr lang="he-IL" smtClean="0"/>
              <a:t>‹#›</a:t>
            </a:fld>
            <a:endParaRPr lang="he-IL"/>
          </a:p>
        </p:txBody>
      </p:sp>
    </p:spTree>
    <p:extLst>
      <p:ext uri="{BB962C8B-B14F-4D97-AF65-F5344CB8AC3E}">
        <p14:creationId xmlns:p14="http://schemas.microsoft.com/office/powerpoint/2010/main" val="1117012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4501B66-A706-4646-92DA-F8EB9EA5D0A4}"/>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5D13406D-E358-4656-B805-02ABBBAC3C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a:extLst>
              <a:ext uri="{FF2B5EF4-FFF2-40B4-BE49-F238E27FC236}">
                <a16:creationId xmlns:a16="http://schemas.microsoft.com/office/drawing/2014/main" id="{5AEEF60F-C02E-419B-9868-98C237B96C83}"/>
              </a:ext>
            </a:extLst>
          </p:cNvPr>
          <p:cNvSpPr>
            <a:spLocks noGrp="1"/>
          </p:cNvSpPr>
          <p:nvPr>
            <p:ph type="dt" sz="half" idx="10"/>
          </p:nvPr>
        </p:nvSpPr>
        <p:spPr/>
        <p:txBody>
          <a:bodyPr/>
          <a:lstStyle/>
          <a:p>
            <a:fld id="{768A2C8D-7117-47C9-8152-D429DA997BB7}" type="datetimeFigureOut">
              <a:rPr lang="he-IL" smtClean="0"/>
              <a:t>ג'/חשון/תשפ"ד</a:t>
            </a:fld>
            <a:endParaRPr lang="he-IL"/>
          </a:p>
        </p:txBody>
      </p:sp>
      <p:sp>
        <p:nvSpPr>
          <p:cNvPr id="5" name="מציין מיקום של כותרת תחתונה 4">
            <a:extLst>
              <a:ext uri="{FF2B5EF4-FFF2-40B4-BE49-F238E27FC236}">
                <a16:creationId xmlns:a16="http://schemas.microsoft.com/office/drawing/2014/main" id="{3373CEC5-3E96-4E6A-A730-391C0A1C59B9}"/>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8E69A3F-4EE1-40C9-BEBF-C4C7A9D3254E}"/>
              </a:ext>
            </a:extLst>
          </p:cNvPr>
          <p:cNvSpPr>
            <a:spLocks noGrp="1"/>
          </p:cNvSpPr>
          <p:nvPr>
            <p:ph type="sldNum" sz="quarter" idx="12"/>
          </p:nvPr>
        </p:nvSpPr>
        <p:spPr/>
        <p:txBody>
          <a:bodyPr/>
          <a:lstStyle/>
          <a:p>
            <a:fld id="{6945118F-0522-45C9-930D-F968BD933BE2}" type="slidenum">
              <a:rPr lang="he-IL" smtClean="0"/>
              <a:t>‹#›</a:t>
            </a:fld>
            <a:endParaRPr lang="he-IL"/>
          </a:p>
        </p:txBody>
      </p:sp>
    </p:spTree>
    <p:extLst>
      <p:ext uri="{BB962C8B-B14F-4D97-AF65-F5344CB8AC3E}">
        <p14:creationId xmlns:p14="http://schemas.microsoft.com/office/powerpoint/2010/main" val="678513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EAE62EA-2E92-4A40-A617-CE66BBA8F4E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834F8AD8-2182-4223-BBA8-23F9AEAB655B}"/>
              </a:ext>
            </a:extLst>
          </p:cNvPr>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EF5B53A1-1F6C-40E1-9894-807F044A93E9}"/>
              </a:ext>
            </a:extLst>
          </p:cNvPr>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29A2C14D-9EAB-4649-B78B-9F1D505DD26A}"/>
              </a:ext>
            </a:extLst>
          </p:cNvPr>
          <p:cNvSpPr>
            <a:spLocks noGrp="1"/>
          </p:cNvSpPr>
          <p:nvPr>
            <p:ph type="dt" sz="half" idx="10"/>
          </p:nvPr>
        </p:nvSpPr>
        <p:spPr/>
        <p:txBody>
          <a:bodyPr/>
          <a:lstStyle/>
          <a:p>
            <a:fld id="{768A2C8D-7117-47C9-8152-D429DA997BB7}" type="datetimeFigureOut">
              <a:rPr lang="he-IL" smtClean="0"/>
              <a:t>ג'/חשון/תשפ"ד</a:t>
            </a:fld>
            <a:endParaRPr lang="he-IL"/>
          </a:p>
        </p:txBody>
      </p:sp>
      <p:sp>
        <p:nvSpPr>
          <p:cNvPr id="6" name="מציין מיקום של כותרת תחתונה 5">
            <a:extLst>
              <a:ext uri="{FF2B5EF4-FFF2-40B4-BE49-F238E27FC236}">
                <a16:creationId xmlns:a16="http://schemas.microsoft.com/office/drawing/2014/main" id="{3E3DE605-6FCB-47C2-BA78-635AE1B1E361}"/>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DDCDCF7E-C7CA-4427-925C-A77FE83800C1}"/>
              </a:ext>
            </a:extLst>
          </p:cNvPr>
          <p:cNvSpPr>
            <a:spLocks noGrp="1"/>
          </p:cNvSpPr>
          <p:nvPr>
            <p:ph type="sldNum" sz="quarter" idx="12"/>
          </p:nvPr>
        </p:nvSpPr>
        <p:spPr/>
        <p:txBody>
          <a:bodyPr/>
          <a:lstStyle/>
          <a:p>
            <a:fld id="{6945118F-0522-45C9-930D-F968BD933BE2}" type="slidenum">
              <a:rPr lang="he-IL" smtClean="0"/>
              <a:t>‹#›</a:t>
            </a:fld>
            <a:endParaRPr lang="he-IL"/>
          </a:p>
        </p:txBody>
      </p:sp>
    </p:spTree>
    <p:extLst>
      <p:ext uri="{BB962C8B-B14F-4D97-AF65-F5344CB8AC3E}">
        <p14:creationId xmlns:p14="http://schemas.microsoft.com/office/powerpoint/2010/main" val="3345666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CC10C62-03A8-47FB-A4B8-D84995C6BF52}"/>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6A4B6708-3410-45CB-8150-D15AEDE821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a:extLst>
              <a:ext uri="{FF2B5EF4-FFF2-40B4-BE49-F238E27FC236}">
                <a16:creationId xmlns:a16="http://schemas.microsoft.com/office/drawing/2014/main" id="{938487EB-9597-4804-9290-9E18CEA79B28}"/>
              </a:ext>
            </a:extLst>
          </p:cNvPr>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F356B215-FA33-45D6-88BE-B686C7F51A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a:extLst>
              <a:ext uri="{FF2B5EF4-FFF2-40B4-BE49-F238E27FC236}">
                <a16:creationId xmlns:a16="http://schemas.microsoft.com/office/drawing/2014/main" id="{BDC43C24-C397-4665-8183-D4754483B5EE}"/>
              </a:ext>
            </a:extLst>
          </p:cNvPr>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77A9805E-5721-4583-8A96-95FED8C6FE89}"/>
              </a:ext>
            </a:extLst>
          </p:cNvPr>
          <p:cNvSpPr>
            <a:spLocks noGrp="1"/>
          </p:cNvSpPr>
          <p:nvPr>
            <p:ph type="dt" sz="half" idx="10"/>
          </p:nvPr>
        </p:nvSpPr>
        <p:spPr/>
        <p:txBody>
          <a:bodyPr/>
          <a:lstStyle/>
          <a:p>
            <a:fld id="{768A2C8D-7117-47C9-8152-D429DA997BB7}" type="datetimeFigureOut">
              <a:rPr lang="he-IL" smtClean="0"/>
              <a:t>ג'/חשון/תשפ"ד</a:t>
            </a:fld>
            <a:endParaRPr lang="he-IL"/>
          </a:p>
        </p:txBody>
      </p:sp>
      <p:sp>
        <p:nvSpPr>
          <p:cNvPr id="8" name="מציין מיקום של כותרת תחתונה 7">
            <a:extLst>
              <a:ext uri="{FF2B5EF4-FFF2-40B4-BE49-F238E27FC236}">
                <a16:creationId xmlns:a16="http://schemas.microsoft.com/office/drawing/2014/main" id="{ABFC7B5B-8D62-401A-8523-3132F724C376}"/>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28690FFF-1330-4B4F-8B19-B394EA663198}"/>
              </a:ext>
            </a:extLst>
          </p:cNvPr>
          <p:cNvSpPr>
            <a:spLocks noGrp="1"/>
          </p:cNvSpPr>
          <p:nvPr>
            <p:ph type="sldNum" sz="quarter" idx="12"/>
          </p:nvPr>
        </p:nvSpPr>
        <p:spPr/>
        <p:txBody>
          <a:bodyPr/>
          <a:lstStyle/>
          <a:p>
            <a:fld id="{6945118F-0522-45C9-930D-F968BD933BE2}" type="slidenum">
              <a:rPr lang="he-IL" smtClean="0"/>
              <a:t>‹#›</a:t>
            </a:fld>
            <a:endParaRPr lang="he-IL"/>
          </a:p>
        </p:txBody>
      </p:sp>
    </p:spTree>
    <p:extLst>
      <p:ext uri="{BB962C8B-B14F-4D97-AF65-F5344CB8AC3E}">
        <p14:creationId xmlns:p14="http://schemas.microsoft.com/office/powerpoint/2010/main" val="1974814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22C8351-9718-465A-BFDC-8BF99BA705D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6C8F5C61-9D10-4988-9B66-2B8CBF3179CA}"/>
              </a:ext>
            </a:extLst>
          </p:cNvPr>
          <p:cNvSpPr>
            <a:spLocks noGrp="1"/>
          </p:cNvSpPr>
          <p:nvPr>
            <p:ph type="dt" sz="half" idx="10"/>
          </p:nvPr>
        </p:nvSpPr>
        <p:spPr/>
        <p:txBody>
          <a:bodyPr/>
          <a:lstStyle/>
          <a:p>
            <a:fld id="{768A2C8D-7117-47C9-8152-D429DA997BB7}" type="datetimeFigureOut">
              <a:rPr lang="he-IL" smtClean="0"/>
              <a:t>ג'/חשון/תשפ"ד</a:t>
            </a:fld>
            <a:endParaRPr lang="he-IL"/>
          </a:p>
        </p:txBody>
      </p:sp>
      <p:sp>
        <p:nvSpPr>
          <p:cNvPr id="4" name="מציין מיקום של כותרת תחתונה 3">
            <a:extLst>
              <a:ext uri="{FF2B5EF4-FFF2-40B4-BE49-F238E27FC236}">
                <a16:creationId xmlns:a16="http://schemas.microsoft.com/office/drawing/2014/main" id="{71F7CBB5-5B6E-4038-80E4-11005CB6DD0A}"/>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902DDA91-DF89-4F7B-8464-BFD31F1474C5}"/>
              </a:ext>
            </a:extLst>
          </p:cNvPr>
          <p:cNvSpPr>
            <a:spLocks noGrp="1"/>
          </p:cNvSpPr>
          <p:nvPr>
            <p:ph type="sldNum" sz="quarter" idx="12"/>
          </p:nvPr>
        </p:nvSpPr>
        <p:spPr/>
        <p:txBody>
          <a:bodyPr/>
          <a:lstStyle/>
          <a:p>
            <a:fld id="{6945118F-0522-45C9-930D-F968BD933BE2}" type="slidenum">
              <a:rPr lang="he-IL" smtClean="0"/>
              <a:t>‹#›</a:t>
            </a:fld>
            <a:endParaRPr lang="he-IL"/>
          </a:p>
        </p:txBody>
      </p:sp>
    </p:spTree>
    <p:extLst>
      <p:ext uri="{BB962C8B-B14F-4D97-AF65-F5344CB8AC3E}">
        <p14:creationId xmlns:p14="http://schemas.microsoft.com/office/powerpoint/2010/main" val="1373402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9AFE9588-0041-4613-B493-B7325FD14E33}"/>
              </a:ext>
            </a:extLst>
          </p:cNvPr>
          <p:cNvSpPr>
            <a:spLocks noGrp="1"/>
          </p:cNvSpPr>
          <p:nvPr>
            <p:ph type="dt" sz="half" idx="10"/>
          </p:nvPr>
        </p:nvSpPr>
        <p:spPr/>
        <p:txBody>
          <a:bodyPr/>
          <a:lstStyle/>
          <a:p>
            <a:fld id="{768A2C8D-7117-47C9-8152-D429DA997BB7}" type="datetimeFigureOut">
              <a:rPr lang="he-IL" smtClean="0"/>
              <a:t>ג'/חשון/תשפ"ד</a:t>
            </a:fld>
            <a:endParaRPr lang="he-IL"/>
          </a:p>
        </p:txBody>
      </p:sp>
      <p:sp>
        <p:nvSpPr>
          <p:cNvPr id="3" name="מציין מיקום של כותרת תחתונה 2">
            <a:extLst>
              <a:ext uri="{FF2B5EF4-FFF2-40B4-BE49-F238E27FC236}">
                <a16:creationId xmlns:a16="http://schemas.microsoft.com/office/drawing/2014/main" id="{4CD3EFA8-FFB5-48EF-BB65-FDB0676CC6E8}"/>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11CEA7B0-9A9C-4346-BFE3-2B750F926ED1}"/>
              </a:ext>
            </a:extLst>
          </p:cNvPr>
          <p:cNvSpPr>
            <a:spLocks noGrp="1"/>
          </p:cNvSpPr>
          <p:nvPr>
            <p:ph type="sldNum" sz="quarter" idx="12"/>
          </p:nvPr>
        </p:nvSpPr>
        <p:spPr/>
        <p:txBody>
          <a:bodyPr/>
          <a:lstStyle/>
          <a:p>
            <a:fld id="{6945118F-0522-45C9-930D-F968BD933BE2}" type="slidenum">
              <a:rPr lang="he-IL" smtClean="0"/>
              <a:t>‹#›</a:t>
            </a:fld>
            <a:endParaRPr lang="he-IL"/>
          </a:p>
        </p:txBody>
      </p:sp>
    </p:spTree>
    <p:extLst>
      <p:ext uri="{BB962C8B-B14F-4D97-AF65-F5344CB8AC3E}">
        <p14:creationId xmlns:p14="http://schemas.microsoft.com/office/powerpoint/2010/main" val="2297816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B626505-A2B2-466E-9E6C-243507B7D064}"/>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AB9CCE05-1A61-4BD4-B9A3-2E615E947C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117CF073-B551-425E-8B7E-605626AB9E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a:extLst>
              <a:ext uri="{FF2B5EF4-FFF2-40B4-BE49-F238E27FC236}">
                <a16:creationId xmlns:a16="http://schemas.microsoft.com/office/drawing/2014/main" id="{0A466754-BEFC-4D73-A886-1BA7FF92CCA6}"/>
              </a:ext>
            </a:extLst>
          </p:cNvPr>
          <p:cNvSpPr>
            <a:spLocks noGrp="1"/>
          </p:cNvSpPr>
          <p:nvPr>
            <p:ph type="dt" sz="half" idx="10"/>
          </p:nvPr>
        </p:nvSpPr>
        <p:spPr/>
        <p:txBody>
          <a:bodyPr/>
          <a:lstStyle/>
          <a:p>
            <a:fld id="{768A2C8D-7117-47C9-8152-D429DA997BB7}" type="datetimeFigureOut">
              <a:rPr lang="he-IL" smtClean="0"/>
              <a:t>ג'/חשון/תשפ"ד</a:t>
            </a:fld>
            <a:endParaRPr lang="he-IL"/>
          </a:p>
        </p:txBody>
      </p:sp>
      <p:sp>
        <p:nvSpPr>
          <p:cNvPr id="6" name="מציין מיקום של כותרת תחתונה 5">
            <a:extLst>
              <a:ext uri="{FF2B5EF4-FFF2-40B4-BE49-F238E27FC236}">
                <a16:creationId xmlns:a16="http://schemas.microsoft.com/office/drawing/2014/main" id="{12FA0953-E468-41FC-9754-9F94BB122676}"/>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DFA3B33-BE98-47ED-BA78-6A86B9919DF0}"/>
              </a:ext>
            </a:extLst>
          </p:cNvPr>
          <p:cNvSpPr>
            <a:spLocks noGrp="1"/>
          </p:cNvSpPr>
          <p:nvPr>
            <p:ph type="sldNum" sz="quarter" idx="12"/>
          </p:nvPr>
        </p:nvSpPr>
        <p:spPr/>
        <p:txBody>
          <a:bodyPr/>
          <a:lstStyle/>
          <a:p>
            <a:fld id="{6945118F-0522-45C9-930D-F968BD933BE2}" type="slidenum">
              <a:rPr lang="he-IL" smtClean="0"/>
              <a:t>‹#›</a:t>
            </a:fld>
            <a:endParaRPr lang="he-IL"/>
          </a:p>
        </p:txBody>
      </p:sp>
    </p:spTree>
    <p:extLst>
      <p:ext uri="{BB962C8B-B14F-4D97-AF65-F5344CB8AC3E}">
        <p14:creationId xmlns:p14="http://schemas.microsoft.com/office/powerpoint/2010/main" val="2764608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07F9118-FA8D-4FE9-9466-D536F9939693}"/>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FAC4A6E3-E144-4CDC-AAA1-8CE055C63B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AE771C1B-6C85-4C4B-AC97-6DAE027CFD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a:extLst>
              <a:ext uri="{FF2B5EF4-FFF2-40B4-BE49-F238E27FC236}">
                <a16:creationId xmlns:a16="http://schemas.microsoft.com/office/drawing/2014/main" id="{99A6D341-4CD9-4EC0-B50C-4E6DD4F6EE2F}"/>
              </a:ext>
            </a:extLst>
          </p:cNvPr>
          <p:cNvSpPr>
            <a:spLocks noGrp="1"/>
          </p:cNvSpPr>
          <p:nvPr>
            <p:ph type="dt" sz="half" idx="10"/>
          </p:nvPr>
        </p:nvSpPr>
        <p:spPr/>
        <p:txBody>
          <a:bodyPr/>
          <a:lstStyle/>
          <a:p>
            <a:fld id="{768A2C8D-7117-47C9-8152-D429DA997BB7}" type="datetimeFigureOut">
              <a:rPr lang="he-IL" smtClean="0"/>
              <a:t>ג'/חשון/תשפ"ד</a:t>
            </a:fld>
            <a:endParaRPr lang="he-IL"/>
          </a:p>
        </p:txBody>
      </p:sp>
      <p:sp>
        <p:nvSpPr>
          <p:cNvPr id="6" name="מציין מיקום של כותרת תחתונה 5">
            <a:extLst>
              <a:ext uri="{FF2B5EF4-FFF2-40B4-BE49-F238E27FC236}">
                <a16:creationId xmlns:a16="http://schemas.microsoft.com/office/drawing/2014/main" id="{506B426D-0702-48C0-9063-E800B494F7BF}"/>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2A83D256-B46C-439E-9908-F416405A5F40}"/>
              </a:ext>
            </a:extLst>
          </p:cNvPr>
          <p:cNvSpPr>
            <a:spLocks noGrp="1"/>
          </p:cNvSpPr>
          <p:nvPr>
            <p:ph type="sldNum" sz="quarter" idx="12"/>
          </p:nvPr>
        </p:nvSpPr>
        <p:spPr/>
        <p:txBody>
          <a:bodyPr/>
          <a:lstStyle/>
          <a:p>
            <a:fld id="{6945118F-0522-45C9-930D-F968BD933BE2}" type="slidenum">
              <a:rPr lang="he-IL" smtClean="0"/>
              <a:t>‹#›</a:t>
            </a:fld>
            <a:endParaRPr lang="he-IL"/>
          </a:p>
        </p:txBody>
      </p:sp>
    </p:spTree>
    <p:extLst>
      <p:ext uri="{BB962C8B-B14F-4D97-AF65-F5344CB8AC3E}">
        <p14:creationId xmlns:p14="http://schemas.microsoft.com/office/powerpoint/2010/main" val="1168907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6A4AECB-C9D6-4123-86A0-1A3F5FC7EDE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CA32E33E-963E-4FC2-B041-EB77506B15AF}"/>
              </a:ext>
            </a:extLst>
          </p:cNvPr>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F2F21E8-7101-4AD8-B2C8-475D0033156D}"/>
              </a:ext>
            </a:extLst>
          </p:cNvPr>
          <p:cNvSpPr>
            <a:spLocks noGrp="1"/>
          </p:cNvSpPr>
          <p:nvPr>
            <p:ph type="dt" sz="half" idx="10"/>
          </p:nvPr>
        </p:nvSpPr>
        <p:spPr/>
        <p:txBody>
          <a:bodyPr/>
          <a:lstStyle/>
          <a:p>
            <a:fld id="{768A2C8D-7117-47C9-8152-D429DA997BB7}" type="datetimeFigureOut">
              <a:rPr lang="he-IL" smtClean="0"/>
              <a:t>ג'/חשון/תשפ"ד</a:t>
            </a:fld>
            <a:endParaRPr lang="he-IL"/>
          </a:p>
        </p:txBody>
      </p:sp>
      <p:sp>
        <p:nvSpPr>
          <p:cNvPr id="5" name="מציין מיקום של כותרת תחתונה 4">
            <a:extLst>
              <a:ext uri="{FF2B5EF4-FFF2-40B4-BE49-F238E27FC236}">
                <a16:creationId xmlns:a16="http://schemas.microsoft.com/office/drawing/2014/main" id="{2D4B0225-C469-41E6-A1E9-D7AD0E0AE72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D302D28-87B1-4B4B-A377-4DCBE6F33FDD}"/>
              </a:ext>
            </a:extLst>
          </p:cNvPr>
          <p:cNvSpPr>
            <a:spLocks noGrp="1"/>
          </p:cNvSpPr>
          <p:nvPr>
            <p:ph type="sldNum" sz="quarter" idx="12"/>
          </p:nvPr>
        </p:nvSpPr>
        <p:spPr/>
        <p:txBody>
          <a:bodyPr/>
          <a:lstStyle/>
          <a:p>
            <a:fld id="{6945118F-0522-45C9-930D-F968BD933BE2}" type="slidenum">
              <a:rPr lang="he-IL" smtClean="0"/>
              <a:t>‹#›</a:t>
            </a:fld>
            <a:endParaRPr lang="he-IL"/>
          </a:p>
        </p:txBody>
      </p:sp>
    </p:spTree>
    <p:extLst>
      <p:ext uri="{BB962C8B-B14F-4D97-AF65-F5344CB8AC3E}">
        <p14:creationId xmlns:p14="http://schemas.microsoft.com/office/powerpoint/2010/main" val="575020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28C92BFB-DB5B-4995-B3A1-6206F5A0AD7F}"/>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78ED90A1-A087-4D45-B771-C2E2975FC527}"/>
              </a:ext>
            </a:extLst>
          </p:cNvPr>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471E7D8-7B6A-436A-BFCC-111FB8909CE6}"/>
              </a:ext>
            </a:extLst>
          </p:cNvPr>
          <p:cNvSpPr>
            <a:spLocks noGrp="1"/>
          </p:cNvSpPr>
          <p:nvPr>
            <p:ph type="dt" sz="half" idx="10"/>
          </p:nvPr>
        </p:nvSpPr>
        <p:spPr/>
        <p:txBody>
          <a:bodyPr/>
          <a:lstStyle/>
          <a:p>
            <a:fld id="{768A2C8D-7117-47C9-8152-D429DA997BB7}" type="datetimeFigureOut">
              <a:rPr lang="he-IL" smtClean="0"/>
              <a:t>ג'/חשון/תשפ"ד</a:t>
            </a:fld>
            <a:endParaRPr lang="he-IL"/>
          </a:p>
        </p:txBody>
      </p:sp>
      <p:sp>
        <p:nvSpPr>
          <p:cNvPr id="5" name="מציין מיקום של כותרת תחתונה 4">
            <a:extLst>
              <a:ext uri="{FF2B5EF4-FFF2-40B4-BE49-F238E27FC236}">
                <a16:creationId xmlns:a16="http://schemas.microsoft.com/office/drawing/2014/main" id="{80292700-2EC7-49F6-98AD-4FDCE42052B3}"/>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1F95768-A2B1-452E-80C8-8EC4DF1D3548}"/>
              </a:ext>
            </a:extLst>
          </p:cNvPr>
          <p:cNvSpPr>
            <a:spLocks noGrp="1"/>
          </p:cNvSpPr>
          <p:nvPr>
            <p:ph type="sldNum" sz="quarter" idx="12"/>
          </p:nvPr>
        </p:nvSpPr>
        <p:spPr/>
        <p:txBody>
          <a:bodyPr/>
          <a:lstStyle/>
          <a:p>
            <a:fld id="{6945118F-0522-45C9-930D-F968BD933BE2}" type="slidenum">
              <a:rPr lang="he-IL" smtClean="0"/>
              <a:t>‹#›</a:t>
            </a:fld>
            <a:endParaRPr lang="he-IL"/>
          </a:p>
        </p:txBody>
      </p:sp>
    </p:spTree>
    <p:extLst>
      <p:ext uri="{BB962C8B-B14F-4D97-AF65-F5344CB8AC3E}">
        <p14:creationId xmlns:p14="http://schemas.microsoft.com/office/powerpoint/2010/main" val="32617026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44A7A54-F12B-455F-BCF1-F11555186452}"/>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00A7CAE4-A239-483E-A1A6-B0C93A1106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6E88B91A-65B3-4D79-AFC5-1D69E6F581B6}"/>
              </a:ext>
            </a:extLst>
          </p:cNvPr>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27A8D8D-378F-4C40-B4E8-A75CF8D79157}"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ג'/חשון/תשפ"ד</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a:extLst>
              <a:ext uri="{FF2B5EF4-FFF2-40B4-BE49-F238E27FC236}">
                <a16:creationId xmlns:a16="http://schemas.microsoft.com/office/drawing/2014/main" id="{36EE62EA-F277-4C91-9A0E-15A70FB8D5BB}"/>
              </a:ext>
            </a:extLst>
          </p:cNvPr>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a:extLst>
              <a:ext uri="{FF2B5EF4-FFF2-40B4-BE49-F238E27FC236}">
                <a16:creationId xmlns:a16="http://schemas.microsoft.com/office/drawing/2014/main" id="{16490ECB-D480-4D3A-860B-80531EF131DD}"/>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80368FA4-F90B-4848-B5D2-DB2302584CF0}"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9011004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9ACE1EA-42DE-475C-AB77-988664BF415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51B57178-7AD0-4239-A23D-0056B9661D9E}"/>
              </a:ext>
            </a:extLst>
          </p:cNvPr>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F532436-8CBF-4DC7-9AA0-F1BFC38451B6}"/>
              </a:ext>
            </a:extLst>
          </p:cNvPr>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27A8D8D-378F-4C40-B4E8-A75CF8D79157}"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ג'/חשון/תשפ"ד</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a:extLst>
              <a:ext uri="{FF2B5EF4-FFF2-40B4-BE49-F238E27FC236}">
                <a16:creationId xmlns:a16="http://schemas.microsoft.com/office/drawing/2014/main" id="{CC8FC886-8B6D-4DE8-844E-6490D998B276}"/>
              </a:ext>
            </a:extLst>
          </p:cNvPr>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a:extLst>
              <a:ext uri="{FF2B5EF4-FFF2-40B4-BE49-F238E27FC236}">
                <a16:creationId xmlns:a16="http://schemas.microsoft.com/office/drawing/2014/main" id="{06DCB29B-3C5D-4AC7-8A9F-B65B4E4B4701}"/>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80368FA4-F90B-4848-B5D2-DB2302584CF0}"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7585034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B91FC1-C689-4C68-B988-5E6C17479C41}"/>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AABF791B-D5E1-472B-AAAB-72AFCDAC89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a:extLst>
              <a:ext uri="{FF2B5EF4-FFF2-40B4-BE49-F238E27FC236}">
                <a16:creationId xmlns:a16="http://schemas.microsoft.com/office/drawing/2014/main" id="{6062733B-06D3-40C9-8CC6-8AE09E1245F7}"/>
              </a:ext>
            </a:extLst>
          </p:cNvPr>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27A8D8D-378F-4C40-B4E8-A75CF8D79157}"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ג'/חשון/תשפ"ד</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a:extLst>
              <a:ext uri="{FF2B5EF4-FFF2-40B4-BE49-F238E27FC236}">
                <a16:creationId xmlns:a16="http://schemas.microsoft.com/office/drawing/2014/main" id="{F06F9F85-BA59-47D7-AB1E-18DEC139AD27}"/>
              </a:ext>
            </a:extLst>
          </p:cNvPr>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a:extLst>
              <a:ext uri="{FF2B5EF4-FFF2-40B4-BE49-F238E27FC236}">
                <a16:creationId xmlns:a16="http://schemas.microsoft.com/office/drawing/2014/main" id="{30C1CE4A-0151-4356-B1A6-496C1F96FC88}"/>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80368FA4-F90B-4848-B5D2-DB2302584CF0}"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960057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190FB92-0F02-4AB4-83AA-247C3FC4ADC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4685E097-EF46-4021-AED1-F06437E8C587}"/>
              </a:ext>
            </a:extLst>
          </p:cNvPr>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916B6A23-9940-4061-A26D-FA4C2097DABD}"/>
              </a:ext>
            </a:extLst>
          </p:cNvPr>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CCCA1F0E-03AD-49BA-9C22-80E35067F616}"/>
              </a:ext>
            </a:extLst>
          </p:cNvPr>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27A8D8D-378F-4C40-B4E8-A75CF8D79157}"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ג'/חשון/תשפ"ד</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a:extLst>
              <a:ext uri="{FF2B5EF4-FFF2-40B4-BE49-F238E27FC236}">
                <a16:creationId xmlns:a16="http://schemas.microsoft.com/office/drawing/2014/main" id="{F7EE7CFC-804D-413D-9FF7-1CEC93B03BBC}"/>
              </a:ext>
            </a:extLst>
          </p:cNvPr>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a:extLst>
              <a:ext uri="{FF2B5EF4-FFF2-40B4-BE49-F238E27FC236}">
                <a16:creationId xmlns:a16="http://schemas.microsoft.com/office/drawing/2014/main" id="{D48BD244-B016-4A82-B1EB-9DB97147FFAE}"/>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80368FA4-F90B-4848-B5D2-DB2302584CF0}"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2294451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69400AB-615A-402B-B26D-6FF787AE0C73}"/>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6B950969-ED38-48EC-8AAC-19343D155B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a:extLst>
              <a:ext uri="{FF2B5EF4-FFF2-40B4-BE49-F238E27FC236}">
                <a16:creationId xmlns:a16="http://schemas.microsoft.com/office/drawing/2014/main" id="{82A406DD-DBE8-4BFA-A578-A248144497D2}"/>
              </a:ext>
            </a:extLst>
          </p:cNvPr>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67792621-1B2A-4C32-A243-A1BD45F50A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a:extLst>
              <a:ext uri="{FF2B5EF4-FFF2-40B4-BE49-F238E27FC236}">
                <a16:creationId xmlns:a16="http://schemas.microsoft.com/office/drawing/2014/main" id="{1DBC89F9-52D3-4580-AA11-0D4424BF5342}"/>
              </a:ext>
            </a:extLst>
          </p:cNvPr>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97F77888-8DF5-470D-9FBB-D52F1B4FFDAF}"/>
              </a:ext>
            </a:extLst>
          </p:cNvPr>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27A8D8D-378F-4C40-B4E8-A75CF8D79157}"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ג'/חשון/תשפ"ד</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8" name="מציין מיקום של כותרת תחתונה 7">
            <a:extLst>
              <a:ext uri="{FF2B5EF4-FFF2-40B4-BE49-F238E27FC236}">
                <a16:creationId xmlns:a16="http://schemas.microsoft.com/office/drawing/2014/main" id="{C52F7DE9-7701-4FBE-9A28-19ED851A121E}"/>
              </a:ext>
            </a:extLst>
          </p:cNvPr>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9" name="מציין מיקום של מספר שקופית 8">
            <a:extLst>
              <a:ext uri="{FF2B5EF4-FFF2-40B4-BE49-F238E27FC236}">
                <a16:creationId xmlns:a16="http://schemas.microsoft.com/office/drawing/2014/main" id="{A3BE91F3-D7A2-4B8E-B66F-D89F84E5E46A}"/>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80368FA4-F90B-4848-B5D2-DB2302584CF0}"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5677888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27429D3-5EA4-40B6-AF32-EB7B27064C7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F11FDAF7-BC2C-4F93-B5E0-74D6115DF094}"/>
              </a:ext>
            </a:extLst>
          </p:cNvPr>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27A8D8D-378F-4C40-B4E8-A75CF8D79157}"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ג'/חשון/תשפ"ד</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כותרת תחתונה 3">
            <a:extLst>
              <a:ext uri="{FF2B5EF4-FFF2-40B4-BE49-F238E27FC236}">
                <a16:creationId xmlns:a16="http://schemas.microsoft.com/office/drawing/2014/main" id="{83346AFC-9652-4380-B81E-9C37F5D3AE37}"/>
              </a:ext>
            </a:extLst>
          </p:cNvPr>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מספר שקופית 4">
            <a:extLst>
              <a:ext uri="{FF2B5EF4-FFF2-40B4-BE49-F238E27FC236}">
                <a16:creationId xmlns:a16="http://schemas.microsoft.com/office/drawing/2014/main" id="{923872AC-A77D-4013-A569-C1259B58D7DF}"/>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80368FA4-F90B-4848-B5D2-DB2302584CF0}"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6404216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F54A051C-FBCA-48F8-BFC3-D602CF55D6DA}"/>
              </a:ext>
            </a:extLst>
          </p:cNvPr>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27A8D8D-378F-4C40-B4E8-A75CF8D79157}"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ג'/חשון/תשפ"ד</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3" name="מציין מיקום של כותרת תחתונה 2">
            <a:extLst>
              <a:ext uri="{FF2B5EF4-FFF2-40B4-BE49-F238E27FC236}">
                <a16:creationId xmlns:a16="http://schemas.microsoft.com/office/drawing/2014/main" id="{2425317E-C155-41BC-84BA-730BC6AF88F4}"/>
              </a:ext>
            </a:extLst>
          </p:cNvPr>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מספר שקופית 3">
            <a:extLst>
              <a:ext uri="{FF2B5EF4-FFF2-40B4-BE49-F238E27FC236}">
                <a16:creationId xmlns:a16="http://schemas.microsoft.com/office/drawing/2014/main" id="{730CC09B-3192-466B-B5B9-D3848828AE70}"/>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80368FA4-F90B-4848-B5D2-DB2302584CF0}"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319690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7B76CE6-D100-47E7-AD0B-C554E8B41E53}"/>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A533DA4F-4009-47E5-A4F4-5D45B6DC21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2B05306D-B3C4-425B-B6C5-E982DF108C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a:extLst>
              <a:ext uri="{FF2B5EF4-FFF2-40B4-BE49-F238E27FC236}">
                <a16:creationId xmlns:a16="http://schemas.microsoft.com/office/drawing/2014/main" id="{EF58308A-0854-4DD0-A76A-D04C12BB391A}"/>
              </a:ext>
            </a:extLst>
          </p:cNvPr>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27A8D8D-378F-4C40-B4E8-A75CF8D79157}"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ג'/חשון/תשפ"ד</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a:extLst>
              <a:ext uri="{FF2B5EF4-FFF2-40B4-BE49-F238E27FC236}">
                <a16:creationId xmlns:a16="http://schemas.microsoft.com/office/drawing/2014/main" id="{FD106B79-8E41-4020-8F0B-1C30E1C54DB9}"/>
              </a:ext>
            </a:extLst>
          </p:cNvPr>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a:extLst>
              <a:ext uri="{FF2B5EF4-FFF2-40B4-BE49-F238E27FC236}">
                <a16:creationId xmlns:a16="http://schemas.microsoft.com/office/drawing/2014/main" id="{A2FA02EB-2B82-4A33-A094-588C39E2378B}"/>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80368FA4-F90B-4848-B5D2-DB2302584CF0}"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9002290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979B6A2-77DE-40CC-B4A3-87C952BC6867}"/>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1C804623-DE5B-401B-AF2F-A797CD667E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F733895E-4CF6-4CC0-A598-51A22A9C3B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a:extLst>
              <a:ext uri="{FF2B5EF4-FFF2-40B4-BE49-F238E27FC236}">
                <a16:creationId xmlns:a16="http://schemas.microsoft.com/office/drawing/2014/main" id="{CA588D13-88A5-447D-A5D7-FE6FF9051A8B}"/>
              </a:ext>
            </a:extLst>
          </p:cNvPr>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27A8D8D-378F-4C40-B4E8-A75CF8D79157}"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ג'/חשון/תשפ"ד</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a:extLst>
              <a:ext uri="{FF2B5EF4-FFF2-40B4-BE49-F238E27FC236}">
                <a16:creationId xmlns:a16="http://schemas.microsoft.com/office/drawing/2014/main" id="{52CBE6E7-09BC-4166-9943-5558EF00C6CE}"/>
              </a:ext>
            </a:extLst>
          </p:cNvPr>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a:extLst>
              <a:ext uri="{FF2B5EF4-FFF2-40B4-BE49-F238E27FC236}">
                <a16:creationId xmlns:a16="http://schemas.microsoft.com/office/drawing/2014/main" id="{7B88AE9B-F7F7-4ABB-B225-E4762B034164}"/>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80368FA4-F90B-4848-B5D2-DB2302584CF0}"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8357768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85DB91F-8F22-4FCB-B9F8-DC025827593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B43B27E9-CCEC-4F8D-A258-8CF689EB98BA}"/>
              </a:ext>
            </a:extLst>
          </p:cNvPr>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AECB91C-8D71-487C-B150-090DEDBA4FCF}"/>
              </a:ext>
            </a:extLst>
          </p:cNvPr>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27A8D8D-378F-4C40-B4E8-A75CF8D79157}"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ג'/חשון/תשפ"ד</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a:extLst>
              <a:ext uri="{FF2B5EF4-FFF2-40B4-BE49-F238E27FC236}">
                <a16:creationId xmlns:a16="http://schemas.microsoft.com/office/drawing/2014/main" id="{683EAADE-1CAA-451D-A584-891F87F160D8}"/>
              </a:ext>
            </a:extLst>
          </p:cNvPr>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a:extLst>
              <a:ext uri="{FF2B5EF4-FFF2-40B4-BE49-F238E27FC236}">
                <a16:creationId xmlns:a16="http://schemas.microsoft.com/office/drawing/2014/main" id="{1149DBD1-90BF-41BD-A339-A59B5696CB48}"/>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80368FA4-F90B-4848-B5D2-DB2302584CF0}"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5383390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E1CADCE4-350B-4C34-AA4B-75AFAABF1E58}"/>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5B4D4BE5-4387-4B69-BCB0-A0D102420503}"/>
              </a:ext>
            </a:extLst>
          </p:cNvPr>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C5683AE5-37DD-4847-900D-ECA9E951A4D3}"/>
              </a:ext>
            </a:extLst>
          </p:cNvPr>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27A8D8D-378F-4C40-B4E8-A75CF8D79157}"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ג'/חשון/תשפ"ד</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a:extLst>
              <a:ext uri="{FF2B5EF4-FFF2-40B4-BE49-F238E27FC236}">
                <a16:creationId xmlns:a16="http://schemas.microsoft.com/office/drawing/2014/main" id="{5C812BCB-A719-4A3B-8045-32084FBF9950}"/>
              </a:ext>
            </a:extLst>
          </p:cNvPr>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a:extLst>
              <a:ext uri="{FF2B5EF4-FFF2-40B4-BE49-F238E27FC236}">
                <a16:creationId xmlns:a16="http://schemas.microsoft.com/office/drawing/2014/main" id="{0520A877-C772-416A-BF3F-80CC1FAFBD43}"/>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80368FA4-F90B-4848-B5D2-DB2302584CF0}"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175748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398F907D-DC55-457C-BDA3-EE000D329CB1}"/>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38AEE44D-CE4F-40E3-BE48-7D42E748A694}"/>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E12748AC-2F5D-4B68-9E28-A2990F787A14}"/>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768A2C8D-7117-47C9-8152-D429DA997BB7}" type="datetimeFigureOut">
              <a:rPr lang="he-IL" smtClean="0"/>
              <a:t>ג'/חשון/תשפ"ד</a:t>
            </a:fld>
            <a:endParaRPr lang="he-IL"/>
          </a:p>
        </p:txBody>
      </p:sp>
      <p:sp>
        <p:nvSpPr>
          <p:cNvPr id="5" name="מציין מיקום של כותרת תחתונה 4">
            <a:extLst>
              <a:ext uri="{FF2B5EF4-FFF2-40B4-BE49-F238E27FC236}">
                <a16:creationId xmlns:a16="http://schemas.microsoft.com/office/drawing/2014/main" id="{6DD34128-AB19-4381-BA62-65456EBC55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14ABAFAE-435F-44FB-94B9-6291E45544B5}"/>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6945118F-0522-45C9-930D-F968BD933BE2}" type="slidenum">
              <a:rPr lang="he-IL" smtClean="0"/>
              <a:t>‹#›</a:t>
            </a:fld>
            <a:endParaRPr lang="he-IL"/>
          </a:p>
        </p:txBody>
      </p:sp>
    </p:spTree>
    <p:extLst>
      <p:ext uri="{BB962C8B-B14F-4D97-AF65-F5344CB8AC3E}">
        <p14:creationId xmlns:p14="http://schemas.microsoft.com/office/powerpoint/2010/main" val="21897526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FF1FC6C3-7CBC-417D-9E58-DE05CA7BF43D}"/>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44D99084-1F8B-4A7E-BBBB-C7D0D397D40B}"/>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5D70CA4-DE72-4F9F-B991-CDE57DC6FD7E}"/>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fld id="{127A8D8D-378F-4C40-B4E8-A75CF8D79157}"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ג'/חשון/תשפ"ד</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a:extLst>
              <a:ext uri="{FF2B5EF4-FFF2-40B4-BE49-F238E27FC236}">
                <a16:creationId xmlns:a16="http://schemas.microsoft.com/office/drawing/2014/main" id="{66761E0C-5808-4ACA-96A0-FD7333CBC6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a:extLst>
              <a:ext uri="{FF2B5EF4-FFF2-40B4-BE49-F238E27FC236}">
                <a16:creationId xmlns:a16="http://schemas.microsoft.com/office/drawing/2014/main" id="{284D2D00-F8AD-4D18-BC87-2149FEFD3147}"/>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marL="0" marR="0" lvl="0" indent="0" algn="l" defTabSz="914400" rtl="1" eaLnBrk="1" fontAlgn="auto" latinLnBrk="0" hangingPunct="1">
              <a:lnSpc>
                <a:spcPct val="100000"/>
              </a:lnSpc>
              <a:spcBef>
                <a:spcPts val="0"/>
              </a:spcBef>
              <a:spcAft>
                <a:spcPts val="0"/>
              </a:spcAft>
              <a:buClrTx/>
              <a:buSzTx/>
              <a:buFontTx/>
              <a:buNone/>
              <a:tabLst/>
              <a:defRPr/>
            </a:pPr>
            <a:fld id="{80368FA4-F90B-4848-B5D2-DB2302584CF0}"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8729988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jpe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31.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46.jpeg"/></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46.jpeg"/><Relationship Id="rId5" Type="http://schemas.openxmlformats.org/officeDocument/2006/relationships/image" Target="../media/image49.pn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887C8098-848F-4F0E-817A-6429B7518175}"/>
              </a:ext>
            </a:extLst>
          </p:cNvPr>
          <p:cNvSpPr>
            <a:spLocks noGrp="1"/>
          </p:cNvSpPr>
          <p:nvPr>
            <p:ph type="subTitle" idx="1"/>
          </p:nvPr>
        </p:nvSpPr>
        <p:spPr>
          <a:xfrm>
            <a:off x="1944915" y="1062038"/>
            <a:ext cx="9144000" cy="1655762"/>
          </a:xfrm>
        </p:spPr>
        <p:txBody>
          <a:bodyPr>
            <a:normAutofit/>
          </a:bodyPr>
          <a:lstStyle/>
          <a:p>
            <a:r>
              <a:rPr lang="he-IL" sz="4400" b="1" dirty="0">
                <a:solidFill>
                  <a:srgbClr val="FF0000"/>
                </a:solidFill>
                <a:latin typeface="David" panose="020E0502060401010101" pitchFamily="34" charset="-79"/>
                <a:cs typeface="David" panose="020E0502060401010101" pitchFamily="34" charset="-79"/>
              </a:rPr>
              <a:t>רשימת הגויים שהקב"ה השאיר בארץ</a:t>
            </a:r>
          </a:p>
          <a:p>
            <a:r>
              <a:rPr lang="he-IL" sz="4400" b="1" dirty="0">
                <a:solidFill>
                  <a:schemeClr val="accent2"/>
                </a:solidFill>
                <a:latin typeface="David" panose="020E0502060401010101" pitchFamily="34" charset="-79"/>
                <a:cs typeface="David" panose="020E0502060401010101" pitchFamily="34" charset="-79"/>
              </a:rPr>
              <a:t>השופט הראשון שמושיע את עם ישראל</a:t>
            </a:r>
          </a:p>
        </p:txBody>
      </p:sp>
      <p:pic>
        <p:nvPicPr>
          <p:cNvPr id="4" name="תמונה 3"/>
          <p:cNvPicPr>
            <a:picLocks noChangeAspect="1"/>
          </p:cNvPicPr>
          <p:nvPr/>
        </p:nvPicPr>
        <p:blipFill>
          <a:blip r:embed="rId3"/>
          <a:stretch>
            <a:fillRect/>
          </a:stretch>
        </p:blipFill>
        <p:spPr>
          <a:xfrm>
            <a:off x="858157" y="3820885"/>
            <a:ext cx="3771900" cy="2514600"/>
          </a:xfrm>
          <a:prstGeom prst="rect">
            <a:avLst/>
          </a:prstGeom>
        </p:spPr>
      </p:pic>
    </p:spTree>
    <p:extLst>
      <p:ext uri="{BB962C8B-B14F-4D97-AF65-F5344CB8AC3E}">
        <p14:creationId xmlns:p14="http://schemas.microsoft.com/office/powerpoint/2010/main" val="1612467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down)">
                                      <p:cBhvr>
                                        <p:cTn id="13"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163772" y="572305"/>
            <a:ext cx="5377219" cy="4093428"/>
          </a:xfrm>
          <a:prstGeom prst="wedgeRectCallout">
            <a:avLst/>
          </a:prstGeom>
          <a:solidFill>
            <a:schemeClr val="accent4">
              <a:lumMod val="60000"/>
              <a:lumOff val="40000"/>
            </a:schemeClr>
          </a:solidFill>
          <a:ln w="28575">
            <a:solidFill>
              <a:schemeClr val="tx1"/>
            </a:solidFill>
          </a:ln>
        </p:spPr>
        <p:txBody>
          <a:bodyPr wrap="square" rtlCol="1">
            <a:spAutoFit/>
          </a:bodyPr>
          <a:lstStyle/>
          <a:p>
            <a:r>
              <a:rPr lang="he-IL" sz="3600" b="1" u="sng" dirty="0" smtClean="0">
                <a:latin typeface="David" panose="020E0502060401010101" pitchFamily="34" charset="-79"/>
                <a:cs typeface="David" panose="020E0502060401010101" pitchFamily="34" charset="-79"/>
              </a:rPr>
              <a:t>תשובה:</a:t>
            </a:r>
          </a:p>
          <a:p>
            <a:r>
              <a:rPr lang="he-IL" sz="3200" dirty="0" smtClean="0">
                <a:latin typeface="David" panose="020E0502060401010101" pitchFamily="34" charset="-79"/>
                <a:cs typeface="David" panose="020E0502060401010101" pitchFamily="34" charset="-79"/>
              </a:rPr>
              <a:t>הגויים הם השליחים של ה' כאשר אנו עוזבים את התורה והמצוות ה' שולח את הגויים אלינו שיעשו לנו צרות, וע"י כך אנחנו נזכרים בקדוש ברוך הוא וחוזרים אליו בתשובה. זאת הסיבה שה' משאיר את הגויים בימינו וכן בזמן יהושע. </a:t>
            </a:r>
            <a:endParaRPr lang="he-IL" sz="3200" dirty="0">
              <a:latin typeface="David" panose="020E0502060401010101" pitchFamily="34" charset="-79"/>
              <a:cs typeface="David" panose="020E0502060401010101" pitchFamily="34" charset="-79"/>
            </a:endParaRPr>
          </a:p>
        </p:txBody>
      </p:sp>
      <p:sp>
        <p:nvSpPr>
          <p:cNvPr id="5" name="TextBox 4"/>
          <p:cNvSpPr txBox="1"/>
          <p:nvPr/>
        </p:nvSpPr>
        <p:spPr>
          <a:xfrm>
            <a:off x="6878471" y="272955"/>
            <a:ext cx="4872251" cy="5150227"/>
          </a:xfrm>
          <a:prstGeom prst="wedgeEllipseCallout">
            <a:avLst/>
          </a:prstGeom>
          <a:solidFill>
            <a:schemeClr val="accent2">
              <a:lumMod val="60000"/>
              <a:lumOff val="40000"/>
            </a:schemeClr>
          </a:solidFill>
          <a:ln w="28575">
            <a:solidFill>
              <a:schemeClr val="tx1"/>
            </a:solidFill>
          </a:ln>
        </p:spPr>
        <p:txBody>
          <a:bodyPr wrap="square" rtlCol="1">
            <a:spAutoFit/>
          </a:bodyPr>
          <a:lstStyle/>
          <a:p>
            <a:pPr algn="ctr"/>
            <a:r>
              <a:rPr lang="he-IL" sz="3600" b="1" u="sng" dirty="0" smtClean="0">
                <a:latin typeface="David" panose="020E0502060401010101" pitchFamily="34" charset="-79"/>
                <a:cs typeface="David" panose="020E0502060401010101" pitchFamily="34" charset="-79"/>
              </a:rPr>
              <a:t>שאלה:</a:t>
            </a:r>
          </a:p>
          <a:p>
            <a:pPr algn="ctr"/>
            <a:r>
              <a:rPr lang="he-IL" sz="2800" dirty="0" smtClean="0">
                <a:latin typeface="David" panose="020E0502060401010101" pitchFamily="34" charset="-79"/>
                <a:cs typeface="David" panose="020E0502060401010101" pitchFamily="34" charset="-79"/>
              </a:rPr>
              <a:t>הגויים עושים לנו צרות ורוצים להשמיד אותנו, מדוע ה' משאיר אותם? אנחנו אומרים בראש השנה "שיסתלקו אויבינו וכל מבקשי </a:t>
            </a:r>
            <a:r>
              <a:rPr lang="he-IL" sz="2800" dirty="0" err="1" smtClean="0">
                <a:latin typeface="David" panose="020E0502060401010101" pitchFamily="34" charset="-79"/>
                <a:cs typeface="David" panose="020E0502060401010101" pitchFamily="34" charset="-79"/>
              </a:rPr>
              <a:t>רעתינו</a:t>
            </a:r>
            <a:r>
              <a:rPr lang="he-IL" sz="2800" dirty="0" smtClean="0">
                <a:latin typeface="David" panose="020E0502060401010101" pitchFamily="34" charset="-79"/>
                <a:cs typeface="David" panose="020E0502060401010101" pitchFamily="34" charset="-79"/>
              </a:rPr>
              <a:t>" אז למה ה' לא מסלק אותם? </a:t>
            </a:r>
            <a:endParaRPr lang="he-IL" sz="2800" dirty="0">
              <a:latin typeface="David" panose="020E0502060401010101" pitchFamily="34" charset="-79"/>
              <a:cs typeface="David" panose="020E0502060401010101" pitchFamily="34" charset="-79"/>
            </a:endParaRPr>
          </a:p>
        </p:txBody>
      </p:sp>
      <p:sp>
        <p:nvSpPr>
          <p:cNvPr id="6" name="חץ שמאלה 5"/>
          <p:cNvSpPr/>
          <p:nvPr/>
        </p:nvSpPr>
        <p:spPr>
          <a:xfrm>
            <a:off x="5540991" y="2210938"/>
            <a:ext cx="1514901" cy="107817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תמונה 6"/>
          <p:cNvPicPr>
            <a:picLocks noChangeAspect="1"/>
          </p:cNvPicPr>
          <p:nvPr/>
        </p:nvPicPr>
        <p:blipFill>
          <a:blip r:embed="rId3"/>
          <a:stretch>
            <a:fillRect/>
          </a:stretch>
        </p:blipFill>
        <p:spPr>
          <a:xfrm>
            <a:off x="4792586" y="3541489"/>
            <a:ext cx="3316511" cy="3316511"/>
          </a:xfrm>
          <a:prstGeom prst="rect">
            <a:avLst/>
          </a:prstGeom>
        </p:spPr>
      </p:pic>
    </p:spTree>
    <p:extLst>
      <p:ext uri="{BB962C8B-B14F-4D97-AF65-F5344CB8AC3E}">
        <p14:creationId xmlns:p14="http://schemas.microsoft.com/office/powerpoint/2010/main" val="2957626290"/>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6"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80">
                                          <p:stCondLst>
                                            <p:cond delay="0"/>
                                          </p:stCondLst>
                                        </p:cTn>
                                        <p:tgtEl>
                                          <p:spTgt spid="7"/>
                                        </p:tgtEl>
                                      </p:cBhvr>
                                    </p:animEffect>
                                    <p:anim calcmode="lin" valueType="num">
                                      <p:cBhvr>
                                        <p:cTn id="19"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0"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1"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2"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3"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4" dur="26">
                                          <p:stCondLst>
                                            <p:cond delay="650"/>
                                          </p:stCondLst>
                                        </p:cTn>
                                        <p:tgtEl>
                                          <p:spTgt spid="7"/>
                                        </p:tgtEl>
                                      </p:cBhvr>
                                      <p:to x="100000" y="60000"/>
                                    </p:animScale>
                                    <p:animScale>
                                      <p:cBhvr>
                                        <p:cTn id="25" dur="166" decel="50000">
                                          <p:stCondLst>
                                            <p:cond delay="676"/>
                                          </p:stCondLst>
                                        </p:cTn>
                                        <p:tgtEl>
                                          <p:spTgt spid="7"/>
                                        </p:tgtEl>
                                      </p:cBhvr>
                                      <p:to x="100000" y="100000"/>
                                    </p:animScale>
                                    <p:animScale>
                                      <p:cBhvr>
                                        <p:cTn id="26" dur="26">
                                          <p:stCondLst>
                                            <p:cond delay="1312"/>
                                          </p:stCondLst>
                                        </p:cTn>
                                        <p:tgtEl>
                                          <p:spTgt spid="7"/>
                                        </p:tgtEl>
                                      </p:cBhvr>
                                      <p:to x="100000" y="80000"/>
                                    </p:animScale>
                                    <p:animScale>
                                      <p:cBhvr>
                                        <p:cTn id="27" dur="166" decel="50000">
                                          <p:stCondLst>
                                            <p:cond delay="1338"/>
                                          </p:stCondLst>
                                        </p:cTn>
                                        <p:tgtEl>
                                          <p:spTgt spid="7"/>
                                        </p:tgtEl>
                                      </p:cBhvr>
                                      <p:to x="100000" y="100000"/>
                                    </p:animScale>
                                    <p:animScale>
                                      <p:cBhvr>
                                        <p:cTn id="28" dur="26">
                                          <p:stCondLst>
                                            <p:cond delay="1642"/>
                                          </p:stCondLst>
                                        </p:cTn>
                                        <p:tgtEl>
                                          <p:spTgt spid="7"/>
                                        </p:tgtEl>
                                      </p:cBhvr>
                                      <p:to x="100000" y="90000"/>
                                    </p:animScale>
                                    <p:animScale>
                                      <p:cBhvr>
                                        <p:cTn id="29" dur="166" decel="50000">
                                          <p:stCondLst>
                                            <p:cond delay="1668"/>
                                          </p:stCondLst>
                                        </p:cTn>
                                        <p:tgtEl>
                                          <p:spTgt spid="7"/>
                                        </p:tgtEl>
                                      </p:cBhvr>
                                      <p:to x="100000" y="100000"/>
                                    </p:animScale>
                                    <p:animScale>
                                      <p:cBhvr>
                                        <p:cTn id="30" dur="26">
                                          <p:stCondLst>
                                            <p:cond delay="1808"/>
                                          </p:stCondLst>
                                        </p:cTn>
                                        <p:tgtEl>
                                          <p:spTgt spid="7"/>
                                        </p:tgtEl>
                                      </p:cBhvr>
                                      <p:to x="100000" y="95000"/>
                                    </p:animScale>
                                    <p:animScale>
                                      <p:cBhvr>
                                        <p:cTn id="31" dur="166" decel="50000">
                                          <p:stCondLst>
                                            <p:cond delay="1834"/>
                                          </p:stCondLst>
                                        </p:cTn>
                                        <p:tgtEl>
                                          <p:spTgt spid="7"/>
                                        </p:tgtEl>
                                      </p:cBhvr>
                                      <p:to x="100000" y="100000"/>
                                    </p:animScale>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ppt_x"/>
                                          </p:val>
                                        </p:tav>
                                        <p:tav tm="100000">
                                          <p:val>
                                            <p:strVal val="#ppt_x"/>
                                          </p:val>
                                        </p:tav>
                                      </p:tavLst>
                                    </p:anim>
                                    <p:anim calcmode="lin" valueType="num">
                                      <p:cBhvr additive="base">
                                        <p:cTn id="3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177421" y="193808"/>
            <a:ext cx="5459104" cy="6555641"/>
          </a:xfrm>
          <a:prstGeom prst="rect">
            <a:avLst/>
          </a:prstGeom>
          <a:solidFill>
            <a:schemeClr val="accent2">
              <a:lumMod val="60000"/>
              <a:lumOff val="40000"/>
            </a:schemeClr>
          </a:solidFill>
          <a:ln w="28575">
            <a:solidFill>
              <a:schemeClr val="tx1"/>
            </a:solidFill>
          </a:ln>
        </p:spPr>
        <p:txBody>
          <a:bodyPr wrap="square" rtlCol="1">
            <a:spAutoFit/>
          </a:bodyPr>
          <a:lstStyle/>
          <a:p>
            <a:r>
              <a:rPr lang="he-IL" sz="2800" b="1" u="sng" dirty="0" err="1">
                <a:latin typeface="David" panose="020E0502060401010101" pitchFamily="34" charset="-79"/>
                <a:cs typeface="David" panose="020E0502060401010101" pitchFamily="34" charset="-79"/>
              </a:rPr>
              <a:t>פ"ס</a:t>
            </a:r>
            <a:r>
              <a:rPr lang="he-IL" sz="2800" b="1" u="sng" dirty="0">
                <a:latin typeface="David" panose="020E0502060401010101" pitchFamily="34" charset="-79"/>
                <a:cs typeface="David" panose="020E0502060401010101" pitchFamily="34" charset="-79"/>
              </a:rPr>
              <a:t> א': </a:t>
            </a:r>
            <a:r>
              <a:rPr lang="he-IL" sz="2800" dirty="0">
                <a:latin typeface="David" panose="020E0502060401010101" pitchFamily="34" charset="-79"/>
                <a:cs typeface="David" panose="020E0502060401010101" pitchFamily="34" charset="-79"/>
              </a:rPr>
              <a:t>ואלה הגויים שהקב"ה הניח להם לגור בארץ ועם ישראל לא ירשו אותם והטעם </a:t>
            </a:r>
            <a:r>
              <a:rPr lang="he-IL" sz="2800" b="1" dirty="0">
                <a:latin typeface="David" panose="020E0502060401010101" pitchFamily="34" charset="-79"/>
                <a:cs typeface="David" panose="020E0502060401010101" pitchFamily="34" charset="-79"/>
              </a:rPr>
              <a:t>בשביל  לנסות את עם ישראל האם יתפתו וילכו אחרי האלוקים של הגויים.</a:t>
            </a:r>
            <a:r>
              <a:rPr lang="he-IL" sz="2800" dirty="0">
                <a:latin typeface="David" panose="020E0502060401010101" pitchFamily="34" charset="-79"/>
                <a:cs typeface="David" panose="020E0502060401010101" pitchFamily="34" charset="-79"/>
              </a:rPr>
              <a:t> ואת מי ניסה ה'? </a:t>
            </a:r>
            <a:r>
              <a:rPr lang="he-IL" sz="2800" b="1" dirty="0">
                <a:latin typeface="David" panose="020E0502060401010101" pitchFamily="34" charset="-79"/>
                <a:cs typeface="David" panose="020E0502060401010101" pitchFamily="34" charset="-79"/>
              </a:rPr>
              <a:t>את הדור החדש בעם ישראל</a:t>
            </a:r>
            <a:r>
              <a:rPr lang="he-IL" sz="2800" dirty="0">
                <a:latin typeface="David" panose="020E0502060401010101" pitchFamily="34" charset="-79"/>
                <a:cs typeface="David" panose="020E0502060401010101" pitchFamily="34" charset="-79"/>
              </a:rPr>
              <a:t> שלא ראו את הניסים ואת כל מלחמות ישראל בארץ בימי יהושע. </a:t>
            </a:r>
            <a:endParaRPr lang="he-IL" sz="2800" dirty="0" smtClean="0">
              <a:latin typeface="David" panose="020E0502060401010101" pitchFamily="34" charset="-79"/>
              <a:cs typeface="David" panose="020E0502060401010101" pitchFamily="34" charset="-79"/>
            </a:endParaRPr>
          </a:p>
          <a:p>
            <a:r>
              <a:rPr lang="he-IL" sz="2800" b="1" u="sng" dirty="0" err="1">
                <a:latin typeface="David" panose="020E0502060401010101" pitchFamily="34" charset="-79"/>
                <a:cs typeface="David" panose="020E0502060401010101" pitchFamily="34" charset="-79"/>
              </a:rPr>
              <a:t>פ"ס</a:t>
            </a:r>
            <a:r>
              <a:rPr lang="he-IL" sz="2800" b="1" u="sng" dirty="0">
                <a:latin typeface="David" panose="020E0502060401010101" pitchFamily="34" charset="-79"/>
                <a:cs typeface="David" panose="020E0502060401010101" pitchFamily="34" charset="-79"/>
              </a:rPr>
              <a:t> ב': </a:t>
            </a:r>
            <a:r>
              <a:rPr lang="he-IL" sz="2800" dirty="0">
                <a:latin typeface="David" panose="020E0502060401010101" pitchFamily="34" charset="-79"/>
                <a:cs typeface="David" panose="020E0502060401010101" pitchFamily="34" charset="-79"/>
              </a:rPr>
              <a:t>והמטרה שבגללה השאיר ה' את הגויים שידעו הדורות החדשים מה גורמים החטאים </a:t>
            </a:r>
            <a:r>
              <a:rPr lang="he-IL" sz="2800" b="1" dirty="0">
                <a:latin typeface="David" panose="020E0502060401010101" pitchFamily="34" charset="-79"/>
                <a:cs typeface="David" panose="020E0502060401010101" pitchFamily="34" charset="-79"/>
              </a:rPr>
              <a:t>וללמד אותם מלחמה איך להילחם,</a:t>
            </a:r>
            <a:r>
              <a:rPr lang="he-IL" sz="2800" dirty="0">
                <a:latin typeface="David" panose="020E0502060401010101" pitchFamily="34" charset="-79"/>
                <a:cs typeface="David" panose="020E0502060401010101" pitchFamily="34" charset="-79"/>
              </a:rPr>
              <a:t> ולפני שחטאו והיו עובדים את ה' לא היו צריכים לדעת טכסיסי מלחמה כי לא היו צריכים כי ה' נלחם להם.</a:t>
            </a:r>
          </a:p>
        </p:txBody>
      </p:sp>
      <p:sp>
        <p:nvSpPr>
          <p:cNvPr id="3" name="מלבן 2"/>
          <p:cNvSpPr/>
          <p:nvPr/>
        </p:nvSpPr>
        <p:spPr>
          <a:xfrm>
            <a:off x="5832144" y="176158"/>
            <a:ext cx="6096000" cy="3046988"/>
          </a:xfrm>
          <a:prstGeom prst="rect">
            <a:avLst/>
          </a:prstGeom>
          <a:solidFill>
            <a:schemeClr val="tx2">
              <a:lumMod val="40000"/>
              <a:lumOff val="60000"/>
            </a:schemeClr>
          </a:solidFill>
        </p:spPr>
        <p:txBody>
          <a:bodyPr>
            <a:spAutoFit/>
          </a:bodyPr>
          <a:lstStyle/>
          <a:p>
            <a:pPr lvl="0"/>
            <a:r>
              <a:rPr lang="he-IL" sz="3200" b="1" dirty="0">
                <a:solidFill>
                  <a:prstClr val="black"/>
                </a:solidFill>
                <a:latin typeface="David" panose="020E0502060401010101" pitchFamily="34" charset="-79"/>
                <a:cs typeface="David" panose="020E0502060401010101" pitchFamily="34" charset="-79"/>
              </a:rPr>
              <a:t>א</a:t>
            </a:r>
            <a:r>
              <a:rPr lang="he-IL" sz="3200" dirty="0">
                <a:solidFill>
                  <a:prstClr val="black"/>
                </a:solidFill>
                <a:latin typeface="David" panose="020E0502060401010101" pitchFamily="34" charset="-79"/>
                <a:cs typeface="David" panose="020E0502060401010101" pitchFamily="34" charset="-79"/>
              </a:rPr>
              <a:t> וְאֵלֶּה </a:t>
            </a:r>
            <a:r>
              <a:rPr lang="he-IL" sz="3200" dirty="0" err="1">
                <a:solidFill>
                  <a:prstClr val="black"/>
                </a:solidFill>
                <a:latin typeface="David" panose="020E0502060401010101" pitchFamily="34" charset="-79"/>
                <a:cs typeface="David" panose="020E0502060401010101" pitchFamily="34" charset="-79"/>
              </a:rPr>
              <a:t>הַגּוֹיִם</a:t>
            </a:r>
            <a:r>
              <a:rPr lang="he-IL" sz="3200" dirty="0">
                <a:solidFill>
                  <a:prstClr val="black"/>
                </a:solidFill>
                <a:latin typeface="David" panose="020E0502060401010101" pitchFamily="34" charset="-79"/>
                <a:cs typeface="David" panose="020E0502060401010101" pitchFamily="34" charset="-79"/>
              </a:rPr>
              <a:t> אֲשֶׁר הִנִּיחַ יְהוָה, </a:t>
            </a:r>
            <a:r>
              <a:rPr lang="he-IL" sz="3200" b="1" dirty="0">
                <a:solidFill>
                  <a:prstClr val="black"/>
                </a:solidFill>
                <a:highlight>
                  <a:srgbClr val="00FFFF"/>
                </a:highlight>
                <a:latin typeface="David" panose="020E0502060401010101" pitchFamily="34" charset="-79"/>
                <a:cs typeface="David" panose="020E0502060401010101" pitchFamily="34" charset="-79"/>
              </a:rPr>
              <a:t>לְנַסּוֹת בָּם אֶת-יִשְׂרָאֵל</a:t>
            </a:r>
            <a:r>
              <a:rPr lang="he-IL" sz="3200" dirty="0">
                <a:solidFill>
                  <a:prstClr val="black"/>
                </a:solidFill>
                <a:latin typeface="David" panose="020E0502060401010101" pitchFamily="34" charset="-79"/>
                <a:cs typeface="David" panose="020E0502060401010101" pitchFamily="34" charset="-79"/>
              </a:rPr>
              <a:t>, אֵת כָּל-אֲשֶׁר לֹא-יָדְעוּ, אֵת כָּל-מִלְחֲמוֹת כְּנָעַן.  </a:t>
            </a:r>
          </a:p>
          <a:p>
            <a:pPr lvl="0"/>
            <a:r>
              <a:rPr lang="he-IL" sz="3200" b="1" dirty="0">
                <a:solidFill>
                  <a:prstClr val="black"/>
                </a:solidFill>
                <a:latin typeface="David" panose="020E0502060401010101" pitchFamily="34" charset="-79"/>
                <a:cs typeface="David" panose="020E0502060401010101" pitchFamily="34" charset="-79"/>
              </a:rPr>
              <a:t>ב</a:t>
            </a:r>
            <a:r>
              <a:rPr lang="he-IL" sz="3200" dirty="0">
                <a:solidFill>
                  <a:prstClr val="black"/>
                </a:solidFill>
                <a:latin typeface="David" panose="020E0502060401010101" pitchFamily="34" charset="-79"/>
                <a:cs typeface="David" panose="020E0502060401010101" pitchFamily="34" charset="-79"/>
              </a:rPr>
              <a:t> רַק, </a:t>
            </a:r>
            <a:r>
              <a:rPr lang="he-IL" sz="3200" b="1" dirty="0">
                <a:solidFill>
                  <a:prstClr val="black"/>
                </a:solidFill>
                <a:highlight>
                  <a:srgbClr val="00FFFF"/>
                </a:highlight>
                <a:latin typeface="David" panose="020E0502060401010101" pitchFamily="34" charset="-79"/>
                <a:cs typeface="David" panose="020E0502060401010101" pitchFamily="34" charset="-79"/>
              </a:rPr>
              <a:t>לְמַעַן דַּעַת דֹּרוֹת בְּנֵי-יִשְׂרָאֵל, לְלַמְּדָם, מִלְחָמָה-</a:t>
            </a:r>
            <a:r>
              <a:rPr lang="he-IL" sz="3200" dirty="0">
                <a:solidFill>
                  <a:prstClr val="black"/>
                </a:solidFill>
                <a:latin typeface="David" panose="020E0502060401010101" pitchFamily="34" charset="-79"/>
                <a:cs typeface="David" panose="020E0502060401010101" pitchFamily="34" charset="-79"/>
              </a:rPr>
              <a:t>-רַק אֲשֶׁר-לְפָנִים, לֹא יְדָעוּם.  </a:t>
            </a:r>
          </a:p>
        </p:txBody>
      </p:sp>
      <p:pic>
        <p:nvPicPr>
          <p:cNvPr id="5" name="תמונה 4"/>
          <p:cNvPicPr>
            <a:picLocks noChangeAspect="1"/>
          </p:cNvPicPr>
          <p:nvPr/>
        </p:nvPicPr>
        <p:blipFill>
          <a:blip r:embed="rId3"/>
          <a:stretch>
            <a:fillRect/>
          </a:stretch>
        </p:blipFill>
        <p:spPr>
          <a:xfrm>
            <a:off x="5964705" y="3679842"/>
            <a:ext cx="2652717" cy="2652717"/>
          </a:xfrm>
          <a:prstGeom prst="rect">
            <a:avLst/>
          </a:prstGeom>
        </p:spPr>
      </p:pic>
      <p:pic>
        <p:nvPicPr>
          <p:cNvPr id="6" name="תמונה 5"/>
          <p:cNvPicPr>
            <a:picLocks noChangeAspect="1"/>
          </p:cNvPicPr>
          <p:nvPr/>
        </p:nvPicPr>
        <p:blipFill>
          <a:blip r:embed="rId4"/>
          <a:stretch>
            <a:fillRect/>
          </a:stretch>
        </p:blipFill>
        <p:spPr>
          <a:xfrm>
            <a:off x="8901305" y="3935652"/>
            <a:ext cx="3026839" cy="2287727"/>
          </a:xfrm>
          <a:prstGeom prst="rect">
            <a:avLst/>
          </a:prstGeom>
        </p:spPr>
      </p:pic>
    </p:spTree>
    <p:extLst>
      <p:ext uri="{BB962C8B-B14F-4D97-AF65-F5344CB8AC3E}">
        <p14:creationId xmlns:p14="http://schemas.microsoft.com/office/powerpoint/2010/main" val="319625254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wipe(down)">
                                      <p:cBhvr>
                                        <p:cTn id="14" dur="500"/>
                                        <p:tgtEl>
                                          <p:spTgt spid="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circle(in)">
                                      <p:cBhvr>
                                        <p:cTn id="19" dur="20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 calcmode="lin" valueType="num">
                                      <p:cBhvr additive="base">
                                        <p:cTn id="24"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barn(inVertical)">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2">
                                            <p:txEl>
                                              <p:pRg st="1" end="1"/>
                                            </p:txEl>
                                          </p:spTgt>
                                        </p:tgtEl>
                                        <p:attrNameLst>
                                          <p:attrName>style.visibility</p:attrName>
                                        </p:attrNameLst>
                                      </p:cBhvr>
                                      <p:to>
                                        <p:strVal val="visible"/>
                                      </p:to>
                                    </p:set>
                                    <p:animEffect transition="in" filter="circle(in)">
                                      <p:cBhvr>
                                        <p:cTn id="35" dur="20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136478" y="313898"/>
            <a:ext cx="6032310" cy="5878532"/>
          </a:xfrm>
          <a:prstGeom prst="rect">
            <a:avLst/>
          </a:prstGeom>
          <a:solidFill>
            <a:schemeClr val="accent4">
              <a:lumMod val="40000"/>
              <a:lumOff val="60000"/>
            </a:schemeClr>
          </a:solidFill>
          <a:ln w="28575">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פ"ס</a:t>
            </a:r>
            <a:r>
              <a:rPr kumimoji="0" lang="he-IL" sz="3200" b="1" i="0" u="sng"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ג' : </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ואלו הגויים שה' השאיר אותם בארץ- חמשת ערי הפלישתים עזה אשקלון אשדוד עקרון גת </a:t>
            </a:r>
            <a:r>
              <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למרות שיהודה כבר בימי יהושע כבש את עזה אשקלון וגת אך לאחר מספר שנים חזרו הפלישתים לעירם ולא יכלו בני יהודה לכובשם שוב)</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והכנעני והצידונים </a:t>
            </a:r>
            <a:r>
              <a:rPr kumimoji="0" lang="he-IL" sz="3200" b="0" i="0" u="none"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והחוי</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שישבו בצפון.</a:t>
            </a:r>
          </a:p>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ד': </a:t>
            </a:r>
            <a:r>
              <a:rPr lang="he-IL" sz="3200" b="1" dirty="0">
                <a:solidFill>
                  <a:prstClr val="black"/>
                </a:solidFill>
                <a:latin typeface="David" panose="020E0502060401010101" pitchFamily="34" charset="-79"/>
                <a:cs typeface="David" panose="020E0502060401010101" pitchFamily="34" charset="-79"/>
              </a:rPr>
              <a:t>ה' השאיר אותם בשביל לנסות את עם ישראל </a:t>
            </a:r>
            <a:r>
              <a:rPr lang="he-IL" sz="3200" dirty="0">
                <a:solidFill>
                  <a:prstClr val="black"/>
                </a:solidFill>
                <a:latin typeface="David" panose="020E0502060401010101" pitchFamily="34" charset="-79"/>
                <a:cs typeface="David" panose="020E0502060401010101" pitchFamily="34" charset="-79"/>
              </a:rPr>
              <a:t>האם יבדלו או יתערבו בגויים וילמדו ממעשיהם והאם יעמדו </a:t>
            </a:r>
            <a:r>
              <a:rPr lang="he-IL" sz="3200" dirty="0" err="1">
                <a:solidFill>
                  <a:prstClr val="black"/>
                </a:solidFill>
                <a:latin typeface="David" panose="020E0502060401010101" pitchFamily="34" charset="-79"/>
                <a:cs typeface="David" panose="020E0502060401010101" pitchFamily="34" charset="-79"/>
              </a:rPr>
              <a:t>בנסיון</a:t>
            </a:r>
            <a:r>
              <a:rPr lang="he-IL" sz="3200" dirty="0">
                <a:solidFill>
                  <a:prstClr val="black"/>
                </a:solidFill>
                <a:latin typeface="David" panose="020E0502060401010101" pitchFamily="34" charset="-79"/>
                <a:cs typeface="David" panose="020E0502060401010101" pitchFamily="34" charset="-79"/>
              </a:rPr>
              <a:t> וישמעו בקול ה' ויקיימו את </a:t>
            </a:r>
            <a:r>
              <a:rPr lang="he-IL" sz="3200" dirty="0" smtClean="0">
                <a:solidFill>
                  <a:prstClr val="black"/>
                </a:solidFill>
                <a:latin typeface="David" panose="020E0502060401010101" pitchFamily="34" charset="-79"/>
                <a:cs typeface="David" panose="020E0502060401010101" pitchFamily="34" charset="-79"/>
              </a:rPr>
              <a:t>מצוותיו, כמו שציווה את אבותיהם</a:t>
            </a:r>
            <a:endPar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
        <p:nvSpPr>
          <p:cNvPr id="3" name="מלבן 2"/>
          <p:cNvSpPr/>
          <p:nvPr/>
        </p:nvSpPr>
        <p:spPr>
          <a:xfrm>
            <a:off x="6359856" y="313898"/>
            <a:ext cx="5500047" cy="3046988"/>
          </a:xfrm>
          <a:prstGeom prst="rect">
            <a:avLst/>
          </a:prstGeom>
          <a:solidFill>
            <a:schemeClr val="accent5">
              <a:lumMod val="60000"/>
              <a:lumOff val="40000"/>
            </a:schemeClr>
          </a:solidFill>
        </p:spPr>
        <p:txBody>
          <a:bodyPr wrap="square">
            <a:spAutoFit/>
          </a:bodyPr>
          <a:lstStyle/>
          <a:p>
            <a:pPr lvl="0"/>
            <a:r>
              <a:rPr lang="he-IL" sz="3200" b="1" dirty="0">
                <a:solidFill>
                  <a:prstClr val="black"/>
                </a:solidFill>
                <a:latin typeface="David" panose="020E0502060401010101" pitchFamily="34" charset="-79"/>
                <a:cs typeface="David" panose="020E0502060401010101" pitchFamily="34" charset="-79"/>
              </a:rPr>
              <a:t>ג</a:t>
            </a:r>
            <a:r>
              <a:rPr lang="he-IL" sz="3200" dirty="0">
                <a:solidFill>
                  <a:prstClr val="black"/>
                </a:solidFill>
                <a:latin typeface="David" panose="020E0502060401010101" pitchFamily="34" charset="-79"/>
                <a:cs typeface="David" panose="020E0502060401010101" pitchFamily="34" charset="-79"/>
              </a:rPr>
              <a:t> חֲמֵשֶׁת סַרְנֵי </a:t>
            </a:r>
            <a:r>
              <a:rPr lang="he-IL" sz="3200" dirty="0" err="1">
                <a:solidFill>
                  <a:prstClr val="black"/>
                </a:solidFill>
                <a:latin typeface="David" panose="020E0502060401010101" pitchFamily="34" charset="-79"/>
                <a:cs typeface="David" panose="020E0502060401010101" pitchFamily="34" charset="-79"/>
              </a:rPr>
              <a:t>פְלִשְׁתִּים</a:t>
            </a:r>
            <a:r>
              <a:rPr lang="he-IL" sz="3200" dirty="0">
                <a:solidFill>
                  <a:prstClr val="black"/>
                </a:solidFill>
                <a:latin typeface="David" panose="020E0502060401010101" pitchFamily="34" charset="-79"/>
                <a:cs typeface="David" panose="020E0502060401010101" pitchFamily="34" charset="-79"/>
              </a:rPr>
              <a:t>, וְכָל-הַכְּנַעֲנִי </a:t>
            </a:r>
            <a:r>
              <a:rPr lang="he-IL" sz="3200" dirty="0" err="1">
                <a:solidFill>
                  <a:prstClr val="black"/>
                </a:solidFill>
                <a:latin typeface="David" panose="020E0502060401010101" pitchFamily="34" charset="-79"/>
                <a:cs typeface="David" panose="020E0502060401010101" pitchFamily="34" charset="-79"/>
              </a:rPr>
              <a:t>וְהַצִּידֹנִי</a:t>
            </a:r>
            <a:r>
              <a:rPr lang="he-IL" sz="3200" dirty="0">
                <a:solidFill>
                  <a:prstClr val="black"/>
                </a:solidFill>
                <a:latin typeface="David" panose="020E0502060401010101" pitchFamily="34" charset="-79"/>
                <a:cs typeface="David" panose="020E0502060401010101" pitchFamily="34" charset="-79"/>
              </a:rPr>
              <a:t>, </a:t>
            </a:r>
            <a:r>
              <a:rPr lang="he-IL" sz="3200" dirty="0" err="1">
                <a:solidFill>
                  <a:prstClr val="black"/>
                </a:solidFill>
                <a:latin typeface="David" panose="020E0502060401010101" pitchFamily="34" charset="-79"/>
                <a:cs typeface="David" panose="020E0502060401010101" pitchFamily="34" charset="-79"/>
              </a:rPr>
              <a:t>וְהַחִוִּי</a:t>
            </a:r>
            <a:r>
              <a:rPr lang="he-IL" sz="3200" dirty="0">
                <a:solidFill>
                  <a:prstClr val="black"/>
                </a:solidFill>
                <a:latin typeface="David" panose="020E0502060401010101" pitchFamily="34" charset="-79"/>
                <a:cs typeface="David" panose="020E0502060401010101" pitchFamily="34" charset="-79"/>
              </a:rPr>
              <a:t>, יֹשֵׁב הַר הַלְּבָנוֹן--מֵהַר בַּעַל חֶרְמוֹן, עַד לְבוֹא חֲמָת</a:t>
            </a:r>
            <a:r>
              <a:rPr lang="he-IL" sz="3200" dirty="0" smtClean="0">
                <a:solidFill>
                  <a:prstClr val="black"/>
                </a:solidFill>
                <a:latin typeface="David" panose="020E0502060401010101" pitchFamily="34" charset="-79"/>
                <a:cs typeface="David" panose="020E0502060401010101" pitchFamily="34" charset="-79"/>
              </a:rPr>
              <a:t>.</a:t>
            </a:r>
          </a:p>
          <a:p>
            <a:pPr lvl="0"/>
            <a:r>
              <a:rPr lang="he-IL" sz="3200" b="1" dirty="0">
                <a:solidFill>
                  <a:prstClr val="black"/>
                </a:solidFill>
                <a:latin typeface="David" panose="020E0502060401010101" pitchFamily="34" charset="-79"/>
                <a:cs typeface="David" panose="020E0502060401010101" pitchFamily="34" charset="-79"/>
              </a:rPr>
              <a:t>ד</a:t>
            </a:r>
            <a:r>
              <a:rPr lang="he-IL" sz="3200" dirty="0">
                <a:solidFill>
                  <a:prstClr val="black"/>
                </a:solidFill>
                <a:latin typeface="David" panose="020E0502060401010101" pitchFamily="34" charset="-79"/>
                <a:cs typeface="David" panose="020E0502060401010101" pitchFamily="34" charset="-79"/>
              </a:rPr>
              <a:t> </a:t>
            </a:r>
            <a:r>
              <a:rPr lang="he-IL" sz="3200" b="1" dirty="0">
                <a:solidFill>
                  <a:prstClr val="black"/>
                </a:solidFill>
                <a:latin typeface="David" panose="020E0502060401010101" pitchFamily="34" charset="-79"/>
                <a:cs typeface="David" panose="020E0502060401010101" pitchFamily="34" charset="-79"/>
              </a:rPr>
              <a:t>וַיִּהְיוּ, לְנַסּוֹת בָּם אֶת-יִשְׂרָאֵל--לָדַעַת</a:t>
            </a:r>
            <a:r>
              <a:rPr lang="he-IL" sz="3200" dirty="0">
                <a:solidFill>
                  <a:prstClr val="black"/>
                </a:solidFill>
                <a:latin typeface="David" panose="020E0502060401010101" pitchFamily="34" charset="-79"/>
                <a:cs typeface="David" panose="020E0502060401010101" pitchFamily="34" charset="-79"/>
              </a:rPr>
              <a:t>, הֲיִשְׁמְעוּ </a:t>
            </a:r>
            <a:r>
              <a:rPr lang="he-IL" sz="3200" dirty="0" err="1">
                <a:solidFill>
                  <a:prstClr val="black"/>
                </a:solidFill>
                <a:latin typeface="David" panose="020E0502060401010101" pitchFamily="34" charset="-79"/>
                <a:cs typeface="David" panose="020E0502060401010101" pitchFamily="34" charset="-79"/>
              </a:rPr>
              <a:t>אֶת-מִצְוֺת</a:t>
            </a:r>
            <a:r>
              <a:rPr lang="he-IL" sz="3200" dirty="0">
                <a:solidFill>
                  <a:prstClr val="black"/>
                </a:solidFill>
                <a:latin typeface="David" panose="020E0502060401010101" pitchFamily="34" charset="-79"/>
                <a:cs typeface="David" panose="020E0502060401010101" pitchFamily="34" charset="-79"/>
              </a:rPr>
              <a:t> יְהוָה, </a:t>
            </a:r>
            <a:r>
              <a:rPr lang="he-IL" sz="3200" dirty="0" err="1">
                <a:solidFill>
                  <a:prstClr val="black"/>
                </a:solidFill>
                <a:latin typeface="David" panose="020E0502060401010101" pitchFamily="34" charset="-79"/>
                <a:cs typeface="David" panose="020E0502060401010101" pitchFamily="34" charset="-79"/>
              </a:rPr>
              <a:t>אֲשֶׁר-צִוָּה</a:t>
            </a:r>
            <a:r>
              <a:rPr lang="he-IL" sz="3200" dirty="0">
                <a:solidFill>
                  <a:prstClr val="black"/>
                </a:solidFill>
                <a:latin typeface="David" panose="020E0502060401010101" pitchFamily="34" charset="-79"/>
                <a:cs typeface="David" panose="020E0502060401010101" pitchFamily="34" charset="-79"/>
              </a:rPr>
              <a:t> </a:t>
            </a:r>
            <a:r>
              <a:rPr lang="he-IL" sz="3200" dirty="0" err="1">
                <a:solidFill>
                  <a:prstClr val="black"/>
                </a:solidFill>
                <a:latin typeface="David" panose="020E0502060401010101" pitchFamily="34" charset="-79"/>
                <a:cs typeface="David" panose="020E0502060401010101" pitchFamily="34" charset="-79"/>
              </a:rPr>
              <a:t>אֶת-אֲבוֹתָם</a:t>
            </a:r>
            <a:r>
              <a:rPr lang="he-IL" sz="3200" dirty="0">
                <a:solidFill>
                  <a:prstClr val="black"/>
                </a:solidFill>
                <a:latin typeface="David" panose="020E0502060401010101" pitchFamily="34" charset="-79"/>
                <a:cs typeface="David" panose="020E0502060401010101" pitchFamily="34" charset="-79"/>
              </a:rPr>
              <a:t>, בְּיַד-מֹשֶׁה. </a:t>
            </a:r>
            <a:endParaRPr lang="he-IL" sz="1600" dirty="0">
              <a:solidFill>
                <a:prstClr val="black"/>
              </a:solidFill>
            </a:endParaRPr>
          </a:p>
        </p:txBody>
      </p:sp>
      <p:pic>
        <p:nvPicPr>
          <p:cNvPr id="4" name="תמונה 3"/>
          <p:cNvPicPr>
            <a:picLocks noChangeAspect="1"/>
          </p:cNvPicPr>
          <p:nvPr/>
        </p:nvPicPr>
        <p:blipFill>
          <a:blip r:embed="rId3"/>
          <a:stretch>
            <a:fillRect/>
          </a:stretch>
        </p:blipFill>
        <p:spPr>
          <a:xfrm>
            <a:off x="6729056" y="3493827"/>
            <a:ext cx="5253677" cy="3029803"/>
          </a:xfrm>
          <a:prstGeom prst="rect">
            <a:avLst/>
          </a:prstGeom>
        </p:spPr>
      </p:pic>
      <p:sp>
        <p:nvSpPr>
          <p:cNvPr id="5" name="TextBox 4"/>
          <p:cNvSpPr txBox="1"/>
          <p:nvPr/>
        </p:nvSpPr>
        <p:spPr>
          <a:xfrm>
            <a:off x="9594377" y="3589361"/>
            <a:ext cx="2388358" cy="1323439"/>
          </a:xfrm>
          <a:prstGeom prst="rect">
            <a:avLst/>
          </a:prstGeom>
          <a:noFill/>
        </p:spPr>
        <p:txBody>
          <a:bodyPr wrap="square" rtlCol="1">
            <a:spAutoFit/>
          </a:bodyPr>
          <a:lstStyle/>
          <a:p>
            <a:r>
              <a:rPr lang="he-IL" sz="2000" dirty="0" smtClean="0">
                <a:latin typeface="David" panose="020E0502060401010101" pitchFamily="34" charset="-79"/>
                <a:cs typeface="David" panose="020E0502060401010101" pitchFamily="34" charset="-79"/>
              </a:rPr>
              <a:t>ה' רוצה לנסות את העם: האם יתחתנו עם הגויים? ישמרו מלעבוד את אלוהי הגויים?</a:t>
            </a:r>
            <a:endParaRPr lang="he-IL" sz="20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486002513"/>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1000"/>
                                        <p:tgtEl>
                                          <p:spTgt spid="3">
                                            <p:txEl>
                                              <p:pRg st="0" end="0"/>
                                            </p:txEl>
                                          </p:spTgt>
                                        </p:tgtEl>
                                      </p:cBhvr>
                                    </p:animEffect>
                                    <p:anim calcmode="lin" valueType="num">
                                      <p:cBhvr>
                                        <p:cTn id="1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2">
                                            <p:txEl>
                                              <p:pRg st="0" end="0"/>
                                            </p:txEl>
                                          </p:spTgt>
                                        </p:tgtEl>
                                        <p:attrNameLst>
                                          <p:attrName>style.visibility</p:attrName>
                                        </p:attrNameLst>
                                      </p:cBhvr>
                                      <p:to>
                                        <p:strVal val="visible"/>
                                      </p:to>
                                    </p:set>
                                    <p:animEffect transition="in" filter="circle(in)">
                                      <p:cBhvr>
                                        <p:cTn id="22" dur="2000"/>
                                        <p:tgtEl>
                                          <p:spTgt spid="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2">
                                            <p:txEl>
                                              <p:pRg st="1" end="1"/>
                                            </p:txEl>
                                          </p:spTgt>
                                        </p:tgtEl>
                                        <p:attrNameLst>
                                          <p:attrName>style.visibility</p:attrName>
                                        </p:attrNameLst>
                                      </p:cBhvr>
                                      <p:to>
                                        <p:strVal val="visible"/>
                                      </p:to>
                                    </p:set>
                                    <p:anim calcmode="lin" valueType="num">
                                      <p:cBhvr>
                                        <p:cTn id="32"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33"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34" dur="500"/>
                                        <p:tgtEl>
                                          <p:spTgt spid="2">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1000"/>
                                        <p:tgtEl>
                                          <p:spTgt spid="5"/>
                                        </p:tgtEl>
                                      </p:cBhvr>
                                    </p:animEffect>
                                    <p:anim calcmode="lin" valueType="num">
                                      <p:cBhvr>
                                        <p:cTn id="40" dur="1000" fill="hold"/>
                                        <p:tgtEl>
                                          <p:spTgt spid="5"/>
                                        </p:tgtEl>
                                        <p:attrNameLst>
                                          <p:attrName>ppt_x</p:attrName>
                                        </p:attrNameLst>
                                      </p:cBhvr>
                                      <p:tavLst>
                                        <p:tav tm="0">
                                          <p:val>
                                            <p:strVal val="#ppt_x"/>
                                          </p:val>
                                        </p:tav>
                                        <p:tav tm="100000">
                                          <p:val>
                                            <p:strVal val="#ppt_x"/>
                                          </p:val>
                                        </p:tav>
                                      </p:tavLst>
                                    </p:anim>
                                    <p:anim calcmode="lin" valueType="num">
                                      <p:cBhvr>
                                        <p:cTn id="4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504967" y="313898"/>
            <a:ext cx="4940490" cy="4524315"/>
          </a:xfrm>
          <a:prstGeom prst="rect">
            <a:avLst/>
          </a:prstGeom>
          <a:solidFill>
            <a:schemeClr val="accent6">
              <a:lumMod val="60000"/>
              <a:lumOff val="40000"/>
            </a:schemeClr>
          </a:solidFill>
          <a:ln w="28575">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ה'-ז': </a:t>
            </a:r>
            <a:r>
              <a:rPr lang="he-IL" sz="3200" dirty="0">
                <a:latin typeface="David" panose="020E0502060401010101" pitchFamily="34" charset="-79"/>
                <a:cs typeface="David" panose="020E0502060401010101" pitchFamily="34" charset="-79"/>
              </a:rPr>
              <a:t>ואולם בפועל בני ישראל </a:t>
            </a:r>
            <a:r>
              <a:rPr lang="he-IL" sz="3200" b="1" dirty="0">
                <a:latin typeface="David" panose="020E0502060401010101" pitchFamily="34" charset="-79"/>
                <a:cs typeface="David" panose="020E0502060401010101" pitchFamily="34" charset="-79"/>
              </a:rPr>
              <a:t>ישבו בתוך הגויים </a:t>
            </a:r>
            <a:r>
              <a:rPr lang="he-IL" sz="3200" dirty="0">
                <a:latin typeface="David" panose="020E0502060401010101" pitchFamily="34" charset="-79"/>
                <a:cs typeface="David" panose="020E0502060401010101" pitchFamily="34" charset="-79"/>
              </a:rPr>
              <a:t>בכנעני </a:t>
            </a:r>
            <a:r>
              <a:rPr lang="he-IL" sz="3200" dirty="0" err="1">
                <a:latin typeface="David" panose="020E0502060401010101" pitchFamily="34" charset="-79"/>
                <a:cs typeface="David" panose="020E0502060401010101" pitchFamily="34" charset="-79"/>
              </a:rPr>
              <a:t>והחתי</a:t>
            </a:r>
            <a:r>
              <a:rPr lang="he-IL" sz="3200" dirty="0">
                <a:latin typeface="David" panose="020E0502060401010101" pitchFamily="34" charset="-79"/>
                <a:cs typeface="David" panose="020E0502060401010101" pitchFamily="34" charset="-79"/>
              </a:rPr>
              <a:t> וכו' </a:t>
            </a:r>
            <a:r>
              <a:rPr lang="he-IL" sz="3200" b="1" dirty="0">
                <a:latin typeface="David" panose="020E0502060401010101" pitchFamily="34" charset="-79"/>
                <a:cs typeface="David" panose="020E0502060401010101" pitchFamily="34" charset="-79"/>
              </a:rPr>
              <a:t>והחלו לעבוד את האלוהים שלהם ולקחו גם את הבנות שלהם והתחתנו איתם</a:t>
            </a:r>
            <a:r>
              <a:rPr lang="he-IL" sz="3200" dirty="0">
                <a:latin typeface="David" panose="020E0502060401010101" pitchFamily="34" charset="-79"/>
                <a:cs typeface="David" panose="020E0502060401010101" pitchFamily="34" charset="-79"/>
              </a:rPr>
              <a:t>, ובני ישראל שכחו את ה' והחלו לעבוד לבעלים (פסל דמות איש) </a:t>
            </a:r>
            <a:r>
              <a:rPr lang="he-IL" sz="3200" dirty="0" smtClean="0">
                <a:latin typeface="David" panose="020E0502060401010101" pitchFamily="34" charset="-79"/>
                <a:cs typeface="David" panose="020E0502060401010101" pitchFamily="34" charset="-79"/>
              </a:rPr>
              <a:t>והאשרות (אילנות שעובדים להם לע"ז) </a:t>
            </a:r>
            <a:endParaRPr lang="he-IL" sz="3200" dirty="0">
              <a:latin typeface="David" panose="020E0502060401010101" pitchFamily="34" charset="-79"/>
              <a:cs typeface="David" panose="020E0502060401010101" pitchFamily="34" charset="-79"/>
            </a:endParaRPr>
          </a:p>
        </p:txBody>
      </p:sp>
      <p:sp>
        <p:nvSpPr>
          <p:cNvPr id="3" name="מלבן 2"/>
          <p:cNvSpPr/>
          <p:nvPr/>
        </p:nvSpPr>
        <p:spPr>
          <a:xfrm>
            <a:off x="5845791" y="180160"/>
            <a:ext cx="6096000" cy="4278094"/>
          </a:xfrm>
          <a:prstGeom prst="rect">
            <a:avLst/>
          </a:prstGeom>
          <a:solidFill>
            <a:schemeClr val="accent2">
              <a:lumMod val="60000"/>
              <a:lumOff val="40000"/>
            </a:schemeClr>
          </a:solidFill>
        </p:spPr>
        <p:txBody>
          <a:bodyPr>
            <a:spAutoFit/>
          </a:bodyPr>
          <a:lstStyle/>
          <a:p>
            <a:pPr lvl="0"/>
            <a:r>
              <a:rPr lang="he-IL" sz="3200" b="1" dirty="0" smtClean="0">
                <a:solidFill>
                  <a:prstClr val="black"/>
                </a:solidFill>
                <a:latin typeface="David" panose="020E0502060401010101" pitchFamily="34" charset="-79"/>
                <a:cs typeface="David" panose="020E0502060401010101" pitchFamily="34" charset="-79"/>
              </a:rPr>
              <a:t>ה</a:t>
            </a:r>
            <a:r>
              <a:rPr lang="he-IL" sz="3200" dirty="0">
                <a:solidFill>
                  <a:prstClr val="black"/>
                </a:solidFill>
                <a:latin typeface="David" panose="020E0502060401010101" pitchFamily="34" charset="-79"/>
                <a:cs typeface="David" panose="020E0502060401010101" pitchFamily="34" charset="-79"/>
              </a:rPr>
              <a:t> וּבְנֵי יִשְׂרָאֵל, </a:t>
            </a:r>
            <a:r>
              <a:rPr lang="he-IL" sz="3600" b="1" dirty="0">
                <a:solidFill>
                  <a:srgbClr val="C00000"/>
                </a:solidFill>
                <a:latin typeface="David" panose="020E0502060401010101" pitchFamily="34" charset="-79"/>
                <a:cs typeface="David" panose="020E0502060401010101" pitchFamily="34" charset="-79"/>
              </a:rPr>
              <a:t>יָשְׁבוּ בְּקֶרֶב הַכְּנַעֲנִי, </a:t>
            </a:r>
            <a:r>
              <a:rPr lang="he-IL" sz="3200" dirty="0" err="1">
                <a:solidFill>
                  <a:prstClr val="black"/>
                </a:solidFill>
                <a:latin typeface="David" panose="020E0502060401010101" pitchFamily="34" charset="-79"/>
                <a:cs typeface="David" panose="020E0502060401010101" pitchFamily="34" charset="-79"/>
              </a:rPr>
              <a:t>הַחִתִּי</a:t>
            </a:r>
            <a:r>
              <a:rPr lang="he-IL" sz="3200" dirty="0">
                <a:solidFill>
                  <a:prstClr val="black"/>
                </a:solidFill>
                <a:latin typeface="David" panose="020E0502060401010101" pitchFamily="34" charset="-79"/>
                <a:cs typeface="David" panose="020E0502060401010101" pitchFamily="34" charset="-79"/>
              </a:rPr>
              <a:t> </a:t>
            </a:r>
            <a:r>
              <a:rPr lang="he-IL" sz="3200" dirty="0" err="1">
                <a:solidFill>
                  <a:prstClr val="black"/>
                </a:solidFill>
                <a:latin typeface="David" panose="020E0502060401010101" pitchFamily="34" charset="-79"/>
                <a:cs typeface="David" panose="020E0502060401010101" pitchFamily="34" charset="-79"/>
              </a:rPr>
              <a:t>וְהָאֱמֹרִי</a:t>
            </a:r>
            <a:r>
              <a:rPr lang="he-IL" sz="3200" dirty="0">
                <a:solidFill>
                  <a:prstClr val="black"/>
                </a:solidFill>
                <a:latin typeface="David" panose="020E0502060401010101" pitchFamily="34" charset="-79"/>
                <a:cs typeface="David" panose="020E0502060401010101" pitchFamily="34" charset="-79"/>
              </a:rPr>
              <a:t> </a:t>
            </a:r>
            <a:r>
              <a:rPr lang="he-IL" sz="3200" dirty="0" err="1">
                <a:solidFill>
                  <a:prstClr val="black"/>
                </a:solidFill>
                <a:latin typeface="David" panose="020E0502060401010101" pitchFamily="34" charset="-79"/>
                <a:cs typeface="David" panose="020E0502060401010101" pitchFamily="34" charset="-79"/>
              </a:rPr>
              <a:t>וְהַפְּרִזִּי</a:t>
            </a:r>
            <a:r>
              <a:rPr lang="he-IL" sz="3200" dirty="0">
                <a:solidFill>
                  <a:prstClr val="black"/>
                </a:solidFill>
                <a:latin typeface="David" panose="020E0502060401010101" pitchFamily="34" charset="-79"/>
                <a:cs typeface="David" panose="020E0502060401010101" pitchFamily="34" charset="-79"/>
              </a:rPr>
              <a:t>, </a:t>
            </a:r>
            <a:r>
              <a:rPr lang="he-IL" sz="3200" dirty="0" err="1">
                <a:solidFill>
                  <a:prstClr val="black"/>
                </a:solidFill>
                <a:latin typeface="David" panose="020E0502060401010101" pitchFamily="34" charset="-79"/>
                <a:cs typeface="David" panose="020E0502060401010101" pitchFamily="34" charset="-79"/>
              </a:rPr>
              <a:t>וְהַחִוִּי</a:t>
            </a:r>
            <a:r>
              <a:rPr lang="he-IL" sz="3200" dirty="0">
                <a:solidFill>
                  <a:prstClr val="black"/>
                </a:solidFill>
                <a:latin typeface="David" panose="020E0502060401010101" pitchFamily="34" charset="-79"/>
                <a:cs typeface="David" panose="020E0502060401010101" pitchFamily="34" charset="-79"/>
              </a:rPr>
              <a:t> וְהַיְבוּסִי.  </a:t>
            </a:r>
          </a:p>
          <a:p>
            <a:pPr lvl="0"/>
            <a:r>
              <a:rPr lang="he-IL" sz="3200" b="1" dirty="0">
                <a:solidFill>
                  <a:prstClr val="black"/>
                </a:solidFill>
                <a:latin typeface="David" panose="020E0502060401010101" pitchFamily="34" charset="-79"/>
                <a:cs typeface="David" panose="020E0502060401010101" pitchFamily="34" charset="-79"/>
              </a:rPr>
              <a:t>ו</a:t>
            </a:r>
            <a:r>
              <a:rPr lang="he-IL" sz="3200" dirty="0">
                <a:solidFill>
                  <a:prstClr val="black"/>
                </a:solidFill>
                <a:latin typeface="David" panose="020E0502060401010101" pitchFamily="34" charset="-79"/>
                <a:cs typeface="David" panose="020E0502060401010101" pitchFamily="34" charset="-79"/>
              </a:rPr>
              <a:t> </a:t>
            </a:r>
            <a:r>
              <a:rPr lang="he-IL" sz="3600" b="1" dirty="0" err="1">
                <a:solidFill>
                  <a:srgbClr val="C00000"/>
                </a:solidFill>
                <a:latin typeface="David" panose="020E0502060401010101" pitchFamily="34" charset="-79"/>
                <a:cs typeface="David" panose="020E0502060401010101" pitchFamily="34" charset="-79"/>
              </a:rPr>
              <a:t>וַיִּקְחו</a:t>
            </a:r>
            <a:r>
              <a:rPr lang="he-IL" sz="3600" b="1" dirty="0">
                <a:solidFill>
                  <a:srgbClr val="C00000"/>
                </a:solidFill>
                <a:latin typeface="David" panose="020E0502060401010101" pitchFamily="34" charset="-79"/>
                <a:cs typeface="David" panose="020E0502060401010101" pitchFamily="34" charset="-79"/>
              </a:rPr>
              <a:t>ּ אֶת-בְּנוֹתֵיהֶם </a:t>
            </a:r>
            <a:r>
              <a:rPr lang="he-IL" sz="3200" dirty="0">
                <a:solidFill>
                  <a:prstClr val="black"/>
                </a:solidFill>
                <a:latin typeface="David" panose="020E0502060401010101" pitchFamily="34" charset="-79"/>
                <a:cs typeface="David" panose="020E0502060401010101" pitchFamily="34" charset="-79"/>
              </a:rPr>
              <a:t>לָהֶם לְנָשִׁים, וְאֶת-בְּנוֹתֵיהֶם נָתְנוּ לִבְנֵיהֶם; ו</a:t>
            </a:r>
            <a:r>
              <a:rPr lang="he-IL" sz="3600" b="1" dirty="0">
                <a:solidFill>
                  <a:srgbClr val="C00000"/>
                </a:solidFill>
                <a:latin typeface="David" panose="020E0502060401010101" pitchFamily="34" charset="-79"/>
                <a:cs typeface="David" panose="020E0502060401010101" pitchFamily="34" charset="-79"/>
              </a:rPr>
              <a:t>ַיַּעַבְדוּ, </a:t>
            </a:r>
            <a:r>
              <a:rPr lang="he-IL" sz="3600" b="1" dirty="0" err="1">
                <a:solidFill>
                  <a:srgbClr val="C00000"/>
                </a:solidFill>
                <a:latin typeface="David" panose="020E0502060401010101" pitchFamily="34" charset="-79"/>
                <a:cs typeface="David" panose="020E0502060401010101" pitchFamily="34" charset="-79"/>
              </a:rPr>
              <a:t>אֶת-אֱלֹהֵיהֶם</a:t>
            </a:r>
            <a:r>
              <a:rPr lang="he-IL" sz="3600" b="1" dirty="0">
                <a:solidFill>
                  <a:srgbClr val="C00000"/>
                </a:solidFill>
                <a:latin typeface="David" panose="020E0502060401010101" pitchFamily="34" charset="-79"/>
                <a:cs typeface="David" panose="020E0502060401010101" pitchFamily="34" charset="-79"/>
              </a:rPr>
              <a:t>.  </a:t>
            </a:r>
            <a:r>
              <a:rPr lang="he-IL" sz="3200" dirty="0">
                <a:solidFill>
                  <a:prstClr val="black"/>
                </a:solidFill>
                <a:latin typeface="David" panose="020E0502060401010101" pitchFamily="34" charset="-79"/>
                <a:cs typeface="David" panose="020E0502060401010101" pitchFamily="34" charset="-79"/>
              </a:rPr>
              <a:t>{פ</a:t>
            </a:r>
            <a:r>
              <a:rPr lang="he-IL" sz="3200" dirty="0" smtClean="0">
                <a:solidFill>
                  <a:prstClr val="black"/>
                </a:solidFill>
                <a:latin typeface="David" panose="020E0502060401010101" pitchFamily="34" charset="-79"/>
                <a:cs typeface="David" panose="020E0502060401010101" pitchFamily="34" charset="-79"/>
              </a:rPr>
              <a:t>}</a:t>
            </a:r>
          </a:p>
          <a:p>
            <a:pPr lvl="0"/>
            <a:r>
              <a:rPr lang="he-IL" sz="3200" dirty="0">
                <a:solidFill>
                  <a:prstClr val="black"/>
                </a:solidFill>
                <a:latin typeface="David" panose="020E0502060401010101" pitchFamily="34" charset="-79"/>
                <a:cs typeface="David" panose="020E0502060401010101" pitchFamily="34" charset="-79"/>
              </a:rPr>
              <a:t>ז וַיַּעֲשׂוּ בְנֵי-יִשְׂרָאֵל אֶת-הָרַע בְּעֵינֵי יְהוָה, וַיִּשְׁכְּחוּ אֶת-יְהוָה </a:t>
            </a:r>
            <a:r>
              <a:rPr lang="he-IL" sz="3200" dirty="0" err="1">
                <a:solidFill>
                  <a:prstClr val="black"/>
                </a:solidFill>
                <a:latin typeface="David" panose="020E0502060401010101" pitchFamily="34" charset="-79"/>
                <a:cs typeface="David" panose="020E0502060401010101" pitchFamily="34" charset="-79"/>
              </a:rPr>
              <a:t>אֱלֹהֵיהֶם</a:t>
            </a:r>
            <a:r>
              <a:rPr lang="he-IL" sz="3200" dirty="0">
                <a:solidFill>
                  <a:prstClr val="black"/>
                </a:solidFill>
                <a:latin typeface="David" panose="020E0502060401010101" pitchFamily="34" charset="-79"/>
                <a:cs typeface="David" panose="020E0502060401010101" pitchFamily="34" charset="-79"/>
              </a:rPr>
              <a:t>; וַיַּעַבְדוּ אֶת-הַבְּעָלִים, וְאֶת-הָאֲשֵׁרוֹת. </a:t>
            </a:r>
            <a:r>
              <a:rPr lang="he-IL" sz="3200" dirty="0" smtClean="0">
                <a:solidFill>
                  <a:prstClr val="black"/>
                </a:solidFill>
                <a:latin typeface="David" panose="020E0502060401010101" pitchFamily="34" charset="-79"/>
                <a:cs typeface="David" panose="020E0502060401010101" pitchFamily="34" charset="-79"/>
              </a:rPr>
              <a:t> </a:t>
            </a:r>
            <a:r>
              <a:rPr lang="he-IL" sz="3200" dirty="0">
                <a:solidFill>
                  <a:prstClr val="black"/>
                </a:solidFill>
                <a:latin typeface="David" panose="020E0502060401010101" pitchFamily="34" charset="-79"/>
                <a:cs typeface="David" panose="020E0502060401010101" pitchFamily="34" charset="-79"/>
              </a:rPr>
              <a:t> </a:t>
            </a:r>
          </a:p>
        </p:txBody>
      </p:sp>
      <p:pic>
        <p:nvPicPr>
          <p:cNvPr id="4" name="תמונה 3"/>
          <p:cNvPicPr>
            <a:picLocks noChangeAspect="1"/>
          </p:cNvPicPr>
          <p:nvPr/>
        </p:nvPicPr>
        <p:blipFill>
          <a:blip r:embed="rId3"/>
          <a:stretch>
            <a:fillRect/>
          </a:stretch>
        </p:blipFill>
        <p:spPr>
          <a:xfrm>
            <a:off x="7366967" y="3814262"/>
            <a:ext cx="1115665" cy="749873"/>
          </a:xfrm>
          <a:prstGeom prst="rect">
            <a:avLst/>
          </a:prstGeom>
        </p:spPr>
      </p:pic>
      <p:pic>
        <p:nvPicPr>
          <p:cNvPr id="5" name="תמונה 4"/>
          <p:cNvPicPr>
            <a:picLocks noChangeAspect="1"/>
          </p:cNvPicPr>
          <p:nvPr/>
        </p:nvPicPr>
        <p:blipFill>
          <a:blip r:embed="rId4"/>
          <a:stretch>
            <a:fillRect/>
          </a:stretch>
        </p:blipFill>
        <p:spPr>
          <a:xfrm>
            <a:off x="10252185" y="5046702"/>
            <a:ext cx="1322947" cy="1322947"/>
          </a:xfrm>
          <a:prstGeom prst="rect">
            <a:avLst/>
          </a:prstGeom>
        </p:spPr>
      </p:pic>
      <p:pic>
        <p:nvPicPr>
          <p:cNvPr id="6" name="תמונה 5"/>
          <p:cNvPicPr>
            <a:picLocks noChangeAspect="1"/>
          </p:cNvPicPr>
          <p:nvPr/>
        </p:nvPicPr>
        <p:blipFill>
          <a:blip r:embed="rId5"/>
          <a:stretch>
            <a:fillRect/>
          </a:stretch>
        </p:blipFill>
        <p:spPr>
          <a:xfrm>
            <a:off x="7936715" y="4774209"/>
            <a:ext cx="1914151" cy="1867932"/>
          </a:xfrm>
          <a:prstGeom prst="rect">
            <a:avLst/>
          </a:prstGeom>
        </p:spPr>
      </p:pic>
      <p:pic>
        <p:nvPicPr>
          <p:cNvPr id="7" name="תמונה 6"/>
          <p:cNvPicPr>
            <a:picLocks noChangeAspect="1"/>
          </p:cNvPicPr>
          <p:nvPr/>
        </p:nvPicPr>
        <p:blipFill>
          <a:blip r:embed="rId6"/>
          <a:stretch>
            <a:fillRect/>
          </a:stretch>
        </p:blipFill>
        <p:spPr>
          <a:xfrm>
            <a:off x="285337" y="4426748"/>
            <a:ext cx="2876550" cy="2413040"/>
          </a:xfrm>
          <a:prstGeom prst="rect">
            <a:avLst/>
          </a:prstGeom>
        </p:spPr>
      </p:pic>
      <p:cxnSp>
        <p:nvCxnSpPr>
          <p:cNvPr id="9" name="מחבר חץ ישר 8"/>
          <p:cNvCxnSpPr/>
          <p:nvPr/>
        </p:nvCxnSpPr>
        <p:spPr>
          <a:xfrm flipH="1">
            <a:off x="2923653" y="4189198"/>
            <a:ext cx="1283205" cy="1174372"/>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08574972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Vertical)">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circle(in)">
                                      <p:cBhvr>
                                        <p:cTn id="24" dur="20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80">
                                          <p:stCondLst>
                                            <p:cond delay="0"/>
                                          </p:stCondLst>
                                        </p:cTn>
                                        <p:tgtEl>
                                          <p:spTgt spid="7"/>
                                        </p:tgtEl>
                                      </p:cBhvr>
                                    </p:animEffect>
                                    <p:anim calcmode="lin" valueType="num">
                                      <p:cBhvr>
                                        <p:cTn id="3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5" dur="26">
                                          <p:stCondLst>
                                            <p:cond delay="650"/>
                                          </p:stCondLst>
                                        </p:cTn>
                                        <p:tgtEl>
                                          <p:spTgt spid="7"/>
                                        </p:tgtEl>
                                      </p:cBhvr>
                                      <p:to x="100000" y="60000"/>
                                    </p:animScale>
                                    <p:animScale>
                                      <p:cBhvr>
                                        <p:cTn id="36" dur="166" decel="50000">
                                          <p:stCondLst>
                                            <p:cond delay="676"/>
                                          </p:stCondLst>
                                        </p:cTn>
                                        <p:tgtEl>
                                          <p:spTgt spid="7"/>
                                        </p:tgtEl>
                                      </p:cBhvr>
                                      <p:to x="100000" y="100000"/>
                                    </p:animScale>
                                    <p:animScale>
                                      <p:cBhvr>
                                        <p:cTn id="37" dur="26">
                                          <p:stCondLst>
                                            <p:cond delay="1312"/>
                                          </p:stCondLst>
                                        </p:cTn>
                                        <p:tgtEl>
                                          <p:spTgt spid="7"/>
                                        </p:tgtEl>
                                      </p:cBhvr>
                                      <p:to x="100000" y="80000"/>
                                    </p:animScale>
                                    <p:animScale>
                                      <p:cBhvr>
                                        <p:cTn id="38" dur="166" decel="50000">
                                          <p:stCondLst>
                                            <p:cond delay="1338"/>
                                          </p:stCondLst>
                                        </p:cTn>
                                        <p:tgtEl>
                                          <p:spTgt spid="7"/>
                                        </p:tgtEl>
                                      </p:cBhvr>
                                      <p:to x="100000" y="100000"/>
                                    </p:animScale>
                                    <p:animScale>
                                      <p:cBhvr>
                                        <p:cTn id="39" dur="26">
                                          <p:stCondLst>
                                            <p:cond delay="1642"/>
                                          </p:stCondLst>
                                        </p:cTn>
                                        <p:tgtEl>
                                          <p:spTgt spid="7"/>
                                        </p:tgtEl>
                                      </p:cBhvr>
                                      <p:to x="100000" y="90000"/>
                                    </p:animScale>
                                    <p:animScale>
                                      <p:cBhvr>
                                        <p:cTn id="40" dur="166" decel="50000">
                                          <p:stCondLst>
                                            <p:cond delay="1668"/>
                                          </p:stCondLst>
                                        </p:cTn>
                                        <p:tgtEl>
                                          <p:spTgt spid="7"/>
                                        </p:tgtEl>
                                      </p:cBhvr>
                                      <p:to x="100000" y="100000"/>
                                    </p:animScale>
                                    <p:animScale>
                                      <p:cBhvr>
                                        <p:cTn id="41" dur="26">
                                          <p:stCondLst>
                                            <p:cond delay="1808"/>
                                          </p:stCondLst>
                                        </p:cTn>
                                        <p:tgtEl>
                                          <p:spTgt spid="7"/>
                                        </p:tgtEl>
                                      </p:cBhvr>
                                      <p:to x="100000" y="95000"/>
                                    </p:animScale>
                                    <p:animScale>
                                      <p:cBhvr>
                                        <p:cTn id="42"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177420" y="122829"/>
            <a:ext cx="4940490" cy="3539430"/>
          </a:xfrm>
          <a:prstGeom prst="rect">
            <a:avLst/>
          </a:prstGeom>
          <a:solidFill>
            <a:schemeClr val="accent1">
              <a:lumMod val="60000"/>
              <a:lumOff val="40000"/>
            </a:schemeClr>
          </a:solidFill>
          <a:ln w="28575">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ח': </a:t>
            </a:r>
            <a:r>
              <a:rPr lang="he-IL" sz="3200" dirty="0">
                <a:latin typeface="David" panose="020E0502060401010101" pitchFamily="34" charset="-79"/>
                <a:cs typeface="David" panose="020E0502060401010101" pitchFamily="34" charset="-79"/>
              </a:rPr>
              <a:t>ה' כעס על עם ישראל ומסר אותם לעבודה לידי </a:t>
            </a:r>
            <a:r>
              <a:rPr lang="he-IL" sz="3200" dirty="0" err="1">
                <a:latin typeface="David" panose="020E0502060401010101" pitchFamily="34" charset="-79"/>
                <a:cs typeface="David" panose="020E0502060401010101" pitchFamily="34" charset="-79"/>
              </a:rPr>
              <a:t>כושן</a:t>
            </a:r>
            <a:r>
              <a:rPr lang="he-IL" sz="3200" dirty="0">
                <a:latin typeface="David" panose="020E0502060401010101" pitchFamily="34" charset="-79"/>
                <a:cs typeface="David" panose="020E0502060401010101" pitchFamily="34" charset="-79"/>
              </a:rPr>
              <a:t> </a:t>
            </a:r>
            <a:r>
              <a:rPr lang="he-IL" sz="3200" dirty="0" err="1">
                <a:latin typeface="David" panose="020E0502060401010101" pitchFamily="34" charset="-79"/>
                <a:cs typeface="David" panose="020E0502060401010101" pitchFamily="34" charset="-79"/>
              </a:rPr>
              <a:t>רשעתיים</a:t>
            </a:r>
            <a:r>
              <a:rPr lang="he-IL" sz="3200" dirty="0">
                <a:latin typeface="David" panose="020E0502060401010101" pitchFamily="34" charset="-79"/>
                <a:cs typeface="David" panose="020E0502060401010101" pitchFamily="34" charset="-79"/>
              </a:rPr>
              <a:t> מלך ארם נהריים והם עבדו ושילמו לו מיסים במשך 8 שנים </a:t>
            </a:r>
            <a:r>
              <a:rPr lang="he-IL" sz="2800" dirty="0">
                <a:latin typeface="David" panose="020E0502060401010101" pitchFamily="34" charset="-79"/>
                <a:cs typeface="David" panose="020E0502060401010101" pitchFamily="34" charset="-79"/>
              </a:rPr>
              <a:t>(ארם נהריים הייתה בין שני נהרות פרת וחידקל ולימים נקראה בשם בבל)</a:t>
            </a:r>
          </a:p>
        </p:txBody>
      </p:sp>
      <p:sp>
        <p:nvSpPr>
          <p:cNvPr id="3" name="מלבן 2"/>
          <p:cNvSpPr/>
          <p:nvPr/>
        </p:nvSpPr>
        <p:spPr>
          <a:xfrm>
            <a:off x="5927677" y="164269"/>
            <a:ext cx="6096000" cy="2062103"/>
          </a:xfrm>
          <a:prstGeom prst="rect">
            <a:avLst/>
          </a:prstGeom>
          <a:solidFill>
            <a:schemeClr val="accent2">
              <a:lumMod val="60000"/>
              <a:lumOff val="40000"/>
            </a:schemeClr>
          </a:solidFill>
        </p:spPr>
        <p:txBody>
          <a:bodyPr>
            <a:spAutoFit/>
          </a:bodyPr>
          <a:lstStyle/>
          <a:p>
            <a:r>
              <a:rPr lang="he-IL" sz="3200" b="1" dirty="0">
                <a:solidFill>
                  <a:prstClr val="black"/>
                </a:solidFill>
                <a:latin typeface="David" panose="020E0502060401010101" pitchFamily="34" charset="-79"/>
                <a:cs typeface="David" panose="020E0502060401010101" pitchFamily="34" charset="-79"/>
              </a:rPr>
              <a:t>ח</a:t>
            </a:r>
            <a:r>
              <a:rPr lang="he-IL" sz="3200" dirty="0">
                <a:solidFill>
                  <a:prstClr val="black"/>
                </a:solidFill>
                <a:latin typeface="David" panose="020E0502060401010101" pitchFamily="34" charset="-79"/>
                <a:cs typeface="David" panose="020E0502060401010101" pitchFamily="34" charset="-79"/>
              </a:rPr>
              <a:t> </a:t>
            </a:r>
            <a:r>
              <a:rPr lang="he-IL" sz="3200" dirty="0" err="1">
                <a:solidFill>
                  <a:prstClr val="black"/>
                </a:solidFill>
                <a:latin typeface="David" panose="020E0502060401010101" pitchFamily="34" charset="-79"/>
                <a:cs typeface="David" panose="020E0502060401010101" pitchFamily="34" charset="-79"/>
              </a:rPr>
              <a:t>וַיִּחַר-אַף</a:t>
            </a:r>
            <a:r>
              <a:rPr lang="he-IL" sz="3200" dirty="0">
                <a:solidFill>
                  <a:prstClr val="black"/>
                </a:solidFill>
                <a:latin typeface="David" panose="020E0502060401010101" pitchFamily="34" charset="-79"/>
                <a:cs typeface="David" panose="020E0502060401010101" pitchFamily="34" charset="-79"/>
              </a:rPr>
              <a:t> יְהוָה, בְּיִשְׂרָאֵל, </a:t>
            </a:r>
            <a:r>
              <a:rPr lang="he-IL" sz="3200" b="1" dirty="0">
                <a:solidFill>
                  <a:prstClr val="black"/>
                </a:solidFill>
                <a:latin typeface="David" panose="020E0502060401010101" pitchFamily="34" charset="-79"/>
                <a:cs typeface="David" panose="020E0502060401010101" pitchFamily="34" charset="-79"/>
              </a:rPr>
              <a:t>וַיִּמְכְּרֵם בְּיַד </a:t>
            </a:r>
            <a:r>
              <a:rPr lang="he-IL" sz="3200" b="1" dirty="0" err="1">
                <a:solidFill>
                  <a:prstClr val="black"/>
                </a:solidFill>
                <a:latin typeface="David" panose="020E0502060401010101" pitchFamily="34" charset="-79"/>
                <a:cs typeface="David" panose="020E0502060401010101" pitchFamily="34" charset="-79"/>
              </a:rPr>
              <a:t>כּוּשַׁן</a:t>
            </a:r>
            <a:r>
              <a:rPr lang="he-IL" sz="3200" b="1" dirty="0">
                <a:solidFill>
                  <a:prstClr val="black"/>
                </a:solidFill>
                <a:latin typeface="David" panose="020E0502060401010101" pitchFamily="34" charset="-79"/>
                <a:cs typeface="David" panose="020E0502060401010101" pitchFamily="34" charset="-79"/>
              </a:rPr>
              <a:t> </a:t>
            </a:r>
            <a:r>
              <a:rPr lang="he-IL" sz="3200" b="1" dirty="0" err="1">
                <a:solidFill>
                  <a:prstClr val="black"/>
                </a:solidFill>
                <a:latin typeface="David" panose="020E0502060401010101" pitchFamily="34" charset="-79"/>
                <a:cs typeface="David" panose="020E0502060401010101" pitchFamily="34" charset="-79"/>
              </a:rPr>
              <a:t>רִשְׁעָתַיִם</a:t>
            </a:r>
            <a:r>
              <a:rPr lang="he-IL" sz="3200" dirty="0">
                <a:solidFill>
                  <a:prstClr val="black"/>
                </a:solidFill>
                <a:latin typeface="David" panose="020E0502060401010101" pitchFamily="34" charset="-79"/>
                <a:cs typeface="David" panose="020E0502060401010101" pitchFamily="34" charset="-79"/>
              </a:rPr>
              <a:t>, מֶלֶךְ אֲרַם </a:t>
            </a:r>
            <a:r>
              <a:rPr lang="he-IL" sz="3200" dirty="0" err="1">
                <a:solidFill>
                  <a:prstClr val="black"/>
                </a:solidFill>
                <a:latin typeface="David" panose="020E0502060401010101" pitchFamily="34" charset="-79"/>
                <a:cs typeface="David" panose="020E0502060401010101" pitchFamily="34" charset="-79"/>
              </a:rPr>
              <a:t>נַהֲרָיִם</a:t>
            </a:r>
            <a:r>
              <a:rPr lang="he-IL" sz="3200" dirty="0">
                <a:solidFill>
                  <a:prstClr val="black"/>
                </a:solidFill>
                <a:latin typeface="David" panose="020E0502060401010101" pitchFamily="34" charset="-79"/>
                <a:cs typeface="David" panose="020E0502060401010101" pitchFamily="34" charset="-79"/>
              </a:rPr>
              <a:t>; וַיַּעַבְדוּ בְנֵי-יִשְׂרָאֵל </a:t>
            </a:r>
            <a:r>
              <a:rPr lang="he-IL" sz="3200" dirty="0" err="1">
                <a:solidFill>
                  <a:prstClr val="black"/>
                </a:solidFill>
                <a:latin typeface="David" panose="020E0502060401010101" pitchFamily="34" charset="-79"/>
                <a:cs typeface="David" panose="020E0502060401010101" pitchFamily="34" charset="-79"/>
              </a:rPr>
              <a:t>אֶת-כּוּשַׁן</a:t>
            </a:r>
            <a:r>
              <a:rPr lang="he-IL" sz="3200" dirty="0">
                <a:solidFill>
                  <a:prstClr val="black"/>
                </a:solidFill>
                <a:latin typeface="David" panose="020E0502060401010101" pitchFamily="34" charset="-79"/>
                <a:cs typeface="David" panose="020E0502060401010101" pitchFamily="34" charset="-79"/>
              </a:rPr>
              <a:t> </a:t>
            </a:r>
            <a:r>
              <a:rPr lang="he-IL" sz="3200" dirty="0" err="1">
                <a:solidFill>
                  <a:prstClr val="black"/>
                </a:solidFill>
                <a:latin typeface="David" panose="020E0502060401010101" pitchFamily="34" charset="-79"/>
                <a:cs typeface="David" panose="020E0502060401010101" pitchFamily="34" charset="-79"/>
              </a:rPr>
              <a:t>רִשְׁעָתַיִם</a:t>
            </a:r>
            <a:r>
              <a:rPr lang="he-IL" sz="3200" dirty="0">
                <a:solidFill>
                  <a:prstClr val="black"/>
                </a:solidFill>
                <a:latin typeface="David" panose="020E0502060401010101" pitchFamily="34" charset="-79"/>
                <a:cs typeface="David" panose="020E0502060401010101" pitchFamily="34" charset="-79"/>
              </a:rPr>
              <a:t>, </a:t>
            </a:r>
            <a:r>
              <a:rPr lang="he-IL" sz="3200" b="1" dirty="0">
                <a:solidFill>
                  <a:srgbClr val="C00000"/>
                </a:solidFill>
                <a:latin typeface="David" panose="020E0502060401010101" pitchFamily="34" charset="-79"/>
                <a:cs typeface="David" panose="020E0502060401010101" pitchFamily="34" charset="-79"/>
              </a:rPr>
              <a:t>שְׁמֹנֶה שָׁנִים. </a:t>
            </a:r>
            <a:endParaRPr lang="he-IL" sz="1600" b="1" dirty="0">
              <a:solidFill>
                <a:srgbClr val="C00000"/>
              </a:solidFill>
            </a:endParaRPr>
          </a:p>
        </p:txBody>
      </p:sp>
      <p:sp>
        <p:nvSpPr>
          <p:cNvPr id="4" name="מלבן 3"/>
          <p:cNvSpPr/>
          <p:nvPr/>
        </p:nvSpPr>
        <p:spPr>
          <a:xfrm>
            <a:off x="5927677" y="2430234"/>
            <a:ext cx="6096000" cy="2308324"/>
          </a:xfrm>
          <a:prstGeom prst="rect">
            <a:avLst/>
          </a:prstGeom>
          <a:solidFill>
            <a:schemeClr val="accent3">
              <a:lumMod val="60000"/>
              <a:lumOff val="40000"/>
            </a:schemeClr>
          </a:solidFill>
        </p:spPr>
        <p:txBody>
          <a:bodyPr>
            <a:spAutoFit/>
          </a:bodyPr>
          <a:lstStyle/>
          <a:p>
            <a:r>
              <a:rPr lang="he-IL" sz="3200" b="1" u="sng" dirty="0" smtClean="0">
                <a:solidFill>
                  <a:srgbClr val="C00000"/>
                </a:solidFill>
                <a:latin typeface="David" panose="020E0502060401010101" pitchFamily="34" charset="-79"/>
                <a:cs typeface="David" panose="020E0502060401010101" pitchFamily="34" charset="-79"/>
              </a:rPr>
              <a:t>מיהו </a:t>
            </a:r>
            <a:r>
              <a:rPr lang="he-IL" sz="3200" b="1" u="sng" dirty="0" err="1">
                <a:solidFill>
                  <a:srgbClr val="C00000"/>
                </a:solidFill>
                <a:latin typeface="David" panose="020E0502060401010101" pitchFamily="34" charset="-79"/>
                <a:cs typeface="David" panose="020E0502060401010101" pitchFamily="34" charset="-79"/>
              </a:rPr>
              <a:t>כושן</a:t>
            </a:r>
            <a:r>
              <a:rPr lang="he-IL" sz="3200" b="1" u="sng" dirty="0">
                <a:solidFill>
                  <a:srgbClr val="C00000"/>
                </a:solidFill>
                <a:latin typeface="David" panose="020E0502060401010101" pitchFamily="34" charset="-79"/>
                <a:cs typeface="David" panose="020E0502060401010101" pitchFamily="34" charset="-79"/>
              </a:rPr>
              <a:t> ? </a:t>
            </a:r>
            <a:r>
              <a:rPr lang="he-IL" sz="2800" dirty="0">
                <a:latin typeface="David" panose="020E0502060401010101" pitchFamily="34" charset="-79"/>
                <a:cs typeface="David" panose="020E0502060401010101" pitchFamily="34" charset="-79"/>
              </a:rPr>
              <a:t>הוא </a:t>
            </a:r>
            <a:r>
              <a:rPr lang="he-IL" sz="2800" b="1" dirty="0">
                <a:latin typeface="David" panose="020E0502060401010101" pitchFamily="34" charset="-79"/>
                <a:cs typeface="David" panose="020E0502060401010101" pitchFamily="34" charset="-79"/>
              </a:rPr>
              <a:t>לבן הארמי </a:t>
            </a:r>
            <a:r>
              <a:rPr lang="he-IL" sz="2800" dirty="0">
                <a:latin typeface="David" panose="020E0502060401010101" pitchFamily="34" charset="-79"/>
                <a:cs typeface="David" panose="020E0502060401010101" pitchFamily="34" charset="-79"/>
              </a:rPr>
              <a:t>והוא </a:t>
            </a:r>
            <a:r>
              <a:rPr lang="he-IL" sz="2800" b="1" dirty="0">
                <a:latin typeface="David" panose="020E0502060401010101" pitchFamily="34" charset="-79"/>
                <a:cs typeface="David" panose="020E0502060401010101" pitchFamily="34" charset="-79"/>
              </a:rPr>
              <a:t>בעור אביו של </a:t>
            </a:r>
            <a:r>
              <a:rPr lang="he-IL" sz="2800" b="1" dirty="0" smtClean="0">
                <a:latin typeface="David" panose="020E0502060401010101" pitchFamily="34" charset="-79"/>
                <a:cs typeface="David" panose="020E0502060401010101" pitchFamily="34" charset="-79"/>
              </a:rPr>
              <a:t>בלעם. </a:t>
            </a:r>
            <a:r>
              <a:rPr lang="he-IL" sz="2800" dirty="0" smtClean="0">
                <a:latin typeface="David" panose="020E0502060401010101" pitchFamily="34" charset="-79"/>
                <a:cs typeface="David" panose="020E0502060401010101" pitchFamily="34" charset="-79"/>
              </a:rPr>
              <a:t> </a:t>
            </a:r>
            <a:r>
              <a:rPr lang="he-IL" sz="2800" dirty="0">
                <a:latin typeface="David" panose="020E0502060401010101" pitchFamily="34" charset="-79"/>
                <a:cs typeface="David" panose="020E0502060401010101" pitchFamily="34" charset="-79"/>
              </a:rPr>
              <a:t>ולמה נקרא </a:t>
            </a:r>
            <a:r>
              <a:rPr lang="he-IL" sz="2800" dirty="0" err="1">
                <a:latin typeface="David" panose="020E0502060401010101" pitchFamily="34" charset="-79"/>
                <a:cs typeface="David" panose="020E0502060401010101" pitchFamily="34" charset="-79"/>
              </a:rPr>
              <a:t>רשעתיים</a:t>
            </a:r>
            <a:r>
              <a:rPr lang="he-IL" sz="2800" dirty="0">
                <a:latin typeface="David" panose="020E0502060401010101" pitchFamily="34" charset="-79"/>
                <a:cs typeface="David" panose="020E0502060401010101" pitchFamily="34" charset="-79"/>
              </a:rPr>
              <a:t>? שעשה שתי </a:t>
            </a:r>
            <a:r>
              <a:rPr lang="he-IL" sz="2800" dirty="0" err="1" smtClean="0">
                <a:latin typeface="David" panose="020E0502060401010101" pitchFamily="34" charset="-79"/>
                <a:cs typeface="David" panose="020E0502060401010101" pitchFamily="34" charset="-79"/>
              </a:rPr>
              <a:t>רשעויות</a:t>
            </a:r>
            <a:r>
              <a:rPr lang="he-IL" sz="2800" dirty="0" smtClean="0">
                <a:latin typeface="David" panose="020E0502060401010101" pitchFamily="34" charset="-79"/>
                <a:cs typeface="David" panose="020E0502060401010101" pitchFamily="34" charset="-79"/>
              </a:rPr>
              <a:t> </a:t>
            </a:r>
            <a:r>
              <a:rPr lang="he-IL" sz="2800" dirty="0">
                <a:latin typeface="David" panose="020E0502060401010101" pitchFamily="34" charset="-79"/>
                <a:cs typeface="David" panose="020E0502060401010101" pitchFamily="34" charset="-79"/>
              </a:rPr>
              <a:t>אחת </a:t>
            </a:r>
            <a:r>
              <a:rPr lang="he-IL" sz="2800" dirty="0" smtClean="0">
                <a:latin typeface="David" panose="020E0502060401010101" pitchFamily="34" charset="-79"/>
                <a:cs typeface="David" panose="020E0502060401010101" pitchFamily="34" charset="-79"/>
              </a:rPr>
              <a:t>שנשתעבד </a:t>
            </a:r>
            <a:r>
              <a:rPr lang="he-IL" sz="2800" dirty="0">
                <a:latin typeface="David" panose="020E0502060401010101" pitchFamily="34" charset="-79"/>
                <a:cs typeface="David" panose="020E0502060401010101" pitchFamily="34" charset="-79"/>
              </a:rPr>
              <a:t>בהם </a:t>
            </a:r>
            <a:r>
              <a:rPr lang="he-IL" sz="2800" dirty="0" smtClean="0">
                <a:latin typeface="David" panose="020E0502060401010101" pitchFamily="34" charset="-79"/>
                <a:cs typeface="David" panose="020E0502060401010101" pitchFamily="34" charset="-79"/>
              </a:rPr>
              <a:t>בישראל (פה </a:t>
            </a:r>
            <a:r>
              <a:rPr lang="he-IL" sz="2800" dirty="0" err="1" smtClean="0">
                <a:latin typeface="David" panose="020E0502060401010101" pitchFamily="34" charset="-79"/>
                <a:cs typeface="David" panose="020E0502060401010101" pitchFamily="34" charset="-79"/>
              </a:rPr>
              <a:t>אצלינו</a:t>
            </a:r>
            <a:r>
              <a:rPr lang="he-IL" sz="2800" dirty="0" smtClean="0">
                <a:latin typeface="David" panose="020E0502060401010101" pitchFamily="34" charset="-79"/>
                <a:cs typeface="David" panose="020E0502060401010101" pitchFamily="34" charset="-79"/>
              </a:rPr>
              <a:t> בפרק).  </a:t>
            </a:r>
            <a:r>
              <a:rPr lang="he-IL" sz="2800" dirty="0">
                <a:latin typeface="David" panose="020E0502060401010101" pitchFamily="34" charset="-79"/>
                <a:cs typeface="David" panose="020E0502060401010101" pitchFamily="34" charset="-79"/>
              </a:rPr>
              <a:t>ואחת שעבר על השבועה שלבן </a:t>
            </a:r>
            <a:r>
              <a:rPr lang="he-IL" sz="2800" dirty="0" smtClean="0">
                <a:latin typeface="David" panose="020E0502060401010101" pitchFamily="34" charset="-79"/>
                <a:cs typeface="David" panose="020E0502060401010101" pitchFamily="34" charset="-79"/>
              </a:rPr>
              <a:t>נשבע </a:t>
            </a:r>
            <a:r>
              <a:rPr lang="he-IL" sz="2800" dirty="0">
                <a:latin typeface="David" panose="020E0502060401010101" pitchFamily="34" charset="-79"/>
                <a:cs typeface="David" panose="020E0502060401010101" pitchFamily="34" charset="-79"/>
              </a:rPr>
              <a:t>ליעקב שלא יעבור את הגל מצבה שבנו.</a:t>
            </a:r>
          </a:p>
        </p:txBody>
      </p:sp>
      <p:pic>
        <p:nvPicPr>
          <p:cNvPr id="5" name="תמונה 4"/>
          <p:cNvPicPr>
            <a:picLocks noChangeAspect="1"/>
          </p:cNvPicPr>
          <p:nvPr/>
        </p:nvPicPr>
        <p:blipFill>
          <a:blip r:embed="rId3"/>
          <a:stretch>
            <a:fillRect/>
          </a:stretch>
        </p:blipFill>
        <p:spPr>
          <a:xfrm>
            <a:off x="6918529" y="5309482"/>
            <a:ext cx="1548518" cy="1548518"/>
          </a:xfrm>
          <a:prstGeom prst="rect">
            <a:avLst/>
          </a:prstGeom>
        </p:spPr>
      </p:pic>
      <p:pic>
        <p:nvPicPr>
          <p:cNvPr id="6" name="תמונה 5"/>
          <p:cNvPicPr>
            <a:picLocks noChangeAspect="1"/>
          </p:cNvPicPr>
          <p:nvPr/>
        </p:nvPicPr>
        <p:blipFill>
          <a:blip r:embed="rId4"/>
          <a:stretch>
            <a:fillRect/>
          </a:stretch>
        </p:blipFill>
        <p:spPr>
          <a:xfrm>
            <a:off x="7006928" y="5547245"/>
            <a:ext cx="1371719" cy="1072989"/>
          </a:xfrm>
          <a:prstGeom prst="rect">
            <a:avLst/>
          </a:prstGeom>
        </p:spPr>
      </p:pic>
      <p:pic>
        <p:nvPicPr>
          <p:cNvPr id="7" name="תמונה 6"/>
          <p:cNvPicPr>
            <a:picLocks noChangeAspect="1"/>
          </p:cNvPicPr>
          <p:nvPr/>
        </p:nvPicPr>
        <p:blipFill>
          <a:blip r:embed="rId5"/>
          <a:stretch>
            <a:fillRect/>
          </a:stretch>
        </p:blipFill>
        <p:spPr>
          <a:xfrm>
            <a:off x="9400133" y="5221081"/>
            <a:ext cx="1853345" cy="1725318"/>
          </a:xfrm>
          <a:prstGeom prst="rect">
            <a:avLst/>
          </a:prstGeom>
        </p:spPr>
      </p:pic>
      <p:pic>
        <p:nvPicPr>
          <p:cNvPr id="9" name="תמונה 8"/>
          <p:cNvPicPr>
            <a:picLocks noChangeAspect="1"/>
          </p:cNvPicPr>
          <p:nvPr/>
        </p:nvPicPr>
        <p:blipFill>
          <a:blip r:embed="rId6"/>
          <a:stretch>
            <a:fillRect/>
          </a:stretch>
        </p:blipFill>
        <p:spPr>
          <a:xfrm>
            <a:off x="0" y="3584396"/>
            <a:ext cx="5839277" cy="3265780"/>
          </a:xfrm>
          <a:prstGeom prst="rect">
            <a:avLst/>
          </a:prstGeom>
        </p:spPr>
      </p:pic>
    </p:spTree>
    <p:extLst>
      <p:ext uri="{BB962C8B-B14F-4D97-AF65-F5344CB8AC3E}">
        <p14:creationId xmlns:p14="http://schemas.microsoft.com/office/powerpoint/2010/main" val="294655632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ircle(in)">
                                      <p:cBhvr>
                                        <p:cTn id="17" dur="2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circle(in)">
                                      <p:cBhvr>
                                        <p:cTn id="27" dur="20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6"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80">
                                          <p:stCondLst>
                                            <p:cond delay="0"/>
                                          </p:stCondLst>
                                        </p:cTn>
                                        <p:tgtEl>
                                          <p:spTgt spid="9"/>
                                        </p:tgtEl>
                                      </p:cBhvr>
                                    </p:animEffect>
                                    <p:anim calcmode="lin" valueType="num">
                                      <p:cBhvr>
                                        <p:cTn id="33"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34"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35"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36"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37"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38" dur="26">
                                          <p:stCondLst>
                                            <p:cond delay="650"/>
                                          </p:stCondLst>
                                        </p:cTn>
                                        <p:tgtEl>
                                          <p:spTgt spid="9"/>
                                        </p:tgtEl>
                                      </p:cBhvr>
                                      <p:to x="100000" y="60000"/>
                                    </p:animScale>
                                    <p:animScale>
                                      <p:cBhvr>
                                        <p:cTn id="39" dur="166" decel="50000">
                                          <p:stCondLst>
                                            <p:cond delay="676"/>
                                          </p:stCondLst>
                                        </p:cTn>
                                        <p:tgtEl>
                                          <p:spTgt spid="9"/>
                                        </p:tgtEl>
                                      </p:cBhvr>
                                      <p:to x="100000" y="100000"/>
                                    </p:animScale>
                                    <p:animScale>
                                      <p:cBhvr>
                                        <p:cTn id="40" dur="26">
                                          <p:stCondLst>
                                            <p:cond delay="1312"/>
                                          </p:stCondLst>
                                        </p:cTn>
                                        <p:tgtEl>
                                          <p:spTgt spid="9"/>
                                        </p:tgtEl>
                                      </p:cBhvr>
                                      <p:to x="100000" y="80000"/>
                                    </p:animScale>
                                    <p:animScale>
                                      <p:cBhvr>
                                        <p:cTn id="41" dur="166" decel="50000">
                                          <p:stCondLst>
                                            <p:cond delay="1338"/>
                                          </p:stCondLst>
                                        </p:cTn>
                                        <p:tgtEl>
                                          <p:spTgt spid="9"/>
                                        </p:tgtEl>
                                      </p:cBhvr>
                                      <p:to x="100000" y="100000"/>
                                    </p:animScale>
                                    <p:animScale>
                                      <p:cBhvr>
                                        <p:cTn id="42" dur="26">
                                          <p:stCondLst>
                                            <p:cond delay="1642"/>
                                          </p:stCondLst>
                                        </p:cTn>
                                        <p:tgtEl>
                                          <p:spTgt spid="9"/>
                                        </p:tgtEl>
                                      </p:cBhvr>
                                      <p:to x="100000" y="90000"/>
                                    </p:animScale>
                                    <p:animScale>
                                      <p:cBhvr>
                                        <p:cTn id="43" dur="166" decel="50000">
                                          <p:stCondLst>
                                            <p:cond delay="1668"/>
                                          </p:stCondLst>
                                        </p:cTn>
                                        <p:tgtEl>
                                          <p:spTgt spid="9"/>
                                        </p:tgtEl>
                                      </p:cBhvr>
                                      <p:to x="100000" y="100000"/>
                                    </p:animScale>
                                    <p:animScale>
                                      <p:cBhvr>
                                        <p:cTn id="44" dur="26">
                                          <p:stCondLst>
                                            <p:cond delay="1808"/>
                                          </p:stCondLst>
                                        </p:cTn>
                                        <p:tgtEl>
                                          <p:spTgt spid="9"/>
                                        </p:tgtEl>
                                      </p:cBhvr>
                                      <p:to x="100000" y="95000"/>
                                    </p:animScale>
                                    <p:animScale>
                                      <p:cBhvr>
                                        <p:cTn id="45"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177421" y="313898"/>
            <a:ext cx="5459104" cy="4524315"/>
          </a:xfrm>
          <a:prstGeom prst="rect">
            <a:avLst/>
          </a:prstGeom>
          <a:solidFill>
            <a:schemeClr val="accent6">
              <a:lumMod val="60000"/>
              <a:lumOff val="40000"/>
            </a:schemeClr>
          </a:solidFill>
          <a:ln w="28575">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ט': </a:t>
            </a:r>
            <a:r>
              <a:rPr lang="he-IL" sz="3200" dirty="0">
                <a:latin typeface="David" panose="020E0502060401010101" pitchFamily="34" charset="-79"/>
                <a:cs typeface="David" panose="020E0502060401010101" pitchFamily="34" charset="-79"/>
              </a:rPr>
              <a:t>ולאחר שמונה שנים הם נזכרו שבאמת הגויים הם רק שליחים של ה' </a:t>
            </a:r>
            <a:r>
              <a:rPr lang="he-IL" sz="2800" dirty="0">
                <a:latin typeface="David" panose="020E0502060401010101" pitchFamily="34" charset="-79"/>
                <a:cs typeface="David" panose="020E0502060401010101" pitchFamily="34" charset="-79"/>
              </a:rPr>
              <a:t>(ולא צעקו לאחר שנה או שנתיים כי הם היו עקשנים שהם חשבו שזה לא מה') </a:t>
            </a:r>
            <a:r>
              <a:rPr lang="he-IL" sz="3200" dirty="0">
                <a:latin typeface="David" panose="020E0502060401010101" pitchFamily="34" charset="-79"/>
                <a:cs typeface="David" panose="020E0502060401010101" pitchFamily="34" charset="-79"/>
              </a:rPr>
              <a:t>והחלו לזעוק לה' שיציל אותם מהשעבוד, ה' שמע את צעקתם ושלח להם את </a:t>
            </a:r>
            <a:r>
              <a:rPr lang="he-IL" sz="3200" dirty="0" smtClean="0">
                <a:latin typeface="David" panose="020E0502060401010101" pitchFamily="34" charset="-79"/>
                <a:cs typeface="David" panose="020E0502060401010101" pitchFamily="34" charset="-79"/>
              </a:rPr>
              <a:t>עתניאל </a:t>
            </a:r>
            <a:r>
              <a:rPr lang="he-IL" sz="3200" dirty="0">
                <a:latin typeface="David" panose="020E0502060401010101" pitchFamily="34" charset="-79"/>
                <a:cs typeface="David" panose="020E0502060401010101" pitchFamily="34" charset="-79"/>
              </a:rPr>
              <a:t>בן קנז אחי הקטן מאמו של כלב בן יפונה. </a:t>
            </a:r>
          </a:p>
        </p:txBody>
      </p:sp>
      <p:sp>
        <p:nvSpPr>
          <p:cNvPr id="5" name="מלבן 4"/>
          <p:cNvSpPr/>
          <p:nvPr/>
        </p:nvSpPr>
        <p:spPr>
          <a:xfrm>
            <a:off x="5818496" y="313898"/>
            <a:ext cx="6096000" cy="2062103"/>
          </a:xfrm>
          <a:prstGeom prst="rect">
            <a:avLst/>
          </a:prstGeom>
          <a:solidFill>
            <a:schemeClr val="accent4">
              <a:lumMod val="60000"/>
              <a:lumOff val="40000"/>
            </a:schemeClr>
          </a:solidFill>
        </p:spPr>
        <p:txBody>
          <a:bodyPr>
            <a:spAutoFit/>
          </a:bodyPr>
          <a:lstStyle/>
          <a:p>
            <a:pPr lvl="0"/>
            <a:r>
              <a:rPr lang="he-IL" sz="3200" b="1" dirty="0">
                <a:solidFill>
                  <a:prstClr val="black"/>
                </a:solidFill>
                <a:latin typeface="David" panose="020E0502060401010101" pitchFamily="34" charset="-79"/>
                <a:cs typeface="David" panose="020E0502060401010101" pitchFamily="34" charset="-79"/>
              </a:rPr>
              <a:t>ט</a:t>
            </a:r>
            <a:r>
              <a:rPr lang="he-IL" sz="3200" dirty="0">
                <a:solidFill>
                  <a:prstClr val="black"/>
                </a:solidFill>
                <a:latin typeface="David" panose="020E0502060401010101" pitchFamily="34" charset="-79"/>
                <a:cs typeface="David" panose="020E0502060401010101" pitchFamily="34" charset="-79"/>
              </a:rPr>
              <a:t> </a:t>
            </a:r>
            <a:r>
              <a:rPr lang="he-IL" sz="3200" b="1" dirty="0">
                <a:solidFill>
                  <a:prstClr val="black"/>
                </a:solidFill>
                <a:latin typeface="David" panose="020E0502060401010101" pitchFamily="34" charset="-79"/>
                <a:cs typeface="David" panose="020E0502060401010101" pitchFamily="34" charset="-79"/>
              </a:rPr>
              <a:t>וַיִּזְעֲקוּ </a:t>
            </a:r>
            <a:r>
              <a:rPr lang="he-IL" sz="3200" dirty="0">
                <a:solidFill>
                  <a:prstClr val="black"/>
                </a:solidFill>
                <a:latin typeface="David" panose="020E0502060401010101" pitchFamily="34" charset="-79"/>
                <a:cs typeface="David" panose="020E0502060401010101" pitchFamily="34" charset="-79"/>
              </a:rPr>
              <a:t>בְנֵי-יִשְׂרָאֵל אֶל-יְהוָה, </a:t>
            </a:r>
          </a:p>
          <a:p>
            <a:pPr lvl="0"/>
            <a:r>
              <a:rPr lang="he-IL" sz="3200" dirty="0" err="1">
                <a:solidFill>
                  <a:prstClr val="black"/>
                </a:solidFill>
                <a:latin typeface="David" panose="020E0502060401010101" pitchFamily="34" charset="-79"/>
                <a:cs typeface="David" panose="020E0502060401010101" pitchFamily="34" charset="-79"/>
              </a:rPr>
              <a:t>וַיָּקֶם</a:t>
            </a:r>
            <a:r>
              <a:rPr lang="he-IL" sz="3200" dirty="0">
                <a:solidFill>
                  <a:prstClr val="black"/>
                </a:solidFill>
                <a:latin typeface="David" panose="020E0502060401010101" pitchFamily="34" charset="-79"/>
                <a:cs typeface="David" panose="020E0502060401010101" pitchFamily="34" charset="-79"/>
              </a:rPr>
              <a:t> יְהוָה </a:t>
            </a:r>
            <a:r>
              <a:rPr lang="he-IL" sz="3200" b="1" dirty="0">
                <a:solidFill>
                  <a:prstClr val="black"/>
                </a:solidFill>
                <a:latin typeface="David" panose="020E0502060401010101" pitchFamily="34" charset="-79"/>
                <a:cs typeface="David" panose="020E0502060401010101" pitchFamily="34" charset="-79"/>
              </a:rPr>
              <a:t>מוֹשִׁיעַ</a:t>
            </a:r>
            <a:r>
              <a:rPr lang="he-IL" sz="3200" dirty="0">
                <a:solidFill>
                  <a:prstClr val="black"/>
                </a:solidFill>
                <a:latin typeface="David" panose="020E0502060401010101" pitchFamily="34" charset="-79"/>
                <a:cs typeface="David" panose="020E0502060401010101" pitchFamily="34" charset="-79"/>
              </a:rPr>
              <a:t> לִבְנֵי יִשְׂרָאֵל </a:t>
            </a:r>
            <a:r>
              <a:rPr lang="he-IL" sz="3200" dirty="0" err="1">
                <a:solidFill>
                  <a:prstClr val="black"/>
                </a:solidFill>
                <a:latin typeface="David" panose="020E0502060401010101" pitchFamily="34" charset="-79"/>
                <a:cs typeface="David" panose="020E0502060401010101" pitchFamily="34" charset="-79"/>
              </a:rPr>
              <a:t>וַיֹּשִׁיעֵם</a:t>
            </a:r>
            <a:r>
              <a:rPr lang="he-IL" sz="3200" dirty="0">
                <a:solidFill>
                  <a:prstClr val="black"/>
                </a:solidFill>
                <a:latin typeface="David" panose="020E0502060401010101" pitchFamily="34" charset="-79"/>
                <a:cs typeface="David" panose="020E0502060401010101" pitchFamily="34" charset="-79"/>
              </a:rPr>
              <a:t>—</a:t>
            </a:r>
          </a:p>
          <a:p>
            <a:pPr lvl="0"/>
            <a:r>
              <a:rPr lang="he-IL" sz="3200" b="1" dirty="0">
                <a:solidFill>
                  <a:srgbClr val="ED7D31"/>
                </a:solidFill>
                <a:latin typeface="David" panose="020E0502060401010101" pitchFamily="34" charset="-79"/>
                <a:cs typeface="David" panose="020E0502060401010101" pitchFamily="34" charset="-79"/>
              </a:rPr>
              <a:t>אֵת עָתְנִיאֵל בֶּן-קְנַז</a:t>
            </a:r>
            <a:r>
              <a:rPr lang="he-IL" sz="3200" dirty="0">
                <a:solidFill>
                  <a:prstClr val="black"/>
                </a:solidFill>
                <a:latin typeface="David" panose="020E0502060401010101" pitchFamily="34" charset="-79"/>
                <a:cs typeface="David" panose="020E0502060401010101" pitchFamily="34" charset="-79"/>
              </a:rPr>
              <a:t>, אֲחִי כָלֵב הַקָּטֹן מִמֶּנּוּ.</a:t>
            </a:r>
            <a:endParaRPr lang="he-IL" sz="1600" dirty="0"/>
          </a:p>
        </p:txBody>
      </p:sp>
      <p:pic>
        <p:nvPicPr>
          <p:cNvPr id="6" name="תמונה 5"/>
          <p:cNvPicPr>
            <a:picLocks noChangeAspect="1"/>
          </p:cNvPicPr>
          <p:nvPr/>
        </p:nvPicPr>
        <p:blipFill>
          <a:blip r:embed="rId3"/>
          <a:stretch>
            <a:fillRect/>
          </a:stretch>
        </p:blipFill>
        <p:spPr>
          <a:xfrm>
            <a:off x="6348398" y="2376001"/>
            <a:ext cx="2518098" cy="1860114"/>
          </a:xfrm>
          <a:prstGeom prst="rect">
            <a:avLst/>
          </a:prstGeom>
        </p:spPr>
      </p:pic>
      <p:pic>
        <p:nvPicPr>
          <p:cNvPr id="7" name="תמונה 6"/>
          <p:cNvPicPr>
            <a:picLocks noChangeAspect="1"/>
          </p:cNvPicPr>
          <p:nvPr/>
        </p:nvPicPr>
        <p:blipFill>
          <a:blip r:embed="rId4"/>
          <a:stretch>
            <a:fillRect/>
          </a:stretch>
        </p:blipFill>
        <p:spPr>
          <a:xfrm>
            <a:off x="8866496" y="2376001"/>
            <a:ext cx="3345906" cy="1757820"/>
          </a:xfrm>
          <a:prstGeom prst="rect">
            <a:avLst/>
          </a:prstGeom>
        </p:spPr>
      </p:pic>
      <p:pic>
        <p:nvPicPr>
          <p:cNvPr id="8" name="תמונה 7"/>
          <p:cNvPicPr>
            <a:picLocks noChangeAspect="1"/>
          </p:cNvPicPr>
          <p:nvPr/>
        </p:nvPicPr>
        <p:blipFill>
          <a:blip r:embed="rId5"/>
          <a:stretch>
            <a:fillRect/>
          </a:stretch>
        </p:blipFill>
        <p:spPr>
          <a:xfrm>
            <a:off x="6668974" y="4524505"/>
            <a:ext cx="1876945" cy="1773713"/>
          </a:xfrm>
          <a:prstGeom prst="rect">
            <a:avLst/>
          </a:prstGeom>
        </p:spPr>
      </p:pic>
      <p:pic>
        <p:nvPicPr>
          <p:cNvPr id="9" name="תמונה 8"/>
          <p:cNvPicPr>
            <a:picLocks noChangeAspect="1"/>
          </p:cNvPicPr>
          <p:nvPr/>
        </p:nvPicPr>
        <p:blipFill>
          <a:blip r:embed="rId6"/>
          <a:stretch>
            <a:fillRect/>
          </a:stretch>
        </p:blipFill>
        <p:spPr>
          <a:xfrm>
            <a:off x="9424246" y="4523054"/>
            <a:ext cx="2230406" cy="2046047"/>
          </a:xfrm>
          <a:prstGeom prst="rect">
            <a:avLst/>
          </a:prstGeom>
        </p:spPr>
      </p:pic>
    </p:spTree>
    <p:extLst>
      <p:ext uri="{BB962C8B-B14F-4D97-AF65-F5344CB8AC3E}">
        <p14:creationId xmlns:p14="http://schemas.microsoft.com/office/powerpoint/2010/main" val="201878433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down)">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circle(in)">
                                      <p:cBhvr>
                                        <p:cTn id="29"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177421" y="313898"/>
            <a:ext cx="5950424" cy="5693866"/>
          </a:xfrm>
          <a:prstGeom prst="rect">
            <a:avLst/>
          </a:prstGeom>
          <a:solidFill>
            <a:schemeClr val="accent6">
              <a:lumMod val="60000"/>
              <a:lumOff val="40000"/>
            </a:schemeClr>
          </a:solidFill>
          <a:ln w="28575">
            <a:solidFill>
              <a:schemeClr val="tx1"/>
            </a:solidFill>
          </a:ln>
        </p:spPr>
        <p:txBody>
          <a:bodyPr wrap="square" rtlCol="1">
            <a:spAutoFit/>
          </a:bodyPr>
          <a:lstStyle/>
          <a:p>
            <a:r>
              <a:rPr lang="he-IL" sz="2800" b="1" u="sng" dirty="0" err="1">
                <a:latin typeface="David" panose="020E0502060401010101" pitchFamily="34" charset="-79"/>
                <a:cs typeface="David" panose="020E0502060401010101" pitchFamily="34" charset="-79"/>
              </a:rPr>
              <a:t>פ"ס</a:t>
            </a:r>
            <a:r>
              <a:rPr lang="he-IL" sz="2800" b="1" u="sng" dirty="0">
                <a:latin typeface="David" panose="020E0502060401010101" pitchFamily="34" charset="-79"/>
                <a:cs typeface="David" panose="020E0502060401010101" pitchFamily="34" charset="-79"/>
              </a:rPr>
              <a:t> י': </a:t>
            </a:r>
            <a:r>
              <a:rPr lang="he-IL" sz="2800" dirty="0">
                <a:latin typeface="David" panose="020E0502060401010101" pitchFamily="34" charset="-79"/>
                <a:cs typeface="David" panose="020E0502060401010101" pitchFamily="34" charset="-79"/>
              </a:rPr>
              <a:t>"ותהי עליו רוח ה'" </a:t>
            </a:r>
            <a:r>
              <a:rPr lang="he-IL" sz="2800" dirty="0" smtClean="0">
                <a:latin typeface="David" panose="020E0502060401010101" pitchFamily="34" charset="-79"/>
                <a:cs typeface="David" panose="020E0502060401010101" pitchFamily="34" charset="-79"/>
              </a:rPr>
              <a:t>עתניאל </a:t>
            </a:r>
            <a:r>
              <a:rPr lang="he-IL" sz="2800" dirty="0">
                <a:latin typeface="David" panose="020E0502060401010101" pitchFamily="34" charset="-79"/>
                <a:cs typeface="David" panose="020E0502060401010101" pitchFamily="34" charset="-79"/>
              </a:rPr>
              <a:t>פנה לקב"ה ואמר לו: </a:t>
            </a:r>
            <a:r>
              <a:rPr lang="he-IL" sz="2800" b="1" dirty="0">
                <a:latin typeface="David" panose="020E0502060401010101" pitchFamily="34" charset="-79"/>
                <a:cs typeface="David" panose="020E0502060401010101" pitchFamily="34" charset="-79"/>
              </a:rPr>
              <a:t>ריבונו של עולם את הבטחת למשה רבינו שתמיד תגאל את בני ישראל בין אם הם עושים את רצונך ובין אם לא</a:t>
            </a:r>
            <a:r>
              <a:rPr lang="he-IL" sz="2800" dirty="0">
                <a:latin typeface="David" panose="020E0502060401010101" pitchFamily="34" charset="-79"/>
                <a:cs typeface="David" panose="020E0502060401010101" pitchFamily="34" charset="-79"/>
              </a:rPr>
              <a:t>, כשה' שמע איך הוא אוהב את עם ישראל, הכניס לו בלב גבורה מיוחדת מהשמיים. והוא החל לשפוט את עם ישראל </a:t>
            </a:r>
            <a:r>
              <a:rPr lang="he-IL" sz="2800" dirty="0" smtClean="0">
                <a:latin typeface="David" panose="020E0502060401010101" pitchFamily="34" charset="-79"/>
                <a:cs typeface="David" panose="020E0502060401010101" pitchFamily="34" charset="-79"/>
              </a:rPr>
              <a:t>והורה </a:t>
            </a:r>
            <a:r>
              <a:rPr lang="he-IL" sz="2800" dirty="0">
                <a:latin typeface="David" panose="020E0502060401010101" pitchFamily="34" charset="-79"/>
                <a:cs typeface="David" panose="020E0502060401010101" pitchFamily="34" charset="-79"/>
              </a:rPr>
              <a:t>להם את הדרך שצריך ללכת בה, ולעזוב את עבודת האלילים ולעבוד את ה'. ולאחר </a:t>
            </a:r>
            <a:r>
              <a:rPr lang="he-IL" sz="2800" dirty="0" err="1">
                <a:latin typeface="David" panose="020E0502060401010101" pitchFamily="34" charset="-79"/>
                <a:cs typeface="David" panose="020E0502060401010101" pitchFamily="34" charset="-79"/>
              </a:rPr>
              <a:t>שבנ"י</a:t>
            </a:r>
            <a:r>
              <a:rPr lang="he-IL" sz="2800" dirty="0">
                <a:latin typeface="David" panose="020E0502060401010101" pitchFamily="34" charset="-79"/>
                <a:cs typeface="David" panose="020E0502060401010101" pitchFamily="34" charset="-79"/>
              </a:rPr>
              <a:t> חזרו בתשובה יצאו להילחם </a:t>
            </a:r>
            <a:r>
              <a:rPr lang="he-IL" sz="2800" dirty="0" err="1">
                <a:latin typeface="David" panose="020E0502060401010101" pitchFamily="34" charset="-79"/>
                <a:cs typeface="David" panose="020E0502060401010101" pitchFamily="34" charset="-79"/>
              </a:rPr>
              <a:t>בכושן</a:t>
            </a:r>
            <a:r>
              <a:rPr lang="he-IL" sz="2800" dirty="0">
                <a:latin typeface="David" panose="020E0502060401010101" pitchFamily="34" charset="-79"/>
                <a:cs typeface="David" panose="020E0502060401010101" pitchFamily="34" charset="-79"/>
              </a:rPr>
              <a:t> </a:t>
            </a:r>
            <a:r>
              <a:rPr lang="he-IL" sz="2800" dirty="0" err="1">
                <a:latin typeface="David" panose="020E0502060401010101" pitchFamily="34" charset="-79"/>
                <a:cs typeface="David" panose="020E0502060401010101" pitchFamily="34" charset="-79"/>
              </a:rPr>
              <a:t>רשעתיים</a:t>
            </a:r>
            <a:r>
              <a:rPr lang="he-IL" sz="2800" dirty="0">
                <a:latin typeface="David" panose="020E0502060401010101" pitchFamily="34" charset="-79"/>
                <a:cs typeface="David" panose="020E0502060401010101" pitchFamily="34" charset="-79"/>
              </a:rPr>
              <a:t> והתחזקה ידו על </a:t>
            </a:r>
            <a:r>
              <a:rPr lang="he-IL" sz="2800" dirty="0" err="1">
                <a:latin typeface="David" panose="020E0502060401010101" pitchFamily="34" charset="-79"/>
                <a:cs typeface="David" panose="020E0502060401010101" pitchFamily="34" charset="-79"/>
              </a:rPr>
              <a:t>כושן</a:t>
            </a:r>
            <a:r>
              <a:rPr lang="he-IL" sz="2800" dirty="0">
                <a:latin typeface="David" panose="020E0502060401010101" pitchFamily="34" charset="-79"/>
                <a:cs typeface="David" panose="020E0502060401010101" pitchFamily="34" charset="-79"/>
              </a:rPr>
              <a:t> </a:t>
            </a:r>
            <a:r>
              <a:rPr lang="he-IL" sz="2800" dirty="0" err="1">
                <a:latin typeface="David" panose="020E0502060401010101" pitchFamily="34" charset="-79"/>
                <a:cs typeface="David" panose="020E0502060401010101" pitchFamily="34" charset="-79"/>
              </a:rPr>
              <a:t>רשעתיים</a:t>
            </a:r>
            <a:r>
              <a:rPr lang="he-IL" sz="2800" dirty="0">
                <a:latin typeface="David" panose="020E0502060401010101" pitchFamily="34" charset="-79"/>
                <a:cs typeface="David" panose="020E0502060401010101" pitchFamily="34" charset="-79"/>
              </a:rPr>
              <a:t> וניצחו אותו. </a:t>
            </a:r>
            <a:endParaRPr lang="he-IL" sz="2800" dirty="0" smtClean="0">
              <a:latin typeface="David" panose="020E0502060401010101" pitchFamily="34" charset="-79"/>
              <a:cs typeface="David" panose="020E0502060401010101" pitchFamily="34" charset="-79"/>
            </a:endParaRPr>
          </a:p>
          <a:p>
            <a:r>
              <a:rPr lang="he-IL" sz="2800" b="1" u="sng" dirty="0" err="1">
                <a:latin typeface="David" panose="020E0502060401010101" pitchFamily="34" charset="-79"/>
                <a:cs typeface="David" panose="020E0502060401010101" pitchFamily="34" charset="-79"/>
              </a:rPr>
              <a:t>פ"ס</a:t>
            </a:r>
            <a:r>
              <a:rPr lang="he-IL" sz="2800" b="1" u="sng" dirty="0">
                <a:latin typeface="David" panose="020E0502060401010101" pitchFamily="34" charset="-79"/>
                <a:cs typeface="David" panose="020E0502060401010101" pitchFamily="34" charset="-79"/>
              </a:rPr>
              <a:t> יא': </a:t>
            </a:r>
            <a:r>
              <a:rPr lang="he-IL" sz="2800" dirty="0">
                <a:latin typeface="David" panose="020E0502060401010101" pitchFamily="34" charset="-79"/>
                <a:cs typeface="David" panose="020E0502060401010101" pitchFamily="34" charset="-79"/>
              </a:rPr>
              <a:t>והיה שקט בארץ במשך 40 שנה ולא באו גויים להילחם נגד בני ישראל. </a:t>
            </a:r>
          </a:p>
        </p:txBody>
      </p:sp>
      <p:sp>
        <p:nvSpPr>
          <p:cNvPr id="4" name="מלבן 3"/>
          <p:cNvSpPr/>
          <p:nvPr/>
        </p:nvSpPr>
        <p:spPr>
          <a:xfrm>
            <a:off x="6277969" y="177420"/>
            <a:ext cx="5800299" cy="3108543"/>
          </a:xfrm>
          <a:prstGeom prst="rect">
            <a:avLst/>
          </a:prstGeom>
          <a:solidFill>
            <a:schemeClr val="accent2">
              <a:lumMod val="60000"/>
              <a:lumOff val="40000"/>
            </a:schemeClr>
          </a:solidFill>
        </p:spPr>
        <p:txBody>
          <a:bodyPr wrap="square">
            <a:spAutoFit/>
          </a:bodyPr>
          <a:lstStyle/>
          <a:p>
            <a:pPr lvl="0"/>
            <a:r>
              <a:rPr lang="he-IL" sz="3200" b="1" dirty="0">
                <a:solidFill>
                  <a:prstClr val="black"/>
                </a:solidFill>
                <a:latin typeface="David" panose="020E0502060401010101" pitchFamily="34" charset="-79"/>
                <a:cs typeface="David" panose="020E0502060401010101" pitchFamily="34" charset="-79"/>
              </a:rPr>
              <a:t>י</a:t>
            </a:r>
            <a:r>
              <a:rPr lang="he-IL" sz="3200" dirty="0">
                <a:solidFill>
                  <a:prstClr val="black"/>
                </a:solidFill>
                <a:latin typeface="David" panose="020E0502060401010101" pitchFamily="34" charset="-79"/>
                <a:cs typeface="David" panose="020E0502060401010101" pitchFamily="34" charset="-79"/>
              </a:rPr>
              <a:t> וַתְּהִי עָלָיו רוּחַ-יְהוָה, </a:t>
            </a:r>
            <a:r>
              <a:rPr lang="he-IL" sz="3200" dirty="0" err="1">
                <a:solidFill>
                  <a:prstClr val="black"/>
                </a:solidFill>
                <a:latin typeface="David" panose="020E0502060401010101" pitchFamily="34" charset="-79"/>
                <a:cs typeface="David" panose="020E0502060401010101" pitchFamily="34" charset="-79"/>
              </a:rPr>
              <a:t>וַיִּשְׁפֹּט</a:t>
            </a:r>
            <a:r>
              <a:rPr lang="he-IL" sz="3200" dirty="0">
                <a:solidFill>
                  <a:prstClr val="black"/>
                </a:solidFill>
                <a:latin typeface="David" panose="020E0502060401010101" pitchFamily="34" charset="-79"/>
                <a:cs typeface="David" panose="020E0502060401010101" pitchFamily="34" charset="-79"/>
              </a:rPr>
              <a:t> אֶת-יִשְׂרָאֵל, וַיֵּצֵא לַמִּלְחָמָה, </a:t>
            </a:r>
            <a:r>
              <a:rPr lang="he-IL" sz="3200" dirty="0" err="1">
                <a:solidFill>
                  <a:prstClr val="black"/>
                </a:solidFill>
                <a:latin typeface="David" panose="020E0502060401010101" pitchFamily="34" charset="-79"/>
                <a:cs typeface="David" panose="020E0502060401010101" pitchFamily="34" charset="-79"/>
              </a:rPr>
              <a:t>וַיִּתֵּן</a:t>
            </a:r>
            <a:r>
              <a:rPr lang="he-IL" sz="3200" dirty="0">
                <a:solidFill>
                  <a:prstClr val="black"/>
                </a:solidFill>
                <a:latin typeface="David" panose="020E0502060401010101" pitchFamily="34" charset="-79"/>
                <a:cs typeface="David" panose="020E0502060401010101" pitchFamily="34" charset="-79"/>
              </a:rPr>
              <a:t> יְהוָה בְּיָדוֹ </a:t>
            </a:r>
            <a:r>
              <a:rPr lang="he-IL" sz="3200" dirty="0" err="1">
                <a:solidFill>
                  <a:prstClr val="black"/>
                </a:solidFill>
                <a:latin typeface="David" panose="020E0502060401010101" pitchFamily="34" charset="-79"/>
                <a:cs typeface="David" panose="020E0502060401010101" pitchFamily="34" charset="-79"/>
              </a:rPr>
              <a:t>אֶת-כּוּשַׁן</a:t>
            </a:r>
            <a:r>
              <a:rPr lang="he-IL" sz="3200" dirty="0">
                <a:solidFill>
                  <a:prstClr val="black"/>
                </a:solidFill>
                <a:latin typeface="David" panose="020E0502060401010101" pitchFamily="34" charset="-79"/>
                <a:cs typeface="David" panose="020E0502060401010101" pitchFamily="34" charset="-79"/>
              </a:rPr>
              <a:t> </a:t>
            </a:r>
            <a:r>
              <a:rPr lang="he-IL" sz="3200" dirty="0" err="1">
                <a:solidFill>
                  <a:prstClr val="black"/>
                </a:solidFill>
                <a:latin typeface="David" panose="020E0502060401010101" pitchFamily="34" charset="-79"/>
                <a:cs typeface="David" panose="020E0502060401010101" pitchFamily="34" charset="-79"/>
              </a:rPr>
              <a:t>רִשְׁעָתַיִם</a:t>
            </a:r>
            <a:r>
              <a:rPr lang="he-IL" sz="3200" dirty="0">
                <a:solidFill>
                  <a:prstClr val="black"/>
                </a:solidFill>
                <a:latin typeface="David" panose="020E0502060401010101" pitchFamily="34" charset="-79"/>
                <a:cs typeface="David" panose="020E0502060401010101" pitchFamily="34" charset="-79"/>
              </a:rPr>
              <a:t> מֶלֶךְ אֲרָם; וַתָּעָז יָדוֹ, עַל </a:t>
            </a:r>
            <a:r>
              <a:rPr lang="he-IL" sz="3200" dirty="0" err="1">
                <a:solidFill>
                  <a:prstClr val="black"/>
                </a:solidFill>
                <a:latin typeface="David" panose="020E0502060401010101" pitchFamily="34" charset="-79"/>
                <a:cs typeface="David" panose="020E0502060401010101" pitchFamily="34" charset="-79"/>
              </a:rPr>
              <a:t>כּוּשַׁן</a:t>
            </a:r>
            <a:r>
              <a:rPr lang="he-IL" sz="3200" dirty="0">
                <a:solidFill>
                  <a:prstClr val="black"/>
                </a:solidFill>
                <a:latin typeface="David" panose="020E0502060401010101" pitchFamily="34" charset="-79"/>
                <a:cs typeface="David" panose="020E0502060401010101" pitchFamily="34" charset="-79"/>
              </a:rPr>
              <a:t> </a:t>
            </a:r>
            <a:r>
              <a:rPr lang="he-IL" sz="3200" dirty="0" err="1">
                <a:solidFill>
                  <a:prstClr val="black"/>
                </a:solidFill>
                <a:latin typeface="David" panose="020E0502060401010101" pitchFamily="34" charset="-79"/>
                <a:cs typeface="David" panose="020E0502060401010101" pitchFamily="34" charset="-79"/>
              </a:rPr>
              <a:t>רִשְׁעָתָיִם</a:t>
            </a:r>
            <a:r>
              <a:rPr lang="he-IL" sz="3200" dirty="0">
                <a:solidFill>
                  <a:prstClr val="black"/>
                </a:solidFill>
                <a:latin typeface="David" panose="020E0502060401010101" pitchFamily="34" charset="-79"/>
                <a:cs typeface="David" panose="020E0502060401010101" pitchFamily="34" charset="-79"/>
              </a:rPr>
              <a:t>.  </a:t>
            </a:r>
          </a:p>
          <a:p>
            <a:pPr lvl="0"/>
            <a:r>
              <a:rPr lang="he-IL" sz="3200" b="1" dirty="0">
                <a:solidFill>
                  <a:prstClr val="black"/>
                </a:solidFill>
                <a:latin typeface="David" panose="020E0502060401010101" pitchFamily="34" charset="-79"/>
                <a:cs typeface="David" panose="020E0502060401010101" pitchFamily="34" charset="-79"/>
              </a:rPr>
              <a:t>יא</a:t>
            </a:r>
            <a:r>
              <a:rPr lang="he-IL" sz="3200" dirty="0">
                <a:solidFill>
                  <a:prstClr val="black"/>
                </a:solidFill>
                <a:latin typeface="David" panose="020E0502060401010101" pitchFamily="34" charset="-79"/>
                <a:cs typeface="David" panose="020E0502060401010101" pitchFamily="34" charset="-79"/>
              </a:rPr>
              <a:t> </a:t>
            </a:r>
            <a:r>
              <a:rPr lang="he-IL" sz="3200" b="1" dirty="0" err="1">
                <a:solidFill>
                  <a:prstClr val="black"/>
                </a:solidFill>
                <a:latin typeface="David" panose="020E0502060401010101" pitchFamily="34" charset="-79"/>
                <a:cs typeface="David" panose="020E0502060401010101" pitchFamily="34" charset="-79"/>
              </a:rPr>
              <a:t>וַתִּשְׁקֹט</a:t>
            </a:r>
            <a:r>
              <a:rPr lang="he-IL" sz="3200" b="1" dirty="0">
                <a:solidFill>
                  <a:prstClr val="black"/>
                </a:solidFill>
                <a:latin typeface="David" panose="020E0502060401010101" pitchFamily="34" charset="-79"/>
                <a:cs typeface="David" panose="020E0502060401010101" pitchFamily="34" charset="-79"/>
              </a:rPr>
              <a:t> הָאָרֶץ</a:t>
            </a:r>
            <a:r>
              <a:rPr lang="he-IL" sz="3200" dirty="0">
                <a:solidFill>
                  <a:prstClr val="black"/>
                </a:solidFill>
                <a:latin typeface="David" panose="020E0502060401010101" pitchFamily="34" charset="-79"/>
                <a:cs typeface="David" panose="020E0502060401010101" pitchFamily="34" charset="-79"/>
              </a:rPr>
              <a:t>, </a:t>
            </a:r>
            <a:r>
              <a:rPr lang="he-IL" sz="3200" b="1" dirty="0">
                <a:solidFill>
                  <a:srgbClr val="C00000"/>
                </a:solidFill>
                <a:latin typeface="David" panose="020E0502060401010101" pitchFamily="34" charset="-79"/>
                <a:cs typeface="David" panose="020E0502060401010101" pitchFamily="34" charset="-79"/>
              </a:rPr>
              <a:t>אַרְבָּעִים שָׁנָה</a:t>
            </a:r>
            <a:r>
              <a:rPr lang="he-IL" sz="3200" dirty="0">
                <a:solidFill>
                  <a:prstClr val="black"/>
                </a:solidFill>
                <a:latin typeface="David" panose="020E0502060401010101" pitchFamily="34" charset="-79"/>
                <a:cs typeface="David" panose="020E0502060401010101" pitchFamily="34" charset="-79"/>
              </a:rPr>
              <a:t>; וַיָּמָת, עָתְנִיאֵל בֶּן-קְנַז.</a:t>
            </a:r>
            <a:r>
              <a:rPr lang="he-IL" sz="3600" dirty="0">
                <a:solidFill>
                  <a:prstClr val="black"/>
                </a:solidFill>
                <a:latin typeface="David" panose="020E0502060401010101" pitchFamily="34" charset="-79"/>
                <a:cs typeface="David" panose="020E0502060401010101" pitchFamily="34" charset="-79"/>
              </a:rPr>
              <a:t> </a:t>
            </a:r>
            <a:endParaRPr lang="he-IL" dirty="0"/>
          </a:p>
        </p:txBody>
      </p:sp>
      <p:sp>
        <p:nvSpPr>
          <p:cNvPr id="10" name="TextBox 9"/>
          <p:cNvSpPr txBox="1"/>
          <p:nvPr/>
        </p:nvSpPr>
        <p:spPr>
          <a:xfrm>
            <a:off x="6448566" y="3425588"/>
            <a:ext cx="5459104" cy="3108543"/>
          </a:xfrm>
          <a:prstGeom prst="rect">
            <a:avLst/>
          </a:prstGeom>
          <a:solidFill>
            <a:schemeClr val="accent1">
              <a:lumMod val="60000"/>
              <a:lumOff val="40000"/>
            </a:schemeClr>
          </a:solidFill>
          <a:ln w="28575">
            <a:solidFill>
              <a:schemeClr val="tx1"/>
            </a:solidFill>
          </a:ln>
        </p:spPr>
        <p:txBody>
          <a:bodyPr wrap="square" rtlCol="1">
            <a:spAutoFit/>
          </a:bodyPr>
          <a:lstStyle/>
          <a:p>
            <a:r>
              <a:rPr lang="he-IL" sz="2800" b="1" u="sng" dirty="0" smtClean="0">
                <a:latin typeface="David" panose="020E0502060401010101" pitchFamily="34" charset="-79"/>
                <a:cs typeface="David" panose="020E0502060401010101" pitchFamily="34" charset="-79"/>
              </a:rPr>
              <a:t>"ותשקוט הארץ 40 שנה" </a:t>
            </a:r>
            <a:r>
              <a:rPr lang="he-IL" sz="2800" dirty="0" smtClean="0">
                <a:latin typeface="David" panose="020E0502060401010101" pitchFamily="34" charset="-79"/>
                <a:cs typeface="David" panose="020E0502060401010101" pitchFamily="34" charset="-79"/>
              </a:rPr>
              <a:t>עתניאל ע"י פלפולו החזיר את כל 300 ההלכות </a:t>
            </a:r>
            <a:r>
              <a:rPr lang="he-IL" sz="2800" dirty="0" err="1" smtClean="0">
                <a:latin typeface="David" panose="020E0502060401010101" pitchFamily="34" charset="-79"/>
                <a:cs typeface="David" panose="020E0502060401010101" pitchFamily="34" charset="-79"/>
              </a:rPr>
              <a:t>שנישתכחו</a:t>
            </a:r>
            <a:r>
              <a:rPr lang="he-IL" sz="2800" dirty="0" smtClean="0">
                <a:latin typeface="David" panose="020E0502060401010101" pitchFamily="34" charset="-79"/>
                <a:cs typeface="David" panose="020E0502060401010101" pitchFamily="34" charset="-79"/>
              </a:rPr>
              <a:t> בימי אבלו של משה, אם כן בימיו היה מעין מתן תורה, לכן ותשקוט הארץ 40 שנה כנגד 40 יום שמשה עלה לקבל את התורה בהר סיני. כל אותם 40 שנה שפט ולימד את ישראל. </a:t>
            </a:r>
            <a:endParaRPr lang="he-IL" sz="2800" dirty="0">
              <a:latin typeface="David" panose="020E0502060401010101" pitchFamily="34" charset="-79"/>
              <a:cs typeface="David" panose="020E0502060401010101" pitchFamily="34" charset="-79"/>
            </a:endParaRPr>
          </a:p>
        </p:txBody>
      </p:sp>
      <p:pic>
        <p:nvPicPr>
          <p:cNvPr id="11" name="תמונה 10"/>
          <p:cNvPicPr>
            <a:picLocks noChangeAspect="1"/>
          </p:cNvPicPr>
          <p:nvPr/>
        </p:nvPicPr>
        <p:blipFill>
          <a:blip r:embed="rId3"/>
          <a:stretch>
            <a:fillRect/>
          </a:stretch>
        </p:blipFill>
        <p:spPr>
          <a:xfrm>
            <a:off x="450378" y="313898"/>
            <a:ext cx="5186788" cy="3885084"/>
          </a:xfrm>
          <a:prstGeom prst="rect">
            <a:avLst/>
          </a:prstGeom>
        </p:spPr>
      </p:pic>
    </p:spTree>
    <p:extLst>
      <p:ext uri="{BB962C8B-B14F-4D97-AF65-F5344CB8AC3E}">
        <p14:creationId xmlns:p14="http://schemas.microsoft.com/office/powerpoint/2010/main" val="362267724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2000"/>
                                        <p:tgtEl>
                                          <p:spTgt spid="4">
                                            <p:txEl>
                                              <p:pRg st="1" end="1"/>
                                            </p:txEl>
                                          </p:spTgt>
                                        </p:tgtEl>
                                      </p:cBhvr>
                                    </p:animEffect>
                                    <p:anim calcmode="lin" valueType="num">
                                      <p:cBhvr>
                                        <p:cTn id="15" dur="2000" fill="hold"/>
                                        <p:tgtEl>
                                          <p:spTgt spid="4">
                                            <p:txEl>
                                              <p:pRg st="1" end="1"/>
                                            </p:txEl>
                                          </p:spTgt>
                                        </p:tgtEl>
                                        <p:attrNameLst>
                                          <p:attrName>ppt_w</p:attrName>
                                        </p:attrNameLst>
                                      </p:cBhvr>
                                      <p:tavLst>
                                        <p:tav tm="0" fmla="#ppt_w*sin(2.5*pi*$)">
                                          <p:val>
                                            <p:fltVal val="0"/>
                                          </p:val>
                                        </p:tav>
                                        <p:tav tm="100000">
                                          <p:val>
                                            <p:fltVal val="1"/>
                                          </p:val>
                                        </p:tav>
                                      </p:tavLst>
                                    </p:anim>
                                    <p:anim calcmode="lin" valueType="num">
                                      <p:cBhvr>
                                        <p:cTn id="16" dur="2000" fill="hold"/>
                                        <p:tgtEl>
                                          <p:spTgt spid="4">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circle(in)">
                                      <p:cBhvr>
                                        <p:cTn id="21" dur="2000"/>
                                        <p:tgtEl>
                                          <p:spTgt spid="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2">
                                            <p:txEl>
                                              <p:pRg st="1" end="1"/>
                                            </p:txEl>
                                          </p:spTgt>
                                        </p:tgtEl>
                                        <p:attrNameLst>
                                          <p:attrName>style.visibility</p:attrName>
                                        </p:attrNameLst>
                                      </p:cBhvr>
                                      <p:to>
                                        <p:strVal val="visible"/>
                                      </p:to>
                                    </p:set>
                                    <p:animEffect transition="in" filter="circle(in)">
                                      <p:cBhvr>
                                        <p:cTn id="26" dur="2000"/>
                                        <p:tgtEl>
                                          <p:spTgt spid="2">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circle(in)">
                                      <p:cBhvr>
                                        <p:cTn id="31" dur="2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down)">
                                      <p:cBhvr>
                                        <p:cTn id="3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תקופת השופטים - מצג�...">
            <a:extLst>
              <a:ext uri="{FF2B5EF4-FFF2-40B4-BE49-F238E27FC236}">
                <a16:creationId xmlns:a16="http://schemas.microsoft.com/office/drawing/2014/main" id="{523E6D19-141E-4E95-AD9D-19C64BA914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5575" y="310576"/>
            <a:ext cx="7807569" cy="6408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3827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מראה קבר עתניאל בן קנז בשטח H1 בחברון - YouTube">
            <a:extLst>
              <a:ext uri="{FF2B5EF4-FFF2-40B4-BE49-F238E27FC236}">
                <a16:creationId xmlns:a16="http://schemas.microsoft.com/office/drawing/2014/main" id="{89641918-708B-4808-AA9C-AC8A75A4B8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587" y="339383"/>
            <a:ext cx="4570535" cy="308961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72EDF06-CAA9-437F-B3E9-1D271D17524D}"/>
              </a:ext>
            </a:extLst>
          </p:cNvPr>
          <p:cNvSpPr txBox="1"/>
          <p:nvPr/>
        </p:nvSpPr>
        <p:spPr>
          <a:xfrm>
            <a:off x="5727510" y="591529"/>
            <a:ext cx="4354286" cy="2585323"/>
          </a:xfrm>
          <a:prstGeom prst="rect">
            <a:avLst/>
          </a:prstGeom>
          <a:solidFill>
            <a:schemeClr val="accent3">
              <a:lumMod val="60000"/>
              <a:lumOff val="40000"/>
            </a:schemeClr>
          </a:solid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54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קבר של </a:t>
            </a:r>
            <a:r>
              <a:rPr kumimoji="0" lang="he-IL" sz="5400" b="1"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עתניאל </a:t>
            </a:r>
            <a:r>
              <a:rPr kumimoji="0" lang="he-IL" sz="54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בן קנז </a:t>
            </a:r>
            <a:r>
              <a:rPr kumimoji="0" lang="he-IL" sz="5400" b="1"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באזור </a:t>
            </a:r>
            <a:r>
              <a:rPr kumimoji="0" lang="he-IL" sz="54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חברון</a:t>
            </a:r>
          </a:p>
        </p:txBody>
      </p:sp>
      <p:sp>
        <p:nvSpPr>
          <p:cNvPr id="4" name="TextBox 3">
            <a:extLst>
              <a:ext uri="{FF2B5EF4-FFF2-40B4-BE49-F238E27FC236}">
                <a16:creationId xmlns:a16="http://schemas.microsoft.com/office/drawing/2014/main" id="{8498A34B-FBD7-4A6C-93A2-FA62240B3C1F}"/>
              </a:ext>
            </a:extLst>
          </p:cNvPr>
          <p:cNvSpPr txBox="1"/>
          <p:nvPr/>
        </p:nvSpPr>
        <p:spPr>
          <a:xfrm>
            <a:off x="7460775" y="3639753"/>
            <a:ext cx="4452320" cy="2308324"/>
          </a:xfrm>
          <a:prstGeom prst="rect">
            <a:avLst/>
          </a:prstGeom>
          <a:solidFill>
            <a:schemeClr val="accent2">
              <a:lumMod val="60000"/>
              <a:lumOff val="40000"/>
            </a:schemeClr>
          </a:solidFill>
        </p:spPr>
        <p:txBody>
          <a:bodyPr wrap="square" rtlCol="1">
            <a:spAutoFit/>
          </a:bodyPr>
          <a:lstStyle/>
          <a:p>
            <a:r>
              <a:rPr lang="he-IL" sz="3600" b="1" dirty="0" smtClean="0">
                <a:latin typeface="David" panose="020E0502060401010101" pitchFamily="34" charset="-79"/>
                <a:cs typeface="David" panose="020E0502060401010101" pitchFamily="34" charset="-79"/>
              </a:rPr>
              <a:t>המדרש אומר שעתניאל לא מת</a:t>
            </a:r>
            <a:r>
              <a:rPr lang="en-US" sz="3600" b="1" dirty="0" smtClean="0">
                <a:latin typeface="David" panose="020E0502060401010101" pitchFamily="34" charset="-79"/>
                <a:cs typeface="David" panose="020E0502060401010101" pitchFamily="34" charset="-79"/>
              </a:rPr>
              <a:t> </a:t>
            </a:r>
            <a:r>
              <a:rPr lang="he-IL" sz="3600" b="1" dirty="0" smtClean="0">
                <a:latin typeface="David" panose="020E0502060401010101" pitchFamily="34" charset="-79"/>
                <a:cs typeface="David" panose="020E0502060401010101" pitchFamily="34" charset="-79"/>
              </a:rPr>
              <a:t> אלא זכה להיכנס חי לגן עדן, כמו אליהו הנביא</a:t>
            </a:r>
          </a:p>
        </p:txBody>
      </p:sp>
    </p:spTree>
    <p:extLst>
      <p:ext uri="{BB962C8B-B14F-4D97-AF65-F5344CB8AC3E}">
        <p14:creationId xmlns:p14="http://schemas.microsoft.com/office/powerpoint/2010/main" val="2951453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תורת אמת - שופטים | בוקמי - www.Bookme.co.il - אתר הספרים הגדול והזול ברשת">
            <a:extLst>
              <a:ext uri="{FF2B5EF4-FFF2-40B4-BE49-F238E27FC236}">
                <a16:creationId xmlns:a16="http://schemas.microsoft.com/office/drawing/2014/main" id="{F17E3C81-B03B-4B0F-AA9A-D7E0547EA1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693" y="422763"/>
            <a:ext cx="2485292" cy="339138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מחברת חומות סיכה 14 שורות חב-10">
            <a:extLst>
              <a:ext uri="{FF2B5EF4-FFF2-40B4-BE49-F238E27FC236}">
                <a16:creationId xmlns:a16="http://schemas.microsoft.com/office/drawing/2014/main" id="{2283EF1A-C59A-4D8A-A41C-79616221EC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1160" y="4338198"/>
            <a:ext cx="2874058" cy="18954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498A34B-FBD7-4A6C-93A2-FA62240B3C1F}"/>
              </a:ext>
            </a:extLst>
          </p:cNvPr>
          <p:cNvSpPr txBox="1"/>
          <p:nvPr/>
        </p:nvSpPr>
        <p:spPr>
          <a:xfrm>
            <a:off x="5542671" y="773723"/>
            <a:ext cx="4773636" cy="1754326"/>
          </a:xfrm>
          <a:prstGeom prst="rect">
            <a:avLst/>
          </a:prstGeom>
          <a:noFill/>
        </p:spPr>
        <p:txBody>
          <a:bodyPr wrap="square" rtlCol="1">
            <a:spAutoFit/>
          </a:bodyPr>
          <a:lstStyle/>
          <a:p>
            <a:r>
              <a:rPr lang="he-IL" sz="5400" b="1" dirty="0">
                <a:solidFill>
                  <a:schemeClr val="accent2"/>
                </a:solidFill>
                <a:latin typeface="David" panose="020E0502060401010101" pitchFamily="34" charset="-79"/>
                <a:cs typeface="David" panose="020E0502060401010101" pitchFamily="34" charset="-79"/>
              </a:rPr>
              <a:t>לפתוח בחוברת עמוד </a:t>
            </a:r>
            <a:r>
              <a:rPr lang="he-IL" sz="5400" b="1" dirty="0" smtClean="0">
                <a:solidFill>
                  <a:schemeClr val="accent2"/>
                </a:solidFill>
                <a:latin typeface="David" panose="020E0502060401010101" pitchFamily="34" charset="-79"/>
                <a:cs typeface="David" panose="020E0502060401010101" pitchFamily="34" charset="-79"/>
              </a:rPr>
              <a:t>18</a:t>
            </a:r>
            <a:endParaRPr lang="he-IL" sz="3600" b="1" dirty="0">
              <a:solidFill>
                <a:schemeClr val="accent2"/>
              </a:solidFill>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2159649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ipe(down)">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2052"/>
                                        </p:tgtEl>
                                        <p:attrNameLst>
                                          <p:attrName>style.visibility</p:attrName>
                                        </p:attrNameLst>
                                      </p:cBhvr>
                                      <p:to>
                                        <p:strVal val="visible"/>
                                      </p:to>
                                    </p:set>
                                    <p:animEffect transition="in" filter="barn(inVertical)">
                                      <p:cBhvr>
                                        <p:cTn id="18"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FF1822-2752-4EAA-9EFB-7CD0361432EF}"/>
              </a:ext>
            </a:extLst>
          </p:cNvPr>
          <p:cNvSpPr txBox="1"/>
          <p:nvPr/>
        </p:nvSpPr>
        <p:spPr>
          <a:xfrm>
            <a:off x="478302" y="633046"/>
            <a:ext cx="11071273" cy="5509200"/>
          </a:xfrm>
          <a:prstGeom prst="rect">
            <a:avLst/>
          </a:prstGeom>
          <a:noFill/>
        </p:spPr>
        <p:txBody>
          <a:bodyPr wrap="square" rtlCol="1">
            <a:spAutoFit/>
          </a:bodyPr>
          <a:lstStyle/>
          <a:p>
            <a:pPr marL="514350" indent="-514350">
              <a:buAutoNum type="arabicPeriod"/>
            </a:pPr>
            <a:r>
              <a:rPr lang="he-IL" sz="3200" b="1" dirty="0">
                <a:latin typeface="David" panose="020E0502060401010101" pitchFamily="34" charset="-79"/>
                <a:cs typeface="David" panose="020E0502060401010101" pitchFamily="34" charset="-79"/>
              </a:rPr>
              <a:t>מה ההבדל בין דורו של יהושע לדורות שאחרי יהושע?</a:t>
            </a:r>
          </a:p>
          <a:p>
            <a:endParaRPr lang="he-IL" sz="3200" dirty="0">
              <a:latin typeface="David" panose="020E0502060401010101" pitchFamily="34" charset="-79"/>
              <a:cs typeface="David" panose="020E0502060401010101" pitchFamily="34" charset="-79"/>
            </a:endParaRPr>
          </a:p>
          <a:p>
            <a:r>
              <a:rPr lang="he-IL" sz="3200" dirty="0">
                <a:highlight>
                  <a:srgbClr val="00FF00"/>
                </a:highlight>
                <a:latin typeface="David" panose="020E0502060401010101" pitchFamily="34" charset="-79"/>
                <a:cs typeface="David" panose="020E0502060401010101" pitchFamily="34" charset="-79"/>
              </a:rPr>
              <a:t>  תשובה- הדור הקודם לא ראו את הניסים במלחמות כנען</a:t>
            </a:r>
          </a:p>
          <a:p>
            <a:endParaRPr lang="he-IL" sz="3200" dirty="0">
              <a:highlight>
                <a:srgbClr val="00FF00"/>
              </a:highlight>
              <a:latin typeface="David" panose="020E0502060401010101" pitchFamily="34" charset="-79"/>
              <a:cs typeface="David" panose="020E0502060401010101" pitchFamily="34" charset="-79"/>
            </a:endParaRPr>
          </a:p>
          <a:p>
            <a:r>
              <a:rPr lang="he-IL" sz="3200" dirty="0">
                <a:latin typeface="David" panose="020E0502060401010101" pitchFamily="34" charset="-79"/>
                <a:cs typeface="David" panose="020E0502060401010101" pitchFamily="34" charset="-79"/>
              </a:rPr>
              <a:t>2</a:t>
            </a:r>
            <a:r>
              <a:rPr lang="he-IL" sz="3200" b="1" dirty="0">
                <a:latin typeface="David" panose="020E0502060401010101" pitchFamily="34" charset="-79"/>
                <a:cs typeface="David" panose="020E0502060401010101" pitchFamily="34" charset="-79"/>
              </a:rPr>
              <a:t>. מדוע יש צורך ללמד את בני ישראל תכסיסי מלחמה לאחר מות יהושע?</a:t>
            </a:r>
          </a:p>
          <a:p>
            <a:endParaRPr lang="he-IL" sz="3200" dirty="0">
              <a:latin typeface="David" panose="020E0502060401010101" pitchFamily="34" charset="-79"/>
              <a:cs typeface="David" panose="020E0502060401010101" pitchFamily="34" charset="-79"/>
            </a:endParaRPr>
          </a:p>
          <a:p>
            <a:r>
              <a:rPr lang="he-IL" sz="3200" dirty="0">
                <a:highlight>
                  <a:srgbClr val="00FF00"/>
                </a:highlight>
                <a:latin typeface="David" panose="020E0502060401010101" pitchFamily="34" charset="-79"/>
                <a:cs typeface="David" panose="020E0502060401010101" pitchFamily="34" charset="-79"/>
              </a:rPr>
              <a:t>תשובה- כי הם חטאו ולכן ה' לא איתם במלחמות. </a:t>
            </a:r>
          </a:p>
          <a:p>
            <a:endParaRPr lang="he-IL" sz="3200" dirty="0">
              <a:latin typeface="David" panose="020E0502060401010101" pitchFamily="34" charset="-79"/>
              <a:cs typeface="David" panose="020E0502060401010101" pitchFamily="34" charset="-79"/>
            </a:endParaRPr>
          </a:p>
          <a:p>
            <a:r>
              <a:rPr lang="he-IL" sz="3200" dirty="0">
                <a:latin typeface="David" panose="020E0502060401010101" pitchFamily="34" charset="-79"/>
                <a:cs typeface="David" panose="020E0502060401010101" pitchFamily="34" charset="-79"/>
              </a:rPr>
              <a:t>3. </a:t>
            </a:r>
            <a:r>
              <a:rPr lang="he-IL" sz="3200" b="1" dirty="0">
                <a:latin typeface="David" panose="020E0502060401010101" pitchFamily="34" charset="-79"/>
                <a:cs typeface="David" panose="020E0502060401010101" pitchFamily="34" charset="-79"/>
              </a:rPr>
              <a:t>באיזו תקופה בני ישראל לא הצטרכו לתכסיסי מלחמה?</a:t>
            </a:r>
          </a:p>
          <a:p>
            <a:endParaRPr lang="he-IL" sz="3200" dirty="0">
              <a:latin typeface="David" panose="020E0502060401010101" pitchFamily="34" charset="-79"/>
              <a:cs typeface="David" panose="020E0502060401010101" pitchFamily="34" charset="-79"/>
            </a:endParaRPr>
          </a:p>
          <a:p>
            <a:r>
              <a:rPr lang="he-IL" sz="3200" dirty="0">
                <a:highlight>
                  <a:srgbClr val="00FF00"/>
                </a:highlight>
                <a:latin typeface="David" panose="020E0502060401010101" pitchFamily="34" charset="-79"/>
                <a:cs typeface="David" panose="020E0502060401010101" pitchFamily="34" charset="-79"/>
              </a:rPr>
              <a:t>תשובה- בתקופת יהושע בן נון</a:t>
            </a:r>
          </a:p>
        </p:txBody>
      </p:sp>
    </p:spTree>
    <p:extLst>
      <p:ext uri="{BB962C8B-B14F-4D97-AF65-F5344CB8AC3E}">
        <p14:creationId xmlns:p14="http://schemas.microsoft.com/office/powerpoint/2010/main" val="2142459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 calcmode="lin" valueType="num">
                                      <p:cBhvr additive="base">
                                        <p:cTn id="12"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circle(in)">
                                      <p:cBhvr>
                                        <p:cTn id="18" dur="2000"/>
                                        <p:tgtEl>
                                          <p:spTgt spid="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Effect transition="in" filter="fade">
                                      <p:cBhvr>
                                        <p:cTn id="23" dur="500"/>
                                        <p:tgtEl>
                                          <p:spTgt spid="2">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
                                            <p:txEl>
                                              <p:pRg st="8" end="8"/>
                                            </p:txEl>
                                          </p:spTgt>
                                        </p:tgtEl>
                                        <p:attrNameLst>
                                          <p:attrName>style.visibility</p:attrName>
                                        </p:attrNameLst>
                                      </p:cBhvr>
                                      <p:to>
                                        <p:strVal val="visible"/>
                                      </p:to>
                                    </p:set>
                                    <p:animEffect transition="in" filter="fade">
                                      <p:cBhvr>
                                        <p:cTn id="28" dur="500"/>
                                        <p:tgtEl>
                                          <p:spTgt spid="2">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animEffect transition="in" filter="barn(inVertical)">
                                      <p:cBhvr>
                                        <p:cTn id="33"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CAF708-F33F-47BD-9324-D1504969C85A}"/>
              </a:ext>
            </a:extLst>
          </p:cNvPr>
          <p:cNvSpPr txBox="1"/>
          <p:nvPr/>
        </p:nvSpPr>
        <p:spPr>
          <a:xfrm>
            <a:off x="1505244" y="464233"/>
            <a:ext cx="10030264" cy="4401205"/>
          </a:xfrm>
          <a:prstGeom prst="rect">
            <a:avLst/>
          </a:prstGeom>
          <a:noFill/>
        </p:spPr>
        <p:txBody>
          <a:bodyPr wrap="square" rtlCol="1">
            <a:spAutoFit/>
          </a:bodyPr>
          <a:lstStyle/>
          <a:p>
            <a:r>
              <a:rPr lang="he-IL" sz="4000" b="1" dirty="0">
                <a:latin typeface="David" panose="020E0502060401010101" pitchFamily="34" charset="-79"/>
                <a:cs typeface="David" panose="020E0502060401010101" pitchFamily="34" charset="-79"/>
              </a:rPr>
              <a:t>4. מי נילחם להם אז? </a:t>
            </a:r>
          </a:p>
          <a:p>
            <a:endParaRPr lang="he-IL" sz="4000" dirty="0">
              <a:latin typeface="David" panose="020E0502060401010101" pitchFamily="34" charset="-79"/>
              <a:cs typeface="David" panose="020E0502060401010101" pitchFamily="34" charset="-79"/>
            </a:endParaRPr>
          </a:p>
          <a:p>
            <a:r>
              <a:rPr lang="he-IL" sz="4000" dirty="0">
                <a:highlight>
                  <a:srgbClr val="00FF00"/>
                </a:highlight>
                <a:latin typeface="David" panose="020E0502060401010101" pitchFamily="34" charset="-79"/>
                <a:cs typeface="David" panose="020E0502060401010101" pitchFamily="34" charset="-79"/>
              </a:rPr>
              <a:t>תשובה- הקדוש ברוך הוא נלחם איתם  </a:t>
            </a:r>
          </a:p>
          <a:p>
            <a:endParaRPr lang="he-IL" sz="4000" dirty="0">
              <a:latin typeface="David" panose="020E0502060401010101" pitchFamily="34" charset="-79"/>
              <a:cs typeface="David" panose="020E0502060401010101" pitchFamily="34" charset="-79"/>
            </a:endParaRPr>
          </a:p>
          <a:p>
            <a:r>
              <a:rPr lang="he-IL" sz="4000" dirty="0">
                <a:latin typeface="David" panose="020E0502060401010101" pitchFamily="34" charset="-79"/>
                <a:cs typeface="David" panose="020E0502060401010101" pitchFamily="34" charset="-79"/>
              </a:rPr>
              <a:t>5</a:t>
            </a:r>
            <a:r>
              <a:rPr lang="he-IL" sz="4000" b="1" dirty="0">
                <a:latin typeface="David" panose="020E0502060401010101" pitchFamily="34" charset="-79"/>
                <a:cs typeface="David" panose="020E0502060401010101" pitchFamily="34" charset="-79"/>
              </a:rPr>
              <a:t>. מה היו חטאי בני ישראל, שבגינם כעס עליהם ה'? </a:t>
            </a:r>
          </a:p>
          <a:p>
            <a:endParaRPr lang="he-IL" sz="4000" dirty="0">
              <a:latin typeface="David" panose="020E0502060401010101" pitchFamily="34" charset="-79"/>
              <a:cs typeface="David" panose="020E0502060401010101" pitchFamily="34" charset="-79"/>
            </a:endParaRPr>
          </a:p>
          <a:p>
            <a:r>
              <a:rPr lang="he-IL" sz="4000" dirty="0">
                <a:highlight>
                  <a:srgbClr val="00FF00"/>
                </a:highlight>
                <a:latin typeface="David" panose="020E0502060401010101" pitchFamily="34" charset="-79"/>
                <a:cs typeface="David" panose="020E0502060401010101" pitchFamily="34" charset="-79"/>
              </a:rPr>
              <a:t>תשובה- התחתנו עם בנות הגויים ועבדו עבודה זרה</a:t>
            </a:r>
          </a:p>
        </p:txBody>
      </p:sp>
    </p:spTree>
    <p:extLst>
      <p:ext uri="{BB962C8B-B14F-4D97-AF65-F5344CB8AC3E}">
        <p14:creationId xmlns:p14="http://schemas.microsoft.com/office/powerpoint/2010/main" val="976892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down)">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6C7AA3-989B-4445-A2B2-AB45843E6B13}"/>
              </a:ext>
            </a:extLst>
          </p:cNvPr>
          <p:cNvSpPr txBox="1"/>
          <p:nvPr/>
        </p:nvSpPr>
        <p:spPr>
          <a:xfrm>
            <a:off x="858129" y="633046"/>
            <a:ext cx="10733649" cy="5878532"/>
          </a:xfrm>
          <a:prstGeom prst="rect">
            <a:avLst/>
          </a:prstGeom>
          <a:noFill/>
        </p:spPr>
        <p:txBody>
          <a:bodyPr wrap="square" rtlCol="1">
            <a:spAutoFit/>
          </a:bodyPr>
          <a:lstStyle/>
          <a:p>
            <a:r>
              <a:rPr lang="he-IL" sz="4000" b="1" u="sng" dirty="0">
                <a:latin typeface="David" panose="020E0502060401010101" pitchFamily="34" charset="-79"/>
                <a:cs typeface="David" panose="020E0502060401010101" pitchFamily="34" charset="-79"/>
              </a:rPr>
              <a:t>עמוד </a:t>
            </a:r>
            <a:r>
              <a:rPr lang="he-IL" sz="4000" b="1" u="sng" dirty="0" smtClean="0">
                <a:latin typeface="David" panose="020E0502060401010101" pitchFamily="34" charset="-79"/>
                <a:cs typeface="David" panose="020E0502060401010101" pitchFamily="34" charset="-79"/>
              </a:rPr>
              <a:t>19: </a:t>
            </a:r>
            <a:endParaRPr lang="he-IL" sz="4000" b="1" u="sng" dirty="0">
              <a:latin typeface="David" panose="020E0502060401010101" pitchFamily="34" charset="-79"/>
              <a:cs typeface="David" panose="020E0502060401010101" pitchFamily="34" charset="-79"/>
            </a:endParaRPr>
          </a:p>
          <a:p>
            <a:endParaRPr lang="he-IL" sz="2800" dirty="0">
              <a:latin typeface="David" panose="020E0502060401010101" pitchFamily="34" charset="-79"/>
              <a:cs typeface="David" panose="020E0502060401010101" pitchFamily="34" charset="-79"/>
            </a:endParaRPr>
          </a:p>
          <a:p>
            <a:r>
              <a:rPr lang="he-IL" sz="2800" b="1" dirty="0">
                <a:latin typeface="David" panose="020E0502060401010101" pitchFamily="34" charset="-79"/>
                <a:cs typeface="David" panose="020E0502060401010101" pitchFamily="34" charset="-79"/>
              </a:rPr>
              <a:t>א. מי היה </a:t>
            </a:r>
            <a:r>
              <a:rPr lang="he-IL" sz="2800" b="1" dirty="0" err="1">
                <a:latin typeface="David" panose="020E0502060401010101" pitchFamily="34" charset="-79"/>
                <a:cs typeface="David" panose="020E0502060401010101" pitchFamily="34" charset="-79"/>
              </a:rPr>
              <a:t>עותניאל</a:t>
            </a:r>
            <a:r>
              <a:rPr lang="he-IL" sz="2800" b="1" dirty="0">
                <a:latin typeface="David" panose="020E0502060401010101" pitchFamily="34" charset="-79"/>
                <a:cs typeface="David" panose="020E0502060401010101" pitchFamily="34" charset="-79"/>
              </a:rPr>
              <a:t>? </a:t>
            </a:r>
          </a:p>
          <a:p>
            <a:r>
              <a:rPr lang="he-IL" sz="2800" dirty="0">
                <a:highlight>
                  <a:srgbClr val="00FF00"/>
                </a:highlight>
                <a:latin typeface="David" panose="020E0502060401010101" pitchFamily="34" charset="-79"/>
                <a:cs typeface="David" panose="020E0502060401010101" pitchFamily="34" charset="-79"/>
              </a:rPr>
              <a:t>תשובה- אחיו </a:t>
            </a:r>
            <a:r>
              <a:rPr lang="he-IL" sz="2800" dirty="0" err="1">
                <a:highlight>
                  <a:srgbClr val="00FF00"/>
                </a:highlight>
                <a:latin typeface="David" panose="020E0502060401010101" pitchFamily="34" charset="-79"/>
                <a:cs typeface="David" panose="020E0502060401010101" pitchFamily="34" charset="-79"/>
              </a:rPr>
              <a:t>מאמא</a:t>
            </a:r>
            <a:r>
              <a:rPr lang="he-IL" sz="2800" dirty="0">
                <a:highlight>
                  <a:srgbClr val="00FF00"/>
                </a:highlight>
                <a:latin typeface="David" panose="020E0502060401010101" pitchFamily="34" charset="-79"/>
                <a:cs typeface="David" panose="020E0502060401010101" pitchFamily="34" charset="-79"/>
              </a:rPr>
              <a:t> של כלב בן יפונה</a:t>
            </a:r>
          </a:p>
          <a:p>
            <a:endParaRPr lang="he-IL" sz="2800" dirty="0">
              <a:latin typeface="David" panose="020E0502060401010101" pitchFamily="34" charset="-79"/>
              <a:cs typeface="David" panose="020E0502060401010101" pitchFamily="34" charset="-79"/>
            </a:endParaRPr>
          </a:p>
          <a:p>
            <a:r>
              <a:rPr lang="he-IL" sz="2800" b="1" dirty="0">
                <a:latin typeface="David" panose="020E0502060401010101" pitchFamily="34" charset="-79"/>
                <a:cs typeface="David" panose="020E0502060401010101" pitchFamily="34" charset="-79"/>
              </a:rPr>
              <a:t>ב. אלו מתכונותיו וממידותיו, היה בהן כדי לעזור לבני ישראל?</a:t>
            </a:r>
          </a:p>
          <a:p>
            <a:r>
              <a:rPr lang="he-IL" sz="2800" dirty="0">
                <a:highlight>
                  <a:srgbClr val="00FF00"/>
                </a:highlight>
                <a:latin typeface="David" panose="020E0502060401010101" pitchFamily="34" charset="-79"/>
                <a:cs typeface="David" panose="020E0502060401010101" pitchFamily="34" charset="-79"/>
              </a:rPr>
              <a:t>תשובה- שרתה עליו רוח נבואה </a:t>
            </a:r>
          </a:p>
          <a:p>
            <a:endParaRPr lang="he-IL" sz="2800" dirty="0">
              <a:latin typeface="David" panose="020E0502060401010101" pitchFamily="34" charset="-79"/>
              <a:cs typeface="David" panose="020E0502060401010101" pitchFamily="34" charset="-79"/>
            </a:endParaRPr>
          </a:p>
          <a:p>
            <a:r>
              <a:rPr lang="he-IL" sz="2800" b="1" dirty="0">
                <a:latin typeface="David" panose="020E0502060401010101" pitchFamily="34" charset="-79"/>
                <a:cs typeface="David" panose="020E0502060401010101" pitchFamily="34" charset="-79"/>
              </a:rPr>
              <a:t>ג. במי נילחם </a:t>
            </a:r>
            <a:r>
              <a:rPr lang="he-IL" sz="2800" b="1" dirty="0" err="1">
                <a:latin typeface="David" panose="020E0502060401010101" pitchFamily="34" charset="-79"/>
                <a:cs typeface="David" panose="020E0502060401010101" pitchFamily="34" charset="-79"/>
              </a:rPr>
              <a:t>עותניאל</a:t>
            </a:r>
            <a:r>
              <a:rPr lang="he-IL" sz="2800" b="1" dirty="0">
                <a:latin typeface="David" panose="020E0502060401010101" pitchFamily="34" charset="-79"/>
                <a:cs typeface="David" panose="020E0502060401010101" pitchFamily="34" charset="-79"/>
              </a:rPr>
              <a:t>? </a:t>
            </a:r>
          </a:p>
          <a:p>
            <a:r>
              <a:rPr lang="he-IL" sz="2800" dirty="0">
                <a:highlight>
                  <a:srgbClr val="00FF00"/>
                </a:highlight>
                <a:latin typeface="David" panose="020E0502060401010101" pitchFamily="34" charset="-79"/>
                <a:cs typeface="David" panose="020E0502060401010101" pitchFamily="34" charset="-79"/>
              </a:rPr>
              <a:t>נילחם </a:t>
            </a:r>
            <a:r>
              <a:rPr lang="he-IL" sz="2800" dirty="0" err="1">
                <a:highlight>
                  <a:srgbClr val="00FF00"/>
                </a:highlight>
                <a:latin typeface="David" panose="020E0502060401010101" pitchFamily="34" charset="-79"/>
                <a:cs typeface="David" panose="020E0502060401010101" pitchFamily="34" charset="-79"/>
              </a:rPr>
              <a:t>בכושן</a:t>
            </a:r>
            <a:r>
              <a:rPr lang="he-IL" sz="2800" dirty="0">
                <a:highlight>
                  <a:srgbClr val="00FF00"/>
                </a:highlight>
                <a:latin typeface="David" panose="020E0502060401010101" pitchFamily="34" charset="-79"/>
                <a:cs typeface="David" panose="020E0502060401010101" pitchFamily="34" charset="-79"/>
              </a:rPr>
              <a:t> </a:t>
            </a:r>
            <a:r>
              <a:rPr lang="he-IL" sz="2800" dirty="0" err="1">
                <a:highlight>
                  <a:srgbClr val="00FF00"/>
                </a:highlight>
                <a:latin typeface="David" panose="020E0502060401010101" pitchFamily="34" charset="-79"/>
                <a:cs typeface="David" panose="020E0502060401010101" pitchFamily="34" charset="-79"/>
              </a:rPr>
              <a:t>רשעתיים</a:t>
            </a:r>
            <a:r>
              <a:rPr lang="he-IL" sz="2800" dirty="0">
                <a:highlight>
                  <a:srgbClr val="00FF00"/>
                </a:highlight>
                <a:latin typeface="David" panose="020E0502060401010101" pitchFamily="34" charset="-79"/>
                <a:cs typeface="David" panose="020E0502060401010101" pitchFamily="34" charset="-79"/>
              </a:rPr>
              <a:t> מלך ארם</a:t>
            </a:r>
          </a:p>
          <a:p>
            <a:endParaRPr lang="he-IL" sz="2800" dirty="0">
              <a:latin typeface="David" panose="020E0502060401010101" pitchFamily="34" charset="-79"/>
              <a:cs typeface="David" panose="020E0502060401010101" pitchFamily="34" charset="-79"/>
            </a:endParaRPr>
          </a:p>
          <a:p>
            <a:r>
              <a:rPr lang="he-IL" sz="2800" b="1" dirty="0">
                <a:latin typeface="David" panose="020E0502060401010101" pitchFamily="34" charset="-79"/>
                <a:cs typeface="David" panose="020E0502060401010101" pitchFamily="34" charset="-79"/>
              </a:rPr>
              <a:t>ד. מה היו תוצאות המלחמה? </a:t>
            </a:r>
          </a:p>
          <a:p>
            <a:r>
              <a:rPr lang="he-IL" sz="2800" dirty="0">
                <a:highlight>
                  <a:srgbClr val="00FF00"/>
                </a:highlight>
                <a:latin typeface="David" panose="020E0502060401010101" pitchFamily="34" charset="-79"/>
                <a:cs typeface="David" panose="020E0502060401010101" pitchFamily="34" charset="-79"/>
              </a:rPr>
              <a:t>תשובה- ניצחו עם ישראל את </a:t>
            </a:r>
            <a:r>
              <a:rPr lang="he-IL" sz="2800" dirty="0" err="1">
                <a:highlight>
                  <a:srgbClr val="00FF00"/>
                </a:highlight>
                <a:latin typeface="David" panose="020E0502060401010101" pitchFamily="34" charset="-79"/>
                <a:cs typeface="David" panose="020E0502060401010101" pitchFamily="34" charset="-79"/>
              </a:rPr>
              <a:t>כושן</a:t>
            </a:r>
            <a:endParaRPr lang="he-IL" sz="2800" dirty="0">
              <a:highlight>
                <a:srgbClr val="00FF00"/>
              </a:highlight>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3273987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barn(inVertic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wipe(down)">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animEffect transition="in" filter="wipe(down)">
                                      <p:cBhvr>
                                        <p:cTn id="17" dur="500"/>
                                        <p:tgtEl>
                                          <p:spTgt spid="2">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circle(in)">
                                      <p:cBhvr>
                                        <p:cTn id="22" dur="2000"/>
                                        <p:tgtEl>
                                          <p:spTgt spid="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fade">
                                      <p:cBhvr>
                                        <p:cTn id="27" dur="1000"/>
                                        <p:tgtEl>
                                          <p:spTgt spid="2">
                                            <p:txEl>
                                              <p:pRg st="8" end="8"/>
                                            </p:txEl>
                                          </p:spTgt>
                                        </p:tgtEl>
                                      </p:cBhvr>
                                    </p:animEffect>
                                    <p:anim calcmode="lin" valueType="num">
                                      <p:cBhvr>
                                        <p:cTn id="28"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2">
                                            <p:txEl>
                                              <p:pRg st="9" end="9"/>
                                            </p:txEl>
                                          </p:spTgt>
                                        </p:tgtEl>
                                        <p:attrNameLst>
                                          <p:attrName>style.visibility</p:attrName>
                                        </p:attrNameLst>
                                      </p:cBhvr>
                                      <p:to>
                                        <p:strVal val="visible"/>
                                      </p:to>
                                    </p:set>
                                    <p:animEffect transition="in" filter="wipe(down)">
                                      <p:cBhvr>
                                        <p:cTn id="34" dur="500"/>
                                        <p:tgtEl>
                                          <p:spTgt spid="2">
                                            <p:txEl>
                                              <p:pRg st="9" end="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2">
                                            <p:txEl>
                                              <p:pRg st="12" end="12"/>
                                            </p:txEl>
                                          </p:spTgt>
                                        </p:tgtEl>
                                        <p:attrNameLst>
                                          <p:attrName>style.visibility</p:attrName>
                                        </p:attrNameLst>
                                      </p:cBhvr>
                                      <p:to>
                                        <p:strVal val="visible"/>
                                      </p:to>
                                    </p:set>
                                    <p:animEffect transition="in" filter="barn(inVertical)">
                                      <p:cBhvr>
                                        <p:cTn id="43"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2F237D-DB44-4E22-B422-D4F07269E7D2}"/>
              </a:ext>
            </a:extLst>
          </p:cNvPr>
          <p:cNvSpPr txBox="1"/>
          <p:nvPr/>
        </p:nvSpPr>
        <p:spPr>
          <a:xfrm>
            <a:off x="787791" y="450166"/>
            <a:ext cx="10480431" cy="3970318"/>
          </a:xfrm>
          <a:prstGeom prst="rect">
            <a:avLst/>
          </a:prstGeom>
          <a:noFill/>
        </p:spPr>
        <p:txBody>
          <a:bodyPr wrap="square" rtlCol="1">
            <a:spAutoFit/>
          </a:bodyPr>
          <a:lstStyle/>
          <a:p>
            <a:r>
              <a:rPr lang="he-IL" sz="3600" b="1" dirty="0">
                <a:latin typeface="David" panose="020E0502060401010101" pitchFamily="34" charset="-79"/>
                <a:cs typeface="David" panose="020E0502060401010101" pitchFamily="34" charset="-79"/>
              </a:rPr>
              <a:t>ה. כמה שנים שקטה הארץ? </a:t>
            </a:r>
          </a:p>
          <a:p>
            <a:endParaRPr lang="he-IL" sz="3600" dirty="0">
              <a:latin typeface="David" panose="020E0502060401010101" pitchFamily="34" charset="-79"/>
              <a:cs typeface="David" panose="020E0502060401010101" pitchFamily="34" charset="-79"/>
            </a:endParaRPr>
          </a:p>
          <a:p>
            <a:r>
              <a:rPr lang="he-IL" sz="3600" b="1" dirty="0">
                <a:highlight>
                  <a:srgbClr val="00FF00"/>
                </a:highlight>
                <a:latin typeface="David" panose="020E0502060401010101" pitchFamily="34" charset="-79"/>
                <a:cs typeface="David" panose="020E0502060401010101" pitchFamily="34" charset="-79"/>
              </a:rPr>
              <a:t>תשובה- ארבעים שנה  </a:t>
            </a:r>
          </a:p>
          <a:p>
            <a:endParaRPr lang="he-IL" sz="3600" dirty="0">
              <a:latin typeface="David" panose="020E0502060401010101" pitchFamily="34" charset="-79"/>
              <a:cs typeface="David" panose="020E0502060401010101" pitchFamily="34" charset="-79"/>
            </a:endParaRPr>
          </a:p>
          <a:p>
            <a:r>
              <a:rPr lang="he-IL" sz="3600" b="1" dirty="0">
                <a:latin typeface="David" panose="020E0502060401010101" pitchFamily="34" charset="-79"/>
                <a:cs typeface="David" panose="020E0502060401010101" pitchFamily="34" charset="-79"/>
              </a:rPr>
              <a:t>ו. מה היה מצבו הרוחני של עם ישראל לאחר מות </a:t>
            </a:r>
            <a:r>
              <a:rPr lang="he-IL" sz="3600" b="1" dirty="0" err="1">
                <a:latin typeface="David" panose="020E0502060401010101" pitchFamily="34" charset="-79"/>
                <a:cs typeface="David" panose="020E0502060401010101" pitchFamily="34" charset="-79"/>
              </a:rPr>
              <a:t>עותניאל</a:t>
            </a:r>
            <a:r>
              <a:rPr lang="he-IL" sz="3600" b="1" dirty="0">
                <a:latin typeface="David" panose="020E0502060401010101" pitchFamily="34" charset="-79"/>
                <a:cs typeface="David" panose="020E0502060401010101" pitchFamily="34" charset="-79"/>
              </a:rPr>
              <a:t>? </a:t>
            </a:r>
          </a:p>
          <a:p>
            <a:endParaRPr lang="he-IL" sz="3600" dirty="0">
              <a:latin typeface="David" panose="020E0502060401010101" pitchFamily="34" charset="-79"/>
              <a:cs typeface="David" panose="020E0502060401010101" pitchFamily="34" charset="-79"/>
            </a:endParaRPr>
          </a:p>
          <a:p>
            <a:r>
              <a:rPr lang="he-IL" sz="3600" dirty="0">
                <a:highlight>
                  <a:srgbClr val="00FF00"/>
                </a:highlight>
                <a:latin typeface="David" panose="020E0502060401010101" pitchFamily="34" charset="-79"/>
                <a:cs typeface="David" panose="020E0502060401010101" pitchFamily="34" charset="-79"/>
              </a:rPr>
              <a:t>תשובה- חזרו שוב לחטוא עם ישראל. </a:t>
            </a:r>
          </a:p>
        </p:txBody>
      </p:sp>
    </p:spTree>
    <p:extLst>
      <p:ext uri="{BB962C8B-B14F-4D97-AF65-F5344CB8AC3E}">
        <p14:creationId xmlns:p14="http://schemas.microsoft.com/office/powerpoint/2010/main" val="1011609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wipe(down)">
                                      <p:cBhvr>
                                        <p:cTn id="14" dur="500"/>
                                        <p:tgtEl>
                                          <p:spTgt spid="2">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wipe(down)">
                                      <p:cBhvr>
                                        <p:cTn id="19" dur="580">
                                          <p:stCondLst>
                                            <p:cond delay="0"/>
                                          </p:stCondLst>
                                        </p:cTn>
                                        <p:tgtEl>
                                          <p:spTgt spid="2">
                                            <p:txEl>
                                              <p:pRg st="4" end="4"/>
                                            </p:txEl>
                                          </p:spTgt>
                                        </p:tgtEl>
                                      </p:cBhvr>
                                    </p:animEffect>
                                    <p:anim calcmode="lin" valueType="num">
                                      <p:cBhvr>
                                        <p:cTn id="20" dur="1822" tmFilter="0,0; 0.14,0.36; 0.43,0.73; 0.71,0.91; 1.0,1.0">
                                          <p:stCondLst>
                                            <p:cond delay="0"/>
                                          </p:stCondLst>
                                        </p:cTn>
                                        <p:tgtEl>
                                          <p:spTgt spid="2">
                                            <p:txEl>
                                              <p:pRg st="4" end="4"/>
                                            </p:txEl>
                                          </p:spTgt>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2">
                                            <p:txEl>
                                              <p:pRg st="4" end="4"/>
                                            </p:txEl>
                                          </p:spTgt>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2">
                                            <p:txEl>
                                              <p:pRg st="4" end="4"/>
                                            </p:txEl>
                                          </p:spTgt>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2">
                                            <p:txEl>
                                              <p:pRg st="4" end="4"/>
                                            </p:txEl>
                                          </p:spTgt>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2">
                                            <p:txEl>
                                              <p:pRg st="4" end="4"/>
                                            </p:txEl>
                                          </p:spTgt>
                                        </p:tgtEl>
                                        <p:attrNameLst>
                                          <p:attrName>ppt_y</p:attrName>
                                        </p:attrNameLst>
                                      </p:cBhvr>
                                      <p:tavLst>
                                        <p:tav tm="0" fmla="#ppt_y-sin(pi*$)/81">
                                          <p:val>
                                            <p:fltVal val="0"/>
                                          </p:val>
                                        </p:tav>
                                        <p:tav tm="100000">
                                          <p:val>
                                            <p:fltVal val="1"/>
                                          </p:val>
                                        </p:tav>
                                      </p:tavLst>
                                    </p:anim>
                                    <p:animScale>
                                      <p:cBhvr>
                                        <p:cTn id="25" dur="26">
                                          <p:stCondLst>
                                            <p:cond delay="650"/>
                                          </p:stCondLst>
                                        </p:cTn>
                                        <p:tgtEl>
                                          <p:spTgt spid="2">
                                            <p:txEl>
                                              <p:pRg st="4" end="4"/>
                                            </p:txEl>
                                          </p:spTgt>
                                        </p:tgtEl>
                                      </p:cBhvr>
                                      <p:to x="100000" y="60000"/>
                                    </p:animScale>
                                    <p:animScale>
                                      <p:cBhvr>
                                        <p:cTn id="26" dur="166" decel="50000">
                                          <p:stCondLst>
                                            <p:cond delay="676"/>
                                          </p:stCondLst>
                                        </p:cTn>
                                        <p:tgtEl>
                                          <p:spTgt spid="2">
                                            <p:txEl>
                                              <p:pRg st="4" end="4"/>
                                            </p:txEl>
                                          </p:spTgt>
                                        </p:tgtEl>
                                      </p:cBhvr>
                                      <p:to x="100000" y="100000"/>
                                    </p:animScale>
                                    <p:animScale>
                                      <p:cBhvr>
                                        <p:cTn id="27" dur="26">
                                          <p:stCondLst>
                                            <p:cond delay="1312"/>
                                          </p:stCondLst>
                                        </p:cTn>
                                        <p:tgtEl>
                                          <p:spTgt spid="2">
                                            <p:txEl>
                                              <p:pRg st="4" end="4"/>
                                            </p:txEl>
                                          </p:spTgt>
                                        </p:tgtEl>
                                      </p:cBhvr>
                                      <p:to x="100000" y="80000"/>
                                    </p:animScale>
                                    <p:animScale>
                                      <p:cBhvr>
                                        <p:cTn id="28" dur="166" decel="50000">
                                          <p:stCondLst>
                                            <p:cond delay="1338"/>
                                          </p:stCondLst>
                                        </p:cTn>
                                        <p:tgtEl>
                                          <p:spTgt spid="2">
                                            <p:txEl>
                                              <p:pRg st="4" end="4"/>
                                            </p:txEl>
                                          </p:spTgt>
                                        </p:tgtEl>
                                      </p:cBhvr>
                                      <p:to x="100000" y="100000"/>
                                    </p:animScale>
                                    <p:animScale>
                                      <p:cBhvr>
                                        <p:cTn id="29" dur="26">
                                          <p:stCondLst>
                                            <p:cond delay="1642"/>
                                          </p:stCondLst>
                                        </p:cTn>
                                        <p:tgtEl>
                                          <p:spTgt spid="2">
                                            <p:txEl>
                                              <p:pRg st="4" end="4"/>
                                            </p:txEl>
                                          </p:spTgt>
                                        </p:tgtEl>
                                      </p:cBhvr>
                                      <p:to x="100000" y="90000"/>
                                    </p:animScale>
                                    <p:animScale>
                                      <p:cBhvr>
                                        <p:cTn id="30" dur="166" decel="50000">
                                          <p:stCondLst>
                                            <p:cond delay="1668"/>
                                          </p:stCondLst>
                                        </p:cTn>
                                        <p:tgtEl>
                                          <p:spTgt spid="2">
                                            <p:txEl>
                                              <p:pRg st="4" end="4"/>
                                            </p:txEl>
                                          </p:spTgt>
                                        </p:tgtEl>
                                      </p:cBhvr>
                                      <p:to x="100000" y="100000"/>
                                    </p:animScale>
                                    <p:animScale>
                                      <p:cBhvr>
                                        <p:cTn id="31" dur="26">
                                          <p:stCondLst>
                                            <p:cond delay="1808"/>
                                          </p:stCondLst>
                                        </p:cTn>
                                        <p:tgtEl>
                                          <p:spTgt spid="2">
                                            <p:txEl>
                                              <p:pRg st="4" end="4"/>
                                            </p:txEl>
                                          </p:spTgt>
                                        </p:tgtEl>
                                      </p:cBhvr>
                                      <p:to x="100000" y="95000"/>
                                    </p:animScale>
                                    <p:animScale>
                                      <p:cBhvr>
                                        <p:cTn id="32" dur="166" decel="50000">
                                          <p:stCondLst>
                                            <p:cond delay="1834"/>
                                          </p:stCondLst>
                                        </p:cTn>
                                        <p:tgtEl>
                                          <p:spTgt spid="2">
                                            <p:txEl>
                                              <p:pRg st="4" end="4"/>
                                            </p:txEl>
                                          </p:spTgt>
                                        </p:tgtEl>
                                      </p:cBhvr>
                                      <p:to x="100000" y="100000"/>
                                    </p:animScale>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circle(in)">
                                      <p:cBhvr>
                                        <p:cTn id="37" dur="20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8C4B7E8-7EC7-4287-83D4-A5DB2621AF64}"/>
              </a:ext>
            </a:extLst>
          </p:cNvPr>
          <p:cNvSpPr txBox="1"/>
          <p:nvPr/>
        </p:nvSpPr>
        <p:spPr>
          <a:xfrm>
            <a:off x="7610622" y="281353"/>
            <a:ext cx="2658794" cy="2123658"/>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FF0000"/>
                </a:solidFill>
                <a:effectLst/>
                <a:uLnTx/>
                <a:uFillTx/>
                <a:latin typeface="David" panose="020E0502060401010101" pitchFamily="34" charset="-79"/>
                <a:ea typeface="+mn-ea"/>
                <a:cs typeface="David" panose="020E0502060401010101" pitchFamily="34" charset="-79"/>
              </a:rPr>
              <a:t>מה למדנו בשיעור</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FF0000"/>
                </a:solidFill>
                <a:effectLst/>
                <a:uLnTx/>
                <a:uFillTx/>
                <a:latin typeface="David" panose="020E0502060401010101" pitchFamily="34" charset="-79"/>
                <a:ea typeface="+mn-ea"/>
                <a:cs typeface="David" panose="020E0502060401010101" pitchFamily="34" charset="-79"/>
              </a:rPr>
              <a:t>הקודם? </a:t>
            </a:r>
          </a:p>
        </p:txBody>
      </p:sp>
      <p:sp>
        <p:nvSpPr>
          <p:cNvPr id="5" name="TextBox 4">
            <a:extLst>
              <a:ext uri="{FF2B5EF4-FFF2-40B4-BE49-F238E27FC236}">
                <a16:creationId xmlns:a16="http://schemas.microsoft.com/office/drawing/2014/main" id="{1F4CB379-09F4-4D8A-92E0-CEDD8AFD85A0}"/>
              </a:ext>
            </a:extLst>
          </p:cNvPr>
          <p:cNvSpPr txBox="1"/>
          <p:nvPr/>
        </p:nvSpPr>
        <p:spPr>
          <a:xfrm>
            <a:off x="2086708" y="534572"/>
            <a:ext cx="3094892" cy="2062103"/>
          </a:xfrm>
          <a:prstGeom prst="rect">
            <a:avLst/>
          </a:prstGeom>
          <a:solidFill>
            <a:schemeClr val="accent2">
              <a:lumMod val="60000"/>
              <a:lumOff val="40000"/>
            </a:schemeClr>
          </a:solidFill>
          <a:ln w="28575">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שעם ישראל ישבו </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בקרב </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הגויים והתחתנו עם הגויים ועבדו עבודה זרה</a:t>
            </a:r>
          </a:p>
        </p:txBody>
      </p:sp>
      <p:sp>
        <p:nvSpPr>
          <p:cNvPr id="6" name="חץ: שמאלה 5">
            <a:extLst>
              <a:ext uri="{FF2B5EF4-FFF2-40B4-BE49-F238E27FC236}">
                <a16:creationId xmlns:a16="http://schemas.microsoft.com/office/drawing/2014/main" id="{2DE0D803-69C6-49C9-9E78-353EAA3DEFF4}"/>
              </a:ext>
            </a:extLst>
          </p:cNvPr>
          <p:cNvSpPr/>
          <p:nvPr/>
        </p:nvSpPr>
        <p:spPr>
          <a:xfrm>
            <a:off x="5465298" y="1054794"/>
            <a:ext cx="1754368" cy="57677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7" name="TextBox 6">
            <a:extLst>
              <a:ext uri="{FF2B5EF4-FFF2-40B4-BE49-F238E27FC236}">
                <a16:creationId xmlns:a16="http://schemas.microsoft.com/office/drawing/2014/main" id="{95E1CA87-45E0-4E36-A14E-3DFB86303552}"/>
              </a:ext>
            </a:extLst>
          </p:cNvPr>
          <p:cNvSpPr txBox="1"/>
          <p:nvPr/>
        </p:nvSpPr>
        <p:spPr>
          <a:xfrm>
            <a:off x="2236763" y="3130990"/>
            <a:ext cx="3631774" cy="1569660"/>
          </a:xfrm>
          <a:prstGeom prst="rect">
            <a:avLst/>
          </a:prstGeom>
          <a:solidFill>
            <a:schemeClr val="accent2">
              <a:lumMod val="60000"/>
              <a:lumOff val="40000"/>
            </a:schemeClr>
          </a:solidFill>
          <a:ln w="28575">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עם ישראל עשה רע בעיני ה' ונמכרו </a:t>
            </a:r>
            <a:r>
              <a:rPr kumimoji="0" lang="he-IL" sz="32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לכושן</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32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רשעתיים</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ועבדו 8 שנים</a:t>
            </a:r>
          </a:p>
        </p:txBody>
      </p:sp>
      <p:sp>
        <p:nvSpPr>
          <p:cNvPr id="9" name="חץ: שמאלה-למעלה 8">
            <a:extLst>
              <a:ext uri="{FF2B5EF4-FFF2-40B4-BE49-F238E27FC236}">
                <a16:creationId xmlns:a16="http://schemas.microsoft.com/office/drawing/2014/main" id="{D9375600-EE38-419B-A4E4-A63274E247A8}"/>
              </a:ext>
            </a:extLst>
          </p:cNvPr>
          <p:cNvSpPr/>
          <p:nvPr/>
        </p:nvSpPr>
        <p:spPr>
          <a:xfrm>
            <a:off x="5992836" y="2596675"/>
            <a:ext cx="2658794" cy="1384995"/>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0" name="חץ: למטה 9">
            <a:extLst>
              <a:ext uri="{FF2B5EF4-FFF2-40B4-BE49-F238E27FC236}">
                <a16:creationId xmlns:a16="http://schemas.microsoft.com/office/drawing/2014/main" id="{60935205-E8DB-49CF-B3D5-7F50F3DC701F}"/>
              </a:ext>
            </a:extLst>
          </p:cNvPr>
          <p:cNvSpPr/>
          <p:nvPr/>
        </p:nvSpPr>
        <p:spPr>
          <a:xfrm>
            <a:off x="9519138" y="2512525"/>
            <a:ext cx="750277" cy="20034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1" name="TextBox 10">
            <a:extLst>
              <a:ext uri="{FF2B5EF4-FFF2-40B4-BE49-F238E27FC236}">
                <a16:creationId xmlns:a16="http://schemas.microsoft.com/office/drawing/2014/main" id="{0DE125DD-5092-4B09-9FAE-4B0940548E8D}"/>
              </a:ext>
            </a:extLst>
          </p:cNvPr>
          <p:cNvSpPr txBox="1"/>
          <p:nvPr/>
        </p:nvSpPr>
        <p:spPr>
          <a:xfrm>
            <a:off x="7807569" y="4788592"/>
            <a:ext cx="3713871" cy="1384995"/>
          </a:xfrm>
          <a:prstGeom prst="rect">
            <a:avLst/>
          </a:prstGeom>
          <a:solidFill>
            <a:schemeClr val="accent2">
              <a:lumMod val="60000"/>
              <a:lumOff val="40000"/>
            </a:schemeClr>
          </a:solidFill>
          <a:ln w="28575">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והשופט הראשון שהושיע את עם ישראל "</a:t>
            </a:r>
            <a:r>
              <a:rPr kumimoji="0" lang="he-IL" sz="2800" b="1"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עותניאל</a:t>
            </a:r>
            <a:r>
              <a:rPr kumimoji="0" lang="he-IL" sz="28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בן קנז"</a:t>
            </a:r>
          </a:p>
        </p:txBody>
      </p:sp>
      <p:pic>
        <p:nvPicPr>
          <p:cNvPr id="13" name="תמונה 12">
            <a:extLst>
              <a:ext uri="{FF2B5EF4-FFF2-40B4-BE49-F238E27FC236}">
                <a16:creationId xmlns:a16="http://schemas.microsoft.com/office/drawing/2014/main" id="{3592CD44-3E69-4D18-9AA3-1E9C1BF2B067}"/>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5481" y="4515985"/>
            <a:ext cx="2131137" cy="2169714"/>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2489202132"/>
      </p:ext>
    </p:extLst>
  </p:cSld>
  <p:clrMapOvr>
    <a:masterClrMapping/>
  </p:clrMapOvr>
  <p:transition spd="slow">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dow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down)">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circle(in)">
                                      <p:cBhvr>
                                        <p:cTn id="23" dur="20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down)">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9" grpId="0" animBg="1"/>
      <p:bldP spid="10"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177420" y="134397"/>
            <a:ext cx="5868537" cy="4893647"/>
          </a:xfrm>
          <a:prstGeom prst="rect">
            <a:avLst/>
          </a:prstGeom>
          <a:solidFill>
            <a:schemeClr val="accent6">
              <a:lumMod val="60000"/>
              <a:lumOff val="40000"/>
            </a:schemeClr>
          </a:solidFill>
          <a:ln w="28575">
            <a:solidFill>
              <a:schemeClr val="tx1"/>
            </a:solidFill>
          </a:ln>
        </p:spPr>
        <p:txBody>
          <a:bodyPr wrap="square" rtlCol="1">
            <a:spAutoFit/>
          </a:bodyPr>
          <a:lstStyle/>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a:t>
            </a:r>
            <a:r>
              <a:rPr lang="he-IL" sz="3200" b="1" u="sng" dirty="0" err="1">
                <a:solidFill>
                  <a:prstClr val="black"/>
                </a:solidFill>
                <a:latin typeface="David" panose="020E0502060401010101" pitchFamily="34" charset="-79"/>
                <a:cs typeface="David" panose="020E0502060401010101" pitchFamily="34" charset="-79"/>
              </a:rPr>
              <a:t>יב</a:t>
            </a:r>
            <a:r>
              <a:rPr lang="he-IL" sz="3200" b="1" u="sng" dirty="0">
                <a:solidFill>
                  <a:prstClr val="black"/>
                </a:solidFill>
                <a:latin typeface="David" panose="020E0502060401010101" pitchFamily="34" charset="-79"/>
                <a:cs typeface="David" panose="020E0502060401010101" pitchFamily="34" charset="-79"/>
              </a:rPr>
              <a:t>': </a:t>
            </a:r>
            <a:r>
              <a:rPr lang="he-IL" sz="3200" dirty="0">
                <a:solidFill>
                  <a:prstClr val="black"/>
                </a:solidFill>
                <a:latin typeface="David" panose="020E0502060401010101" pitchFamily="34" charset="-79"/>
                <a:cs typeface="David" panose="020E0502060401010101" pitchFamily="34" charset="-79"/>
              </a:rPr>
              <a:t>שוב פעם בני ישראל חזרו לסורם עזבו את ה' והחלו לחטוא. </a:t>
            </a:r>
            <a:r>
              <a:rPr lang="he-IL" sz="3200" b="1" dirty="0">
                <a:solidFill>
                  <a:prstClr val="black"/>
                </a:solidFill>
                <a:latin typeface="David" panose="020E0502060401010101" pitchFamily="34" charset="-79"/>
                <a:cs typeface="David" panose="020E0502060401010101" pitchFamily="34" charset="-79"/>
              </a:rPr>
              <a:t>מעבר לירדן המזרחי </a:t>
            </a:r>
            <a:r>
              <a:rPr lang="he-IL" sz="3200" dirty="0">
                <a:solidFill>
                  <a:prstClr val="black"/>
                </a:solidFill>
                <a:latin typeface="David" panose="020E0502060401010101" pitchFamily="34" charset="-79"/>
                <a:cs typeface="David" panose="020E0502060401010101" pitchFamily="34" charset="-79"/>
              </a:rPr>
              <a:t>שכנה ארץ מואב עגלון היה המלך שלהם והוא היה חלש, אך הקב"ה חיזק אותו, </a:t>
            </a:r>
          </a:p>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a:t>
            </a:r>
            <a:r>
              <a:rPr lang="he-IL" sz="3200" b="1" u="sng" dirty="0" err="1">
                <a:solidFill>
                  <a:prstClr val="black"/>
                </a:solidFill>
                <a:latin typeface="David" panose="020E0502060401010101" pitchFamily="34" charset="-79"/>
                <a:cs typeface="David" panose="020E0502060401010101" pitchFamily="34" charset="-79"/>
              </a:rPr>
              <a:t>יג</a:t>
            </a:r>
            <a:r>
              <a:rPr lang="he-IL" sz="3200" b="1" u="sng" dirty="0">
                <a:solidFill>
                  <a:prstClr val="black"/>
                </a:solidFill>
                <a:latin typeface="David" panose="020E0502060401010101" pitchFamily="34" charset="-79"/>
                <a:cs typeface="David" panose="020E0502060401010101" pitchFamily="34" charset="-79"/>
              </a:rPr>
              <a:t>': </a:t>
            </a:r>
            <a:r>
              <a:rPr lang="he-IL" sz="3200" dirty="0">
                <a:solidFill>
                  <a:prstClr val="black"/>
                </a:solidFill>
                <a:latin typeface="David" panose="020E0502060401010101" pitchFamily="34" charset="-79"/>
                <a:cs typeface="David" panose="020E0502060401010101" pitchFamily="34" charset="-79"/>
              </a:rPr>
              <a:t>עגלון צירף אליו את בני עמון ועמלק וחצה את הירדן נלחם בישראל והצליח להביס אותם והתיישב במקומם בעיר יריחו בעיר התמרים.  </a:t>
            </a:r>
            <a:r>
              <a:rPr lang="he-IL" sz="2400" dirty="0">
                <a:solidFill>
                  <a:prstClr val="black"/>
                </a:solidFill>
                <a:latin typeface="David" panose="020E0502060401010101" pitchFamily="34" charset="-79"/>
                <a:cs typeface="David" panose="020E0502060401010101" pitchFamily="34" charset="-79"/>
              </a:rPr>
              <a:t>(עיר התמרים היא עיר שנבנתה ליד העיר יריחו). </a:t>
            </a:r>
            <a:endParaRPr lang="he-IL" sz="3200" dirty="0">
              <a:solidFill>
                <a:prstClr val="black"/>
              </a:solidFill>
              <a:latin typeface="David" panose="020E0502060401010101" pitchFamily="34" charset="-79"/>
              <a:cs typeface="David" panose="020E0502060401010101" pitchFamily="34" charset="-79"/>
            </a:endParaRPr>
          </a:p>
        </p:txBody>
      </p:sp>
      <p:sp>
        <p:nvSpPr>
          <p:cNvPr id="4" name="TextBox 3">
            <a:extLst>
              <a:ext uri="{FF2B5EF4-FFF2-40B4-BE49-F238E27FC236}">
                <a16:creationId xmlns:a16="http://schemas.microsoft.com/office/drawing/2014/main" id="{35603F5B-4F57-4E64-914D-AC14748B2EA2}"/>
              </a:ext>
            </a:extLst>
          </p:cNvPr>
          <p:cNvSpPr txBox="1"/>
          <p:nvPr/>
        </p:nvSpPr>
        <p:spPr>
          <a:xfrm>
            <a:off x="6209732" y="134397"/>
            <a:ext cx="5779573" cy="3539430"/>
          </a:xfrm>
          <a:prstGeom prst="rect">
            <a:avLst/>
          </a:prstGeom>
          <a:solidFill>
            <a:schemeClr val="accent4">
              <a:lumMod val="40000"/>
              <a:lumOff val="60000"/>
            </a:schemeClr>
          </a:solid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יב</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וַיֹּסִפוּ בְּנֵי יִשְׂרָאֵל, </a:t>
            </a:r>
            <a:r>
              <a:rPr kumimoji="0" lang="he-IL" sz="3200" b="1"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לַעֲשׂוֹת הָרַע בְּעֵינֵי יְהוָה</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וַיְחַזֵּק יְהוָה אֶת-עֶגְלוֹן מֶלֶךְ-מוֹאָב, עַל-יִשְׂרָאֵל, עַל כִּי-עָשׂוּ אֶת-הָרַע, בְּעֵינֵי יְהוָה.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יג</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3200" b="0" i="0" u="none"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וַיֶּאֱסֹף</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אֵלָיו, אֶת-</a:t>
            </a:r>
            <a:r>
              <a:rPr kumimoji="0" lang="he-IL" sz="3200" b="1"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בְּנֵי עַמּוֹן וַעֲמָלֵק</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וַיֵּלֶךְ, </a:t>
            </a:r>
            <a:r>
              <a:rPr kumimoji="0" lang="he-IL" sz="3200" b="0" i="0" u="none"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וַיַּך</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אֶת-יִשְׂרָאֵל, וַיִּירְשׁוּ, אֶת-עִיר הַתְּמָרִים.  </a:t>
            </a:r>
            <a:endPar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
        <p:nvSpPr>
          <p:cNvPr id="6" name="TextBox 5"/>
          <p:cNvSpPr txBox="1"/>
          <p:nvPr/>
        </p:nvSpPr>
        <p:spPr>
          <a:xfrm>
            <a:off x="6530201" y="3903259"/>
            <a:ext cx="5459104" cy="2062103"/>
          </a:xfrm>
          <a:prstGeom prst="rect">
            <a:avLst/>
          </a:prstGeom>
          <a:solidFill>
            <a:schemeClr val="accent1">
              <a:lumMod val="40000"/>
              <a:lumOff val="60000"/>
            </a:schemeClr>
          </a:solidFill>
          <a:ln w="28575">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כיוון שעם ישראל כפו בטובתו של הקב"ה על כל הטובות</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שעשה להם הביא עליהם את מואב ועמון (בני לוט) שגם הם היו כפויי טובה</a:t>
            </a:r>
            <a:endPar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pic>
        <p:nvPicPr>
          <p:cNvPr id="7" name="תמונה 6"/>
          <p:cNvPicPr>
            <a:picLocks noChangeAspect="1"/>
          </p:cNvPicPr>
          <p:nvPr/>
        </p:nvPicPr>
        <p:blipFill>
          <a:blip r:embed="rId3"/>
          <a:stretch>
            <a:fillRect/>
          </a:stretch>
        </p:blipFill>
        <p:spPr>
          <a:xfrm>
            <a:off x="354558" y="5207545"/>
            <a:ext cx="2857500" cy="1600200"/>
          </a:xfrm>
          <a:prstGeom prst="rect">
            <a:avLst/>
          </a:prstGeom>
        </p:spPr>
      </p:pic>
      <p:pic>
        <p:nvPicPr>
          <p:cNvPr id="8" name="תמונה 7"/>
          <p:cNvPicPr>
            <a:picLocks noChangeAspect="1"/>
          </p:cNvPicPr>
          <p:nvPr/>
        </p:nvPicPr>
        <p:blipFill>
          <a:blip r:embed="rId4"/>
          <a:stretch>
            <a:fillRect/>
          </a:stretch>
        </p:blipFill>
        <p:spPr>
          <a:xfrm>
            <a:off x="3212058" y="5207545"/>
            <a:ext cx="3431204" cy="1543268"/>
          </a:xfrm>
          <a:prstGeom prst="rect">
            <a:avLst/>
          </a:prstGeom>
        </p:spPr>
      </p:pic>
    </p:spTree>
    <p:extLst>
      <p:ext uri="{BB962C8B-B14F-4D97-AF65-F5344CB8AC3E}">
        <p14:creationId xmlns:p14="http://schemas.microsoft.com/office/powerpoint/2010/main" val="1066513015"/>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circle(in)">
                                      <p:cBhvr>
                                        <p:cTn id="14" dur="2000"/>
                                        <p:tgtEl>
                                          <p:spTgt spid="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circle(in)">
                                      <p:cBhvr>
                                        <p:cTn id="24" dur="20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2"/>
          <a:stretch>
            <a:fillRect/>
          </a:stretch>
        </p:blipFill>
        <p:spPr>
          <a:xfrm>
            <a:off x="5051390" y="0"/>
            <a:ext cx="6699331" cy="6700085"/>
          </a:xfrm>
          <a:prstGeom prst="rect">
            <a:avLst/>
          </a:prstGeom>
        </p:spPr>
      </p:pic>
    </p:spTree>
    <p:extLst>
      <p:ext uri="{BB962C8B-B14F-4D97-AF65-F5344CB8AC3E}">
        <p14:creationId xmlns:p14="http://schemas.microsoft.com/office/powerpoint/2010/main" val="1794551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163773" y="76268"/>
            <a:ext cx="6196083" cy="5016758"/>
          </a:xfrm>
          <a:prstGeom prst="rect">
            <a:avLst/>
          </a:prstGeom>
          <a:solidFill>
            <a:schemeClr val="accent6">
              <a:lumMod val="60000"/>
              <a:lumOff val="40000"/>
            </a:schemeClr>
          </a:solidFill>
          <a:ln w="28575">
            <a:solidFill>
              <a:schemeClr val="tx1"/>
            </a:solidFill>
          </a:ln>
        </p:spPr>
        <p:txBody>
          <a:bodyPr wrap="square" rtlCol="1">
            <a:spAutoFit/>
          </a:bodyPr>
          <a:lstStyle/>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יד': </a:t>
            </a:r>
            <a:r>
              <a:rPr lang="he-IL" sz="3200" dirty="0">
                <a:solidFill>
                  <a:prstClr val="black"/>
                </a:solidFill>
                <a:latin typeface="David" panose="020E0502060401010101" pitchFamily="34" charset="-79"/>
                <a:cs typeface="David" panose="020E0502060401010101" pitchFamily="34" charset="-79"/>
              </a:rPr>
              <a:t>ובני ישראל עבדו ושילמו מיסים לעגלון מלך מואב במשך 18 שנה</a:t>
            </a:r>
          </a:p>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טו': </a:t>
            </a:r>
            <a:r>
              <a:rPr lang="he-IL" sz="3200" b="1" dirty="0">
                <a:solidFill>
                  <a:prstClr val="black"/>
                </a:solidFill>
                <a:latin typeface="David" panose="020E0502060401010101" pitchFamily="34" charset="-79"/>
                <a:cs typeface="David" panose="020E0502060401010101" pitchFamily="34" charset="-79"/>
              </a:rPr>
              <a:t>בני ישראל זעקו אל הקב"ה </a:t>
            </a:r>
            <a:r>
              <a:rPr lang="he-IL" sz="3200" dirty="0">
                <a:solidFill>
                  <a:prstClr val="black"/>
                </a:solidFill>
                <a:latin typeface="David" panose="020E0502060401010101" pitchFamily="34" charset="-79"/>
                <a:cs typeface="David" panose="020E0502060401010101" pitchFamily="34" charset="-79"/>
              </a:rPr>
              <a:t>מקושי העבודה וה' שמע אותם והקים להם מושיע את </a:t>
            </a:r>
            <a:r>
              <a:rPr lang="he-IL" sz="3200" b="1" dirty="0">
                <a:solidFill>
                  <a:srgbClr val="C00000"/>
                </a:solidFill>
                <a:latin typeface="David" panose="020E0502060401010101" pitchFamily="34" charset="-79"/>
                <a:cs typeface="David" panose="020E0502060401010101" pitchFamily="34" charset="-79"/>
              </a:rPr>
              <a:t>אהוד הבן של גרא </a:t>
            </a:r>
            <a:r>
              <a:rPr lang="he-IL" sz="3200" dirty="0">
                <a:solidFill>
                  <a:prstClr val="black"/>
                </a:solidFill>
                <a:latin typeface="David" panose="020E0502060401010101" pitchFamily="34" charset="-79"/>
                <a:cs typeface="David" panose="020E0502060401010101" pitchFamily="34" charset="-79"/>
              </a:rPr>
              <a:t>משבט בנימין והוא היה "איטר יד ימין"</a:t>
            </a:r>
            <a:r>
              <a:rPr lang="he-IL" sz="2800" dirty="0">
                <a:solidFill>
                  <a:prstClr val="black"/>
                </a:solidFill>
                <a:latin typeface="David" panose="020E0502060401010101" pitchFamily="34" charset="-79"/>
                <a:cs typeface="David" panose="020E0502060401010101" pitchFamily="34" charset="-79"/>
              </a:rPr>
              <a:t> יד ימין שלו נפגעה ולא </a:t>
            </a:r>
            <a:r>
              <a:rPr lang="he-IL" sz="2800" dirty="0" err="1">
                <a:solidFill>
                  <a:prstClr val="black"/>
                </a:solidFill>
                <a:latin typeface="David" panose="020E0502060401010101" pitchFamily="34" charset="-79"/>
                <a:cs typeface="David" panose="020E0502060401010101" pitchFamily="34" charset="-79"/>
              </a:rPr>
              <a:t>יכל</a:t>
            </a:r>
            <a:r>
              <a:rPr lang="he-IL" sz="2800" dirty="0">
                <a:solidFill>
                  <a:prstClr val="black"/>
                </a:solidFill>
                <a:latin typeface="David" panose="020E0502060401010101" pitchFamily="34" charset="-79"/>
                <a:cs typeface="David" panose="020E0502060401010101" pitchFamily="34" charset="-79"/>
              </a:rPr>
              <a:t> להשתמש בה ולכן השתמש ביד שמאל, </a:t>
            </a:r>
            <a:r>
              <a:rPr lang="he-IL" sz="3200" dirty="0">
                <a:solidFill>
                  <a:prstClr val="black"/>
                </a:solidFill>
                <a:latin typeface="David" panose="020E0502060401010101" pitchFamily="34" charset="-79"/>
                <a:cs typeface="David" panose="020E0502060401010101" pitchFamily="34" charset="-79"/>
              </a:rPr>
              <a:t>בני ישראל החליטו לשלוח לעגלון מתנות והם שלחו אותם ע"י אהוד בן גרא.</a:t>
            </a:r>
            <a:endParaRPr lang="he-IL" sz="3200" dirty="0">
              <a:solidFill>
                <a:prstClr val="black"/>
              </a:solidFill>
              <a:latin typeface="David" panose="020E0502060401010101" pitchFamily="34" charset="-79"/>
              <a:cs typeface="David" panose="020E0502060401010101" pitchFamily="34" charset="-79"/>
            </a:endParaRPr>
          </a:p>
        </p:txBody>
      </p:sp>
      <p:sp>
        <p:nvSpPr>
          <p:cNvPr id="3" name="מלבן 2"/>
          <p:cNvSpPr/>
          <p:nvPr/>
        </p:nvSpPr>
        <p:spPr>
          <a:xfrm>
            <a:off x="6509982" y="18307"/>
            <a:ext cx="5509145" cy="3539430"/>
          </a:xfrm>
          <a:prstGeom prst="rect">
            <a:avLst/>
          </a:prstGeom>
          <a:solidFill>
            <a:schemeClr val="accent2">
              <a:lumMod val="40000"/>
              <a:lumOff val="60000"/>
            </a:schemeClr>
          </a:solidFill>
        </p:spPr>
        <p:txBody>
          <a:bodyPr wrap="square">
            <a:spAutoFit/>
          </a:bodyPr>
          <a:lstStyle/>
          <a:p>
            <a:r>
              <a:rPr lang="he-IL" sz="3200" b="1" dirty="0">
                <a:solidFill>
                  <a:prstClr val="black"/>
                </a:solidFill>
                <a:latin typeface="David" panose="020E0502060401010101" pitchFamily="34" charset="-79"/>
                <a:cs typeface="David" panose="020E0502060401010101" pitchFamily="34" charset="-79"/>
              </a:rPr>
              <a:t>יד</a:t>
            </a:r>
            <a:r>
              <a:rPr lang="he-IL" sz="3200" dirty="0">
                <a:solidFill>
                  <a:prstClr val="black"/>
                </a:solidFill>
                <a:latin typeface="David" panose="020E0502060401010101" pitchFamily="34" charset="-79"/>
                <a:cs typeface="David" panose="020E0502060401010101" pitchFamily="34" charset="-79"/>
              </a:rPr>
              <a:t> </a:t>
            </a:r>
            <a:r>
              <a:rPr lang="he-IL" sz="3200" b="1" dirty="0">
                <a:solidFill>
                  <a:prstClr val="black"/>
                </a:solidFill>
                <a:latin typeface="David" panose="020E0502060401010101" pitchFamily="34" charset="-79"/>
                <a:cs typeface="David" panose="020E0502060401010101" pitchFamily="34" charset="-79"/>
              </a:rPr>
              <a:t>וַיַּעַבְדוּ בְנֵי-יִשְׂרָאֵל אֶת-עֶגְלוֹן </a:t>
            </a:r>
            <a:r>
              <a:rPr lang="he-IL" sz="3200" dirty="0">
                <a:solidFill>
                  <a:prstClr val="black"/>
                </a:solidFill>
                <a:latin typeface="David" panose="020E0502060401010101" pitchFamily="34" charset="-79"/>
                <a:cs typeface="David" panose="020E0502060401010101" pitchFamily="34" charset="-79"/>
              </a:rPr>
              <a:t>מֶלֶךְ-מוֹאָב, שְׁמוֹנֶה עֶשְׂרֵה שָׁנָה.  </a:t>
            </a:r>
            <a:endParaRPr lang="he-IL" sz="3200" dirty="0" smtClean="0">
              <a:solidFill>
                <a:prstClr val="black"/>
              </a:solidFill>
              <a:latin typeface="David" panose="020E0502060401010101" pitchFamily="34" charset="-79"/>
              <a:cs typeface="David" panose="020E0502060401010101" pitchFamily="34" charset="-79"/>
            </a:endParaRPr>
          </a:p>
          <a:p>
            <a:r>
              <a:rPr lang="he-IL" sz="3200" b="1" dirty="0" smtClean="0">
                <a:solidFill>
                  <a:prstClr val="black"/>
                </a:solidFill>
                <a:latin typeface="David" panose="020E0502060401010101" pitchFamily="34" charset="-79"/>
                <a:cs typeface="David" panose="020E0502060401010101" pitchFamily="34" charset="-79"/>
              </a:rPr>
              <a:t>טו</a:t>
            </a:r>
            <a:r>
              <a:rPr lang="he-IL" sz="3200" dirty="0">
                <a:solidFill>
                  <a:prstClr val="black"/>
                </a:solidFill>
                <a:latin typeface="David" panose="020E0502060401010101" pitchFamily="34" charset="-79"/>
                <a:cs typeface="David" panose="020E0502060401010101" pitchFamily="34" charset="-79"/>
              </a:rPr>
              <a:t> </a:t>
            </a:r>
            <a:r>
              <a:rPr lang="he-IL" sz="3200" b="1" dirty="0">
                <a:solidFill>
                  <a:prstClr val="black"/>
                </a:solidFill>
                <a:latin typeface="David" panose="020E0502060401010101" pitchFamily="34" charset="-79"/>
                <a:cs typeface="David" panose="020E0502060401010101" pitchFamily="34" charset="-79"/>
              </a:rPr>
              <a:t>וַיִּזְעֲקוּ בְנֵי-יִשְׂרָאֵל</a:t>
            </a:r>
            <a:r>
              <a:rPr lang="he-IL" sz="3200" dirty="0">
                <a:solidFill>
                  <a:prstClr val="black"/>
                </a:solidFill>
                <a:latin typeface="David" panose="020E0502060401010101" pitchFamily="34" charset="-79"/>
                <a:cs typeface="David" panose="020E0502060401010101" pitchFamily="34" charset="-79"/>
              </a:rPr>
              <a:t>, אֶל-יְהוָה, </a:t>
            </a:r>
            <a:r>
              <a:rPr lang="he-IL" sz="3200" dirty="0" err="1">
                <a:solidFill>
                  <a:prstClr val="black"/>
                </a:solidFill>
                <a:latin typeface="David" panose="020E0502060401010101" pitchFamily="34" charset="-79"/>
                <a:cs typeface="David" panose="020E0502060401010101" pitchFamily="34" charset="-79"/>
              </a:rPr>
              <a:t>וַיָּקֶם</a:t>
            </a:r>
            <a:r>
              <a:rPr lang="he-IL" sz="3200" dirty="0">
                <a:solidFill>
                  <a:prstClr val="black"/>
                </a:solidFill>
                <a:latin typeface="David" panose="020E0502060401010101" pitchFamily="34" charset="-79"/>
                <a:cs typeface="David" panose="020E0502060401010101" pitchFamily="34" charset="-79"/>
              </a:rPr>
              <a:t> יְהוָה לָהֶם מוֹשִׁיעַ </a:t>
            </a:r>
            <a:r>
              <a:rPr lang="he-IL" sz="3200" dirty="0">
                <a:solidFill>
                  <a:prstClr val="black"/>
                </a:solidFill>
                <a:highlight>
                  <a:srgbClr val="FFFF00"/>
                </a:highlight>
                <a:latin typeface="David" panose="020E0502060401010101" pitchFamily="34" charset="-79"/>
                <a:cs typeface="David" panose="020E0502060401010101" pitchFamily="34" charset="-79"/>
              </a:rPr>
              <a:t>אֶת-אֵהוּד בֶּן-גֵּרָא בֶּן-הַיְמִינִי</a:t>
            </a:r>
            <a:r>
              <a:rPr lang="he-IL" sz="3200" dirty="0">
                <a:solidFill>
                  <a:prstClr val="black"/>
                </a:solidFill>
                <a:latin typeface="David" panose="020E0502060401010101" pitchFamily="34" charset="-79"/>
                <a:cs typeface="David" panose="020E0502060401010101" pitchFamily="34" charset="-79"/>
              </a:rPr>
              <a:t>, אִישׁ </a:t>
            </a:r>
            <a:r>
              <a:rPr lang="he-IL" sz="3200" b="1" dirty="0">
                <a:solidFill>
                  <a:prstClr val="black"/>
                </a:solidFill>
                <a:latin typeface="David" panose="020E0502060401010101" pitchFamily="34" charset="-79"/>
                <a:cs typeface="David" panose="020E0502060401010101" pitchFamily="34" charset="-79"/>
              </a:rPr>
              <a:t>אִטֵּר יַד-יְמִינוֹ</a:t>
            </a:r>
            <a:r>
              <a:rPr lang="he-IL" sz="3200" dirty="0">
                <a:solidFill>
                  <a:prstClr val="black"/>
                </a:solidFill>
                <a:latin typeface="David" panose="020E0502060401010101" pitchFamily="34" charset="-79"/>
                <a:cs typeface="David" panose="020E0502060401010101" pitchFamily="34" charset="-79"/>
              </a:rPr>
              <a:t>; וַיִּשְׁלְחוּ בְנֵי-יִשְׂרָאֵל בְּיָדוֹ מִנְחָה, לְעֶגְלוֹן מֶלֶךְ מוֹאָב</a:t>
            </a:r>
            <a:endParaRPr lang="he-IL" sz="1600" dirty="0"/>
          </a:p>
        </p:txBody>
      </p:sp>
      <p:sp>
        <p:nvSpPr>
          <p:cNvPr id="4" name="TextBox 3"/>
          <p:cNvSpPr txBox="1"/>
          <p:nvPr/>
        </p:nvSpPr>
        <p:spPr>
          <a:xfrm>
            <a:off x="6509982" y="3659873"/>
            <a:ext cx="5509145" cy="3139321"/>
          </a:xfrm>
          <a:prstGeom prst="rect">
            <a:avLst/>
          </a:prstGeom>
          <a:solidFill>
            <a:schemeClr val="accent2">
              <a:lumMod val="60000"/>
              <a:lumOff val="40000"/>
            </a:schemeClr>
          </a:solidFill>
          <a:ln w="28575">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עם ישראל היו מעלים כל שנה מיסים</a:t>
            </a:r>
            <a:r>
              <a:rPr kumimoji="0" lang="he-IL" sz="28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לעגלון מלך מואב, לוקחים כמה אנשים, ונותנים בידם כסף, אבנים טובות, ומתנות. האנשים היו מרימים וחוצים את הירדן ומביאים לעגלון מלך מואב. והפעם החליט אהוד בן גרא להיות בראש המשלחת</a:t>
            </a:r>
            <a:r>
              <a:rPr kumimoji="0" lang="he-IL" sz="30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a:t>
            </a:r>
            <a:endParaRPr kumimoji="0" lang="he-IL" sz="3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pic>
        <p:nvPicPr>
          <p:cNvPr id="5" name="תמונה 4"/>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100582" y="4434195"/>
            <a:ext cx="2867025" cy="1590675"/>
          </a:xfrm>
          <a:prstGeom prst="rect">
            <a:avLst/>
          </a:prstGeom>
        </p:spPr>
      </p:pic>
      <p:pic>
        <p:nvPicPr>
          <p:cNvPr id="6" name="תמונה 5"/>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1861961" y="4762680"/>
            <a:ext cx="3624510" cy="2036514"/>
          </a:xfrm>
          <a:prstGeom prst="rect">
            <a:avLst/>
          </a:prstGeom>
        </p:spPr>
      </p:pic>
    </p:spTree>
    <p:extLst>
      <p:ext uri="{BB962C8B-B14F-4D97-AF65-F5344CB8AC3E}">
        <p14:creationId xmlns:p14="http://schemas.microsoft.com/office/powerpoint/2010/main" val="2821009524"/>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arn(inVertical)">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circle(in)">
                                      <p:cBhvr>
                                        <p:cTn id="26" dur="20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220964" y="117693"/>
            <a:ext cx="5459104" cy="6494085"/>
          </a:xfrm>
          <a:prstGeom prst="rect">
            <a:avLst/>
          </a:prstGeom>
          <a:solidFill>
            <a:schemeClr val="accent6">
              <a:lumMod val="60000"/>
              <a:lumOff val="40000"/>
            </a:schemeClr>
          </a:solidFill>
          <a:ln w="28575">
            <a:solidFill>
              <a:schemeClr val="tx1"/>
            </a:solidFill>
          </a:ln>
        </p:spPr>
        <p:txBody>
          <a:bodyPr wrap="square" rtlCol="1">
            <a:spAutoFit/>
          </a:bodyPr>
          <a:lstStyle/>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a:t>
            </a:r>
            <a:r>
              <a:rPr lang="he-IL" sz="3200" b="1" u="sng" dirty="0" err="1">
                <a:solidFill>
                  <a:prstClr val="black"/>
                </a:solidFill>
                <a:latin typeface="David" panose="020E0502060401010101" pitchFamily="34" charset="-79"/>
                <a:cs typeface="David" panose="020E0502060401010101" pitchFamily="34" charset="-79"/>
              </a:rPr>
              <a:t>טז</a:t>
            </a:r>
            <a:r>
              <a:rPr lang="he-IL" sz="3200" b="1" u="sng" dirty="0">
                <a:solidFill>
                  <a:prstClr val="black"/>
                </a:solidFill>
                <a:latin typeface="David" panose="020E0502060401010101" pitchFamily="34" charset="-79"/>
                <a:cs typeface="David" panose="020E0502060401010101" pitchFamily="34" charset="-79"/>
              </a:rPr>
              <a:t>': </a:t>
            </a:r>
            <a:r>
              <a:rPr lang="he-IL" sz="3200" dirty="0">
                <a:solidFill>
                  <a:prstClr val="black"/>
                </a:solidFill>
                <a:latin typeface="David" panose="020E0502060401010101" pitchFamily="34" charset="-79"/>
                <a:cs typeface="David" panose="020E0502060401010101" pitchFamily="34" charset="-79"/>
              </a:rPr>
              <a:t>כהכנה למפגש אהוד הכין חרב שהייתה </a:t>
            </a:r>
            <a:r>
              <a:rPr lang="he-IL" sz="3200" b="1" dirty="0">
                <a:solidFill>
                  <a:prstClr val="black"/>
                </a:solidFill>
                <a:latin typeface="David" panose="020E0502060401010101" pitchFamily="34" charset="-79"/>
                <a:cs typeface="David" panose="020E0502060401010101" pitchFamily="34" charset="-79"/>
              </a:rPr>
              <a:t>מושחזת משני צדדיה </a:t>
            </a:r>
            <a:r>
              <a:rPr lang="he-IL" sz="3200" dirty="0">
                <a:solidFill>
                  <a:prstClr val="black"/>
                </a:solidFill>
                <a:latin typeface="David" panose="020E0502060401010101" pitchFamily="34" charset="-79"/>
                <a:cs typeface="David" panose="020E0502060401010101" pitchFamily="34" charset="-79"/>
              </a:rPr>
              <a:t>שני פיות </a:t>
            </a:r>
            <a:r>
              <a:rPr lang="he-IL" sz="3200" b="1" dirty="0">
                <a:solidFill>
                  <a:prstClr val="black"/>
                </a:solidFill>
                <a:latin typeface="David" panose="020E0502060401010101" pitchFamily="34" charset="-79"/>
                <a:cs typeface="David" panose="020E0502060401010101" pitchFamily="34" charset="-79"/>
              </a:rPr>
              <a:t>והייתה בגודל של אמה </a:t>
            </a:r>
            <a:r>
              <a:rPr lang="he-IL" sz="2800" b="1" dirty="0" smtClean="0">
                <a:solidFill>
                  <a:prstClr val="black"/>
                </a:solidFill>
                <a:latin typeface="David" panose="020E0502060401010101" pitchFamily="34" charset="-79"/>
                <a:cs typeface="David" panose="020E0502060401010101" pitchFamily="34" charset="-79"/>
              </a:rPr>
              <a:t>(</a:t>
            </a:r>
            <a:r>
              <a:rPr lang="he-IL" sz="2800" dirty="0" smtClean="0">
                <a:solidFill>
                  <a:prstClr val="black"/>
                </a:solidFill>
                <a:latin typeface="David" panose="020E0502060401010101" pitchFamily="34" charset="-79"/>
                <a:cs typeface="David" panose="020E0502060401010101" pitchFamily="34" charset="-79"/>
              </a:rPr>
              <a:t>קצרה </a:t>
            </a:r>
            <a:r>
              <a:rPr lang="he-IL" sz="2800" dirty="0">
                <a:solidFill>
                  <a:prstClr val="black"/>
                </a:solidFill>
                <a:latin typeface="David" panose="020E0502060401010101" pitchFamily="34" charset="-79"/>
                <a:cs typeface="David" panose="020E0502060401010101" pitchFamily="34" charset="-79"/>
              </a:rPr>
              <a:t>40 </a:t>
            </a:r>
            <a:r>
              <a:rPr lang="he-IL" sz="2800" dirty="0" smtClean="0">
                <a:solidFill>
                  <a:prstClr val="black"/>
                </a:solidFill>
                <a:latin typeface="David" panose="020E0502060401010101" pitchFamily="34" charset="-79"/>
                <a:cs typeface="David" panose="020E0502060401010101" pitchFamily="34" charset="-79"/>
              </a:rPr>
              <a:t>ס"מ) </a:t>
            </a:r>
            <a:r>
              <a:rPr lang="he-IL" sz="3200" dirty="0">
                <a:solidFill>
                  <a:prstClr val="black"/>
                </a:solidFill>
                <a:latin typeface="David" panose="020E0502060401010101" pitchFamily="34" charset="-79"/>
                <a:cs typeface="David" panose="020E0502060401010101" pitchFamily="34" charset="-79"/>
              </a:rPr>
              <a:t>וחגר אותה מתחת למדים שלו על ירך ימין </a:t>
            </a:r>
            <a:r>
              <a:rPr lang="he-IL" sz="2800" dirty="0" smtClean="0">
                <a:solidFill>
                  <a:prstClr val="black"/>
                </a:solidFill>
                <a:latin typeface="David" panose="020E0502060401010101" pitchFamily="34" charset="-79"/>
                <a:cs typeface="David" panose="020E0502060401010101" pitchFamily="34" charset="-79"/>
              </a:rPr>
              <a:t>(שיוכל </a:t>
            </a:r>
            <a:r>
              <a:rPr lang="he-IL" sz="2800" dirty="0">
                <a:solidFill>
                  <a:prstClr val="black"/>
                </a:solidFill>
                <a:latin typeface="David" panose="020E0502060401010101" pitchFamily="34" charset="-79"/>
                <a:cs typeface="David" panose="020E0502060401010101" pitchFamily="34" charset="-79"/>
              </a:rPr>
              <a:t>לשלוף אותה בקלות ביד </a:t>
            </a:r>
            <a:r>
              <a:rPr lang="he-IL" sz="2800" dirty="0" smtClean="0">
                <a:solidFill>
                  <a:prstClr val="black"/>
                </a:solidFill>
                <a:latin typeface="David" panose="020E0502060401010101" pitchFamily="34" charset="-79"/>
                <a:cs typeface="David" panose="020E0502060401010101" pitchFamily="34" charset="-79"/>
              </a:rPr>
              <a:t>שמאל).</a:t>
            </a:r>
            <a:endParaRPr lang="he-IL" sz="3200" dirty="0">
              <a:solidFill>
                <a:prstClr val="black"/>
              </a:solidFill>
              <a:latin typeface="David" panose="020E0502060401010101" pitchFamily="34" charset="-79"/>
              <a:cs typeface="David" panose="020E0502060401010101" pitchFamily="34" charset="-79"/>
            </a:endParaRPr>
          </a:p>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a:t>
            </a:r>
            <a:r>
              <a:rPr lang="he-IL" sz="3200" b="1" u="sng" dirty="0" err="1">
                <a:solidFill>
                  <a:prstClr val="black"/>
                </a:solidFill>
                <a:latin typeface="David" panose="020E0502060401010101" pitchFamily="34" charset="-79"/>
                <a:cs typeface="David" panose="020E0502060401010101" pitchFamily="34" charset="-79"/>
              </a:rPr>
              <a:t>יז</a:t>
            </a:r>
            <a:r>
              <a:rPr lang="he-IL" sz="3200" b="1" u="sng" dirty="0">
                <a:solidFill>
                  <a:prstClr val="black"/>
                </a:solidFill>
                <a:latin typeface="David" panose="020E0502060401010101" pitchFamily="34" charset="-79"/>
                <a:cs typeface="David" panose="020E0502060401010101" pitchFamily="34" charset="-79"/>
              </a:rPr>
              <a:t>': </a:t>
            </a:r>
            <a:r>
              <a:rPr lang="he-IL" sz="3200" dirty="0">
                <a:solidFill>
                  <a:prstClr val="black"/>
                </a:solidFill>
                <a:latin typeface="David" panose="020E0502060401010101" pitchFamily="34" charset="-79"/>
                <a:cs typeface="David" panose="020E0502060401010101" pitchFamily="34" charset="-79"/>
              </a:rPr>
              <a:t>אהוד הביא את המתנות וקירב אותם אל עגלון, ועגלון היה איש בריא </a:t>
            </a:r>
            <a:r>
              <a:rPr lang="he-IL" sz="3200" dirty="0" smtClean="0">
                <a:solidFill>
                  <a:prstClr val="black"/>
                </a:solidFill>
                <a:latin typeface="David" panose="020E0502060401010101" pitchFamily="34" charset="-79"/>
                <a:cs typeface="David" panose="020E0502060401010101" pitchFamily="34" charset="-79"/>
              </a:rPr>
              <a:t>(שמן מאד).</a:t>
            </a:r>
          </a:p>
          <a:p>
            <a:pPr lvl="0"/>
            <a:r>
              <a:rPr lang="he-IL" sz="3200" b="1" u="sng" dirty="0" err="1" smtClean="0">
                <a:solidFill>
                  <a:prstClr val="black"/>
                </a:solidFill>
                <a:latin typeface="David" panose="020E0502060401010101" pitchFamily="34" charset="-79"/>
                <a:cs typeface="David" panose="020E0502060401010101" pitchFamily="34" charset="-79"/>
              </a:rPr>
              <a:t>פ"ס</a:t>
            </a:r>
            <a:r>
              <a:rPr lang="he-IL" sz="3200" b="1" u="sng" dirty="0" smtClean="0">
                <a:solidFill>
                  <a:prstClr val="black"/>
                </a:solidFill>
                <a:latin typeface="David" panose="020E0502060401010101" pitchFamily="34" charset="-79"/>
                <a:cs typeface="David" panose="020E0502060401010101" pitchFamily="34" charset="-79"/>
              </a:rPr>
              <a:t> </a:t>
            </a:r>
            <a:r>
              <a:rPr lang="he-IL" sz="3200" b="1" u="sng" dirty="0" err="1">
                <a:solidFill>
                  <a:prstClr val="black"/>
                </a:solidFill>
                <a:latin typeface="David" panose="020E0502060401010101" pitchFamily="34" charset="-79"/>
                <a:cs typeface="David" panose="020E0502060401010101" pitchFamily="34" charset="-79"/>
              </a:rPr>
              <a:t>יח</a:t>
            </a:r>
            <a:r>
              <a:rPr lang="he-IL" sz="3200" b="1" u="sng" dirty="0">
                <a:solidFill>
                  <a:prstClr val="black"/>
                </a:solidFill>
                <a:latin typeface="David" panose="020E0502060401010101" pitchFamily="34" charset="-79"/>
                <a:cs typeface="David" panose="020E0502060401010101" pitchFamily="34" charset="-79"/>
              </a:rPr>
              <a:t>': </a:t>
            </a:r>
            <a:r>
              <a:rPr lang="he-IL" sz="3200" dirty="0">
                <a:solidFill>
                  <a:prstClr val="black"/>
                </a:solidFill>
                <a:latin typeface="David" panose="020E0502060401010101" pitchFamily="34" charset="-79"/>
                <a:cs typeface="David" panose="020E0502060401010101" pitchFamily="34" charset="-79"/>
              </a:rPr>
              <a:t>לאחר שסיים אהוד לתת את המנחה לעגלון, ליווה אהוד את האנשים שבאו </a:t>
            </a:r>
            <a:r>
              <a:rPr lang="he-IL" sz="3200" dirty="0" err="1">
                <a:solidFill>
                  <a:prstClr val="black"/>
                </a:solidFill>
                <a:latin typeface="David" panose="020E0502060401010101" pitchFamily="34" charset="-79"/>
                <a:cs typeface="David" panose="020E0502060401010101" pitchFamily="34" charset="-79"/>
              </a:rPr>
              <a:t>איתו</a:t>
            </a:r>
            <a:r>
              <a:rPr lang="he-IL" sz="3200" dirty="0">
                <a:solidFill>
                  <a:prstClr val="black"/>
                </a:solidFill>
                <a:latin typeface="David" panose="020E0502060401010101" pitchFamily="34" charset="-79"/>
                <a:cs typeface="David" panose="020E0502060401010101" pitchFamily="34" charset="-79"/>
              </a:rPr>
              <a:t> החוצה ליווה אותם עד הגלגל, </a:t>
            </a:r>
            <a:endParaRPr lang="he-IL" sz="3200" dirty="0">
              <a:solidFill>
                <a:prstClr val="black"/>
              </a:solidFill>
              <a:latin typeface="David" panose="020E0502060401010101" pitchFamily="34" charset="-79"/>
              <a:cs typeface="David" panose="020E0502060401010101" pitchFamily="34" charset="-79"/>
            </a:endParaRPr>
          </a:p>
        </p:txBody>
      </p:sp>
      <p:sp>
        <p:nvSpPr>
          <p:cNvPr id="3" name="TextBox 2">
            <a:extLst>
              <a:ext uri="{FF2B5EF4-FFF2-40B4-BE49-F238E27FC236}">
                <a16:creationId xmlns:a16="http://schemas.microsoft.com/office/drawing/2014/main" id="{9EA6D9AD-3410-45E0-A2FE-FA41BC9DB476}"/>
              </a:ext>
            </a:extLst>
          </p:cNvPr>
          <p:cNvSpPr txBox="1"/>
          <p:nvPr/>
        </p:nvSpPr>
        <p:spPr>
          <a:xfrm>
            <a:off x="5841241" y="117693"/>
            <a:ext cx="6113691" cy="3539430"/>
          </a:xfrm>
          <a:prstGeom prst="rect">
            <a:avLst/>
          </a:prstGeom>
          <a:blipFill>
            <a:blip r:embed="rId3"/>
            <a:tile tx="0" ty="0" sx="100000" sy="100000" flip="none" algn="tl"/>
          </a:blip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טז</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וַיַּעַשׂ לוֹ אֵהוּד חֶרֶב, </a:t>
            </a:r>
            <a:r>
              <a:rPr kumimoji="0" lang="he-IL" sz="32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וְלָהּ שְׁנֵי פֵיוֹת--גֹּמֶד אָרְכָּה</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32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וַיַּחְגֹּר</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אוֹתָהּ מִתַּחַת לְמַדָּיו, עַל יֶרֶךְ יְמִינוֹ.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יז</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וַיַּקְרֵב, אֶת-הַמִּנְחָה, לְעֶגְלוֹן, מֶלֶךְ מוֹאָב; וְעֶגְלוֹן, </a:t>
            </a:r>
            <a:r>
              <a:rPr kumimoji="0" lang="he-IL" sz="32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אִישׁ בָּרִיא מְאֹד</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יח</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וַיְהִי כַּאֲשֶׁר כִּלָּה, לְהַקְרִיב אֶת-הַמִּנְחָה; וַיְשַׁלַּח, אֶת-הָעָם, נֹשְׂאֵי, הַמִּנְחָה. </a:t>
            </a:r>
            <a:endPar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pic>
        <p:nvPicPr>
          <p:cNvPr id="4" name="תמונה 3"/>
          <p:cNvPicPr>
            <a:picLocks noChangeAspect="1"/>
          </p:cNvPicPr>
          <p:nvPr/>
        </p:nvPicPr>
        <p:blipFill>
          <a:blip r:embed="rId4"/>
          <a:stretch>
            <a:fillRect/>
          </a:stretch>
        </p:blipFill>
        <p:spPr>
          <a:xfrm rot="5400000">
            <a:off x="6272841" y="3497882"/>
            <a:ext cx="1731414" cy="2568677"/>
          </a:xfrm>
          <a:prstGeom prst="rect">
            <a:avLst/>
          </a:prstGeom>
        </p:spPr>
      </p:pic>
      <p:pic>
        <p:nvPicPr>
          <p:cNvPr id="5" name="תמונה 4"/>
          <p:cNvPicPr>
            <a:picLocks noChangeAspect="1"/>
          </p:cNvPicPr>
          <p:nvPr/>
        </p:nvPicPr>
        <p:blipFill>
          <a:blip r:embed="rId5"/>
          <a:stretch>
            <a:fillRect/>
          </a:stretch>
        </p:blipFill>
        <p:spPr>
          <a:xfrm>
            <a:off x="8597028" y="4234836"/>
            <a:ext cx="3357902" cy="2376942"/>
          </a:xfrm>
          <a:prstGeom prst="rect">
            <a:avLst/>
          </a:prstGeom>
        </p:spPr>
      </p:pic>
      <p:cxnSp>
        <p:nvCxnSpPr>
          <p:cNvPr id="7" name="מחבר חץ ישר 6"/>
          <p:cNvCxnSpPr/>
          <p:nvPr/>
        </p:nvCxnSpPr>
        <p:spPr>
          <a:xfrm>
            <a:off x="3280229" y="1016000"/>
            <a:ext cx="6720114" cy="393337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9" name="תמונה 8"/>
          <p:cNvPicPr>
            <a:picLocks noChangeAspect="1"/>
          </p:cNvPicPr>
          <p:nvPr/>
        </p:nvPicPr>
        <p:blipFill>
          <a:blip r:embed="rId6"/>
          <a:stretch>
            <a:fillRect/>
          </a:stretch>
        </p:blipFill>
        <p:spPr>
          <a:xfrm>
            <a:off x="442158" y="3693832"/>
            <a:ext cx="4932032" cy="3056984"/>
          </a:xfrm>
          <a:prstGeom prst="rect">
            <a:avLst/>
          </a:prstGeom>
        </p:spPr>
      </p:pic>
    </p:spTree>
    <p:extLst>
      <p:ext uri="{BB962C8B-B14F-4D97-AF65-F5344CB8AC3E}">
        <p14:creationId xmlns:p14="http://schemas.microsoft.com/office/powerpoint/2010/main" val="1041280823"/>
      </p:ext>
    </p:extLst>
  </p:cSld>
  <p:clrMapOvr>
    <a:masterClrMapping/>
  </p:clrMapOvr>
  <mc:AlternateContent xmlns:mc="http://schemas.openxmlformats.org/markup-compatibility/2006">
    <mc:Choice xmlns:p14="http://schemas.microsoft.com/office/powerpoint/2010/main" Requires="p14">
      <p:transition spd="slow" p14:dur="1600">
        <p14:prism dir="r"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circle(in)">
                                      <p:cBhvr>
                                        <p:cTn id="24" dur="20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2">
                                            <p:txEl>
                                              <p:pRg st="1" end="1"/>
                                            </p:txEl>
                                          </p:spTgt>
                                        </p:tgtEl>
                                        <p:attrNameLst>
                                          <p:attrName>style.visibility</p:attrName>
                                        </p:attrNameLst>
                                      </p:cBhvr>
                                      <p:to>
                                        <p:strVal val="visible"/>
                                      </p:to>
                                    </p:set>
                                    <p:animEffect transition="in" filter="barn(inVertical)">
                                      <p:cBhvr>
                                        <p:cTn id="29" dur="500"/>
                                        <p:tgtEl>
                                          <p:spTgt spid="2">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
                                            <p:txEl>
                                              <p:pRg st="2" end="2"/>
                                            </p:txEl>
                                          </p:spTgt>
                                        </p:tgtEl>
                                        <p:attrNameLst>
                                          <p:attrName>style.visibility</p:attrName>
                                        </p:attrNameLst>
                                      </p:cBhvr>
                                      <p:to>
                                        <p:strVal val="visible"/>
                                      </p:to>
                                    </p:set>
                                    <p:animEffect transition="in" filter="fade">
                                      <p:cBhvr>
                                        <p:cTn id="34" dur="1000"/>
                                        <p:tgtEl>
                                          <p:spTgt spid="2">
                                            <p:txEl>
                                              <p:pRg st="2" end="2"/>
                                            </p:txEl>
                                          </p:spTgt>
                                        </p:tgtEl>
                                      </p:cBhvr>
                                    </p:animEffect>
                                    <p:anim calcmode="lin" valueType="num">
                                      <p:cBhvr>
                                        <p:cTn id="3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1000"/>
                                        <p:tgtEl>
                                          <p:spTgt spid="9"/>
                                        </p:tgtEl>
                                      </p:cBhvr>
                                    </p:animEffect>
                                    <p:anim calcmode="lin" valueType="num">
                                      <p:cBhvr>
                                        <p:cTn id="42" dur="1000" fill="hold"/>
                                        <p:tgtEl>
                                          <p:spTgt spid="9"/>
                                        </p:tgtEl>
                                        <p:attrNameLst>
                                          <p:attrName>ppt_x</p:attrName>
                                        </p:attrNameLst>
                                      </p:cBhvr>
                                      <p:tavLst>
                                        <p:tav tm="0">
                                          <p:val>
                                            <p:strVal val="#ppt_x"/>
                                          </p:val>
                                        </p:tav>
                                        <p:tav tm="100000">
                                          <p:val>
                                            <p:strVal val="#ppt_x"/>
                                          </p:val>
                                        </p:tav>
                                      </p:tavLst>
                                    </p:anim>
                                    <p:anim calcmode="lin" valueType="num">
                                      <p:cBhvr>
                                        <p:cTn id="4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136477" y="232012"/>
            <a:ext cx="5977719" cy="6432530"/>
          </a:xfrm>
          <a:prstGeom prst="rect">
            <a:avLst/>
          </a:prstGeom>
          <a:solidFill>
            <a:schemeClr val="accent4">
              <a:lumMod val="60000"/>
              <a:lumOff val="40000"/>
            </a:schemeClr>
          </a:solidFill>
          <a:ln w="28575">
            <a:solidFill>
              <a:schemeClr val="tx1"/>
            </a:solidFill>
          </a:ln>
        </p:spPr>
        <p:txBody>
          <a:bodyPr wrap="square" rtlCol="1">
            <a:spAutoFit/>
          </a:bodyPr>
          <a:lstStyle/>
          <a:p>
            <a:pPr lvl="0"/>
            <a:r>
              <a:rPr lang="he-IL" sz="2800" b="1" u="sng" dirty="0" err="1">
                <a:solidFill>
                  <a:prstClr val="black"/>
                </a:solidFill>
                <a:latin typeface="David" panose="020E0502060401010101" pitchFamily="34" charset="-79"/>
                <a:cs typeface="David" panose="020E0502060401010101" pitchFamily="34" charset="-79"/>
              </a:rPr>
              <a:t>פ"ס</a:t>
            </a:r>
            <a:r>
              <a:rPr lang="he-IL" sz="2800" b="1" u="sng" dirty="0">
                <a:solidFill>
                  <a:prstClr val="black"/>
                </a:solidFill>
                <a:latin typeface="David" panose="020E0502060401010101" pitchFamily="34" charset="-79"/>
                <a:cs typeface="David" panose="020E0502060401010101" pitchFamily="34" charset="-79"/>
              </a:rPr>
              <a:t> </a:t>
            </a:r>
            <a:r>
              <a:rPr lang="he-IL" sz="2800" b="1" u="sng" dirty="0" err="1">
                <a:solidFill>
                  <a:prstClr val="black"/>
                </a:solidFill>
                <a:latin typeface="David" panose="020E0502060401010101" pitchFamily="34" charset="-79"/>
                <a:cs typeface="David" panose="020E0502060401010101" pitchFamily="34" charset="-79"/>
              </a:rPr>
              <a:t>יט</a:t>
            </a:r>
            <a:r>
              <a:rPr lang="he-IL" sz="2800" b="1" u="sng" dirty="0">
                <a:solidFill>
                  <a:prstClr val="black"/>
                </a:solidFill>
                <a:latin typeface="David" panose="020E0502060401010101" pitchFamily="34" charset="-79"/>
                <a:cs typeface="David" panose="020E0502060401010101" pitchFamily="34" charset="-79"/>
              </a:rPr>
              <a:t>': </a:t>
            </a:r>
            <a:r>
              <a:rPr lang="he-IL" sz="2800" dirty="0">
                <a:solidFill>
                  <a:prstClr val="black"/>
                </a:solidFill>
                <a:latin typeface="David" panose="020E0502060401010101" pitchFamily="34" charset="-79"/>
                <a:cs typeface="David" panose="020E0502060401010101" pitchFamily="34" charset="-79"/>
              </a:rPr>
              <a:t>אחר שנתן אהוד את המנחה לעגלון לא רצה להורגו מיד בעוד שנושאי המנחה נמצאים במקום, </a:t>
            </a:r>
            <a:r>
              <a:rPr lang="he-IL" sz="2400" dirty="0" smtClean="0">
                <a:solidFill>
                  <a:prstClr val="black"/>
                </a:solidFill>
                <a:latin typeface="David" panose="020E0502060401010101" pitchFamily="34" charset="-79"/>
                <a:cs typeface="David" panose="020E0502060401010101" pitchFamily="34" charset="-79"/>
              </a:rPr>
              <a:t>(כי </a:t>
            </a:r>
            <a:r>
              <a:rPr lang="he-IL" sz="2400" dirty="0">
                <a:solidFill>
                  <a:prstClr val="black"/>
                </a:solidFill>
                <a:latin typeface="David" panose="020E0502060401010101" pitchFamily="34" charset="-79"/>
                <a:cs typeface="David" panose="020E0502060401010101" pitchFamily="34" charset="-79"/>
              </a:rPr>
              <a:t>הם לא יספיקו  לברוח לאחר שיהרוג את עגלון ועלולים להיתפס לכן קודם ליווה אותם </a:t>
            </a:r>
            <a:r>
              <a:rPr lang="he-IL" sz="2400" dirty="0" smtClean="0">
                <a:solidFill>
                  <a:prstClr val="black"/>
                </a:solidFill>
                <a:latin typeface="David" panose="020E0502060401010101" pitchFamily="34" charset="-79"/>
                <a:cs typeface="David" panose="020E0502060401010101" pitchFamily="34" charset="-79"/>
              </a:rPr>
              <a:t>)  </a:t>
            </a:r>
            <a:r>
              <a:rPr lang="he-IL" sz="2800" dirty="0" smtClean="0">
                <a:solidFill>
                  <a:prstClr val="black"/>
                </a:solidFill>
                <a:latin typeface="David" panose="020E0502060401010101" pitchFamily="34" charset="-79"/>
                <a:cs typeface="David" panose="020E0502060401010101" pitchFamily="34" charset="-79"/>
              </a:rPr>
              <a:t>אז </a:t>
            </a:r>
            <a:r>
              <a:rPr lang="he-IL" sz="2800" dirty="0">
                <a:solidFill>
                  <a:prstClr val="black"/>
                </a:solidFill>
                <a:latin typeface="David" panose="020E0502060401010101" pitchFamily="34" charset="-79"/>
                <a:cs typeface="David" panose="020E0502060401010101" pitchFamily="34" charset="-79"/>
              </a:rPr>
              <a:t>הלך למחצבה ששם חוצבים </a:t>
            </a:r>
            <a:r>
              <a:rPr lang="he-IL" sz="2800" dirty="0" smtClean="0">
                <a:solidFill>
                  <a:prstClr val="black"/>
                </a:solidFill>
                <a:latin typeface="David" panose="020E0502060401010101" pitchFamily="34" charset="-79"/>
                <a:cs typeface="David" panose="020E0502060401010101" pitchFamily="34" charset="-79"/>
              </a:rPr>
              <a:t>פסלים, ליד הגלגל </a:t>
            </a:r>
            <a:r>
              <a:rPr lang="he-IL" sz="2800" dirty="0">
                <a:solidFill>
                  <a:prstClr val="black"/>
                </a:solidFill>
                <a:latin typeface="David" panose="020E0502060401010101" pitchFamily="34" charset="-79"/>
                <a:cs typeface="David" panose="020E0502060401010101" pitchFamily="34" charset="-79"/>
              </a:rPr>
              <a:t>ואז חזר לבית עגלון, </a:t>
            </a:r>
            <a:r>
              <a:rPr lang="he-IL" sz="2800" b="1" dirty="0">
                <a:solidFill>
                  <a:prstClr val="black"/>
                </a:solidFill>
                <a:latin typeface="David" panose="020E0502060401010101" pitchFamily="34" charset="-79"/>
                <a:cs typeface="David" panose="020E0502060401010101" pitchFamily="34" charset="-79"/>
              </a:rPr>
              <a:t>ואמר אהוד לעגלון- </a:t>
            </a:r>
            <a:r>
              <a:rPr lang="he-IL" sz="2800" dirty="0">
                <a:solidFill>
                  <a:prstClr val="black"/>
                </a:solidFill>
                <a:latin typeface="David" panose="020E0502060401010101" pitchFamily="34" charset="-79"/>
                <a:cs typeface="David" panose="020E0502060401010101" pitchFamily="34" charset="-79"/>
              </a:rPr>
              <a:t>יש לי דבר סודי להגיד לך  . אמר לו </a:t>
            </a:r>
            <a:r>
              <a:rPr lang="he-IL" sz="2800" dirty="0" smtClean="0">
                <a:solidFill>
                  <a:prstClr val="black"/>
                </a:solidFill>
                <a:latin typeface="David" panose="020E0502060401010101" pitchFamily="34" charset="-79"/>
                <a:cs typeface="David" panose="020E0502060401010101" pitchFamily="34" charset="-79"/>
              </a:rPr>
              <a:t>עגלון שקט, </a:t>
            </a:r>
            <a:r>
              <a:rPr lang="he-IL" sz="2800" dirty="0">
                <a:solidFill>
                  <a:prstClr val="black"/>
                </a:solidFill>
                <a:latin typeface="David" panose="020E0502060401010101" pitchFamily="34" charset="-79"/>
                <a:cs typeface="David" panose="020E0502060401010101" pitchFamily="34" charset="-79"/>
              </a:rPr>
              <a:t>אל תדבר בפני האנשים עד שיצאו כולם. וכך יצאו כולם.</a:t>
            </a:r>
          </a:p>
          <a:p>
            <a:pPr lvl="0"/>
            <a:r>
              <a:rPr lang="he-IL" sz="2800" b="1" u="sng" dirty="0" err="1">
                <a:solidFill>
                  <a:prstClr val="black"/>
                </a:solidFill>
                <a:latin typeface="David" panose="020E0502060401010101" pitchFamily="34" charset="-79"/>
                <a:cs typeface="David" panose="020E0502060401010101" pitchFamily="34" charset="-79"/>
              </a:rPr>
              <a:t>פ"ס</a:t>
            </a:r>
            <a:r>
              <a:rPr lang="he-IL" sz="2800" b="1" u="sng" dirty="0">
                <a:solidFill>
                  <a:prstClr val="black"/>
                </a:solidFill>
                <a:latin typeface="David" panose="020E0502060401010101" pitchFamily="34" charset="-79"/>
                <a:cs typeface="David" panose="020E0502060401010101" pitchFamily="34" charset="-79"/>
              </a:rPr>
              <a:t> כ': </a:t>
            </a:r>
            <a:r>
              <a:rPr lang="he-IL" sz="2800" dirty="0">
                <a:solidFill>
                  <a:prstClr val="black"/>
                </a:solidFill>
                <a:latin typeface="David" panose="020E0502060401010101" pitchFamily="34" charset="-79"/>
                <a:cs typeface="David" panose="020E0502060401010101" pitchFamily="34" charset="-79"/>
              </a:rPr>
              <a:t>אהוד בא אל עגלון ובאותו זמן עגלון ישב בקומה העליונה שבה היה מתקרר מפני החום, והוא היה לבד- אמר לו אהוד </a:t>
            </a:r>
            <a:r>
              <a:rPr lang="he-IL" sz="2800" b="1" dirty="0">
                <a:solidFill>
                  <a:prstClr val="black"/>
                </a:solidFill>
                <a:latin typeface="David" panose="020E0502060401010101" pitchFamily="34" charset="-79"/>
                <a:cs typeface="David" panose="020E0502060401010101" pitchFamily="34" charset="-79"/>
              </a:rPr>
              <a:t>" דבר אלוקים לי אליך" </a:t>
            </a:r>
            <a:r>
              <a:rPr lang="he-IL" sz="2800" dirty="0">
                <a:solidFill>
                  <a:prstClr val="black"/>
                </a:solidFill>
                <a:latin typeface="David" panose="020E0502060401010101" pitchFamily="34" charset="-79"/>
                <a:cs typeface="David" panose="020E0502060401010101" pitchFamily="34" charset="-79"/>
              </a:rPr>
              <a:t>רק שמע זאת עגלון קם מעל </a:t>
            </a:r>
            <a:r>
              <a:rPr lang="he-IL" sz="2800" dirty="0" err="1">
                <a:solidFill>
                  <a:prstClr val="black"/>
                </a:solidFill>
                <a:latin typeface="David" panose="020E0502060401010101" pitchFamily="34" charset="-79"/>
                <a:cs typeface="David" panose="020E0502060401010101" pitchFamily="34" charset="-79"/>
              </a:rPr>
              <a:t>כסא</a:t>
            </a:r>
            <a:r>
              <a:rPr lang="he-IL" sz="2800" dirty="0">
                <a:solidFill>
                  <a:prstClr val="black"/>
                </a:solidFill>
                <a:latin typeface="David" panose="020E0502060401010101" pitchFamily="34" charset="-79"/>
                <a:cs typeface="David" panose="020E0502060401010101" pitchFamily="34" charset="-79"/>
              </a:rPr>
              <a:t> ונעמד </a:t>
            </a:r>
            <a:r>
              <a:rPr lang="he-IL" sz="2400" dirty="0" smtClean="0">
                <a:solidFill>
                  <a:prstClr val="black"/>
                </a:solidFill>
                <a:latin typeface="David" panose="020E0502060401010101" pitchFamily="34" charset="-79"/>
                <a:cs typeface="David" panose="020E0502060401010101" pitchFamily="34" charset="-79"/>
              </a:rPr>
              <a:t>(חז"ל </a:t>
            </a:r>
            <a:r>
              <a:rPr lang="he-IL" sz="2400" dirty="0">
                <a:solidFill>
                  <a:prstClr val="black"/>
                </a:solidFill>
                <a:latin typeface="David" panose="020E0502060401010101" pitchFamily="34" charset="-79"/>
                <a:cs typeface="David" panose="020E0502060401010101" pitchFamily="34" charset="-79"/>
              </a:rPr>
              <a:t>מסבירים שבזכות זה שעמד זכה ויצאת ממנו </a:t>
            </a:r>
            <a:r>
              <a:rPr lang="he-IL" sz="2400" dirty="0" smtClean="0">
                <a:solidFill>
                  <a:prstClr val="black"/>
                </a:solidFill>
                <a:latin typeface="David" panose="020E0502060401010101" pitchFamily="34" charset="-79"/>
                <a:cs typeface="David" panose="020E0502060401010101" pitchFamily="34" charset="-79"/>
              </a:rPr>
              <a:t>רות </a:t>
            </a:r>
            <a:r>
              <a:rPr lang="he-IL" sz="2400" dirty="0" err="1" smtClean="0">
                <a:solidFill>
                  <a:prstClr val="black"/>
                </a:solidFill>
                <a:latin typeface="David" panose="020E0502060401010101" pitchFamily="34" charset="-79"/>
                <a:cs typeface="David" panose="020E0502060401010101" pitchFamily="34" charset="-79"/>
              </a:rPr>
              <a:t>המואביה</a:t>
            </a:r>
            <a:r>
              <a:rPr lang="he-IL" sz="2400" dirty="0" smtClean="0">
                <a:solidFill>
                  <a:prstClr val="black"/>
                </a:solidFill>
                <a:latin typeface="David" panose="020E0502060401010101" pitchFamily="34" charset="-79"/>
                <a:cs typeface="David" panose="020E0502060401010101" pitchFamily="34" charset="-79"/>
              </a:rPr>
              <a:t>, וממנה דוד המלך)</a:t>
            </a:r>
            <a:endParaRPr lang="he-IL" sz="2400" dirty="0">
              <a:solidFill>
                <a:prstClr val="black"/>
              </a:solidFill>
              <a:latin typeface="David" panose="020E0502060401010101" pitchFamily="34" charset="-79"/>
              <a:cs typeface="David" panose="020E0502060401010101" pitchFamily="34" charset="-79"/>
            </a:endParaRPr>
          </a:p>
        </p:txBody>
      </p:sp>
      <p:sp>
        <p:nvSpPr>
          <p:cNvPr id="4" name="TextBox 3">
            <a:extLst>
              <a:ext uri="{FF2B5EF4-FFF2-40B4-BE49-F238E27FC236}">
                <a16:creationId xmlns:a16="http://schemas.microsoft.com/office/drawing/2014/main" id="{9EA6D9AD-3410-45E0-A2FE-FA41BC9DB476}"/>
              </a:ext>
            </a:extLst>
          </p:cNvPr>
          <p:cNvSpPr txBox="1"/>
          <p:nvPr/>
        </p:nvSpPr>
        <p:spPr>
          <a:xfrm>
            <a:off x="6414448" y="117693"/>
            <a:ext cx="5540484" cy="4031873"/>
          </a:xfrm>
          <a:prstGeom prst="rect">
            <a:avLst/>
          </a:prstGeom>
          <a:solidFill>
            <a:schemeClr val="accent6">
              <a:lumMod val="60000"/>
              <a:lumOff val="40000"/>
            </a:schemeClr>
          </a:solid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3200" b="1"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יט</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וְהוּא שָׁב, </a:t>
            </a:r>
            <a:r>
              <a:rPr kumimoji="0" lang="he-IL" sz="32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מִן-הַפְּסִילִים</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אֲשֶׁר אֶת-הַגִּלְגָּל, וַיֹּאמֶר, </a:t>
            </a:r>
            <a:r>
              <a:rPr kumimoji="0" lang="he-IL" sz="32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דְּבַר-סֵתֶר לִי אֵלֶיךָ הַמֶּלֶךְ</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32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וַיֹּאמֶר הָס-</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-וַיֵּצְאוּ מֵעָלָיו, </a:t>
            </a:r>
            <a:r>
              <a:rPr kumimoji="0" lang="he-IL" sz="32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כָּל-הָעֹמְדִים</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עָלָיו.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כ</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וְאֵהוּד בָּא אֵלָיו, וְהוּא-יֹשֵׁב בַּעֲלִיַּת הַמְּקֵרָה אֲשֶׁר-לוֹ לְבַדּוֹ, וַיֹּאמֶר אֵהוּד</a:t>
            </a:r>
            <a:r>
              <a:rPr kumimoji="0" lang="he-IL" sz="32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3200" b="1"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דְּבַר-אֱלֹהִים</a:t>
            </a:r>
            <a:r>
              <a:rPr kumimoji="0" lang="he-IL" sz="32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לִי אֵלֶיךָ; </a:t>
            </a:r>
            <a:r>
              <a:rPr kumimoji="0" lang="he-IL" sz="3200" b="1"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וַיָּקָם</a:t>
            </a:r>
            <a:r>
              <a:rPr kumimoji="0" lang="he-IL" sz="32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מֵעַל </a:t>
            </a:r>
            <a:r>
              <a:rPr kumimoji="0" lang="he-IL" sz="3200" b="1"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הַכִּסֵּא</a:t>
            </a: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a:t>
            </a:r>
          </a:p>
        </p:txBody>
      </p:sp>
      <p:pic>
        <p:nvPicPr>
          <p:cNvPr id="10" name="תמונה 9"/>
          <p:cNvPicPr>
            <a:picLocks noChangeAspect="1"/>
          </p:cNvPicPr>
          <p:nvPr/>
        </p:nvPicPr>
        <p:blipFill>
          <a:blip r:embed="rId3"/>
          <a:stretch>
            <a:fillRect/>
          </a:stretch>
        </p:blipFill>
        <p:spPr>
          <a:xfrm>
            <a:off x="8577618" y="4485663"/>
            <a:ext cx="3466025" cy="2036240"/>
          </a:xfrm>
          <a:prstGeom prst="rect">
            <a:avLst/>
          </a:prstGeom>
        </p:spPr>
      </p:pic>
      <p:pic>
        <p:nvPicPr>
          <p:cNvPr id="11" name="תמונה 10"/>
          <p:cNvPicPr>
            <a:picLocks noChangeAspect="1"/>
          </p:cNvPicPr>
          <p:nvPr/>
        </p:nvPicPr>
        <p:blipFill>
          <a:blip r:embed="rId4"/>
          <a:stretch>
            <a:fillRect/>
          </a:stretch>
        </p:blipFill>
        <p:spPr>
          <a:xfrm>
            <a:off x="6114196" y="3742984"/>
            <a:ext cx="2552132" cy="3100259"/>
          </a:xfrm>
          <a:prstGeom prst="rect">
            <a:avLst/>
          </a:prstGeom>
        </p:spPr>
      </p:pic>
    </p:spTree>
    <p:extLst>
      <p:ext uri="{BB962C8B-B14F-4D97-AF65-F5344CB8AC3E}">
        <p14:creationId xmlns:p14="http://schemas.microsoft.com/office/powerpoint/2010/main" val="3975239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circle(in)">
                                      <p:cBhvr>
                                        <p:cTn id="14" dur="2000"/>
                                        <p:tgtEl>
                                          <p:spTgt spid="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177420" y="313898"/>
            <a:ext cx="5991367" cy="5509200"/>
          </a:xfrm>
          <a:prstGeom prst="rect">
            <a:avLst/>
          </a:prstGeom>
          <a:solidFill>
            <a:schemeClr val="accent6">
              <a:lumMod val="60000"/>
              <a:lumOff val="40000"/>
            </a:schemeClr>
          </a:solidFill>
          <a:ln w="28575">
            <a:solidFill>
              <a:schemeClr val="tx1"/>
            </a:solidFill>
          </a:ln>
        </p:spPr>
        <p:txBody>
          <a:bodyPr wrap="square" rtlCol="1">
            <a:spAutoFit/>
          </a:bodyPr>
          <a:lstStyle/>
          <a:p>
            <a:pPr lvl="0"/>
            <a:r>
              <a:rPr lang="he-IL" sz="3200" b="1" u="sng" dirty="0" err="1" smtClean="0">
                <a:solidFill>
                  <a:prstClr val="black"/>
                </a:solidFill>
                <a:latin typeface="David" panose="020E0502060401010101" pitchFamily="34" charset="-79"/>
                <a:cs typeface="David" panose="020E0502060401010101" pitchFamily="34" charset="-79"/>
              </a:rPr>
              <a:t>פ"ס</a:t>
            </a:r>
            <a:r>
              <a:rPr lang="he-IL" sz="3200" b="1" u="sng" dirty="0" smtClean="0">
                <a:solidFill>
                  <a:prstClr val="black"/>
                </a:solidFill>
                <a:latin typeface="David" panose="020E0502060401010101" pitchFamily="34" charset="-79"/>
                <a:cs typeface="David" panose="020E0502060401010101" pitchFamily="34" charset="-79"/>
              </a:rPr>
              <a:t> </a:t>
            </a:r>
            <a:r>
              <a:rPr lang="he-IL" sz="3200" b="1" u="sng" dirty="0" err="1" smtClean="0">
                <a:solidFill>
                  <a:prstClr val="black"/>
                </a:solidFill>
                <a:latin typeface="David" panose="020E0502060401010101" pitchFamily="34" charset="-79"/>
                <a:cs typeface="David" panose="020E0502060401010101" pitchFamily="34" charset="-79"/>
              </a:rPr>
              <a:t>כא</a:t>
            </a:r>
            <a:r>
              <a:rPr lang="he-IL" sz="3200" b="1" u="sng" dirty="0" smtClean="0">
                <a:solidFill>
                  <a:prstClr val="black"/>
                </a:solidFill>
                <a:latin typeface="David" panose="020E0502060401010101" pitchFamily="34" charset="-79"/>
                <a:cs typeface="David" panose="020E0502060401010101" pitchFamily="34" charset="-79"/>
              </a:rPr>
              <a:t>': </a:t>
            </a:r>
            <a:r>
              <a:rPr lang="he-IL" sz="3200" dirty="0" smtClean="0">
                <a:solidFill>
                  <a:prstClr val="black"/>
                </a:solidFill>
                <a:latin typeface="David" panose="020E0502060401010101" pitchFamily="34" charset="-79"/>
                <a:cs typeface="David" panose="020E0502060401010101" pitchFamily="34" charset="-79"/>
              </a:rPr>
              <a:t>תוך כדי שעגלון קם מהכיסא שלח אהוד את יד שמאלו ולקח את החרב מעל ירך ימין ותקע אותה בבטנו של עגלון. </a:t>
            </a:r>
          </a:p>
          <a:p>
            <a:pPr lvl="0"/>
            <a:r>
              <a:rPr lang="he-IL" sz="3200" b="1" u="sng" dirty="0" err="1" smtClean="0">
                <a:solidFill>
                  <a:prstClr val="black"/>
                </a:solidFill>
                <a:latin typeface="David" panose="020E0502060401010101" pitchFamily="34" charset="-79"/>
                <a:cs typeface="David" panose="020E0502060401010101" pitchFamily="34" charset="-79"/>
              </a:rPr>
              <a:t>פ"ס</a:t>
            </a:r>
            <a:r>
              <a:rPr lang="he-IL" sz="3200" b="1" u="sng" dirty="0" smtClean="0">
                <a:solidFill>
                  <a:prstClr val="black"/>
                </a:solidFill>
                <a:latin typeface="David" panose="020E0502060401010101" pitchFamily="34" charset="-79"/>
                <a:cs typeface="David" panose="020E0502060401010101" pitchFamily="34" charset="-79"/>
              </a:rPr>
              <a:t> </a:t>
            </a:r>
            <a:r>
              <a:rPr lang="he-IL" sz="3200" b="1" u="sng" dirty="0" err="1">
                <a:solidFill>
                  <a:prstClr val="black"/>
                </a:solidFill>
                <a:latin typeface="David" panose="020E0502060401010101" pitchFamily="34" charset="-79"/>
                <a:cs typeface="David" panose="020E0502060401010101" pitchFamily="34" charset="-79"/>
              </a:rPr>
              <a:t>כב</a:t>
            </a:r>
            <a:r>
              <a:rPr lang="he-IL" sz="3200" b="1" u="sng" dirty="0">
                <a:solidFill>
                  <a:prstClr val="black"/>
                </a:solidFill>
                <a:latin typeface="David" panose="020E0502060401010101" pitchFamily="34" charset="-79"/>
                <a:cs typeface="David" panose="020E0502060401010101" pitchFamily="34" charset="-79"/>
              </a:rPr>
              <a:t>':  </a:t>
            </a:r>
            <a:r>
              <a:rPr lang="he-IL" sz="3200" dirty="0">
                <a:solidFill>
                  <a:prstClr val="black"/>
                </a:solidFill>
                <a:latin typeface="David" panose="020E0502060401010101" pitchFamily="34" charset="-79"/>
                <a:cs typeface="David" panose="020E0502060401010101" pitchFamily="34" charset="-79"/>
              </a:rPr>
              <a:t>מרוב שעגלון היה שמן ובעל בשר כאשר דקר אהוד עם הסכין היא נכנסה עמוק </a:t>
            </a:r>
            <a:r>
              <a:rPr lang="he-IL" sz="3200" b="1" dirty="0">
                <a:solidFill>
                  <a:prstClr val="black"/>
                </a:solidFill>
                <a:latin typeface="David" panose="020E0502060401010101" pitchFamily="34" charset="-79"/>
                <a:cs typeface="David" panose="020E0502060401010101" pitchFamily="34" charset="-79"/>
              </a:rPr>
              <a:t>ואפילו הידית  של החרב נכנסה בבטנו נמשכה אחרי הלהב של החרב עצמה </a:t>
            </a:r>
            <a:r>
              <a:rPr lang="he-IL" sz="3200" dirty="0">
                <a:solidFill>
                  <a:prstClr val="black"/>
                </a:solidFill>
                <a:latin typeface="David" panose="020E0502060401010101" pitchFamily="34" charset="-79"/>
                <a:cs typeface="David" panose="020E0502060401010101" pitchFamily="34" charset="-79"/>
              </a:rPr>
              <a:t>והשומן שבבטנו כיסה את כל החרב, ואהוד לא שלף את החרב ויצא מתוך הבטן </a:t>
            </a:r>
            <a:r>
              <a:rPr lang="he-IL" sz="3200" b="1" dirty="0">
                <a:solidFill>
                  <a:prstClr val="black"/>
                </a:solidFill>
                <a:latin typeface="David" panose="020E0502060401010101" pitchFamily="34" charset="-79"/>
                <a:cs typeface="David" panose="020E0502060401010101" pitchFamily="34" charset="-79"/>
              </a:rPr>
              <a:t>גם פרש וצואה </a:t>
            </a:r>
            <a:r>
              <a:rPr lang="he-IL" sz="3200" dirty="0">
                <a:solidFill>
                  <a:prstClr val="black"/>
                </a:solidFill>
                <a:latin typeface="David" panose="020E0502060401010101" pitchFamily="34" charset="-79"/>
                <a:cs typeface="David" panose="020E0502060401010101" pitchFamily="34" charset="-79"/>
              </a:rPr>
              <a:t>.</a:t>
            </a:r>
            <a:endParaRPr lang="he-IL" sz="3200" dirty="0">
              <a:solidFill>
                <a:prstClr val="black"/>
              </a:solidFill>
              <a:latin typeface="David" panose="020E0502060401010101" pitchFamily="34" charset="-79"/>
              <a:cs typeface="David" panose="020E0502060401010101" pitchFamily="34" charset="-79"/>
            </a:endParaRPr>
          </a:p>
        </p:txBody>
      </p:sp>
      <p:pic>
        <p:nvPicPr>
          <p:cNvPr id="5" name="תמונה 4"/>
          <p:cNvPicPr>
            <a:picLocks noChangeAspect="1"/>
          </p:cNvPicPr>
          <p:nvPr/>
        </p:nvPicPr>
        <p:blipFill>
          <a:blip r:embed="rId3"/>
          <a:stretch>
            <a:fillRect/>
          </a:stretch>
        </p:blipFill>
        <p:spPr>
          <a:xfrm>
            <a:off x="6168787" y="3420904"/>
            <a:ext cx="2602027" cy="2870713"/>
          </a:xfrm>
          <a:prstGeom prst="rect">
            <a:avLst/>
          </a:prstGeom>
        </p:spPr>
      </p:pic>
      <p:sp>
        <p:nvSpPr>
          <p:cNvPr id="7" name="TextBox 6">
            <a:extLst>
              <a:ext uri="{FF2B5EF4-FFF2-40B4-BE49-F238E27FC236}">
                <a16:creationId xmlns:a16="http://schemas.microsoft.com/office/drawing/2014/main" id="{062A669B-AA4D-4D1A-B294-C093A98EFA58}"/>
              </a:ext>
            </a:extLst>
          </p:cNvPr>
          <p:cNvSpPr txBox="1"/>
          <p:nvPr/>
        </p:nvSpPr>
        <p:spPr>
          <a:xfrm>
            <a:off x="6346209" y="154661"/>
            <a:ext cx="5654892" cy="3046988"/>
          </a:xfrm>
          <a:prstGeom prst="rect">
            <a:avLst/>
          </a:prstGeom>
          <a:solidFill>
            <a:schemeClr val="accent2">
              <a:lumMod val="40000"/>
              <a:lumOff val="60000"/>
            </a:schemeClr>
          </a:solid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err="1">
                <a:ln>
                  <a:noFill/>
                </a:ln>
                <a:solidFill>
                  <a:prstClr val="black"/>
                </a:solidFill>
                <a:effectLst/>
                <a:uLnTx/>
                <a:uFillTx/>
                <a:latin typeface="David" panose="020E0502060401010101" pitchFamily="34" charset="-79"/>
                <a:cs typeface="David" panose="020E0502060401010101" pitchFamily="34" charset="-79"/>
              </a:rPr>
              <a:t>כא</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cs typeface="David" panose="020E0502060401010101" pitchFamily="34" charset="-79"/>
              </a:rPr>
              <a:t> וַיִּשְׁלַח אֵהוּד, אֶת-יַד שְׂמֹאלוֹ, </a:t>
            </a:r>
            <a:r>
              <a:rPr kumimoji="0" lang="he-IL" sz="3200" b="0" i="0" u="none" strike="noStrike" kern="1200" cap="none" spc="0" normalizeH="0" baseline="0" noProof="0" dirty="0" err="1">
                <a:ln>
                  <a:noFill/>
                </a:ln>
                <a:solidFill>
                  <a:prstClr val="black"/>
                </a:solidFill>
                <a:effectLst/>
                <a:uLnTx/>
                <a:uFillTx/>
                <a:latin typeface="David" panose="020E0502060401010101" pitchFamily="34" charset="-79"/>
                <a:cs typeface="David" panose="020E0502060401010101" pitchFamily="34" charset="-79"/>
              </a:rPr>
              <a:t>וַיִּקַּח</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cs typeface="David" panose="020E0502060401010101" pitchFamily="34" charset="-79"/>
              </a:rPr>
              <a:t> אֶת-הַחֶרֶב, </a:t>
            </a:r>
            <a:r>
              <a:rPr kumimoji="0" lang="he-IL" sz="3200" b="1" i="0" u="none" strike="noStrike" kern="1200" cap="none" spc="0" normalizeH="0" baseline="0" noProof="0" dirty="0">
                <a:ln>
                  <a:noFill/>
                </a:ln>
                <a:solidFill>
                  <a:prstClr val="black"/>
                </a:solidFill>
                <a:effectLst/>
                <a:uLnTx/>
                <a:uFillTx/>
                <a:latin typeface="David" panose="020E0502060401010101" pitchFamily="34" charset="-79"/>
                <a:cs typeface="David" panose="020E0502060401010101" pitchFamily="34" charset="-79"/>
              </a:rPr>
              <a:t>מֵעַל יֶרֶךְ יְמִינוֹ</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cs typeface="David" panose="020E0502060401010101" pitchFamily="34" charset="-79"/>
              </a:rPr>
              <a:t>; וַיִּתְקָעֶהָ, בְּבִטְנוֹ.  </a:t>
            </a:r>
            <a:endParaRPr lang="he-IL" sz="3200" dirty="0">
              <a:solidFill>
                <a:prstClr val="black"/>
              </a:solidFill>
              <a:latin typeface="David" panose="020E0502060401010101" pitchFamily="34" charset="-79"/>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err="1" smtClean="0">
                <a:ln>
                  <a:noFill/>
                </a:ln>
                <a:solidFill>
                  <a:prstClr val="black"/>
                </a:solidFill>
                <a:effectLst/>
                <a:uLnTx/>
                <a:uFillTx/>
                <a:latin typeface="David" panose="020E0502060401010101" pitchFamily="34" charset="-79"/>
                <a:cs typeface="David" panose="020E0502060401010101" pitchFamily="34" charset="-79"/>
              </a:rPr>
              <a:t>כב</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cs typeface="David" panose="020E0502060401010101" pitchFamily="34" charset="-79"/>
              </a:rPr>
              <a:t> וַיָּבֹא </a:t>
            </a:r>
            <a:r>
              <a:rPr kumimoji="0" lang="he-IL" sz="3200" b="1" i="0" u="none" strike="noStrike" kern="1200" cap="none" spc="0" normalizeH="0" baseline="0" noProof="0" dirty="0" err="1" smtClean="0">
                <a:ln>
                  <a:noFill/>
                </a:ln>
                <a:solidFill>
                  <a:prstClr val="black"/>
                </a:solidFill>
                <a:effectLst/>
                <a:uLnTx/>
                <a:uFillTx/>
                <a:latin typeface="David" panose="020E0502060401010101" pitchFamily="34" charset="-79"/>
                <a:cs typeface="David" panose="020E0502060401010101" pitchFamily="34" charset="-79"/>
              </a:rPr>
              <a:t>גַם-הַנִּצָּב</a:t>
            </a:r>
            <a:r>
              <a:rPr kumimoji="0" lang="he-IL" sz="3200" b="1" i="0" u="none" strike="noStrike" kern="1200" cap="none" spc="0" normalizeH="0" baseline="0" noProof="0" dirty="0" smtClean="0">
                <a:ln>
                  <a:noFill/>
                </a:ln>
                <a:solidFill>
                  <a:prstClr val="black"/>
                </a:solidFill>
                <a:effectLst/>
                <a:uLnTx/>
                <a:uFillTx/>
                <a:latin typeface="David" panose="020E0502060401010101" pitchFamily="34" charset="-79"/>
                <a:cs typeface="David" panose="020E0502060401010101" pitchFamily="34" charset="-79"/>
              </a:rPr>
              <a:t> אַחַר הַלַּהַב</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cs typeface="David" panose="020E0502060401010101" pitchFamily="34" charset="-79"/>
              </a:rPr>
              <a:t>, </a:t>
            </a:r>
            <a:r>
              <a:rPr kumimoji="0" lang="he-IL" sz="3200" b="0" i="0" u="none" strike="noStrike" kern="1200" cap="none" spc="0" normalizeH="0" baseline="0" noProof="0" dirty="0" err="1" smtClean="0">
                <a:ln>
                  <a:noFill/>
                </a:ln>
                <a:solidFill>
                  <a:prstClr val="black"/>
                </a:solidFill>
                <a:effectLst/>
                <a:uLnTx/>
                <a:uFillTx/>
                <a:latin typeface="David" panose="020E0502060401010101" pitchFamily="34" charset="-79"/>
                <a:cs typeface="David" panose="020E0502060401010101" pitchFamily="34" charset="-79"/>
              </a:rPr>
              <a:t>וַיִּסְגֹּר</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cs typeface="David" panose="020E0502060401010101" pitchFamily="34" charset="-79"/>
              </a:rPr>
              <a:t> הַחֵלֶב בְּעַד הַלַּהַב--כִּי לֹא שָׁלַף הַחֶרֶב, מִבִּטְנוֹ; וַיֵּצֵא, </a:t>
            </a:r>
            <a:r>
              <a:rPr kumimoji="0" lang="he-IL" sz="3200" b="0" i="0" u="none" strike="noStrike" kern="1200" cap="none" spc="0" normalizeH="0" baseline="0" noProof="0" dirty="0" err="1" smtClean="0">
                <a:ln>
                  <a:noFill/>
                </a:ln>
                <a:solidFill>
                  <a:prstClr val="black"/>
                </a:solidFill>
                <a:effectLst/>
                <a:uLnTx/>
                <a:uFillTx/>
                <a:latin typeface="David" panose="020E0502060401010101" pitchFamily="34" charset="-79"/>
                <a:cs typeface="David" panose="020E0502060401010101" pitchFamily="34" charset="-79"/>
              </a:rPr>
              <a:t>ה</a:t>
            </a:r>
            <a:r>
              <a:rPr kumimoji="0" lang="he-IL" sz="3200" b="1" i="0" u="none" strike="noStrike" kern="1200" cap="none" spc="0" normalizeH="0" baseline="0" noProof="0" dirty="0" err="1" smtClean="0">
                <a:ln>
                  <a:noFill/>
                </a:ln>
                <a:solidFill>
                  <a:prstClr val="black"/>
                </a:solidFill>
                <a:effectLst/>
                <a:uLnTx/>
                <a:uFillTx/>
                <a:latin typeface="David" panose="020E0502060401010101" pitchFamily="34" charset="-79"/>
                <a:cs typeface="David" panose="020E0502060401010101" pitchFamily="34" charset="-79"/>
              </a:rPr>
              <a:t>ַפַּרְשְׁדֹנָה</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cs typeface="David" panose="020E0502060401010101" pitchFamily="34" charset="-79"/>
              </a:rPr>
              <a:t>. </a:t>
            </a:r>
          </a:p>
        </p:txBody>
      </p:sp>
      <p:pic>
        <p:nvPicPr>
          <p:cNvPr id="3" name="תמונה 2"/>
          <p:cNvPicPr>
            <a:picLocks noChangeAspect="1"/>
          </p:cNvPicPr>
          <p:nvPr/>
        </p:nvPicPr>
        <p:blipFill>
          <a:blip r:embed="rId4"/>
          <a:stretch>
            <a:fillRect/>
          </a:stretch>
        </p:blipFill>
        <p:spPr>
          <a:xfrm>
            <a:off x="8599555" y="3705437"/>
            <a:ext cx="3401546" cy="2603218"/>
          </a:xfrm>
          <a:prstGeom prst="rect">
            <a:avLst/>
          </a:prstGeom>
        </p:spPr>
      </p:pic>
      <p:pic>
        <p:nvPicPr>
          <p:cNvPr id="8" name="תמונה 7"/>
          <p:cNvPicPr>
            <a:picLocks noChangeAspect="1"/>
          </p:cNvPicPr>
          <p:nvPr/>
        </p:nvPicPr>
        <p:blipFill>
          <a:blip r:embed="rId5"/>
          <a:stretch>
            <a:fillRect/>
          </a:stretch>
        </p:blipFill>
        <p:spPr>
          <a:xfrm>
            <a:off x="935677" y="446656"/>
            <a:ext cx="4474852" cy="2462997"/>
          </a:xfrm>
          <a:prstGeom prst="rect">
            <a:avLst/>
          </a:prstGeom>
        </p:spPr>
      </p:pic>
    </p:spTree>
    <p:extLst>
      <p:ext uri="{BB962C8B-B14F-4D97-AF65-F5344CB8AC3E}">
        <p14:creationId xmlns:p14="http://schemas.microsoft.com/office/powerpoint/2010/main" val="239613506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 calcmode="lin" valueType="num">
                                      <p:cBhvr additive="base">
                                        <p:cTn id="18"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arn(inVertical)">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109182" y="166230"/>
            <a:ext cx="5868537" cy="4524315"/>
          </a:xfrm>
          <a:prstGeom prst="rect">
            <a:avLst/>
          </a:prstGeom>
          <a:solidFill>
            <a:schemeClr val="accent6">
              <a:lumMod val="60000"/>
              <a:lumOff val="40000"/>
            </a:schemeClr>
          </a:solidFill>
          <a:ln w="28575">
            <a:solidFill>
              <a:schemeClr val="tx1"/>
            </a:solidFill>
          </a:ln>
        </p:spPr>
        <p:txBody>
          <a:bodyPr wrap="square" rtlCol="1">
            <a:spAutoFit/>
          </a:bodyPr>
          <a:lstStyle/>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a:t>
            </a:r>
            <a:r>
              <a:rPr lang="he-IL" sz="3200" b="1" u="sng" dirty="0" err="1">
                <a:solidFill>
                  <a:prstClr val="black"/>
                </a:solidFill>
                <a:latin typeface="David" panose="020E0502060401010101" pitchFamily="34" charset="-79"/>
                <a:cs typeface="David" panose="020E0502060401010101" pitchFamily="34" charset="-79"/>
              </a:rPr>
              <a:t>כג</a:t>
            </a:r>
            <a:r>
              <a:rPr lang="he-IL" sz="3200" b="1" u="sng" dirty="0">
                <a:solidFill>
                  <a:prstClr val="black"/>
                </a:solidFill>
                <a:latin typeface="David" panose="020E0502060401010101" pitchFamily="34" charset="-79"/>
                <a:cs typeface="David" panose="020E0502060401010101" pitchFamily="34" charset="-79"/>
              </a:rPr>
              <a:t>': </a:t>
            </a:r>
            <a:r>
              <a:rPr lang="he-IL" sz="3200" dirty="0">
                <a:solidFill>
                  <a:prstClr val="black"/>
                </a:solidFill>
                <a:latin typeface="David" panose="020E0502060401010101" pitchFamily="34" charset="-79"/>
                <a:cs typeface="David" panose="020E0502060401010101" pitchFamily="34" charset="-79"/>
              </a:rPr>
              <a:t>לאחר מכן יצא אהוד </a:t>
            </a:r>
            <a:r>
              <a:rPr lang="he-IL" sz="3200" dirty="0" smtClean="0">
                <a:solidFill>
                  <a:prstClr val="black"/>
                </a:solidFill>
                <a:latin typeface="David" panose="020E0502060401010101" pitchFamily="34" charset="-79"/>
                <a:cs typeface="David" panose="020E0502060401010101" pitchFamily="34" charset="-79"/>
              </a:rPr>
              <a:t>מֵעֲלִיַּת הַמְּקֵרָה למסדרון </a:t>
            </a:r>
            <a:r>
              <a:rPr lang="he-IL" sz="3200" dirty="0">
                <a:solidFill>
                  <a:prstClr val="black"/>
                </a:solidFill>
                <a:latin typeface="David" panose="020E0502060401010101" pitchFamily="34" charset="-79"/>
                <a:cs typeface="David" panose="020E0502060401010101" pitchFamily="34" charset="-79"/>
              </a:rPr>
              <a:t>וכדי שאנשי עגלון לא יכנסו הוא נעל את דלתות העלייה ולקח את המפתח אתו. </a:t>
            </a:r>
          </a:p>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כד': </a:t>
            </a:r>
            <a:r>
              <a:rPr lang="he-IL" sz="3200" dirty="0">
                <a:solidFill>
                  <a:prstClr val="black"/>
                </a:solidFill>
                <a:latin typeface="David" panose="020E0502060401010101" pitchFamily="34" charset="-79"/>
                <a:cs typeface="David" panose="020E0502060401010101" pitchFamily="34" charset="-79"/>
              </a:rPr>
              <a:t>אהוד יצא ועבדיו של עגלון באו וראו והנה דלתות העלייה נעולות וחשבו שעגלון סגר אותם מבפנים ואמרו איש לחברו כנראה עגלון מתפנה ועושה צרכיו.</a:t>
            </a:r>
            <a:endParaRPr lang="he-IL" sz="3200" dirty="0">
              <a:solidFill>
                <a:prstClr val="black"/>
              </a:solidFill>
              <a:latin typeface="David" panose="020E0502060401010101" pitchFamily="34" charset="-79"/>
              <a:cs typeface="David" panose="020E0502060401010101" pitchFamily="34" charset="-79"/>
            </a:endParaRPr>
          </a:p>
        </p:txBody>
      </p:sp>
      <p:sp>
        <p:nvSpPr>
          <p:cNvPr id="7" name="TextBox 6">
            <a:extLst>
              <a:ext uri="{FF2B5EF4-FFF2-40B4-BE49-F238E27FC236}">
                <a16:creationId xmlns:a16="http://schemas.microsoft.com/office/drawing/2014/main" id="{062A669B-AA4D-4D1A-B294-C093A98EFA58}"/>
              </a:ext>
            </a:extLst>
          </p:cNvPr>
          <p:cNvSpPr txBox="1"/>
          <p:nvPr/>
        </p:nvSpPr>
        <p:spPr>
          <a:xfrm>
            <a:off x="6080209" y="141014"/>
            <a:ext cx="5982438" cy="2554545"/>
          </a:xfrm>
          <a:prstGeom prst="rect">
            <a:avLst/>
          </a:prstGeom>
          <a:solidFill>
            <a:schemeClr val="accent1">
              <a:lumMod val="40000"/>
              <a:lumOff val="60000"/>
            </a:schemeClr>
          </a:solid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כג</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וַיֵּצֵא אֵהוּד, </a:t>
            </a:r>
            <a:r>
              <a:rPr kumimoji="0" lang="he-IL" sz="32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הַמִּסְדְּרוֹנָה</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32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וַיִּסְגֹּר</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דַּלְתוֹת </a:t>
            </a:r>
            <a:r>
              <a:rPr kumimoji="0" lang="he-IL" sz="32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הָעֲלִיָּה</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בַּעֲדוֹ--ו</a:t>
            </a:r>
            <a:r>
              <a:rPr kumimoji="0" lang="he-IL" sz="32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ְנָעָל</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endPar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כד</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וְהוּא יָצָא, וַעֲבָדָיו בָּאוּ, וַיִּרְאוּ, וְהִנֵּה דַּלְתוֹת </a:t>
            </a:r>
            <a:r>
              <a:rPr kumimoji="0" lang="he-IL" sz="32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הָעֲלִיָּה</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נְעֻלוֹת; וַיֹּאמְרוּ, אַךְ </a:t>
            </a:r>
            <a:r>
              <a:rPr kumimoji="0" lang="he-IL" sz="32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מֵסִיךְ </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הוּא אֶת-רַגְלָיו בַּחֲדַר הַמְּקֵרָה. </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p>
        </p:txBody>
      </p:sp>
      <p:pic>
        <p:nvPicPr>
          <p:cNvPr id="3" name="תמונה 2"/>
          <p:cNvPicPr>
            <a:picLocks noChangeAspect="1"/>
          </p:cNvPicPr>
          <p:nvPr/>
        </p:nvPicPr>
        <p:blipFill>
          <a:blip r:embed="rId3"/>
          <a:stretch>
            <a:fillRect/>
          </a:stretch>
        </p:blipFill>
        <p:spPr>
          <a:xfrm>
            <a:off x="8173961" y="2857712"/>
            <a:ext cx="3888686" cy="2587744"/>
          </a:xfrm>
          <a:prstGeom prst="rect">
            <a:avLst/>
          </a:prstGeom>
        </p:spPr>
      </p:pic>
      <p:pic>
        <p:nvPicPr>
          <p:cNvPr id="4" name="תמונה 3"/>
          <p:cNvPicPr>
            <a:picLocks noChangeAspect="1"/>
          </p:cNvPicPr>
          <p:nvPr/>
        </p:nvPicPr>
        <p:blipFill>
          <a:blip r:embed="rId4"/>
          <a:stretch>
            <a:fillRect/>
          </a:stretch>
        </p:blipFill>
        <p:spPr>
          <a:xfrm>
            <a:off x="109182" y="4258100"/>
            <a:ext cx="3761577" cy="2470245"/>
          </a:xfrm>
          <a:prstGeom prst="rect">
            <a:avLst/>
          </a:prstGeom>
        </p:spPr>
      </p:pic>
      <p:sp>
        <p:nvSpPr>
          <p:cNvPr id="8" name="מלבן 7"/>
          <p:cNvSpPr/>
          <p:nvPr/>
        </p:nvSpPr>
        <p:spPr>
          <a:xfrm>
            <a:off x="2661313" y="4531057"/>
            <a:ext cx="1160060" cy="696036"/>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smtClean="0"/>
              <a:t>דלתות נעולות</a:t>
            </a:r>
            <a:endParaRPr lang="he-IL" dirty="0"/>
          </a:p>
        </p:txBody>
      </p:sp>
      <p:sp>
        <p:nvSpPr>
          <p:cNvPr id="9" name="אליפסה 8"/>
          <p:cNvSpPr/>
          <p:nvPr/>
        </p:nvSpPr>
        <p:spPr>
          <a:xfrm>
            <a:off x="8300329" y="2898656"/>
            <a:ext cx="1542197" cy="7642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smtClean="0"/>
              <a:t>עליית גג שמתקרר</a:t>
            </a:r>
            <a:endParaRPr lang="he-IL" dirty="0"/>
          </a:p>
        </p:txBody>
      </p:sp>
    </p:spTree>
    <p:extLst>
      <p:ext uri="{BB962C8B-B14F-4D97-AF65-F5344CB8AC3E}">
        <p14:creationId xmlns:p14="http://schemas.microsoft.com/office/powerpoint/2010/main" val="156752157"/>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arn(inVertic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Vertic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ircle(in)">
                                      <p:cBhvr>
                                        <p:cTn id="22" dur="2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down)">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136478" y="181957"/>
            <a:ext cx="5459104" cy="5509200"/>
          </a:xfrm>
          <a:prstGeom prst="rect">
            <a:avLst/>
          </a:prstGeom>
          <a:solidFill>
            <a:schemeClr val="accent6">
              <a:lumMod val="60000"/>
              <a:lumOff val="40000"/>
            </a:schemeClr>
          </a:solidFill>
          <a:ln w="28575">
            <a:solidFill>
              <a:schemeClr val="tx1"/>
            </a:solidFill>
          </a:ln>
        </p:spPr>
        <p:txBody>
          <a:bodyPr wrap="square" rtlCol="1">
            <a:spAutoFit/>
          </a:bodyPr>
          <a:lstStyle/>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כה': </a:t>
            </a:r>
            <a:r>
              <a:rPr lang="he-IL" sz="3200" dirty="0">
                <a:solidFill>
                  <a:prstClr val="black"/>
                </a:solidFill>
                <a:latin typeface="David" panose="020E0502060401010101" pitchFamily="34" charset="-79"/>
                <a:cs typeface="David" panose="020E0502060401010101" pitchFamily="34" charset="-79"/>
              </a:rPr>
              <a:t>חיכו זמן ארוך והנה למרות </a:t>
            </a:r>
            <a:r>
              <a:rPr lang="he-IL" sz="3200" dirty="0" err="1">
                <a:solidFill>
                  <a:prstClr val="black"/>
                </a:solidFill>
                <a:latin typeface="David" panose="020E0502060401010101" pitchFamily="34" charset="-79"/>
                <a:cs typeface="David" panose="020E0502060401010101" pitchFamily="34" charset="-79"/>
              </a:rPr>
              <a:t>הכל</a:t>
            </a:r>
            <a:r>
              <a:rPr lang="he-IL" sz="3200" dirty="0">
                <a:solidFill>
                  <a:prstClr val="black"/>
                </a:solidFill>
                <a:latin typeface="David" panose="020E0502060401010101" pitchFamily="34" charset="-79"/>
                <a:cs typeface="David" panose="020E0502060401010101" pitchFamily="34" charset="-79"/>
              </a:rPr>
              <a:t> עגלון לא פותח את דלתות העלייה לקחו מפתח נוסף שהיה להם ופתחו את המקום וראו והנה האדון שלהם עגלון נופל ושוכב על הרצפה מת. </a:t>
            </a:r>
          </a:p>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a:t>
            </a:r>
            <a:r>
              <a:rPr lang="he-IL" sz="3200" b="1" u="sng" dirty="0" err="1">
                <a:solidFill>
                  <a:prstClr val="black"/>
                </a:solidFill>
                <a:latin typeface="David" panose="020E0502060401010101" pitchFamily="34" charset="-79"/>
                <a:cs typeface="David" panose="020E0502060401010101" pitchFamily="34" charset="-79"/>
              </a:rPr>
              <a:t>כו</a:t>
            </a:r>
            <a:r>
              <a:rPr lang="he-IL" sz="3200" b="1" u="sng" dirty="0">
                <a:solidFill>
                  <a:prstClr val="black"/>
                </a:solidFill>
                <a:latin typeface="David" panose="020E0502060401010101" pitchFamily="34" charset="-79"/>
                <a:cs typeface="David" panose="020E0502060401010101" pitchFamily="34" charset="-79"/>
              </a:rPr>
              <a:t>': </a:t>
            </a:r>
            <a:r>
              <a:rPr lang="he-IL" sz="3200" dirty="0">
                <a:solidFill>
                  <a:prstClr val="black"/>
                </a:solidFill>
                <a:latin typeface="David" panose="020E0502060401010101" pitchFamily="34" charset="-79"/>
                <a:cs typeface="David" panose="020E0502060401010101" pitchFamily="34" charset="-79"/>
              </a:rPr>
              <a:t>אהוד הספיק להימלט בזמן שעבדי עגלון </a:t>
            </a:r>
            <a:r>
              <a:rPr lang="he-IL" sz="3200" dirty="0" smtClean="0">
                <a:solidFill>
                  <a:prstClr val="black"/>
                </a:solidFill>
                <a:latin typeface="David" panose="020E0502060401010101" pitchFamily="34" charset="-79"/>
                <a:cs typeface="David" panose="020E0502060401010101" pitchFamily="34" charset="-79"/>
              </a:rPr>
              <a:t>התמהמהו והתעכבו </a:t>
            </a:r>
            <a:r>
              <a:rPr lang="he-IL" sz="3200" dirty="0">
                <a:solidFill>
                  <a:prstClr val="black"/>
                </a:solidFill>
                <a:latin typeface="David" panose="020E0502060401010101" pitchFamily="34" charset="-79"/>
                <a:cs typeface="David" panose="020E0502060401010101" pitchFamily="34" charset="-79"/>
              </a:rPr>
              <a:t>ולא פתחו את הדלת ועבר את מחצבת </a:t>
            </a:r>
            <a:r>
              <a:rPr lang="he-IL" sz="3200" dirty="0" err="1">
                <a:solidFill>
                  <a:prstClr val="black"/>
                </a:solidFill>
                <a:latin typeface="David" panose="020E0502060401010101" pitchFamily="34" charset="-79"/>
                <a:cs typeface="David" panose="020E0502060401010101" pitchFamily="34" charset="-79"/>
              </a:rPr>
              <a:t>הפסילים</a:t>
            </a:r>
            <a:r>
              <a:rPr lang="he-IL" sz="3200" dirty="0">
                <a:solidFill>
                  <a:prstClr val="black"/>
                </a:solidFill>
                <a:latin typeface="David" panose="020E0502060401010101" pitchFamily="34" charset="-79"/>
                <a:cs typeface="David" panose="020E0502060401010101" pitchFamily="34" charset="-79"/>
              </a:rPr>
              <a:t> ונמלט </a:t>
            </a:r>
            <a:r>
              <a:rPr lang="he-IL" sz="3200" dirty="0" smtClean="0">
                <a:solidFill>
                  <a:prstClr val="black"/>
                </a:solidFill>
                <a:latin typeface="David" panose="020E0502060401010101" pitchFamily="34" charset="-79"/>
                <a:cs typeface="David" panose="020E0502060401010101" pitchFamily="34" charset="-79"/>
              </a:rPr>
              <a:t>לאזור </a:t>
            </a:r>
            <a:r>
              <a:rPr lang="he-IL" sz="3200" dirty="0">
                <a:solidFill>
                  <a:prstClr val="black"/>
                </a:solidFill>
                <a:latin typeface="David" panose="020E0502060401010101" pitchFamily="34" charset="-79"/>
                <a:cs typeface="David" panose="020E0502060401010101" pitchFamily="34" charset="-79"/>
              </a:rPr>
              <a:t>היערות</a:t>
            </a:r>
            <a:endParaRPr lang="he-IL" sz="3200" dirty="0">
              <a:solidFill>
                <a:prstClr val="black"/>
              </a:solidFill>
              <a:latin typeface="David" panose="020E0502060401010101" pitchFamily="34" charset="-79"/>
              <a:cs typeface="David" panose="020E0502060401010101" pitchFamily="34" charset="-79"/>
            </a:endParaRPr>
          </a:p>
        </p:txBody>
      </p:sp>
      <p:sp>
        <p:nvSpPr>
          <p:cNvPr id="7" name="TextBox 6">
            <a:extLst>
              <a:ext uri="{FF2B5EF4-FFF2-40B4-BE49-F238E27FC236}">
                <a16:creationId xmlns:a16="http://schemas.microsoft.com/office/drawing/2014/main" id="{062A669B-AA4D-4D1A-B294-C093A98EFA58}"/>
              </a:ext>
            </a:extLst>
          </p:cNvPr>
          <p:cNvSpPr txBox="1"/>
          <p:nvPr/>
        </p:nvSpPr>
        <p:spPr>
          <a:xfrm>
            <a:off x="5854889" y="181957"/>
            <a:ext cx="6009733" cy="2246769"/>
          </a:xfrm>
          <a:prstGeom prst="rect">
            <a:avLst/>
          </a:prstGeom>
          <a:solidFill>
            <a:schemeClr val="accent3">
              <a:lumMod val="60000"/>
              <a:lumOff val="40000"/>
            </a:schemeClr>
          </a:solid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כה</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וַיָּחִילוּ עַד-בּוֹשׁ, וְהִנֵּה אֵינֶנּוּ פֹתֵחַ דַּלְתוֹת </a:t>
            </a:r>
            <a:r>
              <a:rPr kumimoji="0" lang="he-IL" sz="28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הָעֲלִיָּה</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28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וַיִּקְחו</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אֶת-הַמַּפְתֵּחַ, וַיִּפְתָּחוּ, וְהִנֵּה </a:t>
            </a:r>
            <a:r>
              <a:rPr kumimoji="0" lang="he-IL" sz="28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אֲדֹנֵיהֶם</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נֹפֵל אַרְצָה מֵת.  </a:t>
            </a:r>
            <a:endPar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כו</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וְאֵהוּד נִמְלַט, עַד </a:t>
            </a:r>
            <a:r>
              <a:rPr kumimoji="0" lang="he-IL" sz="2800" b="1"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הִתְמַהְמְהָם</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וְהוּא עָבַר </a:t>
            </a:r>
            <a:r>
              <a:rPr kumimoji="0" lang="he-IL" sz="28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אֶת-הַפְּסִילִים</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וַיִּמָּלֵט </a:t>
            </a:r>
            <a:r>
              <a:rPr kumimoji="0" lang="he-IL" sz="28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הַשְּׂעִירָתָה</a:t>
            </a:r>
            <a:endPar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pic>
        <p:nvPicPr>
          <p:cNvPr id="3" name="תמונה 2"/>
          <p:cNvPicPr>
            <a:picLocks noChangeAspect="1"/>
          </p:cNvPicPr>
          <p:nvPr/>
        </p:nvPicPr>
        <p:blipFill>
          <a:blip r:embed="rId3"/>
          <a:stretch>
            <a:fillRect/>
          </a:stretch>
        </p:blipFill>
        <p:spPr>
          <a:xfrm>
            <a:off x="6482686" y="2872986"/>
            <a:ext cx="4432176" cy="1694835"/>
          </a:xfrm>
          <a:prstGeom prst="rect">
            <a:avLst/>
          </a:prstGeom>
        </p:spPr>
      </p:pic>
    </p:spTree>
    <p:extLst>
      <p:ext uri="{BB962C8B-B14F-4D97-AF65-F5344CB8AC3E}">
        <p14:creationId xmlns:p14="http://schemas.microsoft.com/office/powerpoint/2010/main" val="181443291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arn(inVertic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109182" y="232011"/>
            <a:ext cx="6059606" cy="5016758"/>
          </a:xfrm>
          <a:prstGeom prst="rect">
            <a:avLst/>
          </a:prstGeom>
          <a:solidFill>
            <a:schemeClr val="accent6">
              <a:lumMod val="60000"/>
              <a:lumOff val="40000"/>
            </a:schemeClr>
          </a:solidFill>
          <a:ln w="28575">
            <a:solidFill>
              <a:schemeClr val="tx1"/>
            </a:solidFill>
          </a:ln>
        </p:spPr>
        <p:txBody>
          <a:bodyPr wrap="square" rtlCol="1">
            <a:spAutoFit/>
          </a:bodyPr>
          <a:lstStyle/>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a:t>
            </a:r>
            <a:r>
              <a:rPr lang="he-IL" sz="3200" b="1" u="sng" dirty="0" err="1">
                <a:solidFill>
                  <a:prstClr val="black"/>
                </a:solidFill>
                <a:latin typeface="David" panose="020E0502060401010101" pitchFamily="34" charset="-79"/>
                <a:cs typeface="David" panose="020E0502060401010101" pitchFamily="34" charset="-79"/>
              </a:rPr>
              <a:t>כז</a:t>
            </a:r>
            <a:r>
              <a:rPr lang="he-IL" sz="3200" b="1" u="sng" dirty="0">
                <a:solidFill>
                  <a:prstClr val="black"/>
                </a:solidFill>
                <a:latin typeface="David" panose="020E0502060401010101" pitchFamily="34" charset="-79"/>
                <a:cs typeface="David" panose="020E0502060401010101" pitchFamily="34" charset="-79"/>
              </a:rPr>
              <a:t>': </a:t>
            </a:r>
            <a:r>
              <a:rPr lang="he-IL" sz="3200" dirty="0">
                <a:solidFill>
                  <a:prstClr val="black"/>
                </a:solidFill>
                <a:latin typeface="David" panose="020E0502060401010101" pitchFamily="34" charset="-79"/>
                <a:cs typeface="David" panose="020E0502060401010101" pitchFamily="34" charset="-79"/>
              </a:rPr>
              <a:t>כשחזר אהוד לבני עירו תקע בשופר וירדו והלכו </a:t>
            </a:r>
            <a:r>
              <a:rPr lang="he-IL" sz="3200" dirty="0" smtClean="0">
                <a:solidFill>
                  <a:prstClr val="black"/>
                </a:solidFill>
                <a:latin typeface="David" panose="020E0502060401010101" pitchFamily="34" charset="-79"/>
                <a:cs typeface="David" panose="020E0502060401010101" pitchFamily="34" charset="-79"/>
              </a:rPr>
              <a:t>אתו </a:t>
            </a:r>
            <a:r>
              <a:rPr lang="he-IL" sz="3200" dirty="0" err="1" smtClean="0">
                <a:solidFill>
                  <a:prstClr val="black"/>
                </a:solidFill>
                <a:latin typeface="David" panose="020E0502060401010101" pitchFamily="34" charset="-79"/>
                <a:cs typeface="David" panose="020E0502060401010101" pitchFamily="34" charset="-79"/>
              </a:rPr>
              <a:t>בנ"י</a:t>
            </a:r>
            <a:r>
              <a:rPr lang="he-IL" sz="3200" dirty="0" smtClean="0">
                <a:solidFill>
                  <a:prstClr val="black"/>
                </a:solidFill>
                <a:latin typeface="David" panose="020E0502060401010101" pitchFamily="34" charset="-79"/>
                <a:cs typeface="David" panose="020E0502060401010101" pitchFamily="34" charset="-79"/>
              </a:rPr>
              <a:t> מהר </a:t>
            </a:r>
            <a:r>
              <a:rPr lang="he-IL" sz="3200" dirty="0" err="1" smtClean="0">
                <a:solidFill>
                  <a:prstClr val="black"/>
                </a:solidFill>
                <a:latin typeface="David" panose="020E0502060401010101" pitchFamily="34" charset="-79"/>
                <a:cs typeface="David" panose="020E0502060401010101" pitchFamily="34" charset="-79"/>
              </a:rPr>
              <a:t>אפריים</a:t>
            </a:r>
            <a:r>
              <a:rPr lang="he-IL" sz="3200" dirty="0" smtClean="0">
                <a:solidFill>
                  <a:prstClr val="black"/>
                </a:solidFill>
                <a:latin typeface="David" panose="020E0502060401010101" pitchFamily="34" charset="-79"/>
                <a:cs typeface="David" panose="020E0502060401010101" pitchFamily="34" charset="-79"/>
              </a:rPr>
              <a:t> להמשיך במלחמה, ואהוד הלך בראש המחנה </a:t>
            </a:r>
            <a:endParaRPr lang="he-IL" sz="3200" dirty="0">
              <a:solidFill>
                <a:prstClr val="black"/>
              </a:solidFill>
              <a:latin typeface="David" panose="020E0502060401010101" pitchFamily="34" charset="-79"/>
              <a:cs typeface="David" panose="020E0502060401010101" pitchFamily="34" charset="-79"/>
            </a:endParaRPr>
          </a:p>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a:t>
            </a:r>
            <a:r>
              <a:rPr lang="he-IL" sz="3200" b="1" u="sng" dirty="0" err="1">
                <a:solidFill>
                  <a:prstClr val="black"/>
                </a:solidFill>
                <a:latin typeface="David" panose="020E0502060401010101" pitchFamily="34" charset="-79"/>
                <a:cs typeface="David" panose="020E0502060401010101" pitchFamily="34" charset="-79"/>
              </a:rPr>
              <a:t>כח</a:t>
            </a:r>
            <a:r>
              <a:rPr lang="he-IL" sz="3200" b="1" u="sng" dirty="0">
                <a:solidFill>
                  <a:prstClr val="black"/>
                </a:solidFill>
                <a:latin typeface="David" panose="020E0502060401010101" pitchFamily="34" charset="-79"/>
                <a:cs typeface="David" panose="020E0502060401010101" pitchFamily="34" charset="-79"/>
              </a:rPr>
              <a:t>': </a:t>
            </a:r>
            <a:r>
              <a:rPr lang="he-IL" sz="3200" dirty="0">
                <a:solidFill>
                  <a:prstClr val="black"/>
                </a:solidFill>
                <a:latin typeface="David" panose="020E0502060401010101" pitchFamily="34" charset="-79"/>
                <a:cs typeface="David" panose="020E0502060401010101" pitchFamily="34" charset="-79"/>
              </a:rPr>
              <a:t>אמר להם אהוד בואו ורדפו להרוג את כל המואבים שנמצאים בעבר הירדן, ואהוד </a:t>
            </a:r>
            <a:r>
              <a:rPr lang="he-IL" sz="3200" dirty="0" err="1">
                <a:solidFill>
                  <a:prstClr val="black"/>
                </a:solidFill>
                <a:latin typeface="David" panose="020E0502060401010101" pitchFamily="34" charset="-79"/>
                <a:cs typeface="David" panose="020E0502060401010101" pitchFamily="34" charset="-79"/>
              </a:rPr>
              <a:t>ובנ"י</a:t>
            </a:r>
            <a:r>
              <a:rPr lang="he-IL" sz="3200" dirty="0">
                <a:solidFill>
                  <a:prstClr val="black"/>
                </a:solidFill>
                <a:latin typeface="David" panose="020E0502060401010101" pitchFamily="34" charset="-79"/>
                <a:cs typeface="David" panose="020E0502060401010101" pitchFamily="34" charset="-79"/>
              </a:rPr>
              <a:t> כבשו את מעברות </a:t>
            </a:r>
            <a:r>
              <a:rPr lang="he-IL" sz="3200" dirty="0" smtClean="0">
                <a:solidFill>
                  <a:prstClr val="black"/>
                </a:solidFill>
                <a:latin typeface="David" panose="020E0502060401010101" pitchFamily="34" charset="-79"/>
                <a:cs typeface="David" panose="020E0502060401010101" pitchFamily="34" charset="-79"/>
              </a:rPr>
              <a:t>הירדן </a:t>
            </a:r>
            <a:r>
              <a:rPr lang="he-IL" sz="2800" dirty="0" smtClean="0">
                <a:solidFill>
                  <a:prstClr val="black"/>
                </a:solidFill>
                <a:latin typeface="David" panose="020E0502060401010101" pitchFamily="34" charset="-79"/>
                <a:cs typeface="David" panose="020E0502060401010101" pitchFamily="34" charset="-79"/>
              </a:rPr>
              <a:t>(מעבר נהר הירדן לארץ מואב שהייתה מעבר לירדן) </a:t>
            </a:r>
            <a:r>
              <a:rPr lang="he-IL" sz="3200" dirty="0">
                <a:solidFill>
                  <a:prstClr val="black"/>
                </a:solidFill>
                <a:latin typeface="David" panose="020E0502060401010101" pitchFamily="34" charset="-79"/>
                <a:cs typeface="David" panose="020E0502060401010101" pitchFamily="34" charset="-79"/>
              </a:rPr>
              <a:t>ולא נתנו לאיש מחיילי מואב לחצות בחזרה או הפוך.</a:t>
            </a:r>
            <a:endParaRPr lang="he-IL" sz="3200" dirty="0">
              <a:solidFill>
                <a:prstClr val="black"/>
              </a:solidFill>
              <a:latin typeface="David" panose="020E0502060401010101" pitchFamily="34" charset="-79"/>
              <a:cs typeface="David" panose="020E0502060401010101" pitchFamily="34" charset="-79"/>
            </a:endParaRPr>
          </a:p>
        </p:txBody>
      </p:sp>
      <p:sp>
        <p:nvSpPr>
          <p:cNvPr id="7" name="TextBox 6">
            <a:extLst>
              <a:ext uri="{FF2B5EF4-FFF2-40B4-BE49-F238E27FC236}">
                <a16:creationId xmlns:a16="http://schemas.microsoft.com/office/drawing/2014/main" id="{0D293768-1172-4105-A251-9275CA35E359}"/>
              </a:ext>
            </a:extLst>
          </p:cNvPr>
          <p:cNvSpPr txBox="1"/>
          <p:nvPr/>
        </p:nvSpPr>
        <p:spPr>
          <a:xfrm>
            <a:off x="6291618" y="232011"/>
            <a:ext cx="5767442" cy="3108543"/>
          </a:xfrm>
          <a:prstGeom prst="rect">
            <a:avLst/>
          </a:prstGeom>
          <a:solidFill>
            <a:schemeClr val="accent5">
              <a:lumMod val="40000"/>
              <a:lumOff val="60000"/>
            </a:schemeClr>
          </a:solid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כז</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וַיְהִי בְּבוֹאוֹ, וַיִּתְקַע בַּשּׁוֹפָר בְּהַר אֶפְרָיִם; וַיֵּרְדוּ עִמּוֹ בְנֵי-יִשְׂרָאֵל מִן-הָהָר, וְהוּא לִפְנֵיהֶם.  </a:t>
            </a:r>
            <a:endPar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כח</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וַיֹּאמֶר </a:t>
            </a:r>
            <a:r>
              <a:rPr kumimoji="0" lang="he-IL" sz="28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אֲלֵהֶם</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רִדְפוּ אַחֲרַי, כִּי-נָתַן יְהוָה </a:t>
            </a:r>
            <a:r>
              <a:rPr kumimoji="0" lang="he-IL" sz="28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אֶת-אֹיְבֵיכֶם</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אֶת-מוֹאָב בְּיֶדְכֶם; וַיֵּרְדוּ אַחֲרָיו, </a:t>
            </a:r>
            <a:r>
              <a:rPr kumimoji="0" lang="he-IL" sz="28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וַיִּלְכְּדוּ אֶת-מַעְבְּרוֹת הַיַּרְדֵּן לְמוֹאָב, וְלֹא-נָתְנוּ אִישׁ, לַעֲבֹר.  </a:t>
            </a:r>
          </a:p>
        </p:txBody>
      </p:sp>
      <p:pic>
        <p:nvPicPr>
          <p:cNvPr id="3" name="תמונה 2"/>
          <p:cNvPicPr>
            <a:picLocks noChangeAspect="1"/>
          </p:cNvPicPr>
          <p:nvPr/>
        </p:nvPicPr>
        <p:blipFill>
          <a:blip r:embed="rId3"/>
          <a:stretch>
            <a:fillRect/>
          </a:stretch>
        </p:blipFill>
        <p:spPr>
          <a:xfrm>
            <a:off x="6598038" y="3125337"/>
            <a:ext cx="3244343" cy="3478069"/>
          </a:xfrm>
          <a:prstGeom prst="rect">
            <a:avLst/>
          </a:prstGeom>
        </p:spPr>
      </p:pic>
      <p:pic>
        <p:nvPicPr>
          <p:cNvPr id="4" name="תמונה 3"/>
          <p:cNvPicPr>
            <a:picLocks noChangeAspect="1"/>
          </p:cNvPicPr>
          <p:nvPr/>
        </p:nvPicPr>
        <p:blipFill>
          <a:blip r:embed="rId4"/>
          <a:stretch>
            <a:fillRect/>
          </a:stretch>
        </p:blipFill>
        <p:spPr>
          <a:xfrm>
            <a:off x="258375" y="671484"/>
            <a:ext cx="5761219" cy="5931922"/>
          </a:xfrm>
          <a:prstGeom prst="rect">
            <a:avLst/>
          </a:prstGeom>
        </p:spPr>
      </p:pic>
      <p:sp>
        <p:nvSpPr>
          <p:cNvPr id="9" name="Google Shape;152;p7"/>
          <p:cNvSpPr/>
          <p:nvPr/>
        </p:nvSpPr>
        <p:spPr>
          <a:xfrm rot="2494176">
            <a:off x="3357139" y="2945621"/>
            <a:ext cx="1035350" cy="359432"/>
          </a:xfrm>
          <a:prstGeom prst="curvedDownArrow">
            <a:avLst>
              <a:gd name="adj1" fmla="val 34578"/>
              <a:gd name="adj2" fmla="val 69660"/>
              <a:gd name="adj3" fmla="val 63559"/>
            </a:avLst>
          </a:prstGeom>
          <a:solidFill>
            <a:schemeClr val="accent1"/>
          </a:solidFill>
          <a:ln w="15875" cap="flat" cmpd="sng">
            <a:solidFill>
              <a:srgbClr val="1D2C6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dk1"/>
              </a:solidFill>
              <a:latin typeface="Trebuchet MS"/>
              <a:ea typeface="Trebuchet MS"/>
              <a:cs typeface="Trebuchet MS"/>
              <a:sym typeface="Trebuchet MS"/>
            </a:endParaRPr>
          </a:p>
        </p:txBody>
      </p:sp>
      <p:sp>
        <p:nvSpPr>
          <p:cNvPr id="10" name="Google Shape;153;p7"/>
          <p:cNvSpPr/>
          <p:nvPr/>
        </p:nvSpPr>
        <p:spPr>
          <a:xfrm>
            <a:off x="3642891" y="2647389"/>
            <a:ext cx="432048" cy="654493"/>
          </a:xfrm>
          <a:prstGeom prst="mathMultiply">
            <a:avLst>
              <a:gd name="adj1" fmla="val 23520"/>
            </a:avLst>
          </a:prstGeom>
          <a:solidFill>
            <a:srgbClr val="FF0000"/>
          </a:solidFill>
          <a:ln w="15875" cap="flat" cmpd="sng">
            <a:solidFill>
              <a:srgbClr val="1D2C66"/>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Font typeface="Arial"/>
              <a:buNone/>
            </a:pPr>
            <a:endParaRPr kern="0">
              <a:solidFill>
                <a:srgbClr val="FFFFFF"/>
              </a:solidFill>
              <a:latin typeface="Trebuchet MS"/>
              <a:ea typeface="Trebuchet MS"/>
              <a:cs typeface="Trebuchet MS"/>
              <a:sym typeface="Trebuchet MS"/>
            </a:endParaRPr>
          </a:p>
        </p:txBody>
      </p:sp>
    </p:spTree>
    <p:extLst>
      <p:ext uri="{BB962C8B-B14F-4D97-AF65-F5344CB8AC3E}">
        <p14:creationId xmlns:p14="http://schemas.microsoft.com/office/powerpoint/2010/main" val="67224545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circle(in)">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inVertic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arn(inVertical)">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150126" y="245660"/>
            <a:ext cx="5704764" cy="3046988"/>
          </a:xfrm>
          <a:prstGeom prst="rect">
            <a:avLst/>
          </a:prstGeom>
          <a:solidFill>
            <a:schemeClr val="accent6">
              <a:lumMod val="60000"/>
              <a:lumOff val="40000"/>
            </a:schemeClr>
          </a:solidFill>
          <a:ln w="28575">
            <a:solidFill>
              <a:schemeClr val="tx1"/>
            </a:solidFill>
          </a:ln>
        </p:spPr>
        <p:txBody>
          <a:bodyPr wrap="square" rtlCol="1">
            <a:spAutoFit/>
          </a:bodyPr>
          <a:lstStyle/>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a:t>
            </a:r>
            <a:r>
              <a:rPr lang="he-IL" sz="3200" b="1" u="sng" dirty="0" err="1">
                <a:solidFill>
                  <a:prstClr val="black"/>
                </a:solidFill>
                <a:latin typeface="David" panose="020E0502060401010101" pitchFamily="34" charset="-79"/>
                <a:cs typeface="David" panose="020E0502060401010101" pitchFamily="34" charset="-79"/>
              </a:rPr>
              <a:t>כט</a:t>
            </a:r>
            <a:r>
              <a:rPr lang="he-IL" sz="3200" b="1" u="sng" dirty="0">
                <a:solidFill>
                  <a:prstClr val="black"/>
                </a:solidFill>
                <a:latin typeface="David" panose="020E0502060401010101" pitchFamily="34" charset="-79"/>
                <a:cs typeface="David" panose="020E0502060401010101" pitchFamily="34" charset="-79"/>
              </a:rPr>
              <a:t>': </a:t>
            </a:r>
            <a:r>
              <a:rPr lang="he-IL" sz="3200" dirty="0">
                <a:solidFill>
                  <a:prstClr val="black"/>
                </a:solidFill>
                <a:latin typeface="David" panose="020E0502060401010101" pitchFamily="34" charset="-79"/>
                <a:cs typeface="David" panose="020E0502060401010101" pitchFamily="34" charset="-79"/>
              </a:rPr>
              <a:t>עם ישראל הרגו במואב כעשרת אלפים איש בעל גוף חזק ואף אחד לא נמלט ממואב. </a:t>
            </a:r>
          </a:p>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ל': </a:t>
            </a:r>
            <a:r>
              <a:rPr lang="he-IL" sz="3200" dirty="0">
                <a:solidFill>
                  <a:prstClr val="black"/>
                </a:solidFill>
                <a:latin typeface="David" panose="020E0502060401010101" pitchFamily="34" charset="-79"/>
                <a:cs typeface="David" panose="020E0502060401010101" pitchFamily="34" charset="-79"/>
              </a:rPr>
              <a:t>מואב נכנעה מפני ישראל , והארץ שקטה ממלחמה במשך 80 שנה.</a:t>
            </a:r>
            <a:endParaRPr lang="he-IL" sz="3200" dirty="0">
              <a:solidFill>
                <a:prstClr val="black"/>
              </a:solidFill>
              <a:latin typeface="David" panose="020E0502060401010101" pitchFamily="34" charset="-79"/>
              <a:cs typeface="David" panose="020E0502060401010101" pitchFamily="34" charset="-79"/>
            </a:endParaRPr>
          </a:p>
        </p:txBody>
      </p:sp>
      <p:sp>
        <p:nvSpPr>
          <p:cNvPr id="4" name="TextBox 3">
            <a:extLst>
              <a:ext uri="{FF2B5EF4-FFF2-40B4-BE49-F238E27FC236}">
                <a16:creationId xmlns:a16="http://schemas.microsoft.com/office/drawing/2014/main" id="{0D293768-1172-4105-A251-9275CA35E359}"/>
              </a:ext>
            </a:extLst>
          </p:cNvPr>
          <p:cNvSpPr txBox="1"/>
          <p:nvPr/>
        </p:nvSpPr>
        <p:spPr>
          <a:xfrm>
            <a:off x="6277970" y="126873"/>
            <a:ext cx="5671908" cy="3046988"/>
          </a:xfrm>
          <a:prstGeom prst="rect">
            <a:avLst/>
          </a:prstGeom>
          <a:solidFill>
            <a:schemeClr val="accent1">
              <a:lumMod val="40000"/>
              <a:lumOff val="60000"/>
            </a:schemeClr>
          </a:solid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כט</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וַיַּכּוּ אֶת-מוֹאָב בָּעֵת הַהִיא, </a:t>
            </a:r>
            <a:r>
              <a:rPr kumimoji="0" lang="he-IL" sz="32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כַּעֲשֶׂרֶת אֲלָפִים אִישׁ-</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-כָּל-שָׁמֵן, וְכָל-אִישׁ חָיִל; וְלֹא נִמְלַט, אִישׁ.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ל</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32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וַתִּכָּנַע</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מוֹאָב בַּיּוֹם הַהוּא, תַּחַת יַד יִשְׂרָאֵל; </a:t>
            </a:r>
            <a:r>
              <a:rPr kumimoji="0" lang="he-IL" sz="3200" b="0" i="0" u="none" strike="noStrike" kern="1200" cap="none" spc="0" normalizeH="0" baseline="0" noProof="0" dirty="0" err="1">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וַתִּשְׁקֹט</a:t>
            </a:r>
            <a:r>
              <a:rPr kumimoji="0" lang="he-IL" sz="32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 הָאָרֶץ, שְׁמוֹנִים שָׁנָה.</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{פ</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a:t>
            </a:r>
            <a:endPar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pic>
        <p:nvPicPr>
          <p:cNvPr id="3" name="תמונה 2"/>
          <p:cNvPicPr>
            <a:picLocks noChangeAspect="1"/>
          </p:cNvPicPr>
          <p:nvPr/>
        </p:nvPicPr>
        <p:blipFill>
          <a:blip r:embed="rId3"/>
          <a:stretch>
            <a:fillRect/>
          </a:stretch>
        </p:blipFill>
        <p:spPr>
          <a:xfrm>
            <a:off x="709683" y="3292648"/>
            <a:ext cx="4449209" cy="3188300"/>
          </a:xfrm>
          <a:prstGeom prst="rect">
            <a:avLst/>
          </a:prstGeom>
        </p:spPr>
      </p:pic>
      <p:sp>
        <p:nvSpPr>
          <p:cNvPr id="6" name="מלבן 5"/>
          <p:cNvSpPr/>
          <p:nvPr/>
        </p:nvSpPr>
        <p:spPr>
          <a:xfrm>
            <a:off x="5854890" y="3606965"/>
            <a:ext cx="6096000" cy="2246769"/>
          </a:xfrm>
          <a:prstGeom prst="rect">
            <a:avLst/>
          </a:prstGeom>
          <a:blipFill>
            <a:blip r:embed="rId4"/>
            <a:tile tx="0" ty="0" sx="100000" sy="100000" flip="none" algn="tl"/>
          </a:blipFill>
        </p:spPr>
        <p:txBody>
          <a:bodyPr>
            <a:spAutoFit/>
          </a:bodyPr>
          <a:lstStyle/>
          <a:p>
            <a:r>
              <a:rPr lang="he-IL" sz="2800" b="1" dirty="0" smtClean="0">
                <a:latin typeface="David" panose="020E0502060401010101" pitchFamily="34" charset="-79"/>
                <a:cs typeface="David" panose="020E0502060401010101" pitchFamily="34" charset="-79"/>
              </a:rPr>
              <a:t>אחרי </a:t>
            </a:r>
            <a:r>
              <a:rPr lang="he-IL" sz="2800" b="1" dirty="0">
                <a:latin typeface="David" panose="020E0502060401010101" pitchFamily="34" charset="-79"/>
                <a:cs typeface="David" panose="020E0502060401010101" pitchFamily="34" charset="-79"/>
              </a:rPr>
              <a:t>מות אהוד היה רעב בארץ</a:t>
            </a:r>
            <a:r>
              <a:rPr lang="he-IL" sz="2800" dirty="0">
                <a:latin typeface="David" panose="020E0502060401010101" pitchFamily="34" charset="-79"/>
                <a:cs typeface="David" panose="020E0502060401010101" pitchFamily="34" charset="-79"/>
              </a:rPr>
              <a:t> שמסופר במגילת רות, אלימלך הלך למואב עם שני בניו שנישאו לשתי בנות עגלון מלך מואב, ורות ובועז והשושלת שיצאה מהם עד דוד.. בזכות הקימה שקם עגלון.</a:t>
            </a:r>
          </a:p>
        </p:txBody>
      </p:sp>
    </p:spTree>
    <p:extLst>
      <p:ext uri="{BB962C8B-B14F-4D97-AF65-F5344CB8AC3E}">
        <p14:creationId xmlns:p14="http://schemas.microsoft.com/office/powerpoint/2010/main" val="1167584337"/>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arn(inVertic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150125" y="206175"/>
            <a:ext cx="5936776" cy="2062103"/>
          </a:xfrm>
          <a:prstGeom prst="rect">
            <a:avLst/>
          </a:prstGeom>
          <a:solidFill>
            <a:schemeClr val="accent6">
              <a:lumMod val="60000"/>
              <a:lumOff val="40000"/>
            </a:schemeClr>
          </a:solidFill>
          <a:ln w="28575">
            <a:solidFill>
              <a:schemeClr val="tx1"/>
            </a:solidFill>
          </a:ln>
        </p:spPr>
        <p:txBody>
          <a:bodyPr wrap="square" rtlCol="1">
            <a:spAutoFit/>
          </a:bodyPr>
          <a:lstStyle/>
          <a:p>
            <a:pPr lvl="0"/>
            <a:r>
              <a:rPr lang="he-IL" sz="3200" b="1" u="sng" dirty="0" err="1">
                <a:solidFill>
                  <a:prstClr val="black"/>
                </a:solidFill>
                <a:latin typeface="David" panose="020E0502060401010101" pitchFamily="34" charset="-79"/>
                <a:cs typeface="David" panose="020E0502060401010101" pitchFamily="34" charset="-79"/>
              </a:rPr>
              <a:t>פ"ס</a:t>
            </a:r>
            <a:r>
              <a:rPr lang="he-IL" sz="3200" b="1" u="sng" dirty="0">
                <a:solidFill>
                  <a:prstClr val="black"/>
                </a:solidFill>
                <a:latin typeface="David" panose="020E0502060401010101" pitchFamily="34" charset="-79"/>
                <a:cs typeface="David" panose="020E0502060401010101" pitchFamily="34" charset="-79"/>
              </a:rPr>
              <a:t> לא': </a:t>
            </a:r>
            <a:r>
              <a:rPr lang="he-IL" sz="3200" dirty="0">
                <a:solidFill>
                  <a:prstClr val="black"/>
                </a:solidFill>
                <a:latin typeface="David" panose="020E0502060401010101" pitchFamily="34" charset="-79"/>
                <a:cs typeface="David" panose="020E0502060401010101" pitchFamily="34" charset="-79"/>
              </a:rPr>
              <a:t>אחרי אהוד קם שופט שלישי שמגר בן ענת והוא הכה </a:t>
            </a:r>
            <a:r>
              <a:rPr lang="he-IL" sz="3200" dirty="0" err="1">
                <a:solidFill>
                  <a:prstClr val="black"/>
                </a:solidFill>
                <a:latin typeface="David" panose="020E0502060401010101" pitchFamily="34" charset="-79"/>
                <a:cs typeface="David" panose="020E0502060401010101" pitchFamily="34" charset="-79"/>
              </a:rPr>
              <a:t>בפלשתים</a:t>
            </a:r>
            <a:r>
              <a:rPr lang="he-IL" sz="3200" dirty="0">
                <a:solidFill>
                  <a:prstClr val="black"/>
                </a:solidFill>
                <a:latin typeface="David" panose="020E0502060401010101" pitchFamily="34" charset="-79"/>
                <a:cs typeface="David" panose="020E0502060401010101" pitchFamily="34" charset="-79"/>
              </a:rPr>
              <a:t> 600 איש ע"י הדורבן שמכים בו את הבקר והיה תקופה קצרה ומת.</a:t>
            </a:r>
            <a:endPar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
        <p:nvSpPr>
          <p:cNvPr id="4" name="TextBox 3">
            <a:extLst>
              <a:ext uri="{FF2B5EF4-FFF2-40B4-BE49-F238E27FC236}">
                <a16:creationId xmlns:a16="http://schemas.microsoft.com/office/drawing/2014/main" id="{0D293768-1172-4105-A251-9275CA35E359}"/>
              </a:ext>
            </a:extLst>
          </p:cNvPr>
          <p:cNvSpPr txBox="1"/>
          <p:nvPr/>
        </p:nvSpPr>
        <p:spPr>
          <a:xfrm>
            <a:off x="6250675" y="206175"/>
            <a:ext cx="5603669" cy="1384995"/>
          </a:xfrm>
          <a:prstGeom prst="rect">
            <a:avLst/>
          </a:prstGeom>
          <a:solidFill>
            <a:schemeClr val="bg2">
              <a:lumMod val="90000"/>
            </a:schemeClr>
          </a:solid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לא</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וְאַחֲרָיו הָיָה, </a:t>
            </a:r>
            <a:r>
              <a:rPr kumimoji="0" lang="he-IL" sz="2800" b="1"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שַׁמְגַּר בֶּן-עֲנָת</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28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וַיַּך</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28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אֶת-פְּלִשְׁתִּים</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28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שֵׁשׁ-מֵאוֹת אִישׁ</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בְּמַלְמַד הַבָּקָר; </a:t>
            </a:r>
            <a:r>
              <a:rPr kumimoji="0" lang="he-IL" sz="28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וַיּוֹשַׁע</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גַּם-הוּא, אֶת-יִשְׂרָאֵל.  {פ}</a:t>
            </a:r>
          </a:p>
        </p:txBody>
      </p:sp>
      <p:pic>
        <p:nvPicPr>
          <p:cNvPr id="3" name="תמונה 2"/>
          <p:cNvPicPr>
            <a:picLocks noChangeAspect="1"/>
          </p:cNvPicPr>
          <p:nvPr/>
        </p:nvPicPr>
        <p:blipFill>
          <a:blip r:embed="rId3"/>
          <a:stretch>
            <a:fillRect/>
          </a:stretch>
        </p:blipFill>
        <p:spPr>
          <a:xfrm>
            <a:off x="5770009" y="2393007"/>
            <a:ext cx="6084335" cy="1908213"/>
          </a:xfrm>
          <a:prstGeom prst="rect">
            <a:avLst/>
          </a:prstGeom>
        </p:spPr>
      </p:pic>
      <p:pic>
        <p:nvPicPr>
          <p:cNvPr id="6" name="תמונה 5"/>
          <p:cNvPicPr>
            <a:picLocks noChangeAspect="1"/>
          </p:cNvPicPr>
          <p:nvPr/>
        </p:nvPicPr>
        <p:blipFill>
          <a:blip r:embed="rId4"/>
          <a:stretch>
            <a:fillRect/>
          </a:stretch>
        </p:blipFill>
        <p:spPr>
          <a:xfrm>
            <a:off x="596449" y="3860540"/>
            <a:ext cx="4225404" cy="2859206"/>
          </a:xfrm>
          <a:prstGeom prst="rect">
            <a:avLst/>
          </a:prstGeom>
        </p:spPr>
      </p:pic>
      <p:pic>
        <p:nvPicPr>
          <p:cNvPr id="7" name="תמונה 6"/>
          <p:cNvPicPr>
            <a:picLocks noChangeAspect="1"/>
          </p:cNvPicPr>
          <p:nvPr/>
        </p:nvPicPr>
        <p:blipFill>
          <a:blip r:embed="rId5"/>
          <a:stretch>
            <a:fillRect/>
          </a:stretch>
        </p:blipFill>
        <p:spPr>
          <a:xfrm>
            <a:off x="354421" y="2268278"/>
            <a:ext cx="5146191" cy="1592262"/>
          </a:xfrm>
          <a:prstGeom prst="rect">
            <a:avLst/>
          </a:prstGeom>
        </p:spPr>
      </p:pic>
      <p:sp>
        <p:nvSpPr>
          <p:cNvPr id="10" name="מלבן 9"/>
          <p:cNvSpPr/>
          <p:nvPr/>
        </p:nvSpPr>
        <p:spPr>
          <a:xfrm>
            <a:off x="5758344" y="4472977"/>
            <a:ext cx="6096000" cy="2246769"/>
          </a:xfrm>
          <a:prstGeom prst="rect">
            <a:avLst/>
          </a:prstGeom>
          <a:blipFill>
            <a:blip r:embed="rId6"/>
            <a:tile tx="0" ty="0" sx="100000" sy="100000" flip="none" algn="tl"/>
          </a:blipFill>
        </p:spPr>
        <p:txBody>
          <a:bodyPr>
            <a:spAutoFit/>
          </a:bodyPr>
          <a:lstStyle/>
          <a:p>
            <a:r>
              <a:rPr lang="he-IL" sz="2800" b="1" dirty="0" smtClean="0">
                <a:latin typeface="David" panose="020E0502060401010101" pitchFamily="34" charset="-79"/>
                <a:cs typeface="David" panose="020E0502060401010101" pitchFamily="34" charset="-79"/>
              </a:rPr>
              <a:t>שמגר בן ענת:</a:t>
            </a:r>
            <a:r>
              <a:rPr lang="he-IL" sz="2800" dirty="0" smtClean="0">
                <a:latin typeface="David" panose="020E0502060401010101" pitchFamily="34" charset="-79"/>
                <a:cs typeface="David" panose="020E0502060401010101" pitchFamily="34" charset="-79"/>
              </a:rPr>
              <a:t> במדרש תלפיות מביא </a:t>
            </a:r>
            <a:r>
              <a:rPr lang="he-IL" sz="2800" b="1" dirty="0" smtClean="0">
                <a:solidFill>
                  <a:srgbClr val="C00000"/>
                </a:solidFill>
                <a:latin typeface="David" panose="020E0502060401010101" pitchFamily="34" charset="-79"/>
                <a:cs typeface="David" panose="020E0502060401010101" pitchFamily="34" charset="-79"/>
              </a:rPr>
              <a:t>ששמגר זהו גרשם </a:t>
            </a:r>
            <a:r>
              <a:rPr lang="he-IL" sz="2800" dirty="0" smtClean="0">
                <a:latin typeface="David" panose="020E0502060401010101" pitchFamily="34" charset="-79"/>
                <a:cs typeface="David" panose="020E0502060401010101" pitchFamily="34" charset="-79"/>
              </a:rPr>
              <a:t>הבן של משה רבינו, וגם מסתדר שאותיות "שמגר" זה אותיות גרשם.</a:t>
            </a:r>
          </a:p>
          <a:p>
            <a:r>
              <a:rPr lang="he-IL" sz="2800" b="1" dirty="0" smtClean="0">
                <a:latin typeface="David" panose="020E0502060401010101" pitchFamily="34" charset="-79"/>
                <a:cs typeface="David" panose="020E0502060401010101" pitchFamily="34" charset="-79"/>
              </a:rPr>
              <a:t> וענת: ר"ת עבד נאמן תמים- </a:t>
            </a:r>
            <a:r>
              <a:rPr lang="he-IL" sz="2800" dirty="0" smtClean="0">
                <a:latin typeface="David" panose="020E0502060401010101" pitchFamily="34" charset="-79"/>
                <a:cs typeface="David" panose="020E0502060401010101" pitchFamily="34" charset="-79"/>
              </a:rPr>
              <a:t>שנאמר על משה "בכל ביתי נאמן הוא ".  </a:t>
            </a:r>
            <a:endParaRPr lang="he-IL" sz="28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184064471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5F72AF-2A8D-416F-AC1B-6B22FBA068A1}"/>
              </a:ext>
            </a:extLst>
          </p:cNvPr>
          <p:cNvSpPr txBox="1"/>
          <p:nvPr/>
        </p:nvSpPr>
        <p:spPr>
          <a:xfrm>
            <a:off x="6333067" y="880533"/>
            <a:ext cx="5147733" cy="4893647"/>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sng" strike="noStrike" kern="1200" cap="none" spc="0" normalizeH="0" baseline="0" noProof="0" dirty="0">
                <a:ln>
                  <a:noFill/>
                </a:ln>
                <a:solidFill>
                  <a:prstClr val="black"/>
                </a:solidFill>
                <a:effectLst/>
                <a:highlight>
                  <a:srgbClr val="00FFFF"/>
                </a:highlight>
                <a:uLnTx/>
                <a:uFillTx/>
                <a:latin typeface="David" panose="020E0502060401010101" pitchFamily="34" charset="-79"/>
                <a:ea typeface="+mn-ea"/>
                <a:cs typeface="David" panose="020E0502060401010101" pitchFamily="34" charset="-79"/>
              </a:rPr>
              <a:t>עמוד 19:</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342900" marR="0" lvl="0" indent="-342900" algn="r" defTabSz="914400" rtl="1" eaLnBrk="1" fontAlgn="auto" latinLnBrk="0" hangingPunct="1">
              <a:lnSpc>
                <a:spcPct val="100000"/>
              </a:lnSpc>
              <a:spcBef>
                <a:spcPts val="0"/>
              </a:spcBef>
              <a:spcAft>
                <a:spcPts val="0"/>
              </a:spcAft>
              <a:buClrTx/>
              <a:buSzTx/>
              <a:buFontTx/>
              <a:buAutoNum type="arabicPeriod"/>
              <a:tabLst/>
              <a:defRPr/>
            </a:pPr>
            <a:r>
              <a:rPr kumimoji="0" lang="he-IL" sz="24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מי היה עגלון?</a:t>
            </a:r>
          </a:p>
          <a:p>
            <a:pPr marL="342900" marR="0" lvl="0" indent="-342900" algn="r" defTabSz="914400" rtl="1" eaLnBrk="1" fontAlgn="auto" latinLnBrk="0" hangingPunct="1">
              <a:lnSpc>
                <a:spcPct val="100000"/>
              </a:lnSpc>
              <a:spcBef>
                <a:spcPts val="0"/>
              </a:spcBef>
              <a:spcAft>
                <a:spcPts val="0"/>
              </a:spcAft>
              <a:buClrTx/>
              <a:buSzTx/>
              <a:buFontTx/>
              <a:buAutoNum type="arabicPeriod"/>
              <a:tabLst/>
              <a:defRPr/>
            </a:pPr>
            <a:endPar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תשובה- מלך מואב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2. </a:t>
            </a:r>
            <a:r>
              <a:rPr kumimoji="0" lang="he-IL" sz="24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האם היה רב </a:t>
            </a:r>
            <a:r>
              <a:rPr kumimoji="0" lang="he-IL" sz="2400" b="1"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כח</a:t>
            </a:r>
            <a:r>
              <a:rPr kumimoji="0" lang="he-IL" sz="24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תשובה- לא, היה חלש</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3. </a:t>
            </a:r>
            <a:r>
              <a:rPr kumimoji="0" lang="he-IL" sz="24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כיצד הצליח אע"פ כן לנצח את ישראל?</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תשובה- הקב"ה חיזק אותו</a:t>
            </a:r>
          </a:p>
        </p:txBody>
      </p:sp>
      <p:sp>
        <p:nvSpPr>
          <p:cNvPr id="3" name="TextBox 2">
            <a:extLst>
              <a:ext uri="{FF2B5EF4-FFF2-40B4-BE49-F238E27FC236}">
                <a16:creationId xmlns:a16="http://schemas.microsoft.com/office/drawing/2014/main" id="{FCE17045-446C-4D16-AB03-4D60714C5161}"/>
              </a:ext>
            </a:extLst>
          </p:cNvPr>
          <p:cNvSpPr txBox="1"/>
          <p:nvPr/>
        </p:nvSpPr>
        <p:spPr>
          <a:xfrm>
            <a:off x="1117600" y="925689"/>
            <a:ext cx="4526844" cy="3785652"/>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4</a:t>
            </a:r>
            <a:r>
              <a:rPr kumimoji="0" lang="he-IL" sz="20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את מי צירף אליו עגלון למלחמה נגד ישראל?</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תשובה- עמלק ועמון</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5. איזו עיר נכבשה על ידי עגלון?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תשובה- יריחו עיר התמרים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6</a:t>
            </a:r>
            <a:r>
              <a:rPr kumimoji="0" lang="he-IL" sz="20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כמה שני שיעבד עגלון את ישראל?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תשובה- 18 שנה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Tree>
    <p:extLst>
      <p:ext uri="{BB962C8B-B14F-4D97-AF65-F5344CB8AC3E}">
        <p14:creationId xmlns:p14="http://schemas.microsoft.com/office/powerpoint/2010/main" val="3540400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wipe(down)">
                                      <p:cBhvr>
                                        <p:cTn id="13" dur="500"/>
                                        <p:tgtEl>
                                          <p:spTgt spid="2">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
                                            <p:txEl>
                                              <p:pRg st="6" end="6"/>
                                            </p:txEl>
                                          </p:spTgt>
                                        </p:tgtEl>
                                        <p:attrNameLst>
                                          <p:attrName>style.visibility</p:attrName>
                                        </p:attrNameLst>
                                      </p:cBhvr>
                                      <p:to>
                                        <p:strVal val="visible"/>
                                      </p:to>
                                    </p:set>
                                    <p:anim calcmode="lin" valueType="num">
                                      <p:cBhvr additive="base">
                                        <p:cTn id="18"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2">
                                            <p:txEl>
                                              <p:pRg st="8" end="8"/>
                                            </p:txEl>
                                          </p:spTgt>
                                        </p:tgtEl>
                                        <p:attrNameLst>
                                          <p:attrName>style.visibility</p:attrName>
                                        </p:attrNameLst>
                                      </p:cBhvr>
                                      <p:to>
                                        <p:strVal val="visible"/>
                                      </p:to>
                                    </p:set>
                                    <p:animEffect transition="in" filter="wipe(down)">
                                      <p:cBhvr>
                                        <p:cTn id="24" dur="500"/>
                                        <p:tgtEl>
                                          <p:spTgt spid="2">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
                                            <p:txEl>
                                              <p:pRg st="10" end="10"/>
                                            </p:txEl>
                                          </p:spTgt>
                                        </p:tgtEl>
                                        <p:attrNameLst>
                                          <p:attrName>style.visibility</p:attrName>
                                        </p:attrNameLst>
                                      </p:cBhvr>
                                      <p:to>
                                        <p:strVal val="visible"/>
                                      </p:to>
                                    </p:set>
                                    <p:anim calcmode="lin" valueType="num">
                                      <p:cBhvr additive="base">
                                        <p:cTn id="29"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2">
                                            <p:txEl>
                                              <p:pRg st="12" end="12"/>
                                            </p:txEl>
                                          </p:spTgt>
                                        </p:tgtEl>
                                        <p:attrNameLst>
                                          <p:attrName>style.visibility</p:attrName>
                                        </p:attrNameLst>
                                      </p:cBhvr>
                                      <p:to>
                                        <p:strVal val="visible"/>
                                      </p:to>
                                    </p:set>
                                    <p:animEffect transition="in" filter="barn(inVertical)">
                                      <p:cBhvr>
                                        <p:cTn id="35" dur="500"/>
                                        <p:tgtEl>
                                          <p:spTgt spid="2">
                                            <p:txEl>
                                              <p:pRg st="12" end="1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3">
                                            <p:txEl>
                                              <p:pRg st="0" end="0"/>
                                            </p:txEl>
                                          </p:spTgt>
                                        </p:tgtEl>
                                        <p:attrNameLst>
                                          <p:attrName>style.visibility</p:attrName>
                                        </p:attrNameLst>
                                      </p:cBhvr>
                                      <p:to>
                                        <p:strVal val="visible"/>
                                      </p:to>
                                    </p:set>
                                    <p:anim calcmode="lin" valueType="num">
                                      <p:cBhvr additive="base">
                                        <p:cTn id="40"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animEffect transition="in" filter="barn(inVertical)">
                                      <p:cBhvr>
                                        <p:cTn id="46" dur="500"/>
                                        <p:tgtEl>
                                          <p:spTgt spid="3">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3">
                                            <p:txEl>
                                              <p:pRg st="4" end="4"/>
                                            </p:txEl>
                                          </p:spTgt>
                                        </p:tgtEl>
                                        <p:attrNameLst>
                                          <p:attrName>style.visibility</p:attrName>
                                        </p:attrNameLst>
                                      </p:cBhvr>
                                      <p:to>
                                        <p:strVal val="visible"/>
                                      </p:to>
                                    </p:set>
                                    <p:animEffect transition="in" filter="wipe(down)">
                                      <p:cBhvr>
                                        <p:cTn id="51" dur="500"/>
                                        <p:tgtEl>
                                          <p:spTgt spid="3">
                                            <p:txEl>
                                              <p:pRg st="4" end="4"/>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Effect transition="in" filter="wipe(down)">
                                      <p:cBhvr>
                                        <p:cTn id="56" dur="500"/>
                                        <p:tgtEl>
                                          <p:spTgt spid="3">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animEffect transition="in" filter="fade">
                                      <p:cBhvr>
                                        <p:cTn id="61" dur="500"/>
                                        <p:tgtEl>
                                          <p:spTgt spid="3">
                                            <p:txEl>
                                              <p:pRg st="8" end="8"/>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nodeType="clickEffect">
                                  <p:stCondLst>
                                    <p:cond delay="0"/>
                                  </p:stCondLst>
                                  <p:childTnLst>
                                    <p:set>
                                      <p:cBhvr>
                                        <p:cTn id="65" dur="1" fill="hold">
                                          <p:stCondLst>
                                            <p:cond delay="0"/>
                                          </p:stCondLst>
                                        </p:cTn>
                                        <p:tgtEl>
                                          <p:spTgt spid="3">
                                            <p:txEl>
                                              <p:pRg st="10" end="10"/>
                                            </p:txEl>
                                          </p:spTgt>
                                        </p:tgtEl>
                                        <p:attrNameLst>
                                          <p:attrName>style.visibility</p:attrName>
                                        </p:attrNameLst>
                                      </p:cBhvr>
                                      <p:to>
                                        <p:strVal val="visible"/>
                                      </p:to>
                                    </p:set>
                                    <p:animEffect transition="in" filter="barn(inVertical)">
                                      <p:cBhvr>
                                        <p:cTn id="66"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86EE5B-359C-41DB-9CE4-C2D463673743}"/>
              </a:ext>
            </a:extLst>
          </p:cNvPr>
          <p:cNvSpPr txBox="1"/>
          <p:nvPr/>
        </p:nvSpPr>
        <p:spPr>
          <a:xfrm>
            <a:off x="6400799" y="485422"/>
            <a:ext cx="5396089" cy="532453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עמוד 20:</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א. </a:t>
            </a:r>
            <a:r>
              <a:rPr kumimoji="0" lang="he-IL" sz="20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הסבירו "איטר יד ימין" מי היה כזה?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תשובה- אדם שהוא שמאלי, אהוד בן גרא</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ב. מדוע מזכירים זאת?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תשובה- כי אדם ימני זה יותר מצוי</a:t>
            </a:r>
            <a:r>
              <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ג. בידי מי שלחנו בני ישראל מנחה לעגלון ומדוע?</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תשובה- בידי אהוד בן גרא להראות שהוא חשוב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ד. עגלון איש בריא מה הכוונה?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שהיה אדם שמן</a:t>
            </a:r>
          </a:p>
        </p:txBody>
      </p:sp>
      <p:sp>
        <p:nvSpPr>
          <p:cNvPr id="3" name="TextBox 2">
            <a:extLst>
              <a:ext uri="{FF2B5EF4-FFF2-40B4-BE49-F238E27FC236}">
                <a16:creationId xmlns:a16="http://schemas.microsoft.com/office/drawing/2014/main" id="{A242B925-9080-41AB-AC58-AAB1B541B1BE}"/>
              </a:ext>
            </a:extLst>
          </p:cNvPr>
          <p:cNvSpPr txBox="1"/>
          <p:nvPr/>
        </p:nvSpPr>
        <p:spPr>
          <a:xfrm>
            <a:off x="699911" y="293511"/>
            <a:ext cx="5396089" cy="6924973"/>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highlight>
                  <a:srgbClr val="00FFFF"/>
                </a:highlight>
                <a:uLnTx/>
                <a:uFillTx/>
                <a:latin typeface="David" panose="020E0502060401010101" pitchFamily="34" charset="-79"/>
                <a:ea typeface="+mn-ea"/>
                <a:cs typeface="David" panose="020E0502060401010101" pitchFamily="34" charset="-79"/>
              </a:rPr>
              <a:t>עמוד 21: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342900" marR="0" lvl="0" indent="-342900" algn="r" defTabSz="914400" rtl="1" eaLnBrk="1" fontAlgn="auto" latinLnBrk="0" hangingPunct="1">
              <a:lnSpc>
                <a:spcPct val="100000"/>
              </a:lnSpc>
              <a:spcBef>
                <a:spcPts val="0"/>
              </a:spcBef>
              <a:spcAft>
                <a:spcPts val="0"/>
              </a:spcAft>
              <a:buClrTx/>
              <a:buSzTx/>
              <a:buFontTx/>
              <a:buAutoNum type="arabicPeriod"/>
              <a:tabLst/>
              <a:defRPr/>
            </a:pPr>
            <a:r>
              <a:rPr kumimoji="0" lang="he-IL" sz="24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את מי שלח אהוד לביתם? </a:t>
            </a:r>
          </a:p>
          <a:p>
            <a:pPr marL="342900" marR="0" lvl="0" indent="-342900" algn="r" defTabSz="914400" rtl="1" eaLnBrk="1" fontAlgn="auto" latinLnBrk="0" hangingPunct="1">
              <a:lnSpc>
                <a:spcPct val="100000"/>
              </a:lnSpc>
              <a:spcBef>
                <a:spcPts val="0"/>
              </a:spcBef>
              <a:spcAft>
                <a:spcPts val="0"/>
              </a:spcAft>
              <a:buClrTx/>
              <a:buSzTx/>
              <a:buFontTx/>
              <a:buAutoNum type="arabicPeriod"/>
              <a:tabLst/>
              <a:defRPr/>
            </a:pPr>
            <a:endPar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תשובה- העם שנשאו את המנחה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2. </a:t>
            </a:r>
            <a:r>
              <a:rPr kumimoji="0" lang="he-IL" sz="24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מה עשה אהוד כדי שעגלון יהיה לבדו?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תשובה- אמר שיש לו דבר סודי לומר לו.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3. </a:t>
            </a:r>
            <a:r>
              <a:rPr kumimoji="0" lang="he-IL" sz="24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מהם דברי אהוד? ומה אמר לו עגלון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תשובה- דבר אלוקים לי אליך. ועגלון נעמד</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4. </a:t>
            </a:r>
            <a:r>
              <a:rPr kumimoji="0" lang="he-IL" sz="24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מה פרוש "בעלית המקרה"?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תשובה- מקום בגג שבו היה מתקרר מהחום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16233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arn(inVertical)">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barn(inVertical)">
                                      <p:cBhvr>
                                        <p:cTn id="18" dur="500"/>
                                        <p:tgtEl>
                                          <p:spTgt spid="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Effect transition="in" filter="wipe(down)">
                                      <p:cBhvr>
                                        <p:cTn id="23" dur="500"/>
                                        <p:tgtEl>
                                          <p:spTgt spid="2">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
                                            <p:txEl>
                                              <p:pRg st="8" end="8"/>
                                            </p:txEl>
                                          </p:spTgt>
                                        </p:tgtEl>
                                        <p:attrNameLst>
                                          <p:attrName>style.visibility</p:attrName>
                                        </p:attrNameLst>
                                      </p:cBhvr>
                                      <p:to>
                                        <p:strVal val="visible"/>
                                      </p:to>
                                    </p:set>
                                    <p:animEffect transition="in" filter="wipe(down)">
                                      <p:cBhvr>
                                        <p:cTn id="28" dur="500"/>
                                        <p:tgtEl>
                                          <p:spTgt spid="2">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animEffect transition="in" filter="wipe(down)">
                                      <p:cBhvr>
                                        <p:cTn id="33" dur="500"/>
                                        <p:tgtEl>
                                          <p:spTgt spid="2">
                                            <p:txEl>
                                              <p:pRg st="10" end="1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
                                            <p:txEl>
                                              <p:pRg st="12" end="12"/>
                                            </p:txEl>
                                          </p:spTgt>
                                        </p:tgtEl>
                                        <p:attrNameLst>
                                          <p:attrName>style.visibility</p:attrName>
                                        </p:attrNameLst>
                                      </p:cBhvr>
                                      <p:to>
                                        <p:strVal val="visible"/>
                                      </p:to>
                                    </p:set>
                                    <p:animEffect transition="in" filter="wipe(down)">
                                      <p:cBhvr>
                                        <p:cTn id="38" dur="500"/>
                                        <p:tgtEl>
                                          <p:spTgt spid="2">
                                            <p:txEl>
                                              <p:pRg st="12" end="1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nodeType="clickEffect">
                                  <p:stCondLst>
                                    <p:cond delay="0"/>
                                  </p:stCondLst>
                                  <p:childTnLst>
                                    <p:set>
                                      <p:cBhvr>
                                        <p:cTn id="42" dur="1" fill="hold">
                                          <p:stCondLst>
                                            <p:cond delay="0"/>
                                          </p:stCondLst>
                                        </p:cTn>
                                        <p:tgtEl>
                                          <p:spTgt spid="2">
                                            <p:txEl>
                                              <p:pRg st="14" end="14"/>
                                            </p:txEl>
                                          </p:spTgt>
                                        </p:tgtEl>
                                        <p:attrNameLst>
                                          <p:attrName>style.visibility</p:attrName>
                                        </p:attrNameLst>
                                      </p:cBhvr>
                                      <p:to>
                                        <p:strVal val="visible"/>
                                      </p:to>
                                    </p:set>
                                    <p:animEffect transition="in" filter="circle(in)">
                                      <p:cBhvr>
                                        <p:cTn id="43" dur="2000"/>
                                        <p:tgtEl>
                                          <p:spTgt spid="2">
                                            <p:txEl>
                                              <p:pRg st="14" end="1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2">
                                            <p:txEl>
                                              <p:pRg st="16" end="16"/>
                                            </p:txEl>
                                          </p:spTgt>
                                        </p:tgtEl>
                                        <p:attrNameLst>
                                          <p:attrName>style.visibility</p:attrName>
                                        </p:attrNameLst>
                                      </p:cBhvr>
                                      <p:to>
                                        <p:strVal val="visible"/>
                                      </p:to>
                                    </p:set>
                                    <p:animEffect transition="in" filter="wipe(down)">
                                      <p:cBhvr>
                                        <p:cTn id="48" dur="500"/>
                                        <p:tgtEl>
                                          <p:spTgt spid="2">
                                            <p:txEl>
                                              <p:pRg st="16" end="16"/>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3">
                                            <p:txEl>
                                              <p:pRg st="0" end="0"/>
                                            </p:txEl>
                                          </p:spTgt>
                                        </p:tgtEl>
                                        <p:attrNameLst>
                                          <p:attrName>style.visibility</p:attrName>
                                        </p:attrNameLst>
                                      </p:cBhvr>
                                      <p:to>
                                        <p:strVal val="visible"/>
                                      </p:to>
                                    </p:set>
                                    <p:animEffect transition="in" filter="fade">
                                      <p:cBhvr>
                                        <p:cTn id="53" dur="1000"/>
                                        <p:tgtEl>
                                          <p:spTgt spid="3">
                                            <p:txEl>
                                              <p:pRg st="0" end="0"/>
                                            </p:txEl>
                                          </p:spTgt>
                                        </p:tgtEl>
                                      </p:cBhvr>
                                    </p:animEffect>
                                    <p:anim calcmode="lin" valueType="num">
                                      <p:cBhvr>
                                        <p:cTn id="5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3">
                                            <p:txEl>
                                              <p:pRg st="2" end="2"/>
                                            </p:txEl>
                                          </p:spTgt>
                                        </p:tgtEl>
                                        <p:attrNameLst>
                                          <p:attrName>style.visibility</p:attrName>
                                        </p:attrNameLst>
                                      </p:cBhvr>
                                      <p:to>
                                        <p:strVal val="visible"/>
                                      </p:to>
                                    </p:set>
                                    <p:animEffect transition="in" filter="wipe(down)">
                                      <p:cBhvr>
                                        <p:cTn id="60" dur="500"/>
                                        <p:tgtEl>
                                          <p:spTgt spid="3">
                                            <p:txEl>
                                              <p:pRg st="2" end="2"/>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6" presetClass="entr" presetSubtype="16" fill="hold" nodeType="clickEffect">
                                  <p:stCondLst>
                                    <p:cond delay="0"/>
                                  </p:stCondLst>
                                  <p:childTnLst>
                                    <p:set>
                                      <p:cBhvr>
                                        <p:cTn id="64" dur="1" fill="hold">
                                          <p:stCondLst>
                                            <p:cond delay="0"/>
                                          </p:stCondLst>
                                        </p:cTn>
                                        <p:tgtEl>
                                          <p:spTgt spid="3">
                                            <p:txEl>
                                              <p:pRg st="4" end="4"/>
                                            </p:txEl>
                                          </p:spTgt>
                                        </p:tgtEl>
                                        <p:attrNameLst>
                                          <p:attrName>style.visibility</p:attrName>
                                        </p:attrNameLst>
                                      </p:cBhvr>
                                      <p:to>
                                        <p:strVal val="visible"/>
                                      </p:to>
                                    </p:set>
                                    <p:animEffect transition="in" filter="circle(in)">
                                      <p:cBhvr>
                                        <p:cTn id="65" dur="2000"/>
                                        <p:tgtEl>
                                          <p:spTgt spid="3">
                                            <p:txEl>
                                              <p:pRg st="4" end="4"/>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3">
                                            <p:txEl>
                                              <p:pRg st="6" end="6"/>
                                            </p:txEl>
                                          </p:spTgt>
                                        </p:tgtEl>
                                        <p:attrNameLst>
                                          <p:attrName>style.visibility</p:attrName>
                                        </p:attrNameLst>
                                      </p:cBhvr>
                                      <p:to>
                                        <p:strVal val="visible"/>
                                      </p:to>
                                    </p:set>
                                    <p:animEffect transition="in" filter="wipe(down)">
                                      <p:cBhvr>
                                        <p:cTn id="70" dur="500"/>
                                        <p:tgtEl>
                                          <p:spTgt spid="3">
                                            <p:txEl>
                                              <p:pRg st="6" end="6"/>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6" presetClass="entr" presetSubtype="21" fill="hold" nodeType="clickEffect">
                                  <p:stCondLst>
                                    <p:cond delay="0"/>
                                  </p:stCondLst>
                                  <p:childTnLst>
                                    <p:set>
                                      <p:cBhvr>
                                        <p:cTn id="78" dur="1" fill="hold">
                                          <p:stCondLst>
                                            <p:cond delay="0"/>
                                          </p:stCondLst>
                                        </p:cTn>
                                        <p:tgtEl>
                                          <p:spTgt spid="3">
                                            <p:txEl>
                                              <p:pRg st="10" end="10"/>
                                            </p:txEl>
                                          </p:spTgt>
                                        </p:tgtEl>
                                        <p:attrNameLst>
                                          <p:attrName>style.visibility</p:attrName>
                                        </p:attrNameLst>
                                      </p:cBhvr>
                                      <p:to>
                                        <p:strVal val="visible"/>
                                      </p:to>
                                    </p:set>
                                    <p:animEffect transition="in" filter="barn(inVertical)">
                                      <p:cBhvr>
                                        <p:cTn id="79" dur="500"/>
                                        <p:tgtEl>
                                          <p:spTgt spid="3">
                                            <p:txEl>
                                              <p:pRg st="10" end="1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6" presetClass="entr" presetSubtype="0" fill="hold" nodeType="clickEffect">
                                  <p:stCondLst>
                                    <p:cond delay="0"/>
                                  </p:stCondLst>
                                  <p:childTnLst>
                                    <p:set>
                                      <p:cBhvr>
                                        <p:cTn id="83" dur="1" fill="hold">
                                          <p:stCondLst>
                                            <p:cond delay="0"/>
                                          </p:stCondLst>
                                        </p:cTn>
                                        <p:tgtEl>
                                          <p:spTgt spid="3">
                                            <p:txEl>
                                              <p:pRg st="12" end="12"/>
                                            </p:txEl>
                                          </p:spTgt>
                                        </p:tgtEl>
                                        <p:attrNameLst>
                                          <p:attrName>style.visibility</p:attrName>
                                        </p:attrNameLst>
                                      </p:cBhvr>
                                      <p:to>
                                        <p:strVal val="visible"/>
                                      </p:to>
                                    </p:set>
                                    <p:animEffect transition="in" filter="wipe(down)">
                                      <p:cBhvr>
                                        <p:cTn id="84" dur="580">
                                          <p:stCondLst>
                                            <p:cond delay="0"/>
                                          </p:stCondLst>
                                        </p:cTn>
                                        <p:tgtEl>
                                          <p:spTgt spid="3">
                                            <p:txEl>
                                              <p:pRg st="12" end="12"/>
                                            </p:txEl>
                                          </p:spTgt>
                                        </p:tgtEl>
                                      </p:cBhvr>
                                    </p:animEffect>
                                    <p:anim calcmode="lin" valueType="num">
                                      <p:cBhvr>
                                        <p:cTn id="85" dur="1822" tmFilter="0,0; 0.14,0.36; 0.43,0.73; 0.71,0.91; 1.0,1.0">
                                          <p:stCondLst>
                                            <p:cond delay="0"/>
                                          </p:stCondLst>
                                        </p:cTn>
                                        <p:tgtEl>
                                          <p:spTgt spid="3">
                                            <p:txEl>
                                              <p:pRg st="12" end="12"/>
                                            </p:txEl>
                                          </p:spTgt>
                                        </p:tgtEl>
                                        <p:attrNameLst>
                                          <p:attrName>ppt_x</p:attrName>
                                        </p:attrNameLst>
                                      </p:cBhvr>
                                      <p:tavLst>
                                        <p:tav tm="0">
                                          <p:val>
                                            <p:strVal val="#ppt_x-0.25"/>
                                          </p:val>
                                        </p:tav>
                                        <p:tav tm="100000">
                                          <p:val>
                                            <p:strVal val="#ppt_x"/>
                                          </p:val>
                                        </p:tav>
                                      </p:tavLst>
                                    </p:anim>
                                    <p:anim calcmode="lin" valueType="num">
                                      <p:cBhvr>
                                        <p:cTn id="86" dur="664" tmFilter="0.0,0.0; 0.25,0.07; 0.50,0.2; 0.75,0.467; 1.0,1.0">
                                          <p:stCondLst>
                                            <p:cond delay="0"/>
                                          </p:stCondLst>
                                        </p:cTn>
                                        <p:tgtEl>
                                          <p:spTgt spid="3">
                                            <p:txEl>
                                              <p:pRg st="12" end="12"/>
                                            </p:txEl>
                                          </p:spTgt>
                                        </p:tgtEl>
                                        <p:attrNameLst>
                                          <p:attrName>ppt_y</p:attrName>
                                        </p:attrNameLst>
                                      </p:cBhvr>
                                      <p:tavLst>
                                        <p:tav tm="0" fmla="#ppt_y-sin(pi*$)/3">
                                          <p:val>
                                            <p:fltVal val="0.5"/>
                                          </p:val>
                                        </p:tav>
                                        <p:tav tm="100000">
                                          <p:val>
                                            <p:fltVal val="1"/>
                                          </p:val>
                                        </p:tav>
                                      </p:tavLst>
                                    </p:anim>
                                    <p:anim calcmode="lin" valueType="num">
                                      <p:cBhvr>
                                        <p:cTn id="87" dur="664" tmFilter="0, 0; 0.125,0.2665; 0.25,0.4; 0.375,0.465; 0.5,0.5;  0.625,0.535; 0.75,0.6; 0.875,0.7335; 1,1">
                                          <p:stCondLst>
                                            <p:cond delay="664"/>
                                          </p:stCondLst>
                                        </p:cTn>
                                        <p:tgtEl>
                                          <p:spTgt spid="3">
                                            <p:txEl>
                                              <p:pRg st="12" end="12"/>
                                            </p:txEl>
                                          </p:spTgt>
                                        </p:tgtEl>
                                        <p:attrNameLst>
                                          <p:attrName>ppt_y</p:attrName>
                                        </p:attrNameLst>
                                      </p:cBhvr>
                                      <p:tavLst>
                                        <p:tav tm="0" fmla="#ppt_y-sin(pi*$)/9">
                                          <p:val>
                                            <p:fltVal val="0"/>
                                          </p:val>
                                        </p:tav>
                                        <p:tav tm="100000">
                                          <p:val>
                                            <p:fltVal val="1"/>
                                          </p:val>
                                        </p:tav>
                                      </p:tavLst>
                                    </p:anim>
                                    <p:anim calcmode="lin" valueType="num">
                                      <p:cBhvr>
                                        <p:cTn id="88" dur="332" tmFilter="0, 0; 0.125,0.2665; 0.25,0.4; 0.375,0.465; 0.5,0.5;  0.625,0.535; 0.75,0.6; 0.875,0.7335; 1,1">
                                          <p:stCondLst>
                                            <p:cond delay="1324"/>
                                          </p:stCondLst>
                                        </p:cTn>
                                        <p:tgtEl>
                                          <p:spTgt spid="3">
                                            <p:txEl>
                                              <p:pRg st="12" end="12"/>
                                            </p:txEl>
                                          </p:spTgt>
                                        </p:tgtEl>
                                        <p:attrNameLst>
                                          <p:attrName>ppt_y</p:attrName>
                                        </p:attrNameLst>
                                      </p:cBhvr>
                                      <p:tavLst>
                                        <p:tav tm="0" fmla="#ppt_y-sin(pi*$)/27">
                                          <p:val>
                                            <p:fltVal val="0"/>
                                          </p:val>
                                        </p:tav>
                                        <p:tav tm="100000">
                                          <p:val>
                                            <p:fltVal val="1"/>
                                          </p:val>
                                        </p:tav>
                                      </p:tavLst>
                                    </p:anim>
                                    <p:anim calcmode="lin" valueType="num">
                                      <p:cBhvr>
                                        <p:cTn id="89" dur="164" tmFilter="0, 0; 0.125,0.2665; 0.25,0.4; 0.375,0.465; 0.5,0.5;  0.625,0.535; 0.75,0.6; 0.875,0.7335; 1,1">
                                          <p:stCondLst>
                                            <p:cond delay="1656"/>
                                          </p:stCondLst>
                                        </p:cTn>
                                        <p:tgtEl>
                                          <p:spTgt spid="3">
                                            <p:txEl>
                                              <p:pRg st="12" end="12"/>
                                            </p:txEl>
                                          </p:spTgt>
                                        </p:tgtEl>
                                        <p:attrNameLst>
                                          <p:attrName>ppt_y</p:attrName>
                                        </p:attrNameLst>
                                      </p:cBhvr>
                                      <p:tavLst>
                                        <p:tav tm="0" fmla="#ppt_y-sin(pi*$)/81">
                                          <p:val>
                                            <p:fltVal val="0"/>
                                          </p:val>
                                        </p:tav>
                                        <p:tav tm="100000">
                                          <p:val>
                                            <p:fltVal val="1"/>
                                          </p:val>
                                        </p:tav>
                                      </p:tavLst>
                                    </p:anim>
                                    <p:animScale>
                                      <p:cBhvr>
                                        <p:cTn id="90" dur="26">
                                          <p:stCondLst>
                                            <p:cond delay="650"/>
                                          </p:stCondLst>
                                        </p:cTn>
                                        <p:tgtEl>
                                          <p:spTgt spid="3">
                                            <p:txEl>
                                              <p:pRg st="12" end="12"/>
                                            </p:txEl>
                                          </p:spTgt>
                                        </p:tgtEl>
                                      </p:cBhvr>
                                      <p:to x="100000" y="60000"/>
                                    </p:animScale>
                                    <p:animScale>
                                      <p:cBhvr>
                                        <p:cTn id="91" dur="166" decel="50000">
                                          <p:stCondLst>
                                            <p:cond delay="676"/>
                                          </p:stCondLst>
                                        </p:cTn>
                                        <p:tgtEl>
                                          <p:spTgt spid="3">
                                            <p:txEl>
                                              <p:pRg st="12" end="12"/>
                                            </p:txEl>
                                          </p:spTgt>
                                        </p:tgtEl>
                                      </p:cBhvr>
                                      <p:to x="100000" y="100000"/>
                                    </p:animScale>
                                    <p:animScale>
                                      <p:cBhvr>
                                        <p:cTn id="92" dur="26">
                                          <p:stCondLst>
                                            <p:cond delay="1312"/>
                                          </p:stCondLst>
                                        </p:cTn>
                                        <p:tgtEl>
                                          <p:spTgt spid="3">
                                            <p:txEl>
                                              <p:pRg st="12" end="12"/>
                                            </p:txEl>
                                          </p:spTgt>
                                        </p:tgtEl>
                                      </p:cBhvr>
                                      <p:to x="100000" y="80000"/>
                                    </p:animScale>
                                    <p:animScale>
                                      <p:cBhvr>
                                        <p:cTn id="93" dur="166" decel="50000">
                                          <p:stCondLst>
                                            <p:cond delay="1338"/>
                                          </p:stCondLst>
                                        </p:cTn>
                                        <p:tgtEl>
                                          <p:spTgt spid="3">
                                            <p:txEl>
                                              <p:pRg st="12" end="12"/>
                                            </p:txEl>
                                          </p:spTgt>
                                        </p:tgtEl>
                                      </p:cBhvr>
                                      <p:to x="100000" y="100000"/>
                                    </p:animScale>
                                    <p:animScale>
                                      <p:cBhvr>
                                        <p:cTn id="94" dur="26">
                                          <p:stCondLst>
                                            <p:cond delay="1642"/>
                                          </p:stCondLst>
                                        </p:cTn>
                                        <p:tgtEl>
                                          <p:spTgt spid="3">
                                            <p:txEl>
                                              <p:pRg st="12" end="12"/>
                                            </p:txEl>
                                          </p:spTgt>
                                        </p:tgtEl>
                                      </p:cBhvr>
                                      <p:to x="100000" y="90000"/>
                                    </p:animScale>
                                    <p:animScale>
                                      <p:cBhvr>
                                        <p:cTn id="95" dur="166" decel="50000">
                                          <p:stCondLst>
                                            <p:cond delay="1668"/>
                                          </p:stCondLst>
                                        </p:cTn>
                                        <p:tgtEl>
                                          <p:spTgt spid="3">
                                            <p:txEl>
                                              <p:pRg st="12" end="12"/>
                                            </p:txEl>
                                          </p:spTgt>
                                        </p:tgtEl>
                                      </p:cBhvr>
                                      <p:to x="100000" y="100000"/>
                                    </p:animScale>
                                    <p:animScale>
                                      <p:cBhvr>
                                        <p:cTn id="96" dur="26">
                                          <p:stCondLst>
                                            <p:cond delay="1808"/>
                                          </p:stCondLst>
                                        </p:cTn>
                                        <p:tgtEl>
                                          <p:spTgt spid="3">
                                            <p:txEl>
                                              <p:pRg st="12" end="12"/>
                                            </p:txEl>
                                          </p:spTgt>
                                        </p:tgtEl>
                                      </p:cBhvr>
                                      <p:to x="100000" y="95000"/>
                                    </p:animScale>
                                    <p:animScale>
                                      <p:cBhvr>
                                        <p:cTn id="97" dur="166" decel="50000">
                                          <p:stCondLst>
                                            <p:cond delay="1834"/>
                                          </p:stCondLst>
                                        </p:cTn>
                                        <p:tgtEl>
                                          <p:spTgt spid="3">
                                            <p:txEl>
                                              <p:pRg st="12" end="12"/>
                                            </p:txEl>
                                          </p:spTgt>
                                        </p:tgtEl>
                                      </p:cBhvr>
                                      <p:to x="100000" y="100000"/>
                                    </p:animScale>
                                  </p:childTnLst>
                                </p:cTn>
                              </p:par>
                            </p:childTnLst>
                          </p:cTn>
                        </p:par>
                      </p:childTnLst>
                    </p:cTn>
                  </p:par>
                  <p:par>
                    <p:cTn id="98" fill="hold">
                      <p:stCondLst>
                        <p:cond delay="indefinite"/>
                      </p:stCondLst>
                      <p:childTnLst>
                        <p:par>
                          <p:cTn id="99" fill="hold">
                            <p:stCondLst>
                              <p:cond delay="0"/>
                            </p:stCondLst>
                            <p:childTnLst>
                              <p:par>
                                <p:cTn id="100" presetID="45" presetClass="entr" presetSubtype="0" fill="hold" nodeType="clickEffect">
                                  <p:stCondLst>
                                    <p:cond delay="0"/>
                                  </p:stCondLst>
                                  <p:childTnLst>
                                    <p:set>
                                      <p:cBhvr>
                                        <p:cTn id="101" dur="1" fill="hold">
                                          <p:stCondLst>
                                            <p:cond delay="0"/>
                                          </p:stCondLst>
                                        </p:cTn>
                                        <p:tgtEl>
                                          <p:spTgt spid="3">
                                            <p:txEl>
                                              <p:pRg st="14" end="14"/>
                                            </p:txEl>
                                          </p:spTgt>
                                        </p:tgtEl>
                                        <p:attrNameLst>
                                          <p:attrName>style.visibility</p:attrName>
                                        </p:attrNameLst>
                                      </p:cBhvr>
                                      <p:to>
                                        <p:strVal val="visible"/>
                                      </p:to>
                                    </p:set>
                                    <p:animEffect transition="in" filter="fade">
                                      <p:cBhvr>
                                        <p:cTn id="102" dur="2000"/>
                                        <p:tgtEl>
                                          <p:spTgt spid="3">
                                            <p:txEl>
                                              <p:pRg st="14" end="14"/>
                                            </p:txEl>
                                          </p:spTgt>
                                        </p:tgtEl>
                                      </p:cBhvr>
                                    </p:animEffect>
                                    <p:anim calcmode="lin" valueType="num">
                                      <p:cBhvr>
                                        <p:cTn id="103" dur="2000" fill="hold"/>
                                        <p:tgtEl>
                                          <p:spTgt spid="3">
                                            <p:txEl>
                                              <p:pRg st="14" end="14"/>
                                            </p:txEl>
                                          </p:spTgt>
                                        </p:tgtEl>
                                        <p:attrNameLst>
                                          <p:attrName>ppt_w</p:attrName>
                                        </p:attrNameLst>
                                      </p:cBhvr>
                                      <p:tavLst>
                                        <p:tav tm="0" fmla="#ppt_w*sin(2.5*pi*$)">
                                          <p:val>
                                            <p:fltVal val="0"/>
                                          </p:val>
                                        </p:tav>
                                        <p:tav tm="100000">
                                          <p:val>
                                            <p:fltVal val="1"/>
                                          </p:val>
                                        </p:tav>
                                      </p:tavLst>
                                    </p:anim>
                                    <p:anim calcmode="lin" valueType="num">
                                      <p:cBhvr>
                                        <p:cTn id="104" dur="2000" fill="hold"/>
                                        <p:tgtEl>
                                          <p:spTgt spid="3">
                                            <p:txEl>
                                              <p:pRg st="14" end="14"/>
                                            </p:txEl>
                                          </p:spTgt>
                                        </p:tgtEl>
                                        <p:attrNameLst>
                                          <p:attrName>ppt_h</p:attrName>
                                        </p:attrNameLst>
                                      </p:cBhvr>
                                      <p:tavLst>
                                        <p:tav tm="0">
                                          <p:val>
                                            <p:strVal val="#ppt_h"/>
                                          </p:val>
                                        </p:tav>
                                        <p:tav tm="100000">
                                          <p:val>
                                            <p:strVal val="#ppt_h"/>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3">
                                            <p:txEl>
                                              <p:pRg st="16" end="16"/>
                                            </p:txEl>
                                          </p:spTgt>
                                        </p:tgtEl>
                                        <p:attrNameLst>
                                          <p:attrName>style.visibility</p:attrName>
                                        </p:attrNameLst>
                                      </p:cBhvr>
                                      <p:to>
                                        <p:strVal val="visible"/>
                                      </p:to>
                                    </p:set>
                                    <p:anim calcmode="lin" valueType="num">
                                      <p:cBhvr additive="base">
                                        <p:cTn id="109"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EF39A6-42CE-40F4-AE71-202F1E4E69DD}"/>
              </a:ext>
            </a:extLst>
          </p:cNvPr>
          <p:cNvSpPr txBox="1"/>
          <p:nvPr/>
        </p:nvSpPr>
        <p:spPr>
          <a:xfrm>
            <a:off x="4718755" y="632178"/>
            <a:ext cx="6468534" cy="3970318"/>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highlight>
                  <a:srgbClr val="00FFFF"/>
                </a:highlight>
                <a:uLnTx/>
                <a:uFillTx/>
                <a:latin typeface="David" panose="020E0502060401010101" pitchFamily="34" charset="-79"/>
                <a:ea typeface="+mn-ea"/>
                <a:cs typeface="David" panose="020E0502060401010101" pitchFamily="34" charset="-79"/>
              </a:rPr>
              <a:t>עמוד 21: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א. מדוע קם עגלון </a:t>
            </a:r>
            <a:r>
              <a:rPr kumimoji="0" lang="he-IL" sz="2800" b="1"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מכסאו</a:t>
            </a:r>
            <a:r>
              <a:rPr kumimoji="0" lang="he-IL" sz="28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תשובה- לכבוד דבר ה' שאהוד אמר.</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ב. </a:t>
            </a:r>
            <a:r>
              <a:rPr kumimoji="0" lang="he-IL" sz="28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למה זכה עגלון על זה שקם?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תשובה שיצאה ממנו רות </a:t>
            </a:r>
            <a:r>
              <a:rPr kumimoji="0" lang="he-IL" sz="2800" b="0" i="0" u="none" strike="noStrike" kern="1200" cap="none" spc="0" normalizeH="0" baseline="0" noProof="0" dirty="0" err="1">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המואביה</a:t>
            </a:r>
            <a:r>
              <a:rPr kumimoji="0" lang="he-IL" sz="2800" b="0" i="0" u="none" strike="noStrike" kern="1200" cap="none" spc="0" normalizeH="0" baseline="0" noProof="0" dirty="0">
                <a:ln>
                  <a:noFill/>
                </a:ln>
                <a:solidFill>
                  <a:prstClr val="black"/>
                </a:solidFill>
                <a:effectLst/>
                <a:highlight>
                  <a:srgbClr val="FFFF00"/>
                </a:highlight>
                <a:uLnTx/>
                <a:uFillTx/>
                <a:latin typeface="David" panose="020E0502060401010101" pitchFamily="34" charset="-79"/>
                <a:ea typeface="+mn-ea"/>
                <a:cs typeface="David" panose="020E0502060401010101" pitchFamily="34" charset="-79"/>
              </a:rPr>
              <a:t> ודוד המלך</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a:t>
            </a:r>
          </a:p>
        </p:txBody>
      </p:sp>
    </p:spTree>
    <p:extLst>
      <p:ext uri="{BB962C8B-B14F-4D97-AF65-F5344CB8AC3E}">
        <p14:creationId xmlns:p14="http://schemas.microsoft.com/office/powerpoint/2010/main" val="3208383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wipe(down)">
                                      <p:cBhvr>
                                        <p:cTn id="13" dur="500"/>
                                        <p:tgtEl>
                                          <p:spTgt spid="2">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2">
                                            <p:txEl>
                                              <p:pRg st="6" end="6"/>
                                            </p:txEl>
                                          </p:spTgt>
                                        </p:tgtEl>
                                        <p:attrNameLst>
                                          <p:attrName>style.visibility</p:attrName>
                                        </p:attrNameLst>
                                      </p:cBhvr>
                                      <p:to>
                                        <p:strVal val="visible"/>
                                      </p:to>
                                    </p:set>
                                    <p:animEffect transition="in" filter="circle(in)">
                                      <p:cBhvr>
                                        <p:cTn id="18" dur="2000"/>
                                        <p:tgtEl>
                                          <p:spTgt spid="2">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6"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animEffect transition="in" filter="wipe(down)">
                                      <p:cBhvr>
                                        <p:cTn id="23" dur="580">
                                          <p:stCondLst>
                                            <p:cond delay="0"/>
                                          </p:stCondLst>
                                        </p:cTn>
                                        <p:tgtEl>
                                          <p:spTgt spid="2">
                                            <p:txEl>
                                              <p:pRg st="8" end="8"/>
                                            </p:txEl>
                                          </p:spTgt>
                                        </p:tgtEl>
                                      </p:cBhvr>
                                    </p:animEffect>
                                    <p:anim calcmode="lin" valueType="num">
                                      <p:cBhvr>
                                        <p:cTn id="24" dur="1822" tmFilter="0,0; 0.14,0.36; 0.43,0.73; 0.71,0.91; 1.0,1.0">
                                          <p:stCondLst>
                                            <p:cond delay="0"/>
                                          </p:stCondLst>
                                        </p:cTn>
                                        <p:tgtEl>
                                          <p:spTgt spid="2">
                                            <p:txEl>
                                              <p:pRg st="8" end="8"/>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2">
                                            <p:txEl>
                                              <p:pRg st="8" end="8"/>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2">
                                            <p:txEl>
                                              <p:pRg st="8" end="8"/>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2">
                                            <p:txEl>
                                              <p:pRg st="8" end="8"/>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2">
                                            <p:txEl>
                                              <p:pRg st="8" end="8"/>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2">
                                            <p:txEl>
                                              <p:pRg st="8" end="8"/>
                                            </p:txEl>
                                          </p:spTgt>
                                        </p:tgtEl>
                                      </p:cBhvr>
                                      <p:to x="100000" y="60000"/>
                                    </p:animScale>
                                    <p:animScale>
                                      <p:cBhvr>
                                        <p:cTn id="30" dur="166" decel="50000">
                                          <p:stCondLst>
                                            <p:cond delay="676"/>
                                          </p:stCondLst>
                                        </p:cTn>
                                        <p:tgtEl>
                                          <p:spTgt spid="2">
                                            <p:txEl>
                                              <p:pRg st="8" end="8"/>
                                            </p:txEl>
                                          </p:spTgt>
                                        </p:tgtEl>
                                      </p:cBhvr>
                                      <p:to x="100000" y="100000"/>
                                    </p:animScale>
                                    <p:animScale>
                                      <p:cBhvr>
                                        <p:cTn id="31" dur="26">
                                          <p:stCondLst>
                                            <p:cond delay="1312"/>
                                          </p:stCondLst>
                                        </p:cTn>
                                        <p:tgtEl>
                                          <p:spTgt spid="2">
                                            <p:txEl>
                                              <p:pRg st="8" end="8"/>
                                            </p:txEl>
                                          </p:spTgt>
                                        </p:tgtEl>
                                      </p:cBhvr>
                                      <p:to x="100000" y="80000"/>
                                    </p:animScale>
                                    <p:animScale>
                                      <p:cBhvr>
                                        <p:cTn id="32" dur="166" decel="50000">
                                          <p:stCondLst>
                                            <p:cond delay="1338"/>
                                          </p:stCondLst>
                                        </p:cTn>
                                        <p:tgtEl>
                                          <p:spTgt spid="2">
                                            <p:txEl>
                                              <p:pRg st="8" end="8"/>
                                            </p:txEl>
                                          </p:spTgt>
                                        </p:tgtEl>
                                      </p:cBhvr>
                                      <p:to x="100000" y="100000"/>
                                    </p:animScale>
                                    <p:animScale>
                                      <p:cBhvr>
                                        <p:cTn id="33" dur="26">
                                          <p:stCondLst>
                                            <p:cond delay="1642"/>
                                          </p:stCondLst>
                                        </p:cTn>
                                        <p:tgtEl>
                                          <p:spTgt spid="2">
                                            <p:txEl>
                                              <p:pRg st="8" end="8"/>
                                            </p:txEl>
                                          </p:spTgt>
                                        </p:tgtEl>
                                      </p:cBhvr>
                                      <p:to x="100000" y="90000"/>
                                    </p:animScale>
                                    <p:animScale>
                                      <p:cBhvr>
                                        <p:cTn id="34" dur="166" decel="50000">
                                          <p:stCondLst>
                                            <p:cond delay="1668"/>
                                          </p:stCondLst>
                                        </p:cTn>
                                        <p:tgtEl>
                                          <p:spTgt spid="2">
                                            <p:txEl>
                                              <p:pRg st="8" end="8"/>
                                            </p:txEl>
                                          </p:spTgt>
                                        </p:tgtEl>
                                      </p:cBhvr>
                                      <p:to x="100000" y="100000"/>
                                    </p:animScale>
                                    <p:animScale>
                                      <p:cBhvr>
                                        <p:cTn id="35" dur="26">
                                          <p:stCondLst>
                                            <p:cond delay="1808"/>
                                          </p:stCondLst>
                                        </p:cTn>
                                        <p:tgtEl>
                                          <p:spTgt spid="2">
                                            <p:txEl>
                                              <p:pRg st="8" end="8"/>
                                            </p:txEl>
                                          </p:spTgt>
                                        </p:tgtEl>
                                      </p:cBhvr>
                                      <p:to x="100000" y="95000"/>
                                    </p:animScale>
                                    <p:animScale>
                                      <p:cBhvr>
                                        <p:cTn id="36" dur="166" decel="50000">
                                          <p:stCondLst>
                                            <p:cond delay="1834"/>
                                          </p:stCondLst>
                                        </p:cTn>
                                        <p:tgtEl>
                                          <p:spTgt spid="2">
                                            <p:txEl>
                                              <p:pRg st="8" end="8"/>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17233</TotalTime>
  <Words>1968</Words>
  <Application>Microsoft Office PowerPoint</Application>
  <PresentationFormat>מסך רחב</PresentationFormat>
  <Paragraphs>191</Paragraphs>
  <Slides>30</Slides>
  <Notes>0</Notes>
  <HiddenSlides>0</HiddenSlides>
  <MMClips>0</MMClips>
  <ScaleCrop>false</ScaleCrop>
  <HeadingPairs>
    <vt:vector size="6" baseType="variant">
      <vt:variant>
        <vt:lpstr>גופנים בשימוש</vt:lpstr>
      </vt:variant>
      <vt:variant>
        <vt:i4>6</vt:i4>
      </vt:variant>
      <vt:variant>
        <vt:lpstr>ערכת נושא</vt:lpstr>
      </vt:variant>
      <vt:variant>
        <vt:i4>2</vt:i4>
      </vt:variant>
      <vt:variant>
        <vt:lpstr>כותרות שקופיות</vt:lpstr>
      </vt:variant>
      <vt:variant>
        <vt:i4>30</vt:i4>
      </vt:variant>
    </vt:vector>
  </HeadingPairs>
  <TitlesOfParts>
    <vt:vector size="38" baseType="lpstr">
      <vt:lpstr>Arial</vt:lpstr>
      <vt:lpstr>Calibri</vt:lpstr>
      <vt:lpstr>Calibri Light</vt:lpstr>
      <vt:lpstr>David</vt:lpstr>
      <vt:lpstr>Times New Roman</vt:lpstr>
      <vt:lpstr>Trebuchet MS</vt:lpstr>
      <vt:lpstr>ערכת נושא Office</vt:lpstr>
      <vt:lpstr>1_ערכת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שופטים פרק ג':</dc:title>
  <dc:creator>Teacher</dc:creator>
  <cp:lastModifiedBy>User</cp:lastModifiedBy>
  <cp:revision>64</cp:revision>
  <dcterms:created xsi:type="dcterms:W3CDTF">2020-10-01T06:47:45Z</dcterms:created>
  <dcterms:modified xsi:type="dcterms:W3CDTF">2023-10-30T16:25:32Z</dcterms:modified>
</cp:coreProperties>
</file>