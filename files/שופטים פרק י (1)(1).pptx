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53DF5AF-96BF-41A2-BAF4-0AF003C15141}">
  <a:tblStyle styleId="{953DF5AF-96BF-41A2-BAF4-0AF003C1514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391EA7DA-9A1C-4B12-BF8D-039115E62225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BF1E8"/>
          </a:solidFill>
        </a:fill>
      </a:tcStyle>
    </a:wholeTbl>
    <a:band1H>
      <a:tcTxStyle b="off" i="off"/>
      <a:tcStyle>
        <a:fill>
          <a:solidFill>
            <a:srgbClr val="D4E2CE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4E2CE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6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6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iw-I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44" name="Google Shape;24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ריק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קופית כותרת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ני תכנים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השוואה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בלבד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עם כיתוב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מונה עם כיתוב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אנכי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אנכית וטקסט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קופית כותרת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9" name="Google Shape;99;p15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00" name="Google Shape;10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01" name="Google Shape;101;p15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ריק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ני תכנים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השוואה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9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בלבד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עם כיתוב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2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מונה עם כיתוב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4" name="Google Shape;144;p2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אנכי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אנכית וטקסט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CAAC"/>
            </a:gs>
            <a:gs pos="100000">
              <a:srgbClr val="ED823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7CAAC"/>
            </a:gs>
            <a:gs pos="100000">
              <a:srgbClr val="ED823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/>
        </p:nvSpPr>
        <p:spPr>
          <a:xfrm>
            <a:off x="4966943" y="258880"/>
            <a:ext cx="2664511" cy="206210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iw-IL" sz="8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פרק י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w-IL" sz="4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0" lang="iw-IL" sz="3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פסוקים א-ה)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5"/>
          <p:cNvSpPr/>
          <p:nvPr/>
        </p:nvSpPr>
        <p:spPr>
          <a:xfrm>
            <a:off x="7508240" y="3952242"/>
            <a:ext cx="3669016" cy="1200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תולע</a:t>
            </a:r>
            <a:endParaRPr b="0" i="0" sz="3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5"/>
          <p:cNvSpPr/>
          <p:nvPr/>
        </p:nvSpPr>
        <p:spPr>
          <a:xfrm>
            <a:off x="1868184" y="3825243"/>
            <a:ext cx="3183695" cy="1200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יאיר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0" name="Google Shape;170;p26"/>
          <p:cNvGraphicFramePr/>
          <p:nvPr/>
        </p:nvGraphicFramePr>
        <p:xfrm>
          <a:off x="728984" y="29199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{953DF5AF-96BF-41A2-BAF4-0AF003C15141}</a:tableStyleId>
              </a:tblPr>
              <a:tblGrid>
                <a:gridCol w="2765775"/>
                <a:gridCol w="2222550"/>
                <a:gridCol w="1870625"/>
                <a:gridCol w="1662775"/>
              </a:tblGrid>
              <a:tr h="50800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b="1" lang="iw-IL" sz="40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ייחוסו, </a:t>
                      </a:r>
                      <a:endParaRPr sz="14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b="1" lang="iw-IL" sz="40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מוצאו, שבטו</a:t>
                      </a:r>
                      <a:endParaRPr b="1" sz="4000" u="none" cap="none" strike="noStrike">
                        <a:solidFill>
                          <a:schemeClr val="accent6"/>
                        </a:solidFill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4000"/>
                        <a:buFont typeface="Arial"/>
                        <a:buNone/>
                      </a:pPr>
                      <a:r>
                        <a:rPr b="1" lang="iw-IL" sz="40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מקום </a:t>
                      </a:r>
                      <a:endParaRPr sz="14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4000"/>
                        <a:buFont typeface="Arial"/>
                        <a:buNone/>
                      </a:pPr>
                      <a:r>
                        <a:rPr b="1" lang="iw-IL" sz="40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מושבו</a:t>
                      </a:r>
                      <a:endParaRPr b="1" sz="4000" u="none" cap="none" strike="noStrike">
                        <a:solidFill>
                          <a:schemeClr val="accent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b="1" lang="iw-IL" sz="40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שנות</a:t>
                      </a:r>
                      <a:endParaRPr b="1" sz="4000" u="none" cap="none" strike="noStrike">
                        <a:solidFill>
                          <a:schemeClr val="accent6"/>
                        </a:solidFill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b="1" lang="iw-IL" sz="40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שפיטתו</a:t>
                      </a:r>
                      <a:endParaRPr b="1" sz="4000" u="none" cap="none" strike="noStrike">
                        <a:solidFill>
                          <a:schemeClr val="accent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b="1" lang="iw-IL" sz="40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מותו</a:t>
                      </a:r>
                      <a:endParaRPr b="1" sz="4000" u="none" cap="none" strike="noStrike">
                        <a:solidFill>
                          <a:schemeClr val="accent6"/>
                        </a:solidFill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0"/>
                        <a:buFont typeface="Arial"/>
                        <a:buNone/>
                      </a:pPr>
                      <a:r>
                        <a:rPr b="1" lang="iw-IL" sz="40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וקבורתו</a:t>
                      </a:r>
                      <a:endParaRPr b="1" sz="4000" u="none" cap="none" strike="noStrike">
                        <a:solidFill>
                          <a:schemeClr val="accent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w-IL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32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iw-IL" sz="3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תּוֹלָע בֶּן-פּוּאָה </a:t>
                      </a:r>
                      <a:endParaRPr sz="14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iw-IL" sz="3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בֶּן-דּוֹדוֹ </a:t>
                      </a:r>
                      <a:endParaRPr sz="14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t/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iw-IL" sz="3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אִישׁ-יִשָּׂשכָר</a:t>
                      </a:r>
                      <a:r>
                        <a:rPr lang="iw-IL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32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w-IL" sz="1000" u="none" cap="none" strike="noStrike"/>
                        <a:t> </a:t>
                      </a:r>
                      <a:endParaRPr sz="3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iw-IL" sz="3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שָׁמִיר </a:t>
                      </a:r>
                      <a:endParaRPr sz="14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iw-IL" sz="3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בְּהַר-אֶפְרָיִם</a:t>
                      </a:r>
                      <a:endParaRPr sz="36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iw-IL" sz="10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3600" u="none" cap="none" strike="noStrike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iw-IL" sz="10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32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w-IL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4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iw-IL" sz="3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23 </a:t>
                      </a:r>
                      <a:endParaRPr sz="14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iw-IL" sz="3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שָׁנָה</a:t>
                      </a:r>
                      <a:endParaRPr sz="3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w-IL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3200" u="none" cap="none" strike="noStrike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iw-IL" sz="3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וַיָּמָת,</a:t>
                      </a:r>
                      <a:endParaRPr sz="14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t/>
                      </a:r>
                      <a:endParaRPr sz="32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iw-IL" sz="3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וַיִּקָּבֵר בְּשָׁמִיר</a:t>
                      </a:r>
                      <a:endParaRPr sz="3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sp>
        <p:nvSpPr>
          <p:cNvPr id="171" name="Google Shape;171;p26"/>
          <p:cNvSpPr/>
          <p:nvPr/>
        </p:nvSpPr>
        <p:spPr>
          <a:xfrm>
            <a:off x="9977119" y="3977877"/>
            <a:ext cx="1981200" cy="1200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תּוֹלָע</a:t>
            </a:r>
            <a:endParaRPr b="0" i="0" sz="32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26"/>
          <p:cNvCxnSpPr/>
          <p:nvPr/>
        </p:nvCxnSpPr>
        <p:spPr>
          <a:xfrm>
            <a:off x="9583420" y="2965666"/>
            <a:ext cx="0" cy="3215640"/>
          </a:xfrm>
          <a:prstGeom prst="straightConnector1">
            <a:avLst/>
          </a:prstGeom>
          <a:noFill/>
          <a:ln cap="flat" cmpd="sng" w="762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3" name="Google Shape;173;p26"/>
          <p:cNvSpPr/>
          <p:nvPr/>
        </p:nvSpPr>
        <p:spPr>
          <a:xfrm rot="-1907172">
            <a:off x="232343" y="500745"/>
            <a:ext cx="1776448" cy="10156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iw-IL" sz="60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פרק י</a:t>
            </a:r>
            <a:endParaRPr b="0" i="0" sz="2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×ª××¦××ª ×ª××× × ×¢×××¨ 23" id="174" name="Google Shape;17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2299" y="1730488"/>
            <a:ext cx="1470025" cy="107017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6"/>
          <p:cNvSpPr/>
          <p:nvPr/>
        </p:nvSpPr>
        <p:spPr>
          <a:xfrm>
            <a:off x="5279658" y="320040"/>
            <a:ext cx="6678661" cy="11387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iw-IL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תּוֹלָע = שם שהיה כנראה נפוץ בשבט יששכר.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iw-IL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השם "תולע" הראשון היה אחד מבני יששכר, והבכור שבהם: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iw-IL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כנאמר בתורה:  "וּבְנֵי יִשָׂשכָר </a:t>
            </a:r>
            <a:r>
              <a:rPr b="1" i="0" lang="iw-IL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ת</a:t>
            </a:r>
            <a:r>
              <a:rPr b="1" i="0" lang="iw-IL" sz="2800" u="sng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ּוֹלָע</a:t>
            </a:r>
            <a:r>
              <a:rPr b="1" i="0" lang="iw-IL" sz="28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iw-IL" sz="20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וּפֻוָּה וְיוֹב וְשִׁמְרוֹן" </a:t>
            </a:r>
            <a:r>
              <a:rPr b="0" i="0" lang="iw-IL" sz="1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(בראשית מג)</a:t>
            </a:r>
            <a:endParaRPr b="0" i="0" sz="20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/>
          <p:nvPr/>
        </p:nvSpPr>
        <p:spPr>
          <a:xfrm>
            <a:off x="9663790" y="2638859"/>
            <a:ext cx="195659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88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7"/>
          <p:cNvSpPr/>
          <p:nvPr/>
        </p:nvSpPr>
        <p:spPr>
          <a:xfrm rot="-2129959">
            <a:off x="105973" y="345468"/>
            <a:ext cx="1455847" cy="830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w-IL" sz="4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פרק י</a:t>
            </a:r>
            <a:endParaRPr b="0" i="0" sz="18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×ª××× × ×§×©××¨×" id="182" name="Google Shape;182;p27"/>
          <p:cNvPicPr preferRelativeResize="0"/>
          <p:nvPr/>
        </p:nvPicPr>
        <p:blipFill rotWithShape="1">
          <a:blip r:embed="rId3">
            <a:alphaModFix/>
          </a:blip>
          <a:srcRect b="7591" l="0" r="0" t="0"/>
          <a:stretch/>
        </p:blipFill>
        <p:spPr>
          <a:xfrm>
            <a:off x="2042812" y="294345"/>
            <a:ext cx="5143498" cy="633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7"/>
          <p:cNvSpPr/>
          <p:nvPr/>
        </p:nvSpPr>
        <p:spPr>
          <a:xfrm>
            <a:off x="11198623" y="3361394"/>
            <a:ext cx="573234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iw-IL" sz="6600" u="none" cap="none" strike="noStrik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4938400" y="3069717"/>
            <a:ext cx="4724396" cy="338611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7030A0"/>
          </a:solidFill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9579725" y="2638850"/>
            <a:ext cx="2057700" cy="12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תּוֹלָע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4338319" y="2888140"/>
            <a:ext cx="506417" cy="540860"/>
          </a:xfrm>
          <a:prstGeom prst="ellipse">
            <a:avLst/>
          </a:prstGeom>
          <a:noFill/>
          <a:ln cap="flat" cmpd="sng" w="762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" name="Google Shape;191;p28"/>
          <p:cNvGraphicFramePr/>
          <p:nvPr/>
        </p:nvGraphicFramePr>
        <p:xfrm>
          <a:off x="97506" y="18657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{953DF5AF-96BF-41A2-BAF4-0AF003C15141}</a:tableStyleId>
              </a:tblPr>
              <a:tblGrid>
                <a:gridCol w="1799150"/>
                <a:gridCol w="1612900"/>
                <a:gridCol w="3275850"/>
                <a:gridCol w="1568600"/>
                <a:gridCol w="16165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iw-IL" sz="36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ייחוסו, </a:t>
                      </a:r>
                      <a:endParaRPr sz="14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iw-IL" sz="36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מוצאו, </a:t>
                      </a:r>
                      <a:endParaRPr sz="3600" u="none" cap="none" strike="noStrike">
                        <a:solidFill>
                          <a:schemeClr val="accent6"/>
                        </a:solidFill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3600"/>
                        <a:buFont typeface="Arial"/>
                        <a:buNone/>
                      </a:pPr>
                      <a:r>
                        <a:rPr lang="iw-IL" sz="36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מקום </a:t>
                      </a:r>
                      <a:endParaRPr sz="14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3600"/>
                        <a:buFont typeface="Arial"/>
                        <a:buNone/>
                      </a:pPr>
                      <a:r>
                        <a:rPr lang="iw-IL" sz="36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מושבו</a:t>
                      </a:r>
                      <a:endParaRPr sz="3600" u="none" cap="none" strike="noStrike">
                        <a:solidFill>
                          <a:schemeClr val="accent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3600"/>
                        <a:buFont typeface="Arial"/>
                        <a:buNone/>
                      </a:pPr>
                      <a:r>
                        <a:rPr lang="iw-IL" sz="36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מה </a:t>
                      </a:r>
                      <a:endParaRPr sz="14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6"/>
                        </a:buClr>
                        <a:buSzPts val="3600"/>
                        <a:buFont typeface="Arial"/>
                        <a:buNone/>
                      </a:pPr>
                      <a:r>
                        <a:rPr lang="iw-IL" sz="36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היה לו ?</a:t>
                      </a:r>
                      <a:endParaRPr sz="3600" u="none" cap="none" strike="noStrike">
                        <a:solidFill>
                          <a:schemeClr val="accent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iw-IL" sz="36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שנות</a:t>
                      </a:r>
                      <a:endParaRPr sz="3600" u="none" cap="none" strike="noStrike">
                        <a:solidFill>
                          <a:schemeClr val="accent6"/>
                        </a:solidFill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iw-IL" sz="36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שפיטתו</a:t>
                      </a:r>
                      <a:endParaRPr sz="3600" u="none" cap="none" strike="noStrike">
                        <a:solidFill>
                          <a:schemeClr val="accent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iw-IL" sz="36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מותו</a:t>
                      </a:r>
                      <a:endParaRPr sz="3600" u="none" cap="none" strike="noStrike">
                        <a:solidFill>
                          <a:schemeClr val="accent6"/>
                        </a:solidFill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iw-IL" sz="3600" u="none" cap="none" strike="noStrike">
                          <a:solidFill>
                            <a:schemeClr val="accent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וקבורתו</a:t>
                      </a:r>
                      <a:endParaRPr sz="3600" u="none" cap="none" strike="noStrike">
                        <a:solidFill>
                          <a:schemeClr val="accent6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w-IL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32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iw-IL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וַיָּקָם אַחֲרָיו </a:t>
                      </a:r>
                      <a:endParaRPr sz="14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w-IL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(אחרי תולע)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rPr lang="iw-IL" sz="5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7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iw-IL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יָאִיר-הַגִּלְעָדִי</a:t>
                      </a:r>
                      <a:r>
                        <a:rPr lang="iw-IL" sz="3200" u="none" cap="none" strike="noStrike">
                          <a:solidFill>
                            <a:schemeClr val="dk1"/>
                          </a:solidFill>
                        </a:rPr>
                        <a:t> </a:t>
                      </a:r>
                      <a:endParaRPr sz="14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t/>
                      </a:r>
                      <a:endParaRPr sz="3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t/>
                      </a:r>
                      <a:endParaRPr sz="3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iw-IL" sz="3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---</a:t>
                      </a:r>
                      <a:endParaRPr sz="14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iw-IL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(כנראה גלעד)</a:t>
                      </a:r>
                      <a:r>
                        <a:rPr lang="iw-IL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20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iw-IL" sz="10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36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iw-IL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 בָּנִים רֹכְבִים </a:t>
                      </a:r>
                      <a:endParaRPr sz="14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iw-IL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עַל 30 עֲיָרִים</a:t>
                      </a:r>
                      <a:endParaRPr sz="2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w-IL" sz="1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w-IL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(עיר =חמור זכר, רכיבה עליו </a:t>
                      </a:r>
                      <a:endParaRPr sz="14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iw-IL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מסמלת מעמד גבוה)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iw-IL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iw-IL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וּ- 30 עֲיָרִים </a:t>
                      </a:r>
                      <a:r>
                        <a:rPr lang="iw-IL" sz="20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(=ערים) </a:t>
                      </a:r>
                      <a:r>
                        <a:rPr lang="iw-IL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לָהֶם</a:t>
                      </a:r>
                      <a:endParaRPr sz="2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iw-IL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iw-IL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לָהֶם יִקְרְאוּ חַוֹּת-יָאִיר </a:t>
                      </a:r>
                      <a:endParaRPr sz="14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t/>
                      </a:r>
                      <a:endParaRPr sz="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iw-IL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עַד הַיּוֹם-הַזֶּה</a:t>
                      </a:r>
                      <a:endParaRPr sz="2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500"/>
                        <a:buFont typeface="Arial"/>
                        <a:buNone/>
                      </a:pPr>
                      <a:r>
                        <a:t/>
                      </a:r>
                      <a:endParaRPr sz="5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iw-IL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אֲשֶׁר בְּאֶרֶץ-הַגִּלְעָד</a:t>
                      </a:r>
                      <a:endParaRPr sz="28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iw-IL" sz="105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32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iw-IL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"/>
                        <a:buFont typeface="Arial"/>
                        <a:buNone/>
                      </a:pPr>
                      <a:r>
                        <a:t/>
                      </a:r>
                      <a:endParaRPr sz="1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iw-IL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sz="2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iw-IL" sz="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3200" u="none" cap="none" strike="noStrike"/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400"/>
                        <a:buFont typeface="Arial"/>
                        <a:buNone/>
                      </a:pPr>
                      <a:r>
                        <a:t/>
                      </a:r>
                      <a:endParaRPr sz="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t/>
                      </a:r>
                      <a:endParaRPr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iw-IL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מת</a:t>
                      </a:r>
                      <a:endParaRPr sz="14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iw-IL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ונקבר ב"קמון"</a:t>
                      </a:r>
                      <a:endParaRPr sz="1400" u="none" cap="none" strike="noStrike"/>
                    </a:p>
                    <a:p>
                      <a:pPr indent="0" lvl="0" marL="0" marR="0" rtl="1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iw-IL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(צפון הגלעד)</a:t>
                      </a:r>
                      <a:endParaRPr sz="20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28"/>
          <p:cNvSpPr/>
          <p:nvPr/>
        </p:nvSpPr>
        <p:spPr>
          <a:xfrm>
            <a:off x="10291155" y="3507738"/>
            <a:ext cx="1636684" cy="11079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iw-IL" sz="6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יָאִיר</a:t>
            </a:r>
            <a:endParaRPr b="0" i="0" sz="80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28"/>
          <p:cNvCxnSpPr/>
          <p:nvPr/>
        </p:nvCxnSpPr>
        <p:spPr>
          <a:xfrm>
            <a:off x="10161615" y="1865778"/>
            <a:ext cx="0" cy="4831080"/>
          </a:xfrm>
          <a:prstGeom prst="straightConnector1">
            <a:avLst/>
          </a:prstGeom>
          <a:noFill/>
          <a:ln cap="flat" cmpd="sng" w="762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4" name="Google Shape;194;p28"/>
          <p:cNvSpPr/>
          <p:nvPr/>
        </p:nvSpPr>
        <p:spPr>
          <a:xfrm rot="-1657729">
            <a:off x="109679" y="290189"/>
            <a:ext cx="1455847" cy="83099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w-IL" sz="48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פרק י</a:t>
            </a:r>
            <a:endParaRPr b="0" i="0" sz="18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×ª××¦××ª ×ª××× × ×¢×××¨ 22" id="195" name="Google Shape;19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2950" y="4040541"/>
            <a:ext cx="960195" cy="9601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×ª××× × ×§×©××¨×" id="196" name="Google Shape;19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41744" y="88190"/>
            <a:ext cx="1419332" cy="1640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×ª××¦××ª ×ª××× × ×¢×××¨ 30" id="197" name="Google Shape;19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88951" y="94161"/>
            <a:ext cx="372125" cy="513163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8"/>
          <p:cNvSpPr txBox="1"/>
          <p:nvPr/>
        </p:nvSpPr>
        <p:spPr>
          <a:xfrm>
            <a:off x="4348480" y="355600"/>
            <a:ext cx="2824480" cy="7232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w-I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לשון נופל על לשון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0" i="0" sz="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w-I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יאיר  - עיירים </a:t>
            </a:r>
            <a:r>
              <a:rPr b="0" i="0" lang="iw-I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b="0" i="0" lang="iw-IL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iw-IL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עירים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/>
          <p:nvPr/>
        </p:nvSpPr>
        <p:spPr>
          <a:xfrm>
            <a:off x="9366075" y="1730103"/>
            <a:ext cx="2521523" cy="1200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iw-IL" sz="7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יָאִיר</a:t>
            </a:r>
            <a:endParaRPr b="0" i="0" sz="8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×ª××× × ×§×©××¨×" id="204" name="Google Shape;204;p29"/>
          <p:cNvPicPr preferRelativeResize="0"/>
          <p:nvPr/>
        </p:nvPicPr>
        <p:blipFill rotWithShape="1">
          <a:blip r:embed="rId3">
            <a:alphaModFix/>
          </a:blip>
          <a:srcRect b="7591" l="0" r="0" t="0"/>
          <a:stretch/>
        </p:blipFill>
        <p:spPr>
          <a:xfrm>
            <a:off x="2134725" y="260347"/>
            <a:ext cx="5143498" cy="633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9"/>
          <p:cNvSpPr/>
          <p:nvPr/>
        </p:nvSpPr>
        <p:spPr>
          <a:xfrm>
            <a:off x="5772150" y="2228668"/>
            <a:ext cx="647700" cy="701764"/>
          </a:xfrm>
          <a:prstGeom prst="ellipse">
            <a:avLst/>
          </a:prstGeom>
          <a:noFill/>
          <a:ln cap="flat" cmpd="sng" w="762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9"/>
          <p:cNvSpPr/>
          <p:nvPr/>
        </p:nvSpPr>
        <p:spPr>
          <a:xfrm>
            <a:off x="9366074" y="2874999"/>
            <a:ext cx="2521523" cy="11079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iw-IL" sz="6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הַגִּלְעָדִי</a:t>
            </a:r>
            <a:r>
              <a:rPr b="0" i="0" lang="iw-IL" sz="4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36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9"/>
          <p:cNvSpPr/>
          <p:nvPr/>
        </p:nvSpPr>
        <p:spPr>
          <a:xfrm>
            <a:off x="6695440" y="2207258"/>
            <a:ext cx="2387600" cy="372292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7030A0"/>
          </a:solidFill>
          <a:ln cap="flat" cmpd="sng" w="12700">
            <a:solidFill>
              <a:srgbClr val="7030A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/>
        </p:nvSpPr>
        <p:spPr>
          <a:xfrm>
            <a:off x="520700" y="340234"/>
            <a:ext cx="11150600" cy="101566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iw-IL" sz="6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ההתדרדרות הרוחנית (ו')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0"/>
          <p:cNvSpPr/>
          <p:nvPr/>
        </p:nvSpPr>
        <p:spPr>
          <a:xfrm>
            <a:off x="1136650" y="1852643"/>
            <a:ext cx="10369550" cy="15696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iw-IL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בני ישראל עובדים הרבה מאד סוגים של עבודה זרה.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14350" lvl="0" marL="51435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b="0" i="0" lang="iw-IL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בני ישראל עוזבים את ה'.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/>
          <p:nvPr>
            <p:ph idx="1" type="body"/>
          </p:nvPr>
        </p:nvSpPr>
        <p:spPr>
          <a:xfrm>
            <a:off x="3950898" y="1829599"/>
            <a:ext cx="7402902" cy="439295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iw-IL" sz="3600"/>
              <a:t>1. וַיִּמְכְּרֵם, בְּיַד-פְּלִשְׁתִּים, וּבְיַד, בְּנֵי עַמּוֹן – שני משעבדים משני צדי הארץ. </a:t>
            </a:r>
            <a:endParaRPr/>
          </a:p>
          <a:p>
            <a:pPr indent="0" lvl="0" marL="1143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iw-IL" sz="3600"/>
              <a:t>2. וַיִּרְעֲצוּ וַיְרֹצְצוּ אֶת-בְּנֵי יִשְׂרָאֵל, בַּשָּׁנָה הַהִיא - רצה לומר, מיד בשנה שמת יאיר התחילו לרעוץ ולרוצץ את ישראל, ושמנה עשרה שנה התמיד הדבר, ורצה לומר, </a:t>
            </a:r>
            <a:r>
              <a:rPr b="1" lang="iw-IL" sz="3600"/>
              <a:t>לא היה בהדרגה, כי אם בפעם אחת, ולא כדרך שאר המשעבדים. (מצודות דוד פסוק ח)</a:t>
            </a:r>
            <a:endParaRPr/>
          </a:p>
        </p:txBody>
      </p:sp>
      <p:pic>
        <p:nvPicPr>
          <p:cNvPr id="219" name="Google Shape;2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337" y="1600025"/>
            <a:ext cx="3433222" cy="4986943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1"/>
          <p:cNvSpPr/>
          <p:nvPr/>
        </p:nvSpPr>
        <p:spPr>
          <a:xfrm>
            <a:off x="2679175" y="3950571"/>
            <a:ext cx="362310" cy="534838"/>
          </a:xfrm>
          <a:prstGeom prst="ellipse">
            <a:avLst/>
          </a:prstGeom>
          <a:noFill/>
          <a:ln cap="flat" cmpd="sng" w="25400">
            <a:solidFill>
              <a:srgbClr val="315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691778">
            <a:off x="966158" y="4248359"/>
            <a:ext cx="493098" cy="70882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/>
          <p:nvPr/>
        </p:nvSpPr>
        <p:spPr>
          <a:xfrm>
            <a:off x="520700" y="340234"/>
            <a:ext cx="11150600" cy="101566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iw-IL" sz="6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ההחמרה בעונש (ז'-ט')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iw-IL" sz="2590" u="sng"/>
              <a:t>תשובה בפה </a:t>
            </a:r>
            <a:endParaRPr/>
          </a:p>
          <a:p>
            <a:pPr indent="-342900" lvl="0" marL="457200" rtl="1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iw-IL" sz="2590"/>
              <a:t>וַיִּזְעֲקוּ בְּנֵי יִשְׂרָאֵל, אֶל-ה' לֵאמֹר: חָטָאנוּ לָךְ--וְכִי עָזַבְנוּ אֶת-אֱלֹקינוּ, וַנַּעֲבֹד אֶת-הַבְּעָלִים. </a:t>
            </a:r>
            <a:endParaRPr/>
          </a:p>
          <a:p>
            <a:pPr indent="-342900" lvl="0" marL="457200" rtl="1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iw-IL" sz="2590"/>
              <a:t>וַיֹּאמֶר ה', אֶל-בְּנֵי יִשְׂרָאֵל:  הֲלֹא מִמִּצְרַיִם וּמִן-הָאֱמֹרִי, וּמִן-בְּנֵי עַמּוֹן וּמִן-פְּלִשְׁתִּים.  וְצִידוֹנִים וַעֲמָלֵק וּמָעוֹן, לָחֲצוּ אֶתְכֶם; וַתִּצְעֲקוּ אֵלַי, וָאוֹשִׁיעָה אֶתְכֶם מִיָּדָם. וְאַתֶּם עֲזַבְתֶּם אוֹתִי, וַתַּעַבְדוּ אֱלֹהִים אֲחֵרִים; לָכֵן </a:t>
            </a:r>
            <a:r>
              <a:rPr b="1" lang="iw-IL" sz="2590"/>
              <a:t>לֹא-אוֹסִיף, לְהוֹשִׁיעַ אֶתְכֶם</a:t>
            </a:r>
            <a:r>
              <a:rPr lang="iw-IL" sz="2590"/>
              <a:t>. לְכוּ, וְזַעֲקוּ אֶל-הָאֱלֹהִים, אֲשֶׁר בְּחַרְתֶּם, בָּם:  הֵמָּה יוֹשִׁיעוּ לָכֶם, בְּעֵת צָרַתְכֶם.  </a:t>
            </a:r>
            <a:endParaRPr/>
          </a:p>
          <a:p>
            <a:pPr indent="-342900" lvl="0" marL="457200" rtl="1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iw-IL" sz="2590"/>
              <a:t>וַיֹּאמְרוּ בְנֵי-יִשְׂרָאֵל אֶל-ה', חָטָאנוּ--עֲשֵׂה-אַתָּה לָנוּ, כְּכָל-הַטּוֹב בְּעֵינֶיךָ:  אַךְ הַצִּילֵנוּ נָא, הַיּוֹם הַזֶּה. </a:t>
            </a:r>
            <a:endParaRPr/>
          </a:p>
          <a:p>
            <a:pPr indent="-342900" lvl="0" marL="457200" rtl="1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iw-IL" sz="2590" u="sng"/>
              <a:t>תשובה במעשים</a:t>
            </a:r>
            <a:endParaRPr/>
          </a:p>
          <a:p>
            <a:pPr indent="-342900" lvl="0" marL="457200" rtl="1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iw-IL" sz="2590"/>
              <a:t>וַיָּסִירוּ אֶת-אֱלֹהֵי הַנֵּכָר, מִקִּרְבָּם, וַיַּעַבְדוּ, אֶת-ה'; </a:t>
            </a:r>
            <a:endParaRPr/>
          </a:p>
        </p:txBody>
      </p:sp>
      <p:sp>
        <p:nvSpPr>
          <p:cNvPr id="228" name="Google Shape;228;p32"/>
          <p:cNvSpPr txBox="1"/>
          <p:nvPr>
            <p:ph type="title"/>
          </p:nvPr>
        </p:nvSpPr>
        <p:spPr>
          <a:xfrm>
            <a:off x="838200" y="365125"/>
            <a:ext cx="10515600" cy="101562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iw-IL" sz="6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חזרה בתשובה (י'-ט"ז)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iw-IL" u="sng"/>
              <a:t>רד"ק פרק י, ט"ז:</a:t>
            </a:r>
            <a:endParaRPr/>
          </a:p>
          <a:p>
            <a: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iw-IL"/>
              <a:t>והחכם הגדול רבי משה בר מימון ז"ל פירש:</a:t>
            </a:r>
            <a:endParaRPr/>
          </a:p>
          <a:p>
            <a:pPr indent="0" lvl="0" marL="1143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iw-IL"/>
              <a:t>...ופירש ותקצר נפשו - </a:t>
            </a:r>
            <a:r>
              <a:rPr b="1" lang="iw-IL">
                <a:solidFill>
                  <a:schemeClr val="dk1"/>
                </a:solidFill>
              </a:rPr>
              <a:t>וחדל רצונו מלהגדיל עמל ישראל </a:t>
            </a:r>
            <a:r>
              <a:rPr lang="iw-IL"/>
              <a:t>כי בתחילה כשעשו הרע בעיניו היה חפצו בעמלם ובצרתם וכשקרה להם מה שקרה צרות רבות ורעות ונכנעו ושבו אל ה' ויעבדוהו, רחם עליהם וחדל רצונו מלהגדיל עוד עמלם.</a:t>
            </a:r>
            <a:endParaRPr/>
          </a:p>
          <a:p>
            <a: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iw-IL" u="sng"/>
              <a:t>רלב"ג, שם:</a:t>
            </a:r>
            <a:endParaRPr/>
          </a:p>
          <a:p>
            <a: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iw-IL"/>
              <a:t>(טז) והנה </a:t>
            </a:r>
            <a:r>
              <a:rPr b="1" lang="iw-IL"/>
              <a:t>קצר רצון השם יתברך מהושיע אותם תשועה שלימה</a:t>
            </a:r>
            <a:r>
              <a:rPr lang="iw-IL"/>
              <a:t>, כמו הענין בתשועות הקודמות, </a:t>
            </a:r>
            <a:r>
              <a:rPr b="1" lang="iw-IL"/>
              <a:t>בסבת עמל ישראל.</a:t>
            </a:r>
            <a:endParaRPr/>
          </a:p>
          <a:p>
            <a: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34" name="Google Shape;234;p33"/>
          <p:cNvSpPr txBox="1"/>
          <p:nvPr>
            <p:ph type="title"/>
          </p:nvPr>
        </p:nvSpPr>
        <p:spPr>
          <a:xfrm>
            <a:off x="838200" y="365125"/>
            <a:ext cx="10515600" cy="101562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iw-IL" sz="6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"ותקצר נפשו בעמל ישראל" (ט"ז)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240" name="Google Shape;240;p34"/>
          <p:cNvSpPr txBox="1"/>
          <p:nvPr>
            <p:ph type="title"/>
          </p:nvPr>
        </p:nvSpPr>
        <p:spPr>
          <a:xfrm>
            <a:off x="838200" y="365125"/>
            <a:ext cx="10515600" cy="101562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iw-IL" sz="6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"ותקצר נפשו בעמל ישראל" (סיכום)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1" name="Google Shape;241;p34"/>
          <p:cNvGraphicFramePr/>
          <p:nvPr/>
        </p:nvGraphicFramePr>
        <p:xfrm>
          <a:off x="2249100" y="17565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{391EA7DA-9A1C-4B12-BF8D-039115E62225}</a:tableStyleId>
              </a:tblPr>
              <a:tblGrid>
                <a:gridCol w="2745750"/>
                <a:gridCol w="2709325"/>
                <a:gridCol w="2709325"/>
              </a:tblGrid>
              <a:tr h="658775">
                <a:tc>
                  <a:txBody>
                    <a:bodyPr/>
                    <a:lstStyle/>
                    <a:p>
                      <a:pPr indent="0" lvl="0" marL="0" marR="0" rtl="1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t/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iw-IL" sz="2800" u="none" cap="none" strike="noStrike"/>
                        <a:t>רד"ק בשם הרמב"ם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iw-IL" sz="2800" u="none" cap="none" strike="noStrike"/>
                        <a:t>הרלב"ג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6765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iw-IL" sz="3200" u="none" cap="none" strike="noStrike"/>
                        <a:t>ותקצר 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iw-IL" sz="2400" u="none" cap="none" strike="noStrike"/>
                        <a:t>חדל/ הפסיק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iw-IL" sz="2400" u="none" cap="none" strike="noStrike"/>
                        <a:t>קצר / המעיט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583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iw-IL" sz="3200" u="none" cap="none" strike="noStrike"/>
                        <a:t>נפשו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iw-IL" sz="2400" u="none" cap="none" strike="noStrike"/>
                        <a:t>ברצונו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iw-IL" sz="2400" u="none" cap="none" strike="noStrike"/>
                        <a:t>רצונו (לישועה גמורה)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583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iw-IL" sz="3200" u="none" cap="none" strike="noStrike"/>
                        <a:t>ב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iw-IL" sz="2400" u="none" cap="none" strike="noStrike"/>
                        <a:t>את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iw-IL" sz="2400" u="none" cap="none" strike="noStrike"/>
                        <a:t>בגלל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558375"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b="0" i="0" lang="iw-IL" sz="3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עמל ישראל</a:t>
                      </a:r>
                      <a:endParaRPr sz="1400" u="none" cap="none" strike="noStrike"/>
                    </a:p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t/>
                      </a:r>
                      <a:endParaRPr sz="32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iw-IL" sz="2400" u="none" cap="none" strike="noStrike"/>
                        <a:t>העונש של ישראל/ הצרות של ישראל.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iw-IL" sz="2400" u="none" cap="none" strike="noStrike"/>
                        <a:t>החטא של ישראל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/>
          <p:nvPr/>
        </p:nvSpPr>
        <p:spPr>
          <a:xfrm>
            <a:off x="6798961" y="108303"/>
            <a:ext cx="5234013" cy="6540212"/>
          </a:xfrm>
          <a:prstGeom prst="rect">
            <a:avLst/>
          </a:prstGeom>
          <a:solidFill>
            <a:srgbClr val="FFFF00"/>
          </a:solidFill>
          <a:ln cap="flat" cmpd="sng" w="571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w-IL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וַיִּצָּעֲקוּ בְּנֵי-עַמּוֹן, וַיַּחֲנוּ בַּגִּלְעָד.</a:t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iw-IL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iw-IL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iw-IL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וַיֵּאָסְפוּ בְּנֵי-יִשְׂרָאֵל וַיַּחֲנוּ בַּמִּצְפָּה.</a:t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w-IL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w-IL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וַיֹּאמְרוּ הָעָם שָׂרֵי-גִלְעָד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w-IL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אִישׁ אֶל רֵעֵהוּ: </a:t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iw-IL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w-IL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מִי הָאִישׁ אֲשֶׁר יָחֵל לְהִלָּחֵם 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w-IL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בִּבְנֵי-עַמּוֹן: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iw-IL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יִהְיֶה לְרֹאשׁ לְכֹל יֹשְׁבֵי-גִלְעָד!</a:t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7" name="Google Shape;247;p35"/>
          <p:cNvPicPr preferRelativeResize="0"/>
          <p:nvPr/>
        </p:nvPicPr>
        <p:blipFill rotWithShape="1">
          <a:blip r:embed="rId3">
            <a:alphaModFix/>
          </a:blip>
          <a:srcRect b="19229" l="23491" r="31793" t="24012"/>
          <a:stretch/>
        </p:blipFill>
        <p:spPr>
          <a:xfrm>
            <a:off x="159025" y="379562"/>
            <a:ext cx="6536421" cy="62689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1_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