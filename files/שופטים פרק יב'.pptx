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69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63" r:id="rId10"/>
    <p:sldId id="264" r:id="rId11"/>
    <p:sldId id="270" r:id="rId12"/>
    <p:sldId id="265" r:id="rId13"/>
    <p:sldId id="266" r:id="rId14"/>
    <p:sldId id="267" r:id="rId15"/>
    <p:sldId id="276" r:id="rId16"/>
    <p:sldId id="272" r:id="rId17"/>
    <p:sldId id="273" r:id="rId18"/>
    <p:sldId id="274" r:id="rId19"/>
    <p:sldId id="275" r:id="rId20"/>
  </p:sldIdLst>
  <p:sldSz cx="9144000" cy="6858000" type="screen4x3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67" d="100"/>
          <a:sy n="67" d="100"/>
        </p:scale>
        <p:origin x="-1170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2F678-1220-494D-93A7-6087EB2DD719}" type="datetimeFigureOut">
              <a:rPr lang="he-IL" smtClean="0"/>
              <a:t>ט"ז/אדר/תש"פ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1926F-B1F1-4D43-BED3-C21EA27AE3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53401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2F678-1220-494D-93A7-6087EB2DD719}" type="datetimeFigureOut">
              <a:rPr lang="he-IL" smtClean="0"/>
              <a:t>ט"ז/אדר/תש"פ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1926F-B1F1-4D43-BED3-C21EA27AE3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65371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2F678-1220-494D-93A7-6087EB2DD719}" type="datetimeFigureOut">
              <a:rPr lang="he-IL" smtClean="0"/>
              <a:t>ט"ז/אדר/תש"פ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1926F-B1F1-4D43-BED3-C21EA27AE3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27571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2F678-1220-494D-93A7-6087EB2DD719}" type="datetimeFigureOut">
              <a:rPr lang="he-IL" smtClean="0"/>
              <a:t>ט"ז/אדר/תש"פ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1926F-B1F1-4D43-BED3-C21EA27AE3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49185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2F678-1220-494D-93A7-6087EB2DD719}" type="datetimeFigureOut">
              <a:rPr lang="he-IL" smtClean="0"/>
              <a:t>ט"ז/אדר/תש"פ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1926F-B1F1-4D43-BED3-C21EA27AE3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74392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2F678-1220-494D-93A7-6087EB2DD719}" type="datetimeFigureOut">
              <a:rPr lang="he-IL" smtClean="0"/>
              <a:t>ט"ז/אדר/תש"פ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1926F-B1F1-4D43-BED3-C21EA27AE3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43052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2F678-1220-494D-93A7-6087EB2DD719}" type="datetimeFigureOut">
              <a:rPr lang="he-IL" smtClean="0"/>
              <a:t>ט"ז/אדר/תש"פ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1926F-B1F1-4D43-BED3-C21EA27AE3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02728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2F678-1220-494D-93A7-6087EB2DD719}" type="datetimeFigureOut">
              <a:rPr lang="he-IL" smtClean="0"/>
              <a:t>ט"ז/אדר/תש"פ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1926F-B1F1-4D43-BED3-C21EA27AE3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42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2F678-1220-494D-93A7-6087EB2DD719}" type="datetimeFigureOut">
              <a:rPr lang="he-IL" smtClean="0"/>
              <a:t>ט"ז/אדר/תש"פ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1926F-B1F1-4D43-BED3-C21EA27AE3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66015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2F678-1220-494D-93A7-6087EB2DD719}" type="datetimeFigureOut">
              <a:rPr lang="he-IL" smtClean="0"/>
              <a:t>ט"ז/אדר/תש"פ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1926F-B1F1-4D43-BED3-C21EA27AE3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12546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2F678-1220-494D-93A7-6087EB2DD719}" type="datetimeFigureOut">
              <a:rPr lang="he-IL" smtClean="0"/>
              <a:t>ט"ז/אדר/תש"פ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1926F-B1F1-4D43-BED3-C21EA27AE3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42530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42F678-1220-494D-93A7-6087EB2DD719}" type="datetimeFigureOut">
              <a:rPr lang="he-IL" smtClean="0"/>
              <a:t>ט"ז/אדר/תש"פ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1926F-B1F1-4D43-BED3-C21EA27AE33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19620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2303611" y="2060848"/>
            <a:ext cx="6645424" cy="1143000"/>
          </a:xfrm>
        </p:spPr>
        <p:txBody>
          <a:bodyPr>
            <a:noAutofit/>
          </a:bodyPr>
          <a:lstStyle/>
          <a:p>
            <a:r>
              <a:rPr lang="he-IL" sz="11500" dirty="0" smtClean="0">
                <a:latin typeface="Guttman Keren" pitchFamily="2" charset="-79"/>
                <a:cs typeface="Guttman Keren" pitchFamily="2" charset="-79"/>
              </a:rPr>
              <a:t>שופטים פרק </a:t>
            </a:r>
            <a:r>
              <a:rPr lang="he-IL" sz="11500" dirty="0" err="1" smtClean="0">
                <a:latin typeface="Guttman Keren" pitchFamily="2" charset="-79"/>
                <a:cs typeface="Guttman Keren" pitchFamily="2" charset="-79"/>
              </a:rPr>
              <a:t>יב</a:t>
            </a:r>
            <a:r>
              <a:rPr lang="he-IL" sz="11500" dirty="0" smtClean="0">
                <a:latin typeface="Guttman Keren" pitchFamily="2" charset="-79"/>
                <a:cs typeface="Guttman Keren" pitchFamily="2" charset="-79"/>
              </a:rPr>
              <a:t>'</a:t>
            </a:r>
            <a:endParaRPr lang="he-IL" sz="11500" dirty="0">
              <a:latin typeface="Guttman Keren" pitchFamily="2" charset="-79"/>
              <a:cs typeface="Guttman Keren" pitchFamily="2" charset="-79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2699792" y="4221088"/>
            <a:ext cx="5987008" cy="1905075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he-IL" sz="5400" dirty="0" smtClean="0"/>
              <a:t>יפתח ובני שבט אפרים</a:t>
            </a:r>
            <a:endParaRPr lang="he-IL" sz="5400" dirty="0" smtClean="0"/>
          </a:p>
          <a:p>
            <a:pPr marL="0" indent="0">
              <a:buNone/>
            </a:pPr>
            <a:endParaRPr lang="he-IL" sz="2400" dirty="0" smtClean="0"/>
          </a:p>
          <a:p>
            <a:pPr marL="0" indent="0">
              <a:buNone/>
            </a:pPr>
            <a:endParaRPr lang="he-IL" sz="2400" dirty="0"/>
          </a:p>
          <a:p>
            <a:pPr marL="0" indent="0" algn="ctr">
              <a:buNone/>
            </a:pPr>
            <a:r>
              <a:rPr lang="he-IL" sz="2400" dirty="0" smtClean="0"/>
              <a:t>מצגת למידה מרחוק</a:t>
            </a:r>
            <a:endParaRPr lang="he-IL" sz="2400" dirty="0"/>
          </a:p>
        </p:txBody>
      </p:sp>
      <p:sp>
        <p:nvSpPr>
          <p:cNvPr id="5" name="AutoShape 2" descr="תוצאת תמונה עבור הגלעד"/>
          <p:cNvSpPr>
            <a:spLocks noChangeAspect="1" noChangeArrowheads="1"/>
          </p:cNvSpPr>
          <p:nvPr/>
        </p:nvSpPr>
        <p:spPr bwMode="auto">
          <a:xfrm>
            <a:off x="8923338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6" name="AutoShape 4" descr="תוצאת תמונה עבור הגלעד"/>
          <p:cNvSpPr>
            <a:spLocks noChangeAspect="1" noChangeArrowheads="1"/>
          </p:cNvSpPr>
          <p:nvPr/>
        </p:nvSpPr>
        <p:spPr bwMode="auto">
          <a:xfrm>
            <a:off x="9075738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7" name="AutoShape 6" descr="תוצאת תמונה עבור הגלעד"/>
          <p:cNvSpPr>
            <a:spLocks noChangeAspect="1" noChangeArrowheads="1"/>
          </p:cNvSpPr>
          <p:nvPr/>
        </p:nvSpPr>
        <p:spPr bwMode="auto">
          <a:xfrm>
            <a:off x="9228138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8" name="AutoShape 8" descr="https://www.yeshiva.org.il/wiki/images/thumb/5/50/Staemme_israels_heb_svg.png/250px-Staemme_israels_heb_svg.png"/>
          <p:cNvSpPr>
            <a:spLocks noChangeAspect="1" noChangeArrowheads="1"/>
          </p:cNvSpPr>
          <p:nvPr/>
        </p:nvSpPr>
        <p:spPr bwMode="auto">
          <a:xfrm>
            <a:off x="9380538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pic>
        <p:nvPicPr>
          <p:cNvPr id="9" name="תמונה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433139"/>
            <a:ext cx="3312368" cy="504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48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67544" y="764704"/>
            <a:ext cx="8229600" cy="1143000"/>
          </a:xfrm>
        </p:spPr>
        <p:txBody>
          <a:bodyPr>
            <a:noAutofit/>
          </a:bodyPr>
          <a:lstStyle/>
          <a:p>
            <a:r>
              <a:rPr lang="he-IL" sz="4800" dirty="0">
                <a:latin typeface="Guttman Keren" pitchFamily="2" charset="-79"/>
                <a:cs typeface="Guttman Keren" pitchFamily="2" charset="-79"/>
              </a:rPr>
              <a:t>תוצאות הקרב בין יפתח ובני עמון </a:t>
            </a:r>
            <a:br>
              <a:rPr lang="he-IL" sz="4800" dirty="0">
                <a:latin typeface="Guttman Keren" pitchFamily="2" charset="-79"/>
                <a:cs typeface="Guttman Keren" pitchFamily="2" charset="-79"/>
              </a:rPr>
            </a:br>
            <a:r>
              <a:rPr lang="he-IL" sz="4800" dirty="0">
                <a:latin typeface="Guttman Keren" pitchFamily="2" charset="-79"/>
                <a:cs typeface="Guttman Keren" pitchFamily="2" charset="-79"/>
              </a:rPr>
              <a:t>בקרב שבטי ישראל</a:t>
            </a:r>
            <a:r>
              <a:rPr lang="en-US" sz="4800" dirty="0">
                <a:latin typeface="Guttman Keren" pitchFamily="2" charset="-79"/>
                <a:cs typeface="Guttman Keren" pitchFamily="2" charset="-79"/>
              </a:rPr>
              <a:t/>
            </a:r>
            <a:br>
              <a:rPr lang="en-US" sz="4800" dirty="0">
                <a:latin typeface="Guttman Keren" pitchFamily="2" charset="-79"/>
                <a:cs typeface="Guttman Keren" pitchFamily="2" charset="-79"/>
              </a:rPr>
            </a:br>
            <a:endParaRPr lang="he-IL" sz="4800" dirty="0">
              <a:latin typeface="Guttman Keren" pitchFamily="2" charset="-79"/>
              <a:cs typeface="Guttman Keren" pitchFamily="2" charset="-79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979712" y="1916832"/>
            <a:ext cx="6707088" cy="4209331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dirty="0" smtClean="0">
                <a:latin typeface="David" pitchFamily="34" charset="-79"/>
                <a:cs typeface="David" pitchFamily="34" charset="-79"/>
              </a:rPr>
              <a:t>בני שבט אפרים שלא </a:t>
            </a:r>
            <a:r>
              <a:rPr lang="he-IL" dirty="0">
                <a:latin typeface="David" pitchFamily="34" charset="-79"/>
                <a:cs typeface="David" pitchFamily="34" charset="-79"/>
              </a:rPr>
              <a:t>השתתפו </a:t>
            </a:r>
            <a:r>
              <a:rPr lang="he-IL" dirty="0" smtClean="0">
                <a:latin typeface="David" pitchFamily="34" charset="-79"/>
                <a:cs typeface="David" pitchFamily="34" charset="-79"/>
              </a:rPr>
              <a:t>בקרב של יפתח נגד בני עמון, </a:t>
            </a:r>
            <a:r>
              <a:rPr lang="he-IL" dirty="0">
                <a:latin typeface="David" pitchFamily="34" charset="-79"/>
                <a:cs typeface="David" pitchFamily="34" charset="-79"/>
              </a:rPr>
              <a:t>עוברים את הירדן לגלעד, </a:t>
            </a:r>
            <a:r>
              <a:rPr lang="he-IL" dirty="0" smtClean="0">
                <a:latin typeface="David" pitchFamily="34" charset="-79"/>
                <a:cs typeface="David" pitchFamily="34" charset="-79"/>
              </a:rPr>
              <a:t>וטוענים </a:t>
            </a:r>
            <a:r>
              <a:rPr lang="he-IL" dirty="0">
                <a:latin typeface="David" pitchFamily="34" charset="-79"/>
                <a:cs typeface="David" pitchFamily="34" charset="-79"/>
              </a:rPr>
              <a:t>נגד יפתח:</a:t>
            </a:r>
            <a:endParaRPr lang="en-US" dirty="0">
              <a:latin typeface="David" pitchFamily="34" charset="-79"/>
              <a:cs typeface="David" pitchFamily="34" charset="-79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he-IL" dirty="0" smtClean="0">
                <a:latin typeface="David" pitchFamily="34" charset="-79"/>
                <a:cs typeface="David" pitchFamily="34" charset="-79"/>
              </a:rPr>
              <a:t>"מַדּוּעַ </a:t>
            </a:r>
            <a:r>
              <a:rPr lang="he-IL" dirty="0">
                <a:latin typeface="David" pitchFamily="34" charset="-79"/>
                <a:cs typeface="David" pitchFamily="34" charset="-79"/>
              </a:rPr>
              <a:t>עָבַרְתָּ </a:t>
            </a:r>
            <a:r>
              <a:rPr lang="he-IL" dirty="0" err="1">
                <a:latin typeface="David" pitchFamily="34" charset="-79"/>
                <a:cs typeface="David" pitchFamily="34" charset="-79"/>
              </a:rPr>
              <a:t>לְהִלָּחֵם</a:t>
            </a:r>
            <a:r>
              <a:rPr lang="he-IL" dirty="0">
                <a:latin typeface="David" pitchFamily="34" charset="-79"/>
                <a:cs typeface="David" pitchFamily="34" charset="-79"/>
              </a:rPr>
              <a:t> בִּבְנֵי עַמּוֹן </a:t>
            </a:r>
            <a:endParaRPr lang="he-IL" dirty="0" smtClean="0">
              <a:latin typeface="David" pitchFamily="34" charset="-79"/>
              <a:cs typeface="David" pitchFamily="34" charset="-79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he-IL" dirty="0" smtClean="0">
                <a:latin typeface="David" pitchFamily="34" charset="-79"/>
                <a:cs typeface="David" pitchFamily="34" charset="-79"/>
              </a:rPr>
              <a:t>וְלָנוּ </a:t>
            </a:r>
            <a:r>
              <a:rPr lang="he-IL" dirty="0">
                <a:latin typeface="David" pitchFamily="34" charset="-79"/>
                <a:cs typeface="David" pitchFamily="34" charset="-79"/>
              </a:rPr>
              <a:t>לֹא קָרָאתָ לָלֶכֶת עִמָּךְ </a:t>
            </a:r>
            <a:endParaRPr lang="he-IL" dirty="0" smtClean="0">
              <a:latin typeface="David" pitchFamily="34" charset="-79"/>
              <a:cs typeface="David" pitchFamily="34" charset="-79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he-IL" dirty="0" smtClean="0">
                <a:latin typeface="David" pitchFamily="34" charset="-79"/>
                <a:cs typeface="David" pitchFamily="34" charset="-79"/>
              </a:rPr>
              <a:t>בֵּיתְךָ </a:t>
            </a:r>
            <a:r>
              <a:rPr lang="he-IL" dirty="0">
                <a:latin typeface="David" pitchFamily="34" charset="-79"/>
                <a:cs typeface="David" pitchFamily="34" charset="-79"/>
              </a:rPr>
              <a:t>נִשְׂרֹף עָלֶיךָ </a:t>
            </a:r>
            <a:r>
              <a:rPr lang="he-IL" dirty="0" smtClean="0">
                <a:latin typeface="David" pitchFamily="34" charset="-79"/>
                <a:cs typeface="David" pitchFamily="34" charset="-79"/>
              </a:rPr>
              <a:t>בָּאֵשׁ" (פס' א)</a:t>
            </a:r>
            <a:endParaRPr lang="he-IL" dirty="0">
              <a:latin typeface="David" pitchFamily="34" charset="-79"/>
              <a:cs typeface="David" pitchFamily="34" charset="-79"/>
            </a:endParaRPr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2153307"/>
            <a:ext cx="2808312" cy="4279867"/>
          </a:xfrm>
          <a:prstGeom prst="rect">
            <a:avLst/>
          </a:prstGeom>
        </p:spPr>
      </p:pic>
      <p:sp>
        <p:nvSpPr>
          <p:cNvPr id="5" name="צורה חופשית 4"/>
          <p:cNvSpPr/>
          <p:nvPr/>
        </p:nvSpPr>
        <p:spPr>
          <a:xfrm>
            <a:off x="1052950" y="4181055"/>
            <a:ext cx="518675" cy="471247"/>
          </a:xfrm>
          <a:custGeom>
            <a:avLst/>
            <a:gdLst>
              <a:gd name="connsiteX0" fmla="*/ 518675 w 518675"/>
              <a:gd name="connsiteY0" fmla="*/ 119483 h 471247"/>
              <a:gd name="connsiteX1" fmla="*/ 447238 w 518675"/>
              <a:gd name="connsiteY1" fmla="*/ 90908 h 471247"/>
              <a:gd name="connsiteX2" fmla="*/ 432950 w 518675"/>
              <a:gd name="connsiteY2" fmla="*/ 48045 h 471247"/>
              <a:gd name="connsiteX3" fmla="*/ 332938 w 518675"/>
              <a:gd name="connsiteY3" fmla="*/ 5183 h 471247"/>
              <a:gd name="connsiteX4" fmla="*/ 47188 w 518675"/>
              <a:gd name="connsiteY4" fmla="*/ 48045 h 471247"/>
              <a:gd name="connsiteX5" fmla="*/ 32900 w 518675"/>
              <a:gd name="connsiteY5" fmla="*/ 90908 h 471247"/>
              <a:gd name="connsiteX6" fmla="*/ 18613 w 518675"/>
              <a:gd name="connsiteY6" fmla="*/ 162345 h 471247"/>
              <a:gd name="connsiteX7" fmla="*/ 32900 w 518675"/>
              <a:gd name="connsiteY7" fmla="*/ 448095 h 471247"/>
              <a:gd name="connsiteX8" fmla="*/ 275788 w 518675"/>
              <a:gd name="connsiteY8" fmla="*/ 419520 h 471247"/>
              <a:gd name="connsiteX9" fmla="*/ 361513 w 518675"/>
              <a:gd name="connsiteY9" fmla="*/ 362370 h 471247"/>
              <a:gd name="connsiteX10" fmla="*/ 375800 w 518675"/>
              <a:gd name="connsiteY10" fmla="*/ 319508 h 471247"/>
              <a:gd name="connsiteX11" fmla="*/ 418663 w 518675"/>
              <a:gd name="connsiteY11" fmla="*/ 290933 h 471247"/>
              <a:gd name="connsiteX12" fmla="*/ 518675 w 518675"/>
              <a:gd name="connsiteY12" fmla="*/ 162345 h 471247"/>
              <a:gd name="connsiteX13" fmla="*/ 518675 w 518675"/>
              <a:gd name="connsiteY13" fmla="*/ 62333 h 471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18675" h="471247">
                <a:moveTo>
                  <a:pt x="518675" y="119483"/>
                </a:moveTo>
                <a:cubicBezTo>
                  <a:pt x="494863" y="109958"/>
                  <a:pt x="466940" y="107327"/>
                  <a:pt x="447238" y="90908"/>
                </a:cubicBezTo>
                <a:cubicBezTo>
                  <a:pt x="435668" y="81266"/>
                  <a:pt x="442358" y="59805"/>
                  <a:pt x="432950" y="48045"/>
                </a:cubicBezTo>
                <a:cubicBezTo>
                  <a:pt x="408283" y="17211"/>
                  <a:pt x="367256" y="13762"/>
                  <a:pt x="332938" y="5183"/>
                </a:cubicBezTo>
                <a:cubicBezTo>
                  <a:pt x="328128" y="5466"/>
                  <a:pt x="103495" y="-22340"/>
                  <a:pt x="47188" y="48045"/>
                </a:cubicBezTo>
                <a:cubicBezTo>
                  <a:pt x="37780" y="59805"/>
                  <a:pt x="36553" y="76297"/>
                  <a:pt x="32900" y="90908"/>
                </a:cubicBezTo>
                <a:cubicBezTo>
                  <a:pt x="27010" y="114467"/>
                  <a:pt x="23375" y="138533"/>
                  <a:pt x="18613" y="162345"/>
                </a:cubicBezTo>
                <a:cubicBezTo>
                  <a:pt x="23375" y="257595"/>
                  <a:pt x="-34536" y="380659"/>
                  <a:pt x="32900" y="448095"/>
                </a:cubicBezTo>
                <a:cubicBezTo>
                  <a:pt x="90544" y="505739"/>
                  <a:pt x="196907" y="440098"/>
                  <a:pt x="275788" y="419520"/>
                </a:cubicBezTo>
                <a:cubicBezTo>
                  <a:pt x="309019" y="410851"/>
                  <a:pt x="361513" y="362370"/>
                  <a:pt x="361513" y="362370"/>
                </a:cubicBezTo>
                <a:cubicBezTo>
                  <a:pt x="366275" y="348083"/>
                  <a:pt x="366392" y="331268"/>
                  <a:pt x="375800" y="319508"/>
                </a:cubicBezTo>
                <a:cubicBezTo>
                  <a:pt x="386527" y="306099"/>
                  <a:pt x="405471" y="301926"/>
                  <a:pt x="418663" y="290933"/>
                </a:cubicBezTo>
                <a:cubicBezTo>
                  <a:pt x="445590" y="268493"/>
                  <a:pt x="518675" y="188894"/>
                  <a:pt x="518675" y="162345"/>
                </a:cubicBezTo>
                <a:lnTo>
                  <a:pt x="518675" y="62333"/>
                </a:lnTo>
              </a:path>
            </a:pathLst>
          </a:cu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8" name="מחבר חץ ישר 7"/>
          <p:cNvCxnSpPr>
            <a:stCxn id="5" idx="13"/>
          </p:cNvCxnSpPr>
          <p:nvPr/>
        </p:nvCxnSpPr>
        <p:spPr>
          <a:xfrm flipV="1">
            <a:off x="1571625" y="3933056"/>
            <a:ext cx="552103" cy="3103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3779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39552" y="692696"/>
            <a:ext cx="7632848" cy="54620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sz="4400" dirty="0">
                <a:latin typeface="David" pitchFamily="34" charset="-79"/>
                <a:cs typeface="David" pitchFamily="34" charset="-79"/>
              </a:rPr>
              <a:t>טענה זו מוכרת לנו. </a:t>
            </a:r>
            <a:endParaRPr lang="he-IL" sz="4400" dirty="0" smtClean="0">
              <a:latin typeface="David" pitchFamily="34" charset="-79"/>
              <a:cs typeface="David" pitchFamily="34" charset="-79"/>
            </a:endParaRPr>
          </a:p>
          <a:p>
            <a:pPr marL="0" indent="0">
              <a:buNone/>
            </a:pPr>
            <a:r>
              <a:rPr lang="he-IL" sz="4400" dirty="0" smtClean="0">
                <a:latin typeface="David" pitchFamily="34" charset="-79"/>
                <a:cs typeface="David" pitchFamily="34" charset="-79"/>
              </a:rPr>
              <a:t>לפני </a:t>
            </a:r>
            <a:r>
              <a:rPr lang="he-IL" sz="4400" dirty="0">
                <a:latin typeface="David" pitchFamily="34" charset="-79"/>
                <a:cs typeface="David" pitchFamily="34" charset="-79"/>
              </a:rPr>
              <a:t>דור אחד טענו בני אפרים, </a:t>
            </a:r>
            <a:endParaRPr lang="he-IL" sz="4400" dirty="0" smtClean="0">
              <a:latin typeface="David" pitchFamily="34" charset="-79"/>
              <a:cs typeface="David" pitchFamily="34" charset="-79"/>
            </a:endParaRPr>
          </a:p>
          <a:p>
            <a:pPr marL="0" indent="0">
              <a:buNone/>
            </a:pPr>
            <a:r>
              <a:rPr lang="he-IL" sz="4400" dirty="0" smtClean="0">
                <a:latin typeface="David" pitchFamily="34" charset="-79"/>
                <a:cs typeface="David" pitchFamily="34" charset="-79"/>
              </a:rPr>
              <a:t>אותו </a:t>
            </a:r>
            <a:r>
              <a:rPr lang="he-IL" sz="4400" dirty="0">
                <a:latin typeface="David" pitchFamily="34" charset="-79"/>
                <a:cs typeface="David" pitchFamily="34" charset="-79"/>
              </a:rPr>
              <a:t>שבט </a:t>
            </a:r>
            <a:r>
              <a:rPr lang="he-IL" sz="4400" dirty="0" smtClean="0">
                <a:latin typeface="David" pitchFamily="34" charset="-79"/>
                <a:cs typeface="David" pitchFamily="34" charset="-79"/>
              </a:rPr>
              <a:t>בדיוק, טענה דומה.</a:t>
            </a:r>
          </a:p>
          <a:p>
            <a:pPr marL="0" indent="0">
              <a:buNone/>
            </a:pPr>
            <a:endParaRPr lang="he-IL" sz="4400" dirty="0">
              <a:latin typeface="David" pitchFamily="34" charset="-79"/>
              <a:cs typeface="David" pitchFamily="34" charset="-79"/>
            </a:endParaRPr>
          </a:p>
          <a:p>
            <a:pPr marL="0" indent="0" algn="ctr">
              <a:buNone/>
            </a:pPr>
            <a:r>
              <a:rPr lang="he-IL" sz="4400" dirty="0">
                <a:latin typeface="Guttman Keren" pitchFamily="2" charset="-79"/>
                <a:ea typeface="+mj-ea"/>
                <a:cs typeface="Guttman Keren" pitchFamily="2" charset="-79"/>
              </a:rPr>
              <a:t>אל מי פנו בני אפרים </a:t>
            </a:r>
            <a:endParaRPr lang="he-IL" sz="4400" dirty="0" smtClean="0">
              <a:latin typeface="Guttman Keren" pitchFamily="2" charset="-79"/>
              <a:ea typeface="+mj-ea"/>
              <a:cs typeface="Guttman Keren" pitchFamily="2" charset="-79"/>
            </a:endParaRPr>
          </a:p>
          <a:p>
            <a:pPr marL="0" indent="0" algn="ctr">
              <a:buNone/>
            </a:pPr>
            <a:r>
              <a:rPr lang="he-IL" sz="4400" dirty="0" smtClean="0">
                <a:latin typeface="Guttman Keren" pitchFamily="2" charset="-79"/>
                <a:ea typeface="+mj-ea"/>
                <a:cs typeface="Guttman Keren" pitchFamily="2" charset="-79"/>
              </a:rPr>
              <a:t>בטענה </a:t>
            </a:r>
            <a:r>
              <a:rPr lang="he-IL" sz="4400" dirty="0">
                <a:latin typeface="Guttman Keren" pitchFamily="2" charset="-79"/>
                <a:ea typeface="+mj-ea"/>
                <a:cs typeface="Guttman Keren" pitchFamily="2" charset="-79"/>
              </a:rPr>
              <a:t>דומה?</a:t>
            </a:r>
          </a:p>
          <a:p>
            <a:pPr marL="0" indent="0">
              <a:buNone/>
            </a:pPr>
            <a:r>
              <a:rPr lang="he-IL" dirty="0" smtClean="0"/>
              <a:t> 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25444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sz="4400" dirty="0">
                <a:latin typeface="David" pitchFamily="34" charset="-79"/>
                <a:cs typeface="David" pitchFamily="34" charset="-79"/>
              </a:rPr>
              <a:t>טענה דומה טענו בני אפרים כלפי גדעון, לאחר שהיכה את מדין: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he-IL" sz="4400" dirty="0">
                <a:latin typeface="David" pitchFamily="34" charset="-79"/>
                <a:cs typeface="David" pitchFamily="34" charset="-79"/>
              </a:rPr>
              <a:t>"מָה הַדָּבָר הַזֶּה עָשִׂיתָ לָּנוּ </a:t>
            </a:r>
            <a:endParaRPr lang="he-IL" sz="4400" dirty="0" smtClean="0">
              <a:latin typeface="David" pitchFamily="34" charset="-79"/>
              <a:cs typeface="David" pitchFamily="34" charset="-79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he-IL" sz="4400" dirty="0" smtClean="0">
                <a:latin typeface="David" pitchFamily="34" charset="-79"/>
                <a:cs typeface="David" pitchFamily="34" charset="-79"/>
              </a:rPr>
              <a:t>לְבִלְתִּי </a:t>
            </a:r>
            <a:r>
              <a:rPr lang="he-IL" sz="4400" dirty="0">
                <a:latin typeface="David" pitchFamily="34" charset="-79"/>
                <a:cs typeface="David" pitchFamily="34" charset="-79"/>
              </a:rPr>
              <a:t>קְרֹאות לָנוּ </a:t>
            </a:r>
            <a:endParaRPr lang="he-IL" sz="4400" dirty="0" smtClean="0">
              <a:latin typeface="David" pitchFamily="34" charset="-79"/>
              <a:cs typeface="David" pitchFamily="34" charset="-79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he-IL" sz="4400" dirty="0" smtClean="0">
                <a:latin typeface="David" pitchFamily="34" charset="-79"/>
                <a:cs typeface="David" pitchFamily="34" charset="-79"/>
              </a:rPr>
              <a:t>כִּי </a:t>
            </a:r>
            <a:r>
              <a:rPr lang="he-IL" sz="4400" dirty="0">
                <a:latin typeface="David" pitchFamily="34" charset="-79"/>
                <a:cs typeface="David" pitchFamily="34" charset="-79"/>
              </a:rPr>
              <a:t>הָלַכְתָּ </a:t>
            </a:r>
            <a:r>
              <a:rPr lang="he-IL" sz="4400" dirty="0" err="1">
                <a:latin typeface="David" pitchFamily="34" charset="-79"/>
                <a:cs typeface="David" pitchFamily="34" charset="-79"/>
              </a:rPr>
              <a:t>לְהִלָּחֵם</a:t>
            </a:r>
            <a:r>
              <a:rPr lang="he-IL" sz="4400" dirty="0">
                <a:latin typeface="David" pitchFamily="34" charset="-79"/>
                <a:cs typeface="David" pitchFamily="34" charset="-79"/>
              </a:rPr>
              <a:t> בְּמִדְיָן" (</a:t>
            </a:r>
            <a:r>
              <a:rPr lang="he-IL" sz="4400" dirty="0" err="1">
                <a:latin typeface="David" pitchFamily="34" charset="-79"/>
                <a:cs typeface="David" pitchFamily="34" charset="-79"/>
              </a:rPr>
              <a:t>ח,א</a:t>
            </a:r>
            <a:r>
              <a:rPr lang="he-IL" sz="4400" dirty="0">
                <a:latin typeface="David" pitchFamily="34" charset="-79"/>
                <a:cs typeface="David" pitchFamily="34" charset="-79"/>
              </a:rPr>
              <a:t>)</a:t>
            </a:r>
            <a:endParaRPr lang="en-US" sz="4400" dirty="0">
              <a:latin typeface="David" pitchFamily="34" charset="-79"/>
              <a:cs typeface="David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73071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he-IL" sz="4400" dirty="0">
                <a:latin typeface="David" pitchFamily="34" charset="-79"/>
                <a:cs typeface="David" pitchFamily="34" charset="-79"/>
              </a:rPr>
              <a:t>תשובתו של יפתח </a:t>
            </a:r>
            <a:r>
              <a:rPr lang="he-IL" sz="4400" dirty="0" smtClean="0">
                <a:latin typeface="David" pitchFamily="34" charset="-79"/>
                <a:cs typeface="David" pitchFamily="34" charset="-79"/>
              </a:rPr>
              <a:t>אינה סבלנית כשל גדעון:</a:t>
            </a:r>
            <a:endParaRPr lang="en-US" sz="4400" dirty="0">
              <a:latin typeface="David" pitchFamily="34" charset="-79"/>
              <a:cs typeface="David" pitchFamily="34" charset="-79"/>
            </a:endParaRPr>
          </a:p>
          <a:p>
            <a:pPr marL="0" indent="0" algn="ctr">
              <a:lnSpc>
                <a:spcPct val="160000"/>
              </a:lnSpc>
              <a:buNone/>
            </a:pPr>
            <a:r>
              <a:rPr lang="he-IL" sz="4400" dirty="0">
                <a:latin typeface="David" pitchFamily="34" charset="-79"/>
                <a:cs typeface="David" pitchFamily="34" charset="-79"/>
              </a:rPr>
              <a:t>"אִישׁ רִיב הָיִיתִי אֲנִי וְעַמִּי וּבְנֵי עַמּוֹן מְאֹד </a:t>
            </a:r>
            <a:endParaRPr lang="he-IL" sz="4400" dirty="0" smtClean="0">
              <a:latin typeface="David" pitchFamily="34" charset="-79"/>
              <a:cs typeface="David" pitchFamily="34" charset="-79"/>
            </a:endParaRPr>
          </a:p>
          <a:p>
            <a:pPr marL="0" indent="0" algn="ctr">
              <a:lnSpc>
                <a:spcPct val="160000"/>
              </a:lnSpc>
              <a:buNone/>
            </a:pPr>
            <a:r>
              <a:rPr lang="he-IL" sz="4400" dirty="0" smtClean="0">
                <a:latin typeface="David" pitchFamily="34" charset="-79"/>
                <a:cs typeface="David" pitchFamily="34" charset="-79"/>
              </a:rPr>
              <a:t>וָאֶזְעַק </a:t>
            </a:r>
            <a:r>
              <a:rPr lang="he-IL" sz="4400" dirty="0">
                <a:latin typeface="David" pitchFamily="34" charset="-79"/>
                <a:cs typeface="David" pitchFamily="34" charset="-79"/>
              </a:rPr>
              <a:t>אֶתְכֶם וְלֹא הוֹשַׁעְתֶּם אוֹתִי מִיָּדָם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he-IL" sz="4400" dirty="0">
                <a:latin typeface="David" pitchFamily="34" charset="-79"/>
                <a:cs typeface="David" pitchFamily="34" charset="-79"/>
              </a:rPr>
              <a:t>וָאֶרְאֶה כִּי אֵינְךָ מוֹשִׁיעַ </a:t>
            </a:r>
            <a:endParaRPr lang="he-IL" sz="4400" dirty="0" smtClean="0">
              <a:latin typeface="David" pitchFamily="34" charset="-79"/>
              <a:cs typeface="David" pitchFamily="34" charset="-79"/>
            </a:endParaRPr>
          </a:p>
          <a:p>
            <a:pPr marL="0" indent="0" algn="ctr">
              <a:lnSpc>
                <a:spcPct val="160000"/>
              </a:lnSpc>
              <a:buNone/>
            </a:pPr>
            <a:r>
              <a:rPr lang="he-IL" sz="4400" dirty="0" err="1" smtClean="0">
                <a:latin typeface="David" pitchFamily="34" charset="-79"/>
                <a:cs typeface="David" pitchFamily="34" charset="-79"/>
              </a:rPr>
              <a:t>וָאָשִׂימָה</a:t>
            </a:r>
            <a:r>
              <a:rPr lang="he-IL" sz="4400" dirty="0" smtClean="0">
                <a:latin typeface="David" pitchFamily="34" charset="-79"/>
                <a:cs typeface="David" pitchFamily="34" charset="-79"/>
              </a:rPr>
              <a:t> </a:t>
            </a:r>
            <a:r>
              <a:rPr lang="he-IL" sz="4400" dirty="0">
                <a:latin typeface="David" pitchFamily="34" charset="-79"/>
                <a:cs typeface="David" pitchFamily="34" charset="-79"/>
              </a:rPr>
              <a:t>נַפְשִׁי בְכַפִּי </a:t>
            </a:r>
            <a:endParaRPr lang="he-IL" sz="4400" dirty="0" smtClean="0">
              <a:latin typeface="David" pitchFamily="34" charset="-79"/>
              <a:cs typeface="David" pitchFamily="34" charset="-79"/>
            </a:endParaRPr>
          </a:p>
          <a:p>
            <a:pPr marL="0" indent="0" algn="ctr">
              <a:lnSpc>
                <a:spcPct val="160000"/>
              </a:lnSpc>
              <a:buNone/>
            </a:pPr>
            <a:r>
              <a:rPr lang="he-IL" sz="4400" dirty="0" smtClean="0">
                <a:latin typeface="David" pitchFamily="34" charset="-79"/>
                <a:cs typeface="David" pitchFamily="34" charset="-79"/>
              </a:rPr>
              <a:t>וָאֶעְבְּרָה </a:t>
            </a:r>
            <a:r>
              <a:rPr lang="he-IL" sz="4400" dirty="0">
                <a:latin typeface="David" pitchFamily="34" charset="-79"/>
                <a:cs typeface="David" pitchFamily="34" charset="-79"/>
              </a:rPr>
              <a:t>אֶל בְּנֵי עַמּוֹן </a:t>
            </a:r>
            <a:r>
              <a:rPr lang="he-IL" sz="4400" dirty="0" err="1">
                <a:latin typeface="David" pitchFamily="34" charset="-79"/>
                <a:cs typeface="David" pitchFamily="34" charset="-79"/>
              </a:rPr>
              <a:t>וַיִּתְּנֵם</a:t>
            </a:r>
            <a:r>
              <a:rPr lang="he-IL" sz="4400">
                <a:latin typeface="David" pitchFamily="34" charset="-79"/>
                <a:cs typeface="David" pitchFamily="34" charset="-79"/>
              </a:rPr>
              <a:t> </a:t>
            </a:r>
            <a:r>
              <a:rPr lang="he-IL" sz="4400" smtClean="0">
                <a:latin typeface="David" pitchFamily="34" charset="-79"/>
                <a:cs typeface="David" pitchFamily="34" charset="-79"/>
              </a:rPr>
              <a:t>ה' </a:t>
            </a:r>
            <a:r>
              <a:rPr lang="he-IL" sz="4400" dirty="0">
                <a:latin typeface="David" pitchFamily="34" charset="-79"/>
                <a:cs typeface="David" pitchFamily="34" charset="-79"/>
              </a:rPr>
              <a:t>בְּיָדִי </a:t>
            </a:r>
            <a:endParaRPr lang="he-IL" sz="4400" dirty="0" smtClean="0">
              <a:latin typeface="David" pitchFamily="34" charset="-79"/>
              <a:cs typeface="David" pitchFamily="34" charset="-79"/>
            </a:endParaRPr>
          </a:p>
          <a:p>
            <a:pPr marL="0" indent="0" algn="ctr">
              <a:lnSpc>
                <a:spcPct val="160000"/>
              </a:lnSpc>
              <a:buNone/>
            </a:pPr>
            <a:r>
              <a:rPr lang="he-IL" sz="4400" dirty="0" smtClean="0">
                <a:latin typeface="David" pitchFamily="34" charset="-79"/>
                <a:cs typeface="David" pitchFamily="34" charset="-79"/>
              </a:rPr>
              <a:t>וְלָמָה </a:t>
            </a:r>
            <a:r>
              <a:rPr lang="he-IL" sz="4400" dirty="0">
                <a:latin typeface="David" pitchFamily="34" charset="-79"/>
                <a:cs typeface="David" pitchFamily="34" charset="-79"/>
              </a:rPr>
              <a:t>עֲלִיתֶם אֵלַי הַיּוֹם הַזֶּה </a:t>
            </a:r>
            <a:r>
              <a:rPr lang="he-IL" sz="4400" dirty="0" err="1">
                <a:latin typeface="David" pitchFamily="34" charset="-79"/>
                <a:cs typeface="David" pitchFamily="34" charset="-79"/>
              </a:rPr>
              <a:t>לְהִלָּחֶם</a:t>
            </a:r>
            <a:r>
              <a:rPr lang="he-IL" sz="4400" dirty="0">
                <a:latin typeface="David" pitchFamily="34" charset="-79"/>
                <a:cs typeface="David" pitchFamily="34" charset="-79"/>
              </a:rPr>
              <a:t> בִּי" (פס' ב-ג)</a:t>
            </a:r>
            <a:endParaRPr lang="en-US" sz="4400" dirty="0">
              <a:latin typeface="David" pitchFamily="34" charset="-79"/>
              <a:cs typeface="David" pitchFamily="34" charset="-79"/>
            </a:endParaRPr>
          </a:p>
          <a:p>
            <a:pPr marL="0" indent="0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469831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sz="3400" dirty="0">
                <a:latin typeface="David" pitchFamily="34" charset="-79"/>
                <a:cs typeface="David" pitchFamily="34" charset="-79"/>
              </a:rPr>
              <a:t>תשובתו של יפתח מוצדקת: </a:t>
            </a:r>
            <a:endParaRPr lang="he-IL" sz="3400" dirty="0" smtClean="0">
              <a:latin typeface="David" pitchFamily="34" charset="-79"/>
              <a:cs typeface="David" pitchFamily="34" charset="-79"/>
            </a:endParaRPr>
          </a:p>
          <a:p>
            <a:pPr marL="0" indent="0">
              <a:buNone/>
            </a:pPr>
            <a:endParaRPr lang="he-IL" dirty="0" smtClean="0">
              <a:latin typeface="David" pitchFamily="34" charset="-79"/>
              <a:cs typeface="David" pitchFamily="34" charset="-79"/>
            </a:endParaRPr>
          </a:p>
          <a:p>
            <a:pPr marL="0" indent="0" algn="ctr">
              <a:buNone/>
            </a:pPr>
            <a:r>
              <a:rPr lang="he-IL" sz="3400" dirty="0" smtClean="0">
                <a:latin typeface="David" pitchFamily="34" charset="-79"/>
                <a:cs typeface="David" pitchFamily="34" charset="-79"/>
              </a:rPr>
              <a:t>שמונה </a:t>
            </a:r>
            <a:r>
              <a:rPr lang="he-IL" sz="3400" dirty="0">
                <a:latin typeface="David" pitchFamily="34" charset="-79"/>
                <a:cs typeface="David" pitchFamily="34" charset="-79"/>
              </a:rPr>
              <a:t>עשרה שנים שולטים בני עמון </a:t>
            </a:r>
            <a:endParaRPr lang="he-IL" sz="3400" dirty="0" smtClean="0">
              <a:latin typeface="David" pitchFamily="34" charset="-79"/>
              <a:cs typeface="David" pitchFamily="34" charset="-79"/>
            </a:endParaRPr>
          </a:p>
          <a:p>
            <a:pPr marL="0" indent="0" algn="ctr">
              <a:buNone/>
            </a:pPr>
            <a:r>
              <a:rPr lang="he-IL" sz="3400" dirty="0" smtClean="0">
                <a:latin typeface="David" pitchFamily="34" charset="-79"/>
                <a:cs typeface="David" pitchFamily="34" charset="-79"/>
              </a:rPr>
              <a:t>ביושבי </a:t>
            </a:r>
            <a:r>
              <a:rPr lang="he-IL" sz="3400" dirty="0">
                <a:latin typeface="David" pitchFamily="34" charset="-79"/>
                <a:cs typeface="David" pitchFamily="34" charset="-79"/>
              </a:rPr>
              <a:t>הגלעד, בעבר הירדן המזרחי. </a:t>
            </a:r>
            <a:endParaRPr lang="he-IL" sz="3400" dirty="0" smtClean="0">
              <a:latin typeface="David" pitchFamily="34" charset="-79"/>
              <a:cs typeface="David" pitchFamily="34" charset="-79"/>
            </a:endParaRPr>
          </a:p>
          <a:p>
            <a:pPr marL="0" indent="0" algn="ctr">
              <a:buNone/>
            </a:pPr>
            <a:r>
              <a:rPr lang="he-IL" sz="3400" dirty="0" smtClean="0">
                <a:latin typeface="David" pitchFamily="34" charset="-79"/>
                <a:cs typeface="David" pitchFamily="34" charset="-79"/>
              </a:rPr>
              <a:t>שמונה </a:t>
            </a:r>
            <a:r>
              <a:rPr lang="he-IL" sz="3400" dirty="0">
                <a:latin typeface="David" pitchFamily="34" charset="-79"/>
                <a:cs typeface="David" pitchFamily="34" charset="-79"/>
              </a:rPr>
              <a:t>עשרה שנים חיים בני אפרים </a:t>
            </a:r>
            <a:endParaRPr lang="he-IL" sz="3400" dirty="0" smtClean="0">
              <a:latin typeface="David" pitchFamily="34" charset="-79"/>
              <a:cs typeface="David" pitchFamily="34" charset="-79"/>
            </a:endParaRPr>
          </a:p>
          <a:p>
            <a:pPr marL="0" indent="0" algn="ctr">
              <a:buNone/>
            </a:pPr>
            <a:r>
              <a:rPr lang="he-IL" sz="3400" dirty="0" smtClean="0">
                <a:latin typeface="David" pitchFamily="34" charset="-79"/>
                <a:cs typeface="David" pitchFamily="34" charset="-79"/>
              </a:rPr>
              <a:t>בשלווה </a:t>
            </a:r>
            <a:r>
              <a:rPr lang="he-IL" sz="3400" dirty="0">
                <a:latin typeface="David" pitchFamily="34" charset="-79"/>
                <a:cs typeface="David" pitchFamily="34" charset="-79"/>
              </a:rPr>
              <a:t>בארצם (בעבר הירדן המערבי), </a:t>
            </a:r>
            <a:endParaRPr lang="he-IL" sz="3400" dirty="0" smtClean="0">
              <a:latin typeface="David" pitchFamily="34" charset="-79"/>
              <a:cs typeface="David" pitchFamily="34" charset="-79"/>
            </a:endParaRPr>
          </a:p>
          <a:p>
            <a:pPr marL="0" indent="0" algn="ctr">
              <a:buNone/>
            </a:pPr>
            <a:r>
              <a:rPr lang="he-IL" sz="3400" dirty="0" smtClean="0">
                <a:latin typeface="David" pitchFamily="34" charset="-79"/>
                <a:cs typeface="David" pitchFamily="34" charset="-79"/>
              </a:rPr>
              <a:t>ואינם </a:t>
            </a:r>
            <a:r>
              <a:rPr lang="he-IL" sz="3400" dirty="0">
                <a:latin typeface="David" pitchFamily="34" charset="-79"/>
                <a:cs typeface="David" pitchFamily="34" charset="-79"/>
              </a:rPr>
              <a:t>באים לעזור ליושבי הגלעד. </a:t>
            </a:r>
            <a:endParaRPr lang="he-IL" sz="3400" dirty="0" smtClean="0">
              <a:latin typeface="David" pitchFamily="34" charset="-79"/>
              <a:cs typeface="David" pitchFamily="34" charset="-79"/>
            </a:endParaRPr>
          </a:p>
          <a:p>
            <a:pPr marL="0" indent="0" algn="ctr">
              <a:buNone/>
            </a:pPr>
            <a:r>
              <a:rPr lang="he-IL" sz="3400" dirty="0" smtClean="0">
                <a:latin typeface="David" pitchFamily="34" charset="-79"/>
                <a:cs typeface="David" pitchFamily="34" charset="-79"/>
              </a:rPr>
              <a:t>ועכשיו</a:t>
            </a:r>
            <a:r>
              <a:rPr lang="he-IL" sz="3400" dirty="0">
                <a:latin typeface="David" pitchFamily="34" charset="-79"/>
                <a:cs typeface="David" pitchFamily="34" charset="-79"/>
              </a:rPr>
              <a:t>, לאחר הניצחון על בני עמון, </a:t>
            </a:r>
            <a:r>
              <a:rPr lang="he-IL" sz="3400" dirty="0" smtClean="0">
                <a:latin typeface="David" pitchFamily="34" charset="-79"/>
                <a:cs typeface="David" pitchFamily="34" charset="-79"/>
              </a:rPr>
              <a:t>באים </a:t>
            </a:r>
            <a:r>
              <a:rPr lang="he-IL" sz="3400" dirty="0">
                <a:latin typeface="David" pitchFamily="34" charset="-79"/>
                <a:cs typeface="David" pitchFamily="34" charset="-79"/>
              </a:rPr>
              <a:t>בני אפרים </a:t>
            </a:r>
            <a:r>
              <a:rPr lang="he-IL" sz="3400" dirty="0" smtClean="0">
                <a:latin typeface="David" pitchFamily="34" charset="-79"/>
                <a:cs typeface="David" pitchFamily="34" charset="-79"/>
              </a:rPr>
              <a:t>בטענה שלא קראו </a:t>
            </a:r>
            <a:r>
              <a:rPr lang="he-IL" sz="3400" dirty="0">
                <a:latin typeface="David" pitchFamily="34" charset="-79"/>
                <a:cs typeface="David" pitchFamily="34" charset="-79"/>
              </a:rPr>
              <a:t>להם להילחם?</a:t>
            </a:r>
            <a:endParaRPr lang="en-US" sz="3400" dirty="0">
              <a:latin typeface="David" pitchFamily="34" charset="-79"/>
              <a:cs typeface="David" pitchFamily="34" charset="-79"/>
            </a:endParaRPr>
          </a:p>
          <a:p>
            <a:pPr marL="0" indent="0" algn="ctr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330785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4000" dirty="0">
                <a:latin typeface="Guttman Keren" pitchFamily="2" charset="-79"/>
                <a:cs typeface="Guttman Keren" pitchFamily="2" charset="-79"/>
              </a:rPr>
              <a:t>שָׂם אֶת נַפְשׁוֹ בְּכַפּוֹ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59511" y="1196752"/>
            <a:ext cx="8229600" cy="1512168"/>
          </a:xfrm>
        </p:spPr>
        <p:txBody>
          <a:bodyPr/>
          <a:lstStyle/>
          <a:p>
            <a:pPr marL="0" indent="0" algn="ctr">
              <a:buNone/>
            </a:pPr>
            <a:r>
              <a:rPr lang="he-IL" dirty="0"/>
              <a:t>אנשי שבט אפרים באו בטענות אל יפתח – </a:t>
            </a:r>
            <a:endParaRPr lang="he-IL" dirty="0" smtClean="0"/>
          </a:p>
          <a:p>
            <a:pPr marL="0" indent="0" algn="ctr">
              <a:buNone/>
            </a:pPr>
            <a:r>
              <a:rPr lang="he-IL" dirty="0" smtClean="0"/>
              <a:t>מדוע </a:t>
            </a:r>
            <a:r>
              <a:rPr lang="he-IL" dirty="0"/>
              <a:t>לא קרא להם לקרב – ואף איימו עליו. </a:t>
            </a:r>
            <a:endParaRPr lang="he-IL" dirty="0" smtClean="0"/>
          </a:p>
        </p:txBody>
      </p:sp>
      <p:pic>
        <p:nvPicPr>
          <p:cNvPr id="4098" name="Picture 2" descr="http://edu.929.org.il/wp-content/uploads/2019/01/shutterstock_190777358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00" y="3068960"/>
            <a:ext cx="3696411" cy="2772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148064" y="2385130"/>
            <a:ext cx="3168352" cy="452431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 smtClean="0"/>
              <a:t>בתגובה ענה יפתח, </a:t>
            </a:r>
          </a:p>
          <a:p>
            <a:pPr algn="ctr"/>
            <a:r>
              <a:rPr lang="he-IL" sz="3200" dirty="0" smtClean="0"/>
              <a:t>שהם לא באו </a:t>
            </a:r>
            <a:r>
              <a:rPr lang="he-IL" sz="3200" dirty="0" smtClean="0"/>
              <a:t>כשהיה זקוק </a:t>
            </a:r>
            <a:r>
              <a:rPr lang="he-IL" sz="3200" dirty="0" smtClean="0"/>
              <a:t>להם, </a:t>
            </a:r>
          </a:p>
          <a:p>
            <a:pPr algn="ctr"/>
            <a:r>
              <a:rPr lang="he-IL" sz="3200" dirty="0" smtClean="0"/>
              <a:t>ולכן נאלץ </a:t>
            </a:r>
            <a:r>
              <a:rPr lang="he-IL" sz="3200" dirty="0" smtClean="0">
                <a:solidFill>
                  <a:srgbClr val="FF0000"/>
                </a:solidFill>
              </a:rPr>
              <a:t>"לָשִׂים אֶת נַפְשׁוֹ בְּכַפּוֹ" </a:t>
            </a:r>
            <a:r>
              <a:rPr lang="he-IL" sz="3200" dirty="0" smtClean="0">
                <a:solidFill>
                  <a:srgbClr val="FF0000"/>
                </a:solidFill>
              </a:rPr>
              <a:t>(לסכן את עצמו) </a:t>
            </a:r>
            <a:r>
              <a:rPr lang="he-IL" sz="3200" dirty="0" smtClean="0"/>
              <a:t>ולהילחם </a:t>
            </a:r>
            <a:r>
              <a:rPr lang="he-IL" sz="3200" dirty="0" smtClean="0"/>
              <a:t>באויבים לבדו.</a:t>
            </a:r>
          </a:p>
          <a:p>
            <a:endParaRPr lang="he-IL" sz="3200" dirty="0"/>
          </a:p>
        </p:txBody>
      </p:sp>
    </p:spTree>
    <p:extLst>
      <p:ext uri="{BB962C8B-B14F-4D97-AF65-F5344CB8AC3E}">
        <p14:creationId xmlns:p14="http://schemas.microsoft.com/office/powerpoint/2010/main" val="2124060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5433467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sz="3400" dirty="0">
                <a:latin typeface="David" pitchFamily="34" charset="-79"/>
                <a:cs typeface="David" pitchFamily="34" charset="-79"/>
              </a:rPr>
              <a:t>צודקת תשובתו של יפתח.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3400" dirty="0">
                <a:latin typeface="David" pitchFamily="34" charset="-79"/>
                <a:cs typeface="David" pitchFamily="34" charset="-79"/>
              </a:rPr>
              <a:t>אך נשווה לדבריו את תשובתו של גדעון לטענה דומה, בלתי מוצדקת גם היא: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he-IL" sz="3400" dirty="0">
                <a:latin typeface="David" pitchFamily="34" charset="-79"/>
                <a:cs typeface="David" pitchFamily="34" charset="-79"/>
              </a:rPr>
              <a:t>"מֶה עָשִׂיתִי עַתָּה </a:t>
            </a:r>
            <a:r>
              <a:rPr lang="he-IL" sz="3400" dirty="0" err="1">
                <a:latin typeface="David" pitchFamily="34" charset="-79"/>
                <a:cs typeface="David" pitchFamily="34" charset="-79"/>
              </a:rPr>
              <a:t>כָּכֶם</a:t>
            </a:r>
            <a:r>
              <a:rPr lang="he-IL" sz="3400" dirty="0">
                <a:latin typeface="David" pitchFamily="34" charset="-79"/>
                <a:cs typeface="David" pitchFamily="34" charset="-79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he-IL" sz="3400" dirty="0">
                <a:latin typeface="David" pitchFamily="34" charset="-79"/>
                <a:cs typeface="David" pitchFamily="34" charset="-79"/>
              </a:rPr>
              <a:t>הֲלוֹא טוֹב </a:t>
            </a:r>
            <a:r>
              <a:rPr lang="he-IL" sz="3400" dirty="0" err="1">
                <a:latin typeface="David" pitchFamily="34" charset="-79"/>
                <a:cs typeface="David" pitchFamily="34" charset="-79"/>
              </a:rPr>
              <a:t>עֹלְלוֹת</a:t>
            </a:r>
            <a:r>
              <a:rPr lang="he-IL" sz="3400" dirty="0">
                <a:latin typeface="David" pitchFamily="34" charset="-79"/>
                <a:cs typeface="David" pitchFamily="34" charset="-79"/>
              </a:rPr>
              <a:t> אֶפְרַיִם </a:t>
            </a:r>
            <a:r>
              <a:rPr lang="he-IL" sz="3400" dirty="0" err="1">
                <a:latin typeface="David" pitchFamily="34" charset="-79"/>
                <a:cs typeface="David" pitchFamily="34" charset="-79"/>
              </a:rPr>
              <a:t>מִבְצִיר</a:t>
            </a:r>
            <a:r>
              <a:rPr lang="he-IL" sz="3400" dirty="0">
                <a:latin typeface="David" pitchFamily="34" charset="-79"/>
                <a:cs typeface="David" pitchFamily="34" charset="-79"/>
              </a:rPr>
              <a:t> אֲבִיעֶזֶר: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he-IL" sz="3400" dirty="0">
                <a:latin typeface="David" pitchFamily="34" charset="-79"/>
                <a:cs typeface="David" pitchFamily="34" charset="-79"/>
              </a:rPr>
              <a:t>בְּיֶדְכֶם נָתַן </a:t>
            </a:r>
            <a:r>
              <a:rPr lang="he-IL" sz="3400" dirty="0" err="1">
                <a:latin typeface="David" pitchFamily="34" charset="-79"/>
                <a:cs typeface="David" pitchFamily="34" charset="-79"/>
              </a:rPr>
              <a:t>אֱלֹהִים</a:t>
            </a:r>
            <a:r>
              <a:rPr lang="he-IL" sz="3400" dirty="0">
                <a:latin typeface="David" pitchFamily="34" charset="-79"/>
                <a:cs typeface="David" pitchFamily="34" charset="-79"/>
              </a:rPr>
              <a:t> אֶת שָׂרֵי מִדְיָן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he-IL" sz="3400" dirty="0">
                <a:latin typeface="David" pitchFamily="34" charset="-79"/>
                <a:cs typeface="David" pitchFamily="34" charset="-79"/>
              </a:rPr>
              <a:t>אֶת עֹרֵב וְאֶת זְאֵב ..." (</a:t>
            </a:r>
            <a:r>
              <a:rPr lang="he-IL" sz="3400" dirty="0" err="1">
                <a:latin typeface="David" pitchFamily="34" charset="-79"/>
                <a:cs typeface="David" pitchFamily="34" charset="-79"/>
              </a:rPr>
              <a:t>ח,ב</a:t>
            </a:r>
            <a:r>
              <a:rPr lang="he-IL" sz="3400" dirty="0">
                <a:latin typeface="David" pitchFamily="34" charset="-79"/>
                <a:cs typeface="David" pitchFamily="34" charset="-79"/>
              </a:rPr>
              <a:t>-ג)</a:t>
            </a:r>
            <a:endParaRPr lang="en-US" sz="3400" dirty="0">
              <a:latin typeface="David" pitchFamily="34" charset="-79"/>
              <a:cs typeface="David" pitchFamily="34" charset="-79"/>
            </a:endParaRP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695723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543346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sz="3600" dirty="0">
                <a:latin typeface="David" pitchFamily="34" charset="-79"/>
                <a:cs typeface="David" pitchFamily="34" charset="-79"/>
              </a:rPr>
              <a:t>תשובתו של גדעון הרגיעה את אנשי אפרים. </a:t>
            </a:r>
            <a:endParaRPr lang="he-IL" sz="3600" dirty="0" smtClean="0">
              <a:latin typeface="David" pitchFamily="34" charset="-79"/>
              <a:cs typeface="David" pitchFamily="34" charset="-79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he-IL" sz="3600" dirty="0" smtClean="0">
                <a:latin typeface="David" pitchFamily="34" charset="-79"/>
                <a:cs typeface="David" pitchFamily="34" charset="-79"/>
              </a:rPr>
              <a:t>לעומת </a:t>
            </a:r>
            <a:r>
              <a:rPr lang="he-IL" sz="3600" dirty="0">
                <a:latin typeface="David" pitchFamily="34" charset="-79"/>
                <a:cs typeface="David" pitchFamily="34" charset="-79"/>
              </a:rPr>
              <a:t>זאת, תגובתו של יפתח הייתה הרת אסון. </a:t>
            </a:r>
            <a:endParaRPr lang="he-IL" sz="3600" dirty="0" smtClean="0">
              <a:latin typeface="David" pitchFamily="34" charset="-79"/>
              <a:cs typeface="David" pitchFamily="34" charset="-79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he-IL" sz="3600" dirty="0" smtClean="0">
                <a:latin typeface="David" pitchFamily="34" charset="-79"/>
                <a:cs typeface="David" pitchFamily="34" charset="-79"/>
              </a:rPr>
              <a:t>לאחר </a:t>
            </a:r>
            <a:r>
              <a:rPr lang="he-IL" sz="3600" dirty="0">
                <a:latin typeface="David" pitchFamily="34" charset="-79"/>
                <a:cs typeface="David" pitchFamily="34" charset="-79"/>
              </a:rPr>
              <a:t>ניצחונו</a:t>
            </a:r>
            <a:r>
              <a:rPr lang="he-IL" sz="3600" dirty="0">
                <a:latin typeface="David" pitchFamily="34" charset="-79"/>
                <a:cs typeface="David" pitchFamily="34" charset="-79"/>
              </a:rPr>
              <a:t> של יפתח על בני עמון </a:t>
            </a:r>
            <a:endParaRPr lang="he-IL" sz="3600" dirty="0" smtClean="0">
              <a:latin typeface="David" pitchFamily="34" charset="-79"/>
              <a:cs typeface="David" pitchFamily="34" charset="-79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he-IL" sz="3600" dirty="0" smtClean="0">
                <a:latin typeface="David" pitchFamily="34" charset="-79"/>
                <a:cs typeface="David" pitchFamily="34" charset="-79"/>
              </a:rPr>
              <a:t>הוא </a:t>
            </a:r>
            <a:r>
              <a:rPr lang="he-IL" sz="3600" dirty="0">
                <a:latin typeface="David" pitchFamily="34" charset="-79"/>
                <a:cs typeface="David" pitchFamily="34" charset="-79"/>
              </a:rPr>
              <a:t>ממשיך את תנופת הקרב, </a:t>
            </a:r>
            <a:endParaRPr lang="he-IL" sz="3600" dirty="0" smtClean="0">
              <a:latin typeface="David" pitchFamily="34" charset="-79"/>
              <a:cs typeface="David" pitchFamily="34" charset="-79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he-IL" sz="3600" dirty="0" smtClean="0">
                <a:latin typeface="David" pitchFamily="34" charset="-79"/>
                <a:cs typeface="David" pitchFamily="34" charset="-79"/>
              </a:rPr>
              <a:t>ויוצא </a:t>
            </a:r>
            <a:r>
              <a:rPr lang="he-IL" sz="3600" dirty="0">
                <a:latin typeface="David" pitchFamily="34" charset="-79"/>
                <a:cs typeface="David" pitchFamily="34" charset="-79"/>
              </a:rPr>
              <a:t>להילחם ב...בני </a:t>
            </a:r>
            <a:r>
              <a:rPr lang="he-IL" sz="3600" dirty="0" smtClean="0">
                <a:latin typeface="David" pitchFamily="34" charset="-79"/>
                <a:cs typeface="David" pitchFamily="34" charset="-79"/>
              </a:rPr>
              <a:t>אפרים.</a:t>
            </a:r>
            <a:endParaRPr lang="en-US" sz="3600" dirty="0">
              <a:latin typeface="David" pitchFamily="34" charset="-79"/>
              <a:cs typeface="David" pitchFamily="34" charset="-79"/>
            </a:endParaRPr>
          </a:p>
          <a:p>
            <a:pPr>
              <a:lnSpc>
                <a:spcPct val="150000"/>
              </a:lnSpc>
            </a:pPr>
            <a:endParaRPr lang="he-IL" sz="4000" dirty="0"/>
          </a:p>
        </p:txBody>
      </p:sp>
    </p:spTree>
    <p:extLst>
      <p:ext uri="{BB962C8B-B14F-4D97-AF65-F5344CB8AC3E}">
        <p14:creationId xmlns:p14="http://schemas.microsoft.com/office/powerpoint/2010/main" val="135977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361459"/>
          </a:xfrm>
        </p:spPr>
        <p:txBody>
          <a:bodyPr>
            <a:noAutofit/>
          </a:bodyPr>
          <a:lstStyle/>
          <a:p>
            <a:pPr marL="357188" lvl="4" indent="0">
              <a:buNone/>
            </a:pPr>
            <a:r>
              <a:rPr lang="he-IL" sz="4000" dirty="0">
                <a:latin typeface="David" pitchFamily="34" charset="-79"/>
                <a:cs typeface="David" pitchFamily="34" charset="-79"/>
              </a:rPr>
              <a:t>יפתח אוסף את אנשי הגלעד, </a:t>
            </a:r>
            <a:endParaRPr lang="he-IL" sz="4000" dirty="0" smtClean="0">
              <a:latin typeface="David" pitchFamily="34" charset="-79"/>
              <a:cs typeface="David" pitchFamily="34" charset="-79"/>
            </a:endParaRPr>
          </a:p>
          <a:p>
            <a:pPr marL="357188" lvl="4" indent="0">
              <a:buNone/>
            </a:pPr>
            <a:r>
              <a:rPr lang="he-IL" sz="4000" dirty="0" smtClean="0">
                <a:latin typeface="David" pitchFamily="34" charset="-79"/>
                <a:cs typeface="David" pitchFamily="34" charset="-79"/>
              </a:rPr>
              <a:t>ומכה </a:t>
            </a:r>
            <a:r>
              <a:rPr lang="he-IL" sz="4000" dirty="0">
                <a:latin typeface="David" pitchFamily="34" charset="-79"/>
                <a:cs typeface="David" pitchFamily="34" charset="-79"/>
              </a:rPr>
              <a:t>את בני אפרים, </a:t>
            </a:r>
            <a:endParaRPr lang="he-IL" sz="4000" dirty="0" smtClean="0">
              <a:latin typeface="David" pitchFamily="34" charset="-79"/>
              <a:cs typeface="David" pitchFamily="34" charset="-79"/>
            </a:endParaRPr>
          </a:p>
          <a:p>
            <a:pPr marL="357188" lvl="4" indent="0">
              <a:buNone/>
            </a:pPr>
            <a:r>
              <a:rPr lang="he-IL" sz="4000" dirty="0" smtClean="0">
                <a:latin typeface="David" pitchFamily="34" charset="-79"/>
                <a:cs typeface="David" pitchFamily="34" charset="-79"/>
              </a:rPr>
              <a:t>וכרגיל </a:t>
            </a:r>
            <a:r>
              <a:rPr lang="he-IL" sz="4000" dirty="0">
                <a:latin typeface="David" pitchFamily="34" charset="-79"/>
                <a:cs typeface="David" pitchFamily="34" charset="-79"/>
              </a:rPr>
              <a:t>המלחמה העיקרית היא </a:t>
            </a:r>
            <a:endParaRPr lang="he-IL" sz="4000" dirty="0" smtClean="0">
              <a:latin typeface="David" pitchFamily="34" charset="-79"/>
              <a:cs typeface="David" pitchFamily="34" charset="-79"/>
            </a:endParaRPr>
          </a:p>
          <a:p>
            <a:pPr marL="357188" lvl="4" indent="0">
              <a:buNone/>
            </a:pPr>
            <a:r>
              <a:rPr lang="he-IL" sz="4000" dirty="0" smtClean="0">
                <a:latin typeface="David" pitchFamily="34" charset="-79"/>
                <a:cs typeface="David" pitchFamily="34" charset="-79"/>
              </a:rPr>
              <a:t>על </a:t>
            </a:r>
            <a:r>
              <a:rPr lang="he-IL" sz="4000" dirty="0">
                <a:latin typeface="David" pitchFamily="34" charset="-79"/>
                <a:cs typeface="David" pitchFamily="34" charset="-79"/>
              </a:rPr>
              <a:t>מעברות הירדן. </a:t>
            </a:r>
            <a:endParaRPr lang="he-IL" sz="4000" dirty="0" smtClean="0">
              <a:latin typeface="David" pitchFamily="34" charset="-79"/>
              <a:cs typeface="David" pitchFamily="34" charset="-79"/>
            </a:endParaRPr>
          </a:p>
          <a:p>
            <a:pPr marL="357188" lvl="4" indent="0">
              <a:buNone/>
            </a:pPr>
            <a:r>
              <a:rPr lang="he-IL" sz="4000" dirty="0" smtClean="0">
                <a:latin typeface="David" pitchFamily="34" charset="-79"/>
                <a:cs typeface="David" pitchFamily="34" charset="-79"/>
              </a:rPr>
              <a:t>מי </a:t>
            </a:r>
            <a:r>
              <a:rPr lang="he-IL" sz="4000" dirty="0">
                <a:latin typeface="David" pitchFamily="34" charset="-79"/>
                <a:cs typeface="David" pitchFamily="34" charset="-79"/>
              </a:rPr>
              <a:t>שתופס את מעברות הירדן </a:t>
            </a:r>
            <a:endParaRPr lang="he-IL" sz="4000" dirty="0" smtClean="0">
              <a:latin typeface="David" pitchFamily="34" charset="-79"/>
              <a:cs typeface="David" pitchFamily="34" charset="-79"/>
            </a:endParaRPr>
          </a:p>
          <a:p>
            <a:pPr marL="357188" lvl="4" indent="0">
              <a:buNone/>
            </a:pPr>
            <a:r>
              <a:rPr lang="he-IL" sz="4000" dirty="0" smtClean="0">
                <a:latin typeface="David" pitchFamily="34" charset="-79"/>
                <a:cs typeface="David" pitchFamily="34" charset="-79"/>
              </a:rPr>
              <a:t>שולט </a:t>
            </a:r>
            <a:r>
              <a:rPr lang="he-IL" sz="4000" dirty="0">
                <a:latin typeface="David" pitchFamily="34" charset="-79"/>
                <a:cs typeface="David" pitchFamily="34" charset="-79"/>
              </a:rPr>
              <a:t>בדרכים וביכולת ההתקפה והנסיגה. </a:t>
            </a:r>
          </a:p>
        </p:txBody>
      </p:sp>
    </p:spTree>
    <p:extLst>
      <p:ext uri="{BB962C8B-B14F-4D97-AF65-F5344CB8AC3E}">
        <p14:creationId xmlns:p14="http://schemas.microsoft.com/office/powerpoint/2010/main" val="1042487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683568" y="620688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he-IL" dirty="0">
                <a:latin typeface="Guttman Keren" pitchFamily="2" charset="-79"/>
                <a:cs typeface="Guttman Keren" pitchFamily="2" charset="-79"/>
              </a:rPr>
              <a:t>"מַעְבְּרוֹת הַיַּרְדֵּן</a:t>
            </a:r>
            <a:r>
              <a:rPr lang="he-IL" dirty="0" smtClean="0">
                <a:latin typeface="Guttman Keren" pitchFamily="2" charset="-79"/>
                <a:cs typeface="Guttman Keren" pitchFamily="2" charset="-79"/>
              </a:rPr>
              <a:t>" </a:t>
            </a:r>
            <a:r>
              <a:rPr lang="he-IL" dirty="0"/>
              <a:t> </a:t>
            </a:r>
            <a:r>
              <a:rPr lang="en-US" dirty="0"/>
              <a:t/>
            </a:r>
            <a:br>
              <a:rPr lang="en-US" dirty="0"/>
            </a:br>
            <a:r>
              <a:rPr lang="he-IL" dirty="0"/>
              <a:t> </a:t>
            </a:r>
            <a:r>
              <a:rPr lang="en-US" dirty="0"/>
              <a:t/>
            </a:r>
            <a:br>
              <a:rPr lang="en-US" dirty="0"/>
            </a:br>
            <a:endParaRPr lang="he-IL" dirty="0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680316" y="1171972"/>
            <a:ext cx="8068148" cy="1856674"/>
          </a:xfrm>
        </p:spPr>
        <p:txBody>
          <a:bodyPr>
            <a:normAutofit/>
          </a:bodyPr>
          <a:lstStyle/>
          <a:p>
            <a:r>
              <a:rPr lang="he-IL" dirty="0" smtClean="0"/>
              <a:t>הכוונה למקומות שבהם המים בנהר הירדן רדודים והזרם חלש, ולכן אפשר לחצות את הנהר ברגל. </a:t>
            </a:r>
            <a:endParaRPr lang="en-US" dirty="0" smtClean="0"/>
          </a:p>
          <a:p>
            <a:r>
              <a:rPr lang="he-IL" dirty="0" smtClean="0"/>
              <a:t>המילה "מעברות" באה מהמילה "לעבור".</a:t>
            </a:r>
            <a:endParaRPr lang="he-IL" dirty="0"/>
          </a:p>
        </p:txBody>
      </p:sp>
      <p:pic>
        <p:nvPicPr>
          <p:cNvPr id="1026" name="Picture 2" descr="https://edu.929.org.il/wp-content/uploads/2019/01/The_Brigade_crossing_the_Jordan_at_Jisr_ed_Damieh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145396"/>
            <a:ext cx="3816424" cy="3266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תוצאת תמונה עבור נהר הירדן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1095" y="4579961"/>
            <a:ext cx="3470322" cy="2089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תוצאת תמונה עבור נהר הירדן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025" y="2920522"/>
            <a:ext cx="3528392" cy="1516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9139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619268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sz="4000" dirty="0">
                <a:latin typeface="David" pitchFamily="34" charset="-79"/>
                <a:cs typeface="David" pitchFamily="34" charset="-79"/>
              </a:rPr>
              <a:t>אנו זוכרים את אהוד שתפס את מעברות הירדן כדי להשמיד את חיילי מואב במערב הירדן. </a:t>
            </a:r>
            <a:endParaRPr lang="he-IL" sz="4000" dirty="0" smtClean="0">
              <a:latin typeface="David" pitchFamily="34" charset="-79"/>
              <a:cs typeface="David" pitchFamily="34" charset="-79"/>
            </a:endParaRPr>
          </a:p>
          <a:p>
            <a:pPr marL="0" indent="0">
              <a:lnSpc>
                <a:spcPct val="150000"/>
              </a:lnSpc>
              <a:buNone/>
            </a:pPr>
            <a:endParaRPr lang="he-IL" sz="300" dirty="0" smtClean="0">
              <a:latin typeface="David" pitchFamily="34" charset="-79"/>
              <a:cs typeface="David" pitchFamily="34" charset="-79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he-IL" sz="4000" dirty="0" smtClean="0">
                <a:latin typeface="David" pitchFamily="34" charset="-79"/>
                <a:cs typeface="David" pitchFamily="34" charset="-79"/>
              </a:rPr>
              <a:t>יפתח </a:t>
            </a:r>
            <a:r>
              <a:rPr lang="he-IL" sz="4000" dirty="0">
                <a:latin typeface="David" pitchFamily="34" charset="-79"/>
                <a:cs typeface="David" pitchFamily="34" charset="-79"/>
              </a:rPr>
              <a:t>תופס גם הוא את מעברות הירדן, </a:t>
            </a:r>
            <a:endParaRPr lang="he-IL" sz="4000" dirty="0" smtClean="0">
              <a:latin typeface="David" pitchFamily="34" charset="-79"/>
              <a:cs typeface="David" pitchFamily="34" charset="-79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he-IL" sz="4000" dirty="0" smtClean="0">
                <a:latin typeface="David" pitchFamily="34" charset="-79"/>
                <a:cs typeface="David" pitchFamily="34" charset="-79"/>
              </a:rPr>
              <a:t>כדי </a:t>
            </a:r>
            <a:r>
              <a:rPr lang="he-IL" sz="4000" dirty="0">
                <a:latin typeface="David" pitchFamily="34" charset="-79"/>
                <a:cs typeface="David" pitchFamily="34" charset="-79"/>
              </a:rPr>
              <a:t>למנוע מפליטי אפרים לשוב </a:t>
            </a:r>
            <a:r>
              <a:rPr lang="he-IL" sz="4000" dirty="0" smtClean="0">
                <a:latin typeface="David" pitchFamily="34" charset="-79"/>
                <a:cs typeface="David" pitchFamily="34" charset="-79"/>
              </a:rPr>
              <a:t>לארצם, שבעבר הירדן המערבי. </a:t>
            </a:r>
            <a:endParaRPr lang="he-IL" sz="4000" dirty="0">
              <a:latin typeface="David" pitchFamily="34" charset="-79"/>
              <a:cs typeface="David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57638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dirty="0" smtClean="0"/>
              <a:t>כיצד זיהו אנשי גלעד את בני שבט אפרים?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sz="3600" dirty="0">
                <a:latin typeface="David" pitchFamily="34" charset="-79"/>
                <a:cs typeface="David" pitchFamily="34" charset="-79"/>
              </a:rPr>
              <a:t>סימן ההיכר של שבט אפרים: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3600" dirty="0">
                <a:latin typeface="David" pitchFamily="34" charset="-79"/>
                <a:cs typeface="David" pitchFamily="34" charset="-79"/>
              </a:rPr>
              <a:t>בני אפרים לא יכלו לבטא </a:t>
            </a:r>
            <a:endParaRPr lang="he-IL" sz="3600" dirty="0" smtClean="0">
              <a:latin typeface="David" pitchFamily="34" charset="-79"/>
              <a:cs typeface="David" pitchFamily="34" charset="-79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he-IL" sz="3600" dirty="0" smtClean="0">
                <a:latin typeface="David" pitchFamily="34" charset="-79"/>
                <a:cs typeface="David" pitchFamily="34" charset="-79"/>
              </a:rPr>
              <a:t>את </a:t>
            </a:r>
            <a:r>
              <a:rPr lang="he-IL" sz="3600" dirty="0">
                <a:latin typeface="David" pitchFamily="34" charset="-79"/>
                <a:cs typeface="David" pitchFamily="34" charset="-79"/>
              </a:rPr>
              <a:t>העיצור </a:t>
            </a:r>
            <a:r>
              <a:rPr lang="he-IL" sz="6500" dirty="0">
                <a:latin typeface="David" pitchFamily="34" charset="-79"/>
                <a:cs typeface="David" pitchFamily="34" charset="-79"/>
              </a:rPr>
              <a:t>ש</a:t>
            </a:r>
            <a:r>
              <a:rPr lang="he-IL" sz="3600" dirty="0">
                <a:latin typeface="David" pitchFamily="34" charset="-79"/>
                <a:cs typeface="David" pitchFamily="34" charset="-79"/>
              </a:rPr>
              <a:t> אלא ביטאו אותו </a:t>
            </a:r>
            <a:r>
              <a:rPr lang="he-IL" sz="6500" dirty="0">
                <a:latin typeface="David" pitchFamily="34" charset="-79"/>
                <a:cs typeface="David" pitchFamily="34" charset="-79"/>
              </a:rPr>
              <a:t>ס</a:t>
            </a:r>
            <a:r>
              <a:rPr lang="he-IL" sz="3600" dirty="0">
                <a:latin typeface="David" pitchFamily="34" charset="-79"/>
                <a:cs typeface="David" pitchFamily="34" charset="-79"/>
              </a:rPr>
              <a:t>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3600" dirty="0">
                <a:latin typeface="David" pitchFamily="34" charset="-79"/>
                <a:cs typeface="David" pitchFamily="34" charset="-79"/>
              </a:rPr>
              <a:t>הם ניסו להתחפש לבני שבט אחר ולהעמיד פנים שהם מבני הגלעד ולעבור את הירדן:</a:t>
            </a:r>
            <a:endParaRPr lang="en-US" sz="3600" dirty="0">
              <a:latin typeface="David" pitchFamily="34" charset="-79"/>
              <a:cs typeface="David" pitchFamily="34" charset="-79"/>
            </a:endParaRP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825570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67544" y="332656"/>
            <a:ext cx="8229600" cy="567809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sz="3300" dirty="0">
                <a:latin typeface="David" pitchFamily="34" charset="-79"/>
                <a:cs typeface="David" pitchFamily="34" charset="-79"/>
              </a:rPr>
              <a:t>"וְהָיָה כִּי יֹאמְרוּ פְּלִיטֵי אֶפְרַיִם אֶעֱבֹרָה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3300" dirty="0">
                <a:latin typeface="David" pitchFamily="34" charset="-79"/>
                <a:cs typeface="David" pitchFamily="34" charset="-79"/>
              </a:rPr>
              <a:t>וַיֹּאמְרוּ לוֹ אַנְשֵׁי גִלְעָד הַאֶפְרָתִי אַתָּה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3300" dirty="0">
                <a:latin typeface="David" pitchFamily="34" charset="-79"/>
                <a:cs typeface="David" pitchFamily="34" charset="-79"/>
              </a:rPr>
              <a:t>וַיֹּאמֶר לֹא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3300" dirty="0">
                <a:latin typeface="David" pitchFamily="34" charset="-79"/>
                <a:cs typeface="David" pitchFamily="34" charset="-79"/>
              </a:rPr>
              <a:t>וַיֹּאמְרוּ לוֹ אֱמָר נָא </a:t>
            </a:r>
            <a:r>
              <a:rPr lang="he-IL" sz="3300" dirty="0" err="1">
                <a:latin typeface="David" pitchFamily="34" charset="-79"/>
                <a:cs typeface="David" pitchFamily="34" charset="-79"/>
              </a:rPr>
              <a:t>שִׁבֹּלֶת</a:t>
            </a:r>
            <a:r>
              <a:rPr lang="he-IL" sz="3300" dirty="0">
                <a:latin typeface="David" pitchFamily="34" charset="-79"/>
                <a:cs typeface="David" pitchFamily="34" charset="-79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3300" dirty="0">
                <a:latin typeface="David" pitchFamily="34" charset="-79"/>
                <a:cs typeface="David" pitchFamily="34" charset="-79"/>
              </a:rPr>
              <a:t>וַיֹּאמֶר סִבֹּלֶת וְלֹא יָכִין לְדַבֵּר כֵּן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3300" dirty="0">
                <a:latin typeface="David" pitchFamily="34" charset="-79"/>
                <a:cs typeface="David" pitchFamily="34" charset="-79"/>
              </a:rPr>
              <a:t>וַיֹּאחֲזוּ אוֹתוֹ וַיִּשְׁחָטוּהוּ אֶל מַעְבְּרוֹת הַיַּרְדֵּן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3300" dirty="0" err="1">
                <a:latin typeface="David" pitchFamily="34" charset="-79"/>
                <a:cs typeface="David" pitchFamily="34" charset="-79"/>
              </a:rPr>
              <a:t>וַיִּפֹּל</a:t>
            </a:r>
            <a:r>
              <a:rPr lang="he-IL" sz="3300" dirty="0">
                <a:latin typeface="David" pitchFamily="34" charset="-79"/>
                <a:cs typeface="David" pitchFamily="34" charset="-79"/>
              </a:rPr>
              <a:t> בָּעֵת הַהִיא מֵאֶפְרַיִם אַרְבָּעִים וּשְׁנַיִם אָלֶף" </a:t>
            </a:r>
            <a:r>
              <a:rPr lang="he-IL" sz="2400" dirty="0">
                <a:latin typeface="David" pitchFamily="34" charset="-79"/>
                <a:cs typeface="David" pitchFamily="34" charset="-79"/>
              </a:rPr>
              <a:t>(פס' ה-ו)</a:t>
            </a:r>
            <a:endParaRPr lang="he-IL" sz="3300" dirty="0">
              <a:latin typeface="David" pitchFamily="34" charset="-79"/>
              <a:cs typeface="David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41082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sz="4800" dirty="0">
                <a:latin typeface="David" pitchFamily="34" charset="-79"/>
                <a:cs typeface="David" pitchFamily="34" charset="-79"/>
              </a:rPr>
              <a:t>כאשר נתבקשו בני אפרים </a:t>
            </a:r>
            <a:endParaRPr lang="he-IL" sz="4800" dirty="0" smtClean="0">
              <a:latin typeface="David" pitchFamily="34" charset="-79"/>
              <a:cs typeface="David" pitchFamily="34" charset="-79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he-IL" sz="4800" dirty="0" smtClean="0">
                <a:latin typeface="David" pitchFamily="34" charset="-79"/>
                <a:cs typeface="David" pitchFamily="34" charset="-79"/>
              </a:rPr>
              <a:t>לומר </a:t>
            </a:r>
            <a:r>
              <a:rPr lang="he-IL" sz="4800" dirty="0">
                <a:latin typeface="David" pitchFamily="34" charset="-79"/>
                <a:cs typeface="David" pitchFamily="34" charset="-79"/>
              </a:rPr>
              <a:t>"</a:t>
            </a:r>
            <a:r>
              <a:rPr lang="he-IL" sz="4800" b="1" dirty="0">
                <a:latin typeface="David" pitchFamily="34" charset="-79"/>
                <a:cs typeface="David" pitchFamily="34" charset="-79"/>
              </a:rPr>
              <a:t>ש</a:t>
            </a:r>
            <a:r>
              <a:rPr lang="he-IL" sz="4800" dirty="0">
                <a:latin typeface="David" pitchFamily="34" charset="-79"/>
                <a:cs typeface="David" pitchFamily="34" charset="-79"/>
              </a:rPr>
              <a:t>יבולת</a:t>
            </a:r>
            <a:r>
              <a:rPr lang="he-IL" sz="4800" dirty="0" smtClean="0">
                <a:latin typeface="David" pitchFamily="34" charset="-79"/>
                <a:cs typeface="David" pitchFamily="34" charset="-79"/>
              </a:rPr>
              <a:t>" -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4800" dirty="0" smtClean="0">
                <a:latin typeface="David" pitchFamily="34" charset="-79"/>
                <a:cs typeface="David" pitchFamily="34" charset="-79"/>
              </a:rPr>
              <a:t>אמרו </a:t>
            </a:r>
            <a:r>
              <a:rPr lang="he-IL" sz="4800" dirty="0">
                <a:latin typeface="David" pitchFamily="34" charset="-79"/>
                <a:cs typeface="David" pitchFamily="34" charset="-79"/>
              </a:rPr>
              <a:t>"</a:t>
            </a:r>
            <a:r>
              <a:rPr lang="he-IL" sz="4800" b="1" dirty="0">
                <a:latin typeface="David" pitchFamily="34" charset="-79"/>
                <a:cs typeface="David" pitchFamily="34" charset="-79"/>
              </a:rPr>
              <a:t>ס</a:t>
            </a:r>
            <a:r>
              <a:rPr lang="he-IL" sz="4800" dirty="0">
                <a:latin typeface="David" pitchFamily="34" charset="-79"/>
                <a:cs typeface="David" pitchFamily="34" charset="-79"/>
              </a:rPr>
              <a:t>יבולת</a:t>
            </a:r>
            <a:r>
              <a:rPr lang="he-IL" sz="4800" dirty="0" smtClean="0">
                <a:latin typeface="David" pitchFamily="34" charset="-79"/>
                <a:cs typeface="David" pitchFamily="34" charset="-79"/>
              </a:rPr>
              <a:t>",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4800" dirty="0" smtClean="0">
                <a:latin typeface="David" pitchFamily="34" charset="-79"/>
                <a:cs typeface="David" pitchFamily="34" charset="-79"/>
              </a:rPr>
              <a:t>וכך </a:t>
            </a:r>
            <a:r>
              <a:rPr lang="he-IL" sz="4800" dirty="0">
                <a:latin typeface="David" pitchFamily="34" charset="-79"/>
                <a:cs typeface="David" pitchFamily="34" charset="-79"/>
              </a:rPr>
              <a:t>הסגירו בדיבורם </a:t>
            </a:r>
            <a:endParaRPr lang="he-IL" sz="4800" dirty="0" smtClean="0">
              <a:latin typeface="David" pitchFamily="34" charset="-79"/>
              <a:cs typeface="David" pitchFamily="34" charset="-79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he-IL" sz="4800" dirty="0" smtClean="0">
                <a:latin typeface="David" pitchFamily="34" charset="-79"/>
                <a:cs typeface="David" pitchFamily="34" charset="-79"/>
              </a:rPr>
              <a:t>את </a:t>
            </a:r>
            <a:r>
              <a:rPr lang="he-IL" sz="4800" dirty="0">
                <a:latin typeface="David" pitchFamily="34" charset="-79"/>
                <a:cs typeface="David" pitchFamily="34" charset="-79"/>
              </a:rPr>
              <a:t>היותם בני אפרים ולא אנשי גלעד.</a:t>
            </a:r>
          </a:p>
        </p:txBody>
      </p:sp>
    </p:spTree>
    <p:extLst>
      <p:ext uri="{BB962C8B-B14F-4D97-AF65-F5344CB8AC3E}">
        <p14:creationId xmlns:p14="http://schemas.microsoft.com/office/powerpoint/2010/main" val="3286811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4000" dirty="0" smtClean="0">
                <a:latin typeface="Guttman Keren" pitchFamily="2" charset="-79"/>
                <a:cs typeface="Guttman Keren" pitchFamily="2" charset="-79"/>
              </a:rPr>
              <a:t>שיבּולֶת </a:t>
            </a:r>
            <a:r>
              <a:rPr lang="he-IL" sz="4000" dirty="0">
                <a:latin typeface="Guttman Keren" pitchFamily="2" charset="-79"/>
                <a:cs typeface="Guttman Keren" pitchFamily="2" charset="-79"/>
              </a:rPr>
              <a:t>- </a:t>
            </a:r>
            <a:r>
              <a:rPr lang="he-IL" sz="4000" dirty="0" smtClean="0">
                <a:latin typeface="Guttman Keren" pitchFamily="2" charset="-79"/>
                <a:cs typeface="Guttman Keren" pitchFamily="2" charset="-79"/>
              </a:rPr>
              <a:t>סיבּולֶת</a:t>
            </a:r>
            <a:endParaRPr lang="he-IL" sz="4000" dirty="0">
              <a:latin typeface="Guttman Keren" pitchFamily="2" charset="-79"/>
              <a:cs typeface="Guttman Keren" pitchFamily="2" charset="-79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676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he-IL" dirty="0" smtClean="0"/>
              <a:t>למילה "שיבולת" בעברית יש שתי משמעויות. </a:t>
            </a:r>
          </a:p>
          <a:p>
            <a:pPr marL="0" indent="0">
              <a:buNone/>
            </a:pPr>
            <a:endParaRPr lang="he-IL" dirty="0"/>
          </a:p>
        </p:txBody>
      </p:sp>
      <p:sp>
        <p:nvSpPr>
          <p:cNvPr id="4" name="TextBox 3"/>
          <p:cNvSpPr txBox="1"/>
          <p:nvPr/>
        </p:nvSpPr>
        <p:spPr>
          <a:xfrm>
            <a:off x="5076056" y="2132856"/>
            <a:ext cx="3672408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400" dirty="0" smtClean="0"/>
              <a:t>החלק העליון של הקנה של התבואה. כאשר השיבולת מבשילה, צומחים עליה גרגירים של חיטה </a:t>
            </a:r>
            <a:r>
              <a:rPr lang="he-IL" sz="1400" dirty="0" smtClean="0"/>
              <a:t>(או שעורה וכדומה). </a:t>
            </a:r>
            <a:endParaRPr lang="he-IL" sz="24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1187624" y="2391271"/>
            <a:ext cx="3024336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400" dirty="0"/>
              <a:t>מערבולת, זרם חזק.</a:t>
            </a:r>
          </a:p>
        </p:txBody>
      </p:sp>
      <p:pic>
        <p:nvPicPr>
          <p:cNvPr id="3074" name="Picture 2" descr="https://edu.929.org.il/wp-content/uploads/2019/01/shutterstock_23454803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4077072"/>
            <a:ext cx="3562614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edu.929.org.il/wp-content/uploads/2019/01/shutterstock_89367022-1024x683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303" y="3068960"/>
            <a:ext cx="3670615" cy="244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8417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 smtClean="0">
                <a:latin typeface="David" pitchFamily="34" charset="-79"/>
                <a:cs typeface="David" pitchFamily="34" charset="-79"/>
              </a:rPr>
              <a:t>תלמידתי היקרה!</a:t>
            </a:r>
            <a:endParaRPr lang="he-IL" dirty="0">
              <a:latin typeface="David" pitchFamily="34" charset="-79"/>
              <a:cs typeface="David" pitchFamily="34" charset="-79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e-IL" sz="2400" dirty="0" smtClean="0">
                <a:latin typeface="David" pitchFamily="34" charset="-79"/>
                <a:cs typeface="David" pitchFamily="34" charset="-79"/>
              </a:rPr>
              <a:t>מצורפים 3 דפי עבודה שמהווים</a:t>
            </a:r>
          </a:p>
          <a:p>
            <a:pPr marL="0" indent="0">
              <a:buNone/>
            </a:pPr>
            <a:r>
              <a:rPr lang="he-IL" sz="2400" dirty="0" smtClean="0">
                <a:latin typeface="David" pitchFamily="34" charset="-79"/>
                <a:cs typeface="David" pitchFamily="34" charset="-79"/>
              </a:rPr>
              <a:t>חזרה על פרק יא' שנלמד בכיתה,</a:t>
            </a:r>
          </a:p>
          <a:p>
            <a:pPr marL="0" indent="0">
              <a:buNone/>
            </a:pPr>
            <a:r>
              <a:rPr lang="he-IL" sz="2400" dirty="0" smtClean="0">
                <a:latin typeface="David" pitchFamily="34" charset="-79"/>
                <a:cs typeface="David" pitchFamily="34" charset="-79"/>
              </a:rPr>
              <a:t>ופרק </a:t>
            </a:r>
            <a:r>
              <a:rPr lang="he-IL" sz="2400" dirty="0" err="1" smtClean="0">
                <a:latin typeface="David" pitchFamily="34" charset="-79"/>
                <a:cs typeface="David" pitchFamily="34" charset="-79"/>
              </a:rPr>
              <a:t>יב</a:t>
            </a:r>
            <a:r>
              <a:rPr lang="he-IL" sz="2400" dirty="0" smtClean="0">
                <a:latin typeface="David" pitchFamily="34" charset="-79"/>
                <a:cs typeface="David" pitchFamily="34" charset="-79"/>
              </a:rPr>
              <a:t>' שנלמד במצגת זו.</a:t>
            </a:r>
          </a:p>
          <a:p>
            <a:pPr marL="0" indent="0">
              <a:buNone/>
            </a:pPr>
            <a:r>
              <a:rPr lang="he-IL" sz="2400" dirty="0" smtClean="0">
                <a:latin typeface="David" pitchFamily="34" charset="-79"/>
                <a:cs typeface="David" pitchFamily="34" charset="-79"/>
              </a:rPr>
              <a:t>דפים 1-2 רשות, דף 3 חובה.</a:t>
            </a:r>
          </a:p>
          <a:p>
            <a:pPr marL="0" indent="0">
              <a:buNone/>
            </a:pPr>
            <a:endParaRPr lang="he-IL" sz="2400" dirty="0" smtClean="0">
              <a:latin typeface="David" pitchFamily="34" charset="-79"/>
              <a:cs typeface="David" pitchFamily="34" charset="-79"/>
            </a:endParaRPr>
          </a:p>
          <a:p>
            <a:pPr marL="0" indent="0">
              <a:buNone/>
            </a:pPr>
            <a:r>
              <a:rPr lang="he-IL" sz="2400" dirty="0" smtClean="0">
                <a:latin typeface="David" pitchFamily="34" charset="-79"/>
                <a:cs typeface="David" pitchFamily="34" charset="-79"/>
              </a:rPr>
              <a:t>עני על השאלות במחברת </a:t>
            </a:r>
          </a:p>
          <a:p>
            <a:pPr marL="0" indent="0">
              <a:buNone/>
            </a:pPr>
            <a:r>
              <a:rPr lang="he-IL" sz="2400" dirty="0" smtClean="0">
                <a:latin typeface="David" pitchFamily="34" charset="-79"/>
                <a:cs typeface="David" pitchFamily="34" charset="-79"/>
              </a:rPr>
              <a:t>ושלחי לי צילום </a:t>
            </a:r>
            <a:r>
              <a:rPr lang="he-IL" sz="2400" dirty="0" err="1" smtClean="0">
                <a:latin typeface="David" pitchFamily="34" charset="-79"/>
                <a:cs typeface="David" pitchFamily="34" charset="-79"/>
              </a:rPr>
              <a:t>בווטסאפ</a:t>
            </a:r>
            <a:endParaRPr lang="he-IL" sz="2400" dirty="0">
              <a:latin typeface="David" pitchFamily="34" charset="-79"/>
              <a:cs typeface="David" pitchFamily="34" charset="-79"/>
            </a:endParaRPr>
          </a:p>
          <a:p>
            <a:pPr marL="0" indent="0">
              <a:buNone/>
            </a:pPr>
            <a:r>
              <a:rPr lang="he-IL" sz="2400" dirty="0" smtClean="0">
                <a:latin typeface="David" pitchFamily="34" charset="-79"/>
                <a:cs typeface="David" pitchFamily="34" charset="-79"/>
              </a:rPr>
              <a:t>או במייל. </a:t>
            </a:r>
          </a:p>
          <a:p>
            <a:pPr marL="0" indent="0">
              <a:buNone/>
            </a:pPr>
            <a:r>
              <a:rPr lang="he-IL" sz="2400" dirty="0" smtClean="0">
                <a:latin typeface="David" pitchFamily="34" charset="-79"/>
                <a:cs typeface="David" pitchFamily="34" charset="-79"/>
              </a:rPr>
              <a:t>הקפידי על כתב ברור וגדול.</a:t>
            </a:r>
            <a:endParaRPr lang="he-IL" sz="2400" dirty="0">
              <a:latin typeface="David" pitchFamily="34" charset="-79"/>
              <a:cs typeface="David" pitchFamily="34" charset="-79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2285" y="19837"/>
            <a:ext cx="5111452" cy="6802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3344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sz="2400" dirty="0">
                <a:latin typeface="David" pitchFamily="34" charset="-79"/>
                <a:cs typeface="David" pitchFamily="34" charset="-79"/>
              </a:rPr>
              <a:t>אל </a:t>
            </a:r>
            <a:r>
              <a:rPr lang="he-IL" sz="2400" dirty="0" smtClean="0">
                <a:latin typeface="David" pitchFamily="34" charset="-79"/>
                <a:cs typeface="David" pitchFamily="34" charset="-79"/>
              </a:rPr>
              <a:t>תסתמכי </a:t>
            </a:r>
            <a:r>
              <a:rPr lang="he-IL" sz="2400" dirty="0">
                <a:latin typeface="David" pitchFamily="34" charset="-79"/>
                <a:cs typeface="David" pitchFamily="34" charset="-79"/>
              </a:rPr>
              <a:t>על הזיכרון –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400" dirty="0">
                <a:latin typeface="David" pitchFamily="34" charset="-79"/>
                <a:cs typeface="David" pitchFamily="34" charset="-79"/>
              </a:rPr>
              <a:t>פתחי את ספר שופטים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400" dirty="0">
                <a:latin typeface="David" pitchFamily="34" charset="-79"/>
                <a:cs typeface="David" pitchFamily="34" charset="-79"/>
              </a:rPr>
              <a:t>ומצאי את המילים בפסוקים.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0634"/>
            <a:ext cx="4571603" cy="6787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3368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529208" y="332656"/>
            <a:ext cx="8003232" cy="1143000"/>
          </a:xfrm>
        </p:spPr>
        <p:txBody>
          <a:bodyPr>
            <a:normAutofit/>
          </a:bodyPr>
          <a:lstStyle/>
          <a:p>
            <a:pPr algn="r"/>
            <a:r>
              <a:rPr lang="he-IL" sz="4000" dirty="0">
                <a:latin typeface="David" pitchFamily="34" charset="-79"/>
                <a:ea typeface="+mn-ea"/>
                <a:cs typeface="David" pitchFamily="34" charset="-79"/>
              </a:rPr>
              <a:t>דף זה חובה!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he-IL" sz="2400" dirty="0" smtClean="0"/>
          </a:p>
          <a:p>
            <a:pPr marL="0" indent="0">
              <a:buNone/>
            </a:pPr>
            <a:endParaRPr lang="he-IL" sz="2400" dirty="0"/>
          </a:p>
          <a:p>
            <a:pPr marL="0" indent="0">
              <a:buNone/>
            </a:pPr>
            <a:r>
              <a:rPr lang="he-IL" sz="2400" dirty="0" smtClean="0">
                <a:latin typeface="David" pitchFamily="34" charset="-79"/>
                <a:cs typeface="David" pitchFamily="34" charset="-79"/>
              </a:rPr>
              <a:t>עני על השאלות במחברת </a:t>
            </a:r>
          </a:p>
          <a:p>
            <a:pPr marL="0" indent="0">
              <a:buNone/>
            </a:pPr>
            <a:r>
              <a:rPr lang="he-IL" sz="2400" dirty="0" smtClean="0">
                <a:latin typeface="David" pitchFamily="34" charset="-79"/>
                <a:cs typeface="David" pitchFamily="34" charset="-79"/>
              </a:rPr>
              <a:t>ושלחי לי צילום </a:t>
            </a:r>
            <a:r>
              <a:rPr lang="he-IL" sz="2400" dirty="0" err="1" smtClean="0">
                <a:latin typeface="David" pitchFamily="34" charset="-79"/>
                <a:cs typeface="David" pitchFamily="34" charset="-79"/>
              </a:rPr>
              <a:t>בווטסאפ</a:t>
            </a:r>
            <a:endParaRPr lang="he-IL" sz="2400" dirty="0" smtClean="0">
              <a:latin typeface="David" pitchFamily="34" charset="-79"/>
              <a:cs typeface="David" pitchFamily="34" charset="-79"/>
            </a:endParaRPr>
          </a:p>
          <a:p>
            <a:pPr marL="0" indent="0">
              <a:buNone/>
            </a:pPr>
            <a:r>
              <a:rPr lang="he-IL" sz="2400" dirty="0" smtClean="0">
                <a:latin typeface="David" pitchFamily="34" charset="-79"/>
                <a:cs typeface="David" pitchFamily="34" charset="-79"/>
              </a:rPr>
              <a:t>או במייל. </a:t>
            </a:r>
          </a:p>
          <a:p>
            <a:pPr marL="0" indent="0">
              <a:buNone/>
            </a:pPr>
            <a:r>
              <a:rPr lang="he-IL" sz="2400" dirty="0" smtClean="0">
                <a:latin typeface="David" pitchFamily="34" charset="-79"/>
                <a:cs typeface="David" pitchFamily="34" charset="-79"/>
              </a:rPr>
              <a:t>הקפידי על כתב ברור וגדול.</a:t>
            </a:r>
          </a:p>
          <a:p>
            <a:pPr marL="0" indent="0">
              <a:buNone/>
            </a:pPr>
            <a:endParaRPr lang="he-IL" sz="2400" dirty="0">
              <a:latin typeface="David" pitchFamily="34" charset="-79"/>
              <a:cs typeface="David" pitchFamily="34" charset="-79"/>
            </a:endParaRPr>
          </a:p>
          <a:p>
            <a:pPr marL="0" indent="0">
              <a:buNone/>
            </a:pPr>
            <a:r>
              <a:rPr lang="he-IL" sz="2400" dirty="0" smtClean="0">
                <a:latin typeface="David" pitchFamily="34" charset="-79"/>
                <a:cs typeface="David" pitchFamily="34" charset="-79"/>
              </a:rPr>
              <a:t>עלייך ללמוד את הפסוקים </a:t>
            </a:r>
          </a:p>
          <a:p>
            <a:pPr marL="0" indent="0">
              <a:buNone/>
            </a:pPr>
            <a:r>
              <a:rPr lang="he-IL" sz="2400" dirty="0" smtClean="0">
                <a:latin typeface="David" pitchFamily="34" charset="-79"/>
                <a:cs typeface="David" pitchFamily="34" charset="-79"/>
              </a:rPr>
              <a:t>האחרונים בפרק כדי לדעת </a:t>
            </a:r>
          </a:p>
          <a:p>
            <a:pPr marL="0" indent="0">
              <a:buNone/>
            </a:pPr>
            <a:r>
              <a:rPr lang="he-IL" sz="2400" dirty="0" smtClean="0">
                <a:latin typeface="David" pitchFamily="34" charset="-79"/>
                <a:cs typeface="David" pitchFamily="34" charset="-79"/>
              </a:rPr>
              <a:t>את התשובות לשאלות 6-9.</a:t>
            </a:r>
          </a:p>
          <a:p>
            <a:pPr marL="0" indent="0">
              <a:buNone/>
            </a:pPr>
            <a:endParaRPr lang="he-IL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84722"/>
            <a:ext cx="4464496" cy="6773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7716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688</Words>
  <Application>Microsoft Office PowerPoint</Application>
  <PresentationFormat>‫הצגה על המסך (4:3)</PresentationFormat>
  <Paragraphs>111</Paragraphs>
  <Slides>19</Slides>
  <Notes>0</Notes>
  <HiddenSlides>0</HiddenSlides>
  <MMClips>0</MMClip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19</vt:i4>
      </vt:variant>
    </vt:vector>
  </HeadingPairs>
  <TitlesOfParts>
    <vt:vector size="20" baseType="lpstr">
      <vt:lpstr>ערכת נושא Office</vt:lpstr>
      <vt:lpstr>שופטים פרק יב'</vt:lpstr>
      <vt:lpstr>תוצאות הקרב בין יפתח ובני עמון  בקרב שבטי ישראל </vt:lpstr>
      <vt:lpstr>מצגת של PowerPoint</vt:lpstr>
      <vt:lpstr>מצגת של PowerPoint</vt:lpstr>
      <vt:lpstr>מצגת של PowerPoint</vt:lpstr>
      <vt:lpstr>מצגת של PowerPoint</vt:lpstr>
      <vt:lpstr>שָׂם אֶת נַפְשׁוֹ בְּכַפּוֹ</vt:lpstr>
      <vt:lpstr>מצגת של PowerPoint</vt:lpstr>
      <vt:lpstr>מצגת של PowerPoint</vt:lpstr>
      <vt:lpstr>מצגת של PowerPoint</vt:lpstr>
      <vt:lpstr>"מַעְבְּרוֹת הַיַּרְדֵּן"     </vt:lpstr>
      <vt:lpstr>מצגת של PowerPoint</vt:lpstr>
      <vt:lpstr>כיצד זיהו אנשי גלעד את בני שבט אפרים?</vt:lpstr>
      <vt:lpstr>מצגת של PowerPoint</vt:lpstr>
      <vt:lpstr>מצגת של PowerPoint</vt:lpstr>
      <vt:lpstr>שיבּולֶת - סיבּולֶת</vt:lpstr>
      <vt:lpstr>תלמידתי היקרה!</vt:lpstr>
      <vt:lpstr>מצגת של PowerPoint</vt:lpstr>
      <vt:lpstr>דף זה חובה!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שופטים פרק יב'</dc:title>
  <dc:creator>ahimeir</dc:creator>
  <cp:lastModifiedBy>ahimeir</cp:lastModifiedBy>
  <cp:revision>12</cp:revision>
  <dcterms:created xsi:type="dcterms:W3CDTF">2020-03-12T19:29:24Z</dcterms:created>
  <dcterms:modified xsi:type="dcterms:W3CDTF">2020-03-12T21:08:20Z</dcterms:modified>
</cp:coreProperties>
</file>