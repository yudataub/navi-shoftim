
<file path=[Content_Types].xml><?xml version="1.0" encoding="utf-8"?>
<Types xmlns="http://schemas.openxmlformats.org/package/2006/content-types"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02F7292-B9F7-407B-8CE0-C2AB837ECE58}">
  <a:tblStyle styleId="{102F7292-B9F7-407B-8CE0-C2AB837ECE58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1" name="Google Shape;10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8" name="Google Shape;10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6" name="Google Shape;11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3" name="Google Shape;12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4" name="Google Shape;14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0" name="Google Shape;15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6" name="Google Shape;15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8" name="Google Shape;16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4" name="Google Shape;174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1" name="Google Shape;181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8" name="Google Shape;188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שקופית כותרת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rt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rt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rt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rt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rt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rt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rt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rt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ריק" type="blank">
  <p:cSld name="BLANK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idx="10" type="dt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כותרת ותוכן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כותרת מקטע עליונה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שני תכנים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השוואה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כותרת בלבד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תוכן עם כיתוב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תמונה עם כיתוב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כותרת וטקסט אנכי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כותרת אנכית וטקסט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gif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2" y="0"/>
            <a:ext cx="12191998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587425" y="493650"/>
            <a:ext cx="10849319" cy="6858000"/>
          </a:xfrm>
          <a:custGeom>
            <a:rect b="b" l="l" r="r" t="t"/>
            <a:pathLst>
              <a:path extrusionOk="0" h="6858000" w="9272922">
                <a:moveTo>
                  <a:pt x="0" y="0"/>
                </a:moveTo>
                <a:lnTo>
                  <a:pt x="1733417" y="0"/>
                </a:lnTo>
                <a:lnTo>
                  <a:pt x="3307976" y="0"/>
                </a:lnTo>
                <a:lnTo>
                  <a:pt x="8126249" y="0"/>
                </a:lnTo>
                <a:lnTo>
                  <a:pt x="8138896" y="31774"/>
                </a:lnTo>
                <a:cubicBezTo>
                  <a:pt x="9193904" y="2682457"/>
                  <a:pt x="9193904" y="2682457"/>
                  <a:pt x="9193904" y="2682457"/>
                </a:cubicBezTo>
                <a:cubicBezTo>
                  <a:pt x="9299262" y="2988100"/>
                  <a:pt x="9299262" y="3446565"/>
                  <a:pt x="9193904" y="3752208"/>
                </a:cubicBezTo>
                <a:cubicBezTo>
                  <a:pt x="8709916" y="4968215"/>
                  <a:pt x="8331802" y="5918220"/>
                  <a:pt x="8036400" y="6660411"/>
                </a:cubicBezTo>
                <a:lnTo>
                  <a:pt x="7957938" y="6857542"/>
                </a:lnTo>
                <a:lnTo>
                  <a:pt x="3307976" y="6857542"/>
                </a:lnTo>
                <a:lnTo>
                  <a:pt x="330797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6" name="Google Shape;8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3080" y="721775"/>
            <a:ext cx="8771400" cy="556685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7" name="Google Shape;87;p13"/>
          <p:cNvGrpSpPr/>
          <p:nvPr/>
        </p:nvGrpSpPr>
        <p:grpSpPr>
          <a:xfrm>
            <a:off x="9272936" y="1108238"/>
            <a:ext cx="1562267" cy="1172973"/>
            <a:chOff x="9160561" y="1075188"/>
            <a:chExt cx="1562267" cy="1172973"/>
          </a:xfrm>
        </p:grpSpPr>
        <p:sp>
          <p:nvSpPr>
            <p:cNvPr id="88" name="Google Shape;88;p13"/>
            <p:cNvSpPr/>
            <p:nvPr/>
          </p:nvSpPr>
          <p:spPr>
            <a:xfrm>
              <a:off x="9160561" y="1423846"/>
              <a:ext cx="935037" cy="824315"/>
            </a:xfrm>
            <a:custGeom>
              <a:rect b="b" l="l" r="r" t="t"/>
              <a:pathLst>
                <a:path extrusionOk="0" h="692" w="785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cap="flat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1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" name="Google Shape;89;p13"/>
            <p:cNvSpPr/>
            <p:nvPr/>
          </p:nvSpPr>
          <p:spPr>
            <a:xfrm>
              <a:off x="9960661" y="1075188"/>
              <a:ext cx="762167" cy="671915"/>
            </a:xfrm>
            <a:custGeom>
              <a:rect b="b" l="l" r="r" t="t"/>
              <a:pathLst>
                <a:path extrusionOk="0" h="692" w="785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cap="flat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1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0" name="Google Shape;90;p13"/>
          <p:cNvSpPr txBox="1"/>
          <p:nvPr/>
        </p:nvSpPr>
        <p:spPr>
          <a:xfrm>
            <a:off x="2596302" y="-64983"/>
            <a:ext cx="550823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iw-I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ארץ ישראל בתקופת השופטים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 txBox="1"/>
          <p:nvPr/>
        </p:nvSpPr>
        <p:spPr>
          <a:xfrm>
            <a:off x="5434350" y="923330"/>
            <a:ext cx="6315077" cy="2677656"/>
          </a:xfrm>
          <a:prstGeom prst="rect">
            <a:avLst/>
          </a:prstGeom>
          <a:solidFill>
            <a:srgbClr val="FBE4D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1" i="0" lang="iw-IL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בימי יהושע, ותחת הנהגתו, יצאו ישראל לסדרה של מלחמות כנגד עמי כנען, וניצחו אותם: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1" i="0" lang="iw-IL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יריחו, העי, מלכי הדרום ומלכי הצפון.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1" i="0" lang="iw-IL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בסוף ימיו יהושע משתמש בגורל על מנת לחלק את הנחלות, מבדיל את ערי המקלט וערי הלויים</a:t>
            </a:r>
            <a:endParaRPr b="1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פרשת מסעי | כנס מדיה - קיבוצים, מושבים, אדמה" id="96" name="Google Shape;9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2573" y="295939"/>
            <a:ext cx="4548527" cy="6266122"/>
          </a:xfrm>
          <a:prstGeom prst="rect">
            <a:avLst/>
          </a:prstGeom>
          <a:noFill/>
          <a:ln cap="sq" cmpd="thickThin" w="889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97" name="Google Shape;97;p14"/>
          <p:cNvSpPr txBox="1"/>
          <p:nvPr/>
        </p:nvSpPr>
        <p:spPr>
          <a:xfrm>
            <a:off x="5434350" y="3995678"/>
            <a:ext cx="6643687" cy="1938992"/>
          </a:xfrm>
          <a:prstGeom prst="rect">
            <a:avLst/>
          </a:prstGeom>
          <a:solidFill>
            <a:schemeClr val="accent4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1" i="0" lang="iw-IL" sz="24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צוואת יהושע לשבטים</a:t>
            </a:r>
            <a:r>
              <a:rPr b="0" i="0" lang="iw-IL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iw-IL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א</a:t>
            </a:r>
            <a:r>
              <a:rPr b="1" i="0" lang="iw-IL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 כל שבט חייב להמשיך ולכבוש את חלקי נחלתו שהיו תחת שלטונם של עמי כנען</a:t>
            </a:r>
            <a:endParaRPr b="1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1" i="0" lang="iw-IL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ב. הסוד להצלחת העם הוא קיום המצוות והתרחקות מעבודה זרה.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4"/>
          <p:cNvSpPr/>
          <p:nvPr/>
        </p:nvSpPr>
        <p:spPr>
          <a:xfrm>
            <a:off x="7200902" y="0"/>
            <a:ext cx="4023858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iw-IL" sz="5400" u="none" cap="none" strike="noStrike">
                <a:solidFill>
                  <a:srgbClr val="F7CAAC"/>
                </a:solidFill>
                <a:latin typeface="Calibri"/>
                <a:ea typeface="Calibri"/>
                <a:cs typeface="Calibri"/>
                <a:sym typeface="Calibri"/>
              </a:rPr>
              <a:t>פעולות יהושע</a:t>
            </a:r>
            <a:endParaRPr b="1" i="0" sz="5400" u="none" cap="none" strike="noStrike">
              <a:solidFill>
                <a:srgbClr val="F7CAA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 txBox="1"/>
          <p:nvPr/>
        </p:nvSpPr>
        <p:spPr>
          <a:xfrm>
            <a:off x="271463" y="1428750"/>
            <a:ext cx="11472395" cy="4893647"/>
          </a:xfrm>
          <a:prstGeom prst="rect">
            <a:avLst/>
          </a:prstGeom>
          <a:gradFill>
            <a:gsLst>
              <a:gs pos="0">
                <a:srgbClr val="D1D1D1"/>
              </a:gs>
              <a:gs pos="50000">
                <a:srgbClr val="C7C7C7"/>
              </a:gs>
              <a:gs pos="100000">
                <a:srgbClr val="C0C0C0"/>
              </a:gs>
            </a:gsLst>
            <a:lin ang="5400000" scaled="0"/>
          </a:gradFill>
          <a:ln cap="flat" cmpd="sng" w="9525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iw-IL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"שופט" – מנהיג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iw-IL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השופט בתקופה זו הוא אדם שהנהיג את העם או חלקים ממנו בתקופה מסוימת.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iw-IL" sz="26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ההנהגה צבאית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iw-IL" sz="26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הנהגה מדינית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iw-IL" sz="26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הנהגה שיפוטית.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iw-IL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בספר יהושע ישנו מנהיג אחד שכולם מונהגים תחתיו.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iw-IL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בספר שופטים אין מנהיג מרכזי לעם. המנהיג הוא מקומי(מספר שבטים או שבט אחד)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1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iw-IL" sz="26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חסרה הנהגה רוחנית מרכזית ולכן העם הדרדר מבחינה דתית.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1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iw-IL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העונש של העם על מצב דתי ירוד הוא שליחת האויבים שיציקו לעם ישראל ושעבוד עם ישראל.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5"/>
          <p:cNvSpPr txBox="1"/>
          <p:nvPr/>
        </p:nvSpPr>
        <p:spPr>
          <a:xfrm>
            <a:off x="3644319" y="185738"/>
            <a:ext cx="304223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iw-IL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ספר שופטים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5"/>
          <p:cNvSpPr/>
          <p:nvPr/>
        </p:nvSpPr>
        <p:spPr>
          <a:xfrm>
            <a:off x="8537531" y="21253"/>
            <a:ext cx="3206327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0" i="0" lang="iw-IL" sz="5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מהו שופט?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6"/>
          <p:cNvSpPr/>
          <p:nvPr/>
        </p:nvSpPr>
        <p:spPr>
          <a:xfrm>
            <a:off x="11118533" y="918266"/>
            <a:ext cx="706127" cy="5863534"/>
          </a:xfrm>
          <a:custGeom>
            <a:rect b="b" l="l" r="r" t="t"/>
            <a:pathLst>
              <a:path extrusionOk="0" h="2447" w="414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rgbClr val="2F549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6"/>
          <p:cNvSpPr/>
          <p:nvPr/>
        </p:nvSpPr>
        <p:spPr>
          <a:xfrm>
            <a:off x="11117879" y="643467"/>
            <a:ext cx="420307" cy="5668919"/>
          </a:xfrm>
          <a:custGeom>
            <a:rect b="b" l="l" r="r" t="t"/>
            <a:pathLst>
              <a:path extrusionOk="0" h="2358" w="209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rgbClr val="1F386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6"/>
          <p:cNvSpPr/>
          <p:nvPr/>
        </p:nvSpPr>
        <p:spPr>
          <a:xfrm>
            <a:off x="638375" y="272024"/>
            <a:ext cx="10933500" cy="57633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13" name="Google Shape;113;p16"/>
          <p:cNvGraphicFramePr/>
          <p:nvPr/>
        </p:nvGraphicFramePr>
        <p:xfrm>
          <a:off x="1264595" y="42519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{102F7292-B9F7-407B-8CE0-C2AB837ECE58}</a:tableStyleId>
              </a:tblPr>
              <a:tblGrid>
                <a:gridCol w="586950"/>
                <a:gridCol w="1129800"/>
                <a:gridCol w="925800"/>
                <a:gridCol w="944800"/>
                <a:gridCol w="1334275"/>
                <a:gridCol w="1451125"/>
                <a:gridCol w="1504675"/>
                <a:gridCol w="1278300"/>
              </a:tblGrid>
              <a:tr h="359475"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iw-IL" sz="1400" u="none" cap="none" strike="noStrike">
                          <a:solidFill>
                            <a:srgbClr val="80008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מס'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900" marL="689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iw-IL" sz="1400" u="none" cap="none" strike="noStrike">
                          <a:solidFill>
                            <a:srgbClr val="80008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פרק בספר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900" marL="689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iw-IL" sz="1600" u="none" cap="none" strike="noStrike">
                          <a:solidFill>
                            <a:srgbClr val="80008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השופט</a:t>
                      </a:r>
                      <a:endParaRPr b="1"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900" marL="689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iw-IL" sz="1400" u="none" cap="none" strike="noStrike">
                          <a:solidFill>
                            <a:srgbClr val="80008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שם אביו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900" marL="689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iw-IL" sz="1400" u="none" cap="none" strike="noStrike">
                          <a:solidFill>
                            <a:srgbClr val="80008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מאיזה שבט?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900" marL="689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iw-IL" sz="1400" u="none" cap="none" strike="noStrike">
                          <a:solidFill>
                            <a:srgbClr val="80008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המשעבד בימיו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900" marL="689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iw-IL" sz="1400" u="none" cap="none" strike="noStrike">
                          <a:solidFill>
                            <a:srgbClr val="80008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כמה שנים שפט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900" marL="689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iw-IL" sz="1400" u="none" cap="none" strike="noStrike">
                          <a:solidFill>
                            <a:srgbClr val="80008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הארץ שקטה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900" marL="689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9475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iw-IL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900" marL="689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w-IL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900" marL="689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iw-IL" sz="1600" u="none" cap="none" strike="noStrike">
                          <a:solidFill>
                            <a:srgbClr val="333399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עתניאל</a:t>
                      </a:r>
                      <a:endParaRPr b="1"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900" marL="689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w-IL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900" marL="689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w-IL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900" marL="689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w-IL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900" marL="689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w-IL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900" marL="689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w-IL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900" marL="689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9475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iw-IL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900" marL="689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w-IL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900" marL="689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iw-IL" sz="1600" u="none" cap="none" strike="noStrike">
                          <a:solidFill>
                            <a:srgbClr val="333399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אהוד</a:t>
                      </a:r>
                      <a:endParaRPr b="1"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900" marL="689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w-IL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900" marL="689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w-IL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900" marL="689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w-IL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900" marL="689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w-IL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900" marL="689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w-IL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900" marL="689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9475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iw-IL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900" marL="689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w-IL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900" marL="689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iw-IL" sz="1600" u="none" cap="none" strike="noStrike">
                          <a:solidFill>
                            <a:srgbClr val="333399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שמגר</a:t>
                      </a:r>
                      <a:endParaRPr b="1"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900" marL="689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w-IL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900" marL="689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w-IL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900" marL="689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w-IL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900" marL="689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w-IL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900" marL="689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w-IL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900" marL="689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9475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iw-IL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900" marL="689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w-IL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900" marL="689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iw-IL" sz="1600" u="none" cap="none" strike="noStrike">
                          <a:solidFill>
                            <a:srgbClr val="333399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דבורה</a:t>
                      </a:r>
                      <a:endParaRPr b="1"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900" marL="689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w-IL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900" marL="689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w-IL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900" marL="689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w-IL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900" marL="689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w-IL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900" marL="689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w-IL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900" marL="689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9475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iw-IL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900" marL="689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w-IL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900" marL="689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iw-IL" sz="1600" u="none" cap="none" strike="noStrike">
                          <a:solidFill>
                            <a:srgbClr val="333399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ברק</a:t>
                      </a:r>
                      <a:endParaRPr b="1"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900" marL="689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w-IL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900" marL="689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w-IL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900" marL="689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w-IL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900" marL="689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w-IL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900" marL="689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w-IL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900" marL="689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9475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iw-IL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900" marL="689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w-IL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900" marL="689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iw-IL" sz="1600" u="none" cap="none" strike="noStrike">
                          <a:solidFill>
                            <a:srgbClr val="333399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גדעון</a:t>
                      </a:r>
                      <a:endParaRPr b="1"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900" marL="689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w-IL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900" marL="689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w-IL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900" marL="689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w-IL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900" marL="689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w-IL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900" marL="689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w-IL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900" marL="689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9475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iw-IL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900" marL="689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w-IL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900" marL="689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iw-IL" sz="1600" u="none" cap="none" strike="noStrike">
                          <a:solidFill>
                            <a:srgbClr val="333399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אבימלך</a:t>
                      </a:r>
                      <a:endParaRPr b="1"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900" marL="689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w-IL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900" marL="689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w-IL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900" marL="689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w-IL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900" marL="689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w-IL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900" marL="689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w-IL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900" marL="689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9475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iw-IL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900" marL="689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w-IL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900" marL="689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iw-IL" sz="1600" u="none" cap="none" strike="noStrike">
                          <a:solidFill>
                            <a:srgbClr val="333399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תולע</a:t>
                      </a:r>
                      <a:endParaRPr b="1"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900" marL="689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w-IL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900" marL="689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w-IL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900" marL="689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w-IL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900" marL="689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w-IL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900" marL="689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w-IL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900" marL="689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9475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iw-IL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900" marL="689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w-IL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900" marL="689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iw-IL" sz="1600" u="none" cap="none" strike="noStrike">
                          <a:solidFill>
                            <a:srgbClr val="333399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יאיר</a:t>
                      </a:r>
                      <a:endParaRPr b="1"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900" marL="689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w-IL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900" marL="689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w-IL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900" marL="689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w-IL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900" marL="689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w-IL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900" marL="689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w-IL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900" marL="689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9475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iw-IL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900" marL="689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w-IL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900" marL="689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iw-IL" sz="1600" u="none" cap="none" strike="noStrike">
                          <a:solidFill>
                            <a:srgbClr val="333399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יפתח</a:t>
                      </a:r>
                      <a:endParaRPr b="1"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900" marL="689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w-IL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900" marL="689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w-IL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900" marL="689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w-IL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900" marL="689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w-IL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900" marL="689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w-IL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900" marL="689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9475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iw-IL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900" marL="689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w-IL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900" marL="689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iw-IL" sz="1600" u="none" cap="none" strike="noStrike">
                          <a:solidFill>
                            <a:srgbClr val="333399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אבצן</a:t>
                      </a:r>
                      <a:endParaRPr b="1"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900" marL="689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w-IL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900" marL="689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w-IL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900" marL="689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w-IL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900" marL="689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w-IL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900" marL="689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w-IL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900" marL="689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9475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iw-IL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900" marL="689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w-IL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900" marL="689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iw-IL" sz="1600" u="none" cap="none" strike="noStrike">
                          <a:solidFill>
                            <a:srgbClr val="333399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אילון</a:t>
                      </a:r>
                      <a:endParaRPr b="1"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900" marL="689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w-IL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900" marL="689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w-IL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900" marL="689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w-IL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900" marL="689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w-IL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900" marL="689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w-IL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900" marL="689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9475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iw-IL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900" marL="689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w-IL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900" marL="689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iw-IL" sz="1600" u="none" cap="none" strike="noStrike">
                          <a:solidFill>
                            <a:srgbClr val="333399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עבדון</a:t>
                      </a:r>
                      <a:endParaRPr b="1"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900" marL="689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w-IL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900" marL="689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w-IL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900" marL="689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w-IL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900" marL="689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w-IL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900" marL="689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w-IL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900" marL="689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9475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iw-IL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900" marL="689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w-IL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900" marL="689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iw-IL" sz="1600" u="none" cap="none" strike="noStrike">
                          <a:solidFill>
                            <a:srgbClr val="333399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שמשון</a:t>
                      </a:r>
                      <a:endParaRPr b="1"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900" marL="689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w-IL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900" marL="689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w-IL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900" marL="689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w-IL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900" marL="689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w-IL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900" marL="689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w-IL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900" marL="689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7"/>
          <p:cNvSpPr txBox="1"/>
          <p:nvPr/>
        </p:nvSpPr>
        <p:spPr>
          <a:xfrm>
            <a:off x="4532710" y="878237"/>
            <a:ext cx="7403307" cy="5840189"/>
          </a:xfrm>
          <a:prstGeom prst="rect">
            <a:avLst/>
          </a:prstGeom>
          <a:gradFill>
            <a:gsLst>
              <a:gs pos="0">
                <a:srgbClr val="B0CAE9"/>
              </a:gs>
              <a:gs pos="50000">
                <a:srgbClr val="A1C1E4"/>
              </a:gs>
              <a:gs pos="100000">
                <a:srgbClr val="90B8E4"/>
              </a:gs>
            </a:gsLst>
            <a:lin ang="5400000" scaled="0"/>
          </a:gradFill>
          <a:ln cap="flat" cmpd="sng" w="9525">
            <a:solidFill>
              <a:schemeClr val="accent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iw-IL" sz="3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חלק א – א- ב (פס' ו)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iw-IL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הקדמה לספר וחטאי העם שגרמו להידרדרות הדתית</a:t>
            </a:r>
            <a:endParaRPr b="1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1" algn="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iw-IL" sz="3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חלק ב- פרק ג (מפס' ז) סוף פרק ט"ז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iw-IL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השופטים ודרכי פעולתם.</a:t>
            </a:r>
            <a:endParaRPr b="1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1" algn="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iw-IL" sz="3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חלק ג פרק יז -כא-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iw-IL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בעיות פנימיות בתוך העם.</a:t>
            </a:r>
            <a:endParaRPr b="1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7"/>
          <p:cNvSpPr txBox="1"/>
          <p:nvPr/>
        </p:nvSpPr>
        <p:spPr>
          <a:xfrm>
            <a:off x="4532710" y="111232"/>
            <a:ext cx="6093618" cy="7670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r>
              <a:rPr b="1" i="0" lang="iw-IL" sz="3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מבנה  הספר</a:t>
            </a:r>
            <a:endParaRPr b="1" i="0" sz="3200" u="sng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7"/>
          <p:cNvSpPr/>
          <p:nvPr/>
        </p:nvSpPr>
        <p:spPr>
          <a:xfrm>
            <a:off x="146435" y="1043731"/>
            <a:ext cx="4184158" cy="5509200"/>
          </a:xfrm>
          <a:prstGeom prst="rect">
            <a:avLst/>
          </a:prstGeom>
          <a:gradFill>
            <a:gsLst>
              <a:gs pos="0">
                <a:srgbClr val="7FB75F"/>
              </a:gs>
              <a:gs pos="50000">
                <a:srgbClr val="6EB141"/>
              </a:gs>
              <a:gs pos="100000">
                <a:srgbClr val="5FA134"/>
              </a:gs>
            </a:gsLst>
            <a:lin ang="5400000" scaled="0"/>
          </a:gradFill>
          <a:ln cap="flat" cmpd="sng" w="952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iw-IL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מושגים חשובים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0" i="0" lang="iw-IL" sz="5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הארץ הנשארת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t/>
            </a:r>
            <a:endParaRPr b="0" i="0" sz="5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0" i="0" lang="iw-IL" sz="5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הורשה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t/>
            </a:r>
            <a:endParaRPr b="0" i="0" sz="5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0" i="0" lang="iw-IL" sz="5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התנחלות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t/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8"/>
          <p:cNvSpPr/>
          <p:nvPr/>
        </p:nvSpPr>
        <p:spPr>
          <a:xfrm>
            <a:off x="0" y="0"/>
            <a:ext cx="12191999" cy="68573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8"/>
          <p:cNvSpPr/>
          <p:nvPr/>
        </p:nvSpPr>
        <p:spPr>
          <a:xfrm>
            <a:off x="7529000" y="383350"/>
            <a:ext cx="4029300" cy="18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95"/>
              <a:buFont typeface="Arial"/>
              <a:buNone/>
            </a:pPr>
            <a:r>
              <a:rPr b="0" i="0" lang="iw-IL" sz="499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מחזוריות בספר שופטים</a:t>
            </a:r>
            <a:endParaRPr b="0" i="0" sz="499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8"/>
          <p:cNvSpPr/>
          <p:nvPr/>
        </p:nvSpPr>
        <p:spPr>
          <a:xfrm flipH="1">
            <a:off x="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8"/>
          <p:cNvSpPr/>
          <p:nvPr/>
        </p:nvSpPr>
        <p:spPr>
          <a:xfrm>
            <a:off x="496824" y="391886"/>
            <a:ext cx="6009366" cy="6017078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39700" rotWithShape="0" algn="t" dir="5400000" dist="127000">
              <a:srgbClr val="000000">
                <a:alpha val="1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9" name="Google Shape;129;p18"/>
          <p:cNvPicPr preferRelativeResize="0"/>
          <p:nvPr/>
        </p:nvPicPr>
        <p:blipFill rotWithShape="1">
          <a:blip r:embed="rId3">
            <a:alphaModFix/>
          </a:blip>
          <a:srcRect b="14065" l="0" r="2" t="7689"/>
          <a:stretch/>
        </p:blipFill>
        <p:spPr>
          <a:xfrm>
            <a:off x="437350" y="380300"/>
            <a:ext cx="7555768" cy="62215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0" name="Google Shape;130;p18"/>
          <p:cNvGrpSpPr/>
          <p:nvPr/>
        </p:nvGrpSpPr>
        <p:grpSpPr>
          <a:xfrm>
            <a:off x="11460480" y="3154317"/>
            <a:ext cx="731521" cy="673460"/>
            <a:chOff x="3940602" y="308034"/>
            <a:chExt cx="2116791" cy="3428999"/>
          </a:xfrm>
        </p:grpSpPr>
        <p:sp>
          <p:nvSpPr>
            <p:cNvPr id="131" name="Google Shape;131;p18"/>
            <p:cNvSpPr/>
            <p:nvPr/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1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" name="Google Shape;132;p18"/>
            <p:cNvSpPr/>
            <p:nvPr/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1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" name="Google Shape;133;p18"/>
            <p:cNvSpPr/>
            <p:nvPr/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1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18849" y="179097"/>
            <a:ext cx="4921894" cy="6499795"/>
          </a:xfrm>
          <a:prstGeom prst="rect">
            <a:avLst/>
          </a:prstGeom>
          <a:noFill/>
          <a:ln cap="sq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2352"/>
              </a:srgbClr>
            </a:outerShdw>
          </a:effectLst>
        </p:spPr>
      </p:pic>
      <p:sp>
        <p:nvSpPr>
          <p:cNvPr id="147" name="Google Shape;147;p21"/>
          <p:cNvSpPr txBox="1"/>
          <p:nvPr/>
        </p:nvSpPr>
        <p:spPr>
          <a:xfrm>
            <a:off x="1076445" y="2464114"/>
            <a:ext cx="3090441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</a:pPr>
            <a:r>
              <a:rPr b="1" i="0" lang="iw-IL" sz="5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הארץ הנשארת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2"/>
          <p:cNvSpPr txBox="1"/>
          <p:nvPr/>
        </p:nvSpPr>
        <p:spPr>
          <a:xfrm>
            <a:off x="757237" y="217200"/>
            <a:ext cx="10958513" cy="61863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iw-IL" sz="4400" u="sng" cap="none" strike="noStrike">
                <a:solidFill>
                  <a:schemeClr val="dk1"/>
                </a:solidFill>
                <a:latin typeface="David"/>
                <a:ea typeface="David"/>
                <a:cs typeface="David"/>
                <a:sym typeface="David"/>
              </a:rPr>
              <a:t>פרק א א-ז: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iw-IL" sz="4400" u="none" cap="none" strike="noStrike">
                <a:solidFill>
                  <a:schemeClr val="dk1"/>
                </a:solidFill>
                <a:latin typeface="David"/>
                <a:ea typeface="David"/>
                <a:cs typeface="David"/>
                <a:sym typeface="David"/>
              </a:rPr>
              <a:t>השאלה בה' – "מי יעלה לנו בתחילה"?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iw-IL" sz="4400" u="none" cap="none" strike="noStrike">
                <a:solidFill>
                  <a:schemeClr val="dk1"/>
                </a:solidFill>
                <a:latin typeface="David"/>
                <a:ea typeface="David"/>
                <a:cs typeface="David"/>
                <a:sym typeface="David"/>
              </a:rPr>
              <a:t>תשובת ה' – "יהודה יעלה"! (גיבורים ואנשי חיל)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t/>
            </a:r>
            <a:endParaRPr b="0" i="0" sz="4400" u="none" cap="none" strike="noStrike">
              <a:solidFill>
                <a:schemeClr val="dk1"/>
              </a:solidFill>
              <a:latin typeface="David"/>
              <a:ea typeface="David"/>
              <a:cs typeface="David"/>
              <a:sym typeface="David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iw-IL" sz="4400" u="sng" cap="none" strike="noStrike">
                <a:solidFill>
                  <a:schemeClr val="dk1"/>
                </a:solidFill>
                <a:latin typeface="David"/>
                <a:ea typeface="David"/>
                <a:cs typeface="David"/>
                <a:sym typeface="David"/>
              </a:rPr>
              <a:t>הכיבוש הראשון – (יהודה  כובש ושמעון עוזר)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iw-IL" sz="4400" u="none" cap="none" strike="noStrike">
                <a:solidFill>
                  <a:schemeClr val="dk1"/>
                </a:solidFill>
                <a:latin typeface="David"/>
                <a:ea typeface="David"/>
                <a:cs typeface="David"/>
                <a:sym typeface="David"/>
              </a:rPr>
              <a:t>כיבוש בזק ומלכה – אֲדֹנִי בֶ זֶק: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iw-IL" sz="4400" u="none" cap="none" strike="noStrike">
                <a:solidFill>
                  <a:schemeClr val="dk1"/>
                </a:solidFill>
                <a:latin typeface="David"/>
                <a:ea typeface="David"/>
                <a:cs typeface="David"/>
                <a:sym typeface="David"/>
              </a:rPr>
              <a:t>בני יהודה נוהגים באדני בזק הרשע כמנהגו עם המלכים אשר כבש, ואדני בזק מצדיק עליו את הדין: "כַּאֲשֶר עָשִיתִי כֵּן שִלַּם לִי א -ֹלהִים"!(מידה כנגד מידה)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22"/>
          <p:cNvSpPr/>
          <p:nvPr/>
        </p:nvSpPr>
        <p:spPr>
          <a:xfrm rot="-2187846">
            <a:off x="-485775" y="1214061"/>
            <a:ext cx="4389698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0" i="0" lang="iw-IL" sz="5400" u="none" cap="none" strike="noStrike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כיבושי יהודה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23"/>
          <p:cNvSpPr/>
          <p:nvPr/>
        </p:nvSpPr>
        <p:spPr>
          <a:xfrm flipH="1" rot="-2700000">
            <a:off x="-376156" y="-253670"/>
            <a:ext cx="1827638" cy="1376989"/>
          </a:xfrm>
          <a:custGeom>
            <a:rect b="b" l="l" r="r" t="t"/>
            <a:pathLst>
              <a:path extrusionOk="0" h="1376989" w="1827638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29411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23"/>
          <p:cNvSpPr/>
          <p:nvPr/>
        </p:nvSpPr>
        <p:spPr>
          <a:xfrm flipH="1" rot="-2700000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29411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23"/>
          <p:cNvSpPr/>
          <p:nvPr/>
        </p:nvSpPr>
        <p:spPr>
          <a:xfrm flipH="1" rot="-2700000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29411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3"/>
          <p:cNvSpPr/>
          <p:nvPr/>
        </p:nvSpPr>
        <p:spPr>
          <a:xfrm flipH="1" rot="10800000">
            <a:off x="9356643" y="0"/>
            <a:ext cx="2835357" cy="1480837"/>
          </a:xfrm>
          <a:custGeom>
            <a:rect b="b" l="l" r="r" t="t"/>
            <a:pathLst>
              <a:path extrusionOk="0" h="1480837" w="283535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29411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23"/>
          <p:cNvSpPr/>
          <p:nvPr/>
        </p:nvSpPr>
        <p:spPr>
          <a:xfrm flipH="1">
            <a:off x="7976344" y="6115501"/>
            <a:ext cx="1494513" cy="742499"/>
          </a:xfrm>
          <a:prstGeom prst="triangle">
            <a:avLst>
              <a:gd fmla="val 50000" name="adj"/>
            </a:avLst>
          </a:prstGeom>
          <a:solidFill>
            <a:schemeClr val="accent1">
              <a:alpha val="29411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23"/>
          <p:cNvSpPr/>
          <p:nvPr/>
        </p:nvSpPr>
        <p:spPr>
          <a:xfrm flipH="1">
            <a:off x="7604080" y="6453143"/>
            <a:ext cx="814903" cy="404857"/>
          </a:xfrm>
          <a:prstGeom prst="triangle">
            <a:avLst>
              <a:gd fmla="val 50000" name="adj"/>
            </a:avLst>
          </a:prstGeom>
          <a:solidFill>
            <a:schemeClr val="accent1">
              <a:alpha val="29411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5" name="Google Shape;165;p23"/>
          <p:cNvPicPr preferRelativeResize="0"/>
          <p:nvPr/>
        </p:nvPicPr>
        <p:blipFill rotWithShape="1">
          <a:blip r:embed="rId3">
            <a:alphaModFix/>
          </a:blip>
          <a:srcRect b="1" l="0" r="0" t="47326"/>
          <a:stretch/>
        </p:blipFill>
        <p:spPr>
          <a:xfrm>
            <a:off x="1318665" y="114750"/>
            <a:ext cx="9638453" cy="684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4"/>
          <p:cNvSpPr txBox="1"/>
          <p:nvPr/>
        </p:nvSpPr>
        <p:spPr>
          <a:xfrm>
            <a:off x="616743" y="0"/>
            <a:ext cx="10958513" cy="6494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David"/>
              <a:ea typeface="David"/>
              <a:cs typeface="David"/>
              <a:sym typeface="David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iw-IL" sz="3200" u="sng" cap="none" strike="noStrike">
                <a:solidFill>
                  <a:schemeClr val="dk1"/>
                </a:solidFill>
                <a:latin typeface="David"/>
                <a:ea typeface="David"/>
                <a:cs typeface="David"/>
                <a:sym typeface="David"/>
              </a:rPr>
              <a:t>ח-כא: המשך כיבושי יהודה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David"/>
              <a:ea typeface="David"/>
              <a:cs typeface="David"/>
              <a:sym typeface="David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iw-IL" sz="3200" u="none" cap="none" strike="noStrike">
                <a:solidFill>
                  <a:schemeClr val="dk1"/>
                </a:solidFill>
                <a:latin typeface="David"/>
                <a:ea typeface="David"/>
                <a:cs typeface="David"/>
                <a:sym typeface="David"/>
              </a:rPr>
              <a:t>כיבוש ערים בצורות וחזקות: </a:t>
            </a:r>
            <a:r>
              <a:rPr b="1" i="0" lang="iw-IL" sz="3200" u="none" cap="none" strike="noStrike">
                <a:solidFill>
                  <a:schemeClr val="dk1"/>
                </a:solidFill>
                <a:latin typeface="David"/>
                <a:ea typeface="David"/>
                <a:cs typeface="David"/>
                <a:sym typeface="David"/>
              </a:rPr>
              <a:t>ירושלים, חברון </a:t>
            </a:r>
            <a:r>
              <a:rPr b="0" i="0" lang="iw-IL" sz="3200" u="none" cap="none" strike="noStrike">
                <a:solidFill>
                  <a:schemeClr val="dk1"/>
                </a:solidFill>
                <a:latin typeface="David"/>
                <a:ea typeface="David"/>
                <a:cs typeface="David"/>
                <a:sym typeface="David"/>
              </a:rPr>
              <a:t>והענקים אשר בה;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iw-IL" sz="3200" u="none" cap="none" strike="noStrike">
                <a:solidFill>
                  <a:schemeClr val="dk1"/>
                </a:solidFill>
                <a:latin typeface="David"/>
                <a:ea typeface="David"/>
                <a:cs typeface="David"/>
                <a:sym typeface="David"/>
              </a:rPr>
              <a:t>חברון ניתנת לכלב כפי שציווה משה.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iw-IL" sz="3200" u="none" cap="none" strike="noStrike">
                <a:solidFill>
                  <a:schemeClr val="dk1"/>
                </a:solidFill>
                <a:latin typeface="David"/>
                <a:ea typeface="David"/>
                <a:cs typeface="David"/>
                <a:sym typeface="David"/>
              </a:rPr>
              <a:t>קשה לכבוש את קרית ספר(דביר) עתניאל בן קנז אחיו הקטן של כלב  כובש אותה וזוכה בעכסה בת כלב.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iw-IL" sz="3200" u="none" cap="none" strike="noStrike">
                <a:solidFill>
                  <a:schemeClr val="dk1"/>
                </a:solidFill>
                <a:latin typeface="David"/>
                <a:ea typeface="David"/>
                <a:cs typeface="David"/>
                <a:sym typeface="David"/>
              </a:rPr>
              <a:t>היא מבקשת מבעלה שידבר עם אביה שיתן לה נחלה עם מקורות מים.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David"/>
              <a:ea typeface="David"/>
              <a:cs typeface="David"/>
              <a:sym typeface="David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iw-IL" sz="3200" u="none" cap="none" strike="noStrike">
                <a:solidFill>
                  <a:schemeClr val="dk1"/>
                </a:solidFill>
                <a:latin typeface="David"/>
                <a:ea typeface="David"/>
                <a:cs typeface="David"/>
                <a:sym typeface="David"/>
              </a:rPr>
              <a:t>כיבוש אזורים בהרי יהודה ובשפלה. עזה, אשקלון, עקרון, הר, הנגב, השפלה.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iw-IL" sz="3200" u="none" cap="none" strike="noStrike">
                <a:solidFill>
                  <a:schemeClr val="dk1"/>
                </a:solidFill>
                <a:latin typeface="David"/>
                <a:ea typeface="David"/>
                <a:cs typeface="David"/>
                <a:sym typeface="David"/>
              </a:rPr>
              <a:t> אך מתקשה באזור אחד - העמק "כי רכב ברזל להם".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iw-IL" sz="3200" u="none" cap="none" strike="noStrike">
                <a:solidFill>
                  <a:schemeClr val="dk1"/>
                </a:solidFill>
                <a:latin typeface="David"/>
                <a:ea typeface="David"/>
                <a:cs typeface="David"/>
                <a:sym typeface="David"/>
              </a:rPr>
              <a:t>יהודה עוזר לשמעון לכבוש מספר ערים בעיקר את צפת.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24"/>
          <p:cNvSpPr/>
          <p:nvPr/>
        </p:nvSpPr>
        <p:spPr>
          <a:xfrm rot="-2187846">
            <a:off x="-442913" y="656849"/>
            <a:ext cx="4389698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0" i="0" lang="iw-IL" sz="5400" u="none" cap="none" strike="noStrike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כיבושי יהודה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5"/>
          <p:cNvSpPr/>
          <p:nvPr/>
        </p:nvSpPr>
        <p:spPr>
          <a:xfrm>
            <a:off x="8205079" y="843677"/>
            <a:ext cx="3389068" cy="2585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0" i="0" lang="iw-IL" sz="5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נחלת יוסף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0" i="0" lang="iw-IL" sz="5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ונחלת שאר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0" i="0" lang="iw-IL" sz="5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השבטים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5"/>
          <p:cNvSpPr/>
          <p:nvPr/>
        </p:nvSpPr>
        <p:spPr>
          <a:xfrm>
            <a:off x="3014663" y="5414963"/>
            <a:ext cx="914400" cy="914400"/>
          </a:xfrm>
          <a:prstGeom prst="ellipse">
            <a:avLst/>
          </a:prstGeom>
          <a:noFill/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8" name="Google Shape;178;p25"/>
          <p:cNvPicPr preferRelativeResize="0"/>
          <p:nvPr/>
        </p:nvPicPr>
        <p:blipFill rotWithShape="1">
          <a:blip r:embed="rId3">
            <a:alphaModFix/>
          </a:blip>
          <a:srcRect b="38680" l="0" r="0" t="8921"/>
          <a:stretch/>
        </p:blipFill>
        <p:spPr>
          <a:xfrm>
            <a:off x="320413" y="0"/>
            <a:ext cx="7884666" cy="65758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6"/>
          <p:cNvSpPr txBox="1"/>
          <p:nvPr/>
        </p:nvSpPr>
        <p:spPr>
          <a:xfrm>
            <a:off x="471488" y="920621"/>
            <a:ext cx="10853737" cy="50167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David"/>
              <a:buNone/>
            </a:pPr>
            <a:r>
              <a:rPr b="0" i="0" lang="iw-IL" sz="3200" u="none" cap="none" strike="noStrike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כב-כו: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David"/>
              <a:buNone/>
            </a:pPr>
            <a:r>
              <a:rPr b="0" i="0" lang="iw-IL" sz="3200" u="none" cap="none" strike="noStrike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כיבוש בית אל בידי בני יוסף, גם בית-אל הייתה עיר קשה  לכיבוש.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David"/>
              <a:buNone/>
            </a:pPr>
            <a:r>
              <a:rPr b="0" i="0" lang="iw-IL" sz="3200" u="none" cap="none" strike="noStrike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בני יוסף מתאמצים לכבשה, ולבסוף מצליחים בזכות סיוע של איש מאנשי העיר אשר הראם את "מבוא העיר".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David"/>
              <a:ea typeface="David"/>
              <a:cs typeface="David"/>
              <a:sym typeface="David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David"/>
              <a:buNone/>
            </a:pPr>
            <a:r>
              <a:rPr b="0" i="0" lang="iw-IL" sz="3200" u="none" cap="none" strike="noStrike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כז-לו:  ששה שבטים הנזכרים נוספים לא מצליחים לכבוש ערים רבות שנשארו בידי הכנענים והאמוריים עובדי עבודה זרה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David"/>
              <a:buNone/>
            </a:pPr>
            <a:r>
              <a:rPr b="0" i="0" lang="iw-IL" sz="3200" u="none" cap="none" strike="noStrike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כגון: בית שאן – בנחלת מנשה,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David"/>
              <a:buNone/>
            </a:pPr>
            <a:r>
              <a:rPr b="0" i="0" lang="iw-IL" sz="3200" u="none" cap="none" strike="noStrike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גזר – בנחלת אפרים,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David"/>
              <a:buNone/>
            </a:pPr>
            <a:r>
              <a:rPr b="0" i="0" lang="iw-IL" sz="3200" u="none" cap="none" strike="noStrike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עכו – בנחלת אשר.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26"/>
          <p:cNvSpPr/>
          <p:nvPr/>
        </p:nvSpPr>
        <p:spPr>
          <a:xfrm rot="-2187846">
            <a:off x="-682701" y="312274"/>
            <a:ext cx="4389698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0" i="0" lang="iw-IL" sz="5400" u="none" cap="none" strike="noStrike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כיבושי יוסף</a:t>
            </a:r>
            <a:endParaRPr b="0" i="0" sz="5400" u="none" cap="none" strike="noStrike">
              <a:solidFill>
                <a:schemeClr val="dk1"/>
              </a:solidFill>
              <a:highlight>
                <a:srgbClr val="FFFF0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6"/>
          <p:cNvSpPr/>
          <p:nvPr/>
        </p:nvSpPr>
        <p:spPr>
          <a:xfrm rot="-2187846">
            <a:off x="-558830" y="4374766"/>
            <a:ext cx="4338884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iw-IL" sz="4000" u="none" cap="none" strike="noStrike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כיבושי שאר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iw-IL" sz="4000" u="none" cap="none" strike="noStrike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השבטים</a:t>
            </a:r>
            <a:endParaRPr b="0" i="0" sz="4000" u="none" cap="none" strike="noStrike">
              <a:solidFill>
                <a:schemeClr val="dk1"/>
              </a:solidFill>
              <a:highlight>
                <a:srgbClr val="FFFF0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7"/>
          <p:cNvSpPr txBox="1"/>
          <p:nvPr/>
        </p:nvSpPr>
        <p:spPr>
          <a:xfrm>
            <a:off x="5684996" y="113368"/>
            <a:ext cx="6099300" cy="11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David"/>
              <a:ea typeface="David"/>
              <a:cs typeface="David"/>
              <a:sym typeface="David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David"/>
              <a:buNone/>
            </a:pPr>
            <a:r>
              <a:rPr b="1" i="0" lang="iw-IL" sz="3600" u="none" cap="none" strike="noStrike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פרק ב פס' א-ו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27"/>
          <p:cNvSpPr txBox="1"/>
          <p:nvPr/>
        </p:nvSpPr>
        <p:spPr>
          <a:xfrm>
            <a:off x="316706" y="1857375"/>
            <a:ext cx="11558588" cy="341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iw-IL" sz="3600" u="none" cap="none" strike="noStrike">
                <a:solidFill>
                  <a:schemeClr val="dk1"/>
                </a:solidFill>
                <a:latin typeface="David"/>
                <a:ea typeface="David"/>
                <a:cs typeface="David"/>
                <a:sym typeface="David"/>
              </a:rPr>
              <a:t>במעמד לאומי, במקום הסמוך לגלגל, מופיע מלאך ה' ומוכיח את העם על מלאכת הירושה שלא הושלמה, והעונש –"וְגַּם אָ מַּ רְ תִ י לֹא אֲגָרֵּ ש אֹותָ ם מִ פְ נֵּיכֶם", עם ישראל לא יזכה להשלים את ירושת הארץ ;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iw-IL" sz="3600" u="none" cap="none" strike="noStrike">
                <a:solidFill>
                  <a:schemeClr val="dk1"/>
                </a:solidFill>
                <a:latin typeface="David"/>
                <a:ea typeface="David"/>
                <a:cs typeface="David"/>
                <a:sym typeface="David"/>
              </a:rPr>
              <a:t>התגובה לדברי המלאך –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iw-IL" sz="3600" u="none" cap="none" strike="noStrike">
                <a:solidFill>
                  <a:schemeClr val="dk1"/>
                </a:solidFill>
                <a:latin typeface="David"/>
                <a:ea typeface="David"/>
                <a:cs typeface="David"/>
                <a:sym typeface="David"/>
              </a:rPr>
              <a:t>"וַּיִשְ אּו הָ עָ ם אֶ ת קֹולָם וַּיִבְכּו", שם המקום על שם המאורע – "וַּיִקְ רְאּו שֵּ ם הַּ מָ קֹום הַּ הּוא בֹכִים"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ערכת נושא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